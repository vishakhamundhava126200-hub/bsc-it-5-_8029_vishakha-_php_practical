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4" r:id="rId1"/>
  </p:sldMasterIdLst>
  <p:notesMasterIdLst>
    <p:notesMasterId r:id="rId173"/>
  </p:notesMasterIdLst>
  <p:sldIdLst>
    <p:sldId id="308" r:id="rId2"/>
    <p:sldId id="369" r:id="rId3"/>
    <p:sldId id="309" r:id="rId4"/>
    <p:sldId id="446" r:id="rId5"/>
    <p:sldId id="333" r:id="rId6"/>
    <p:sldId id="334" r:id="rId7"/>
    <p:sldId id="447" r:id="rId8"/>
    <p:sldId id="335" r:id="rId9"/>
    <p:sldId id="336" r:id="rId10"/>
    <p:sldId id="310" r:id="rId11"/>
    <p:sldId id="311" r:id="rId12"/>
    <p:sldId id="312" r:id="rId13"/>
    <p:sldId id="313" r:id="rId14"/>
    <p:sldId id="314" r:id="rId15"/>
    <p:sldId id="315" r:id="rId16"/>
    <p:sldId id="316" r:id="rId17"/>
    <p:sldId id="340" r:id="rId18"/>
    <p:sldId id="370" r:id="rId19"/>
    <p:sldId id="317" r:id="rId20"/>
    <p:sldId id="318" r:id="rId21"/>
    <p:sldId id="319" r:id="rId22"/>
    <p:sldId id="371" r:id="rId23"/>
    <p:sldId id="448" r:id="rId24"/>
    <p:sldId id="449" r:id="rId25"/>
    <p:sldId id="451" r:id="rId26"/>
    <p:sldId id="452" r:id="rId27"/>
    <p:sldId id="453" r:id="rId28"/>
    <p:sldId id="454" r:id="rId29"/>
    <p:sldId id="455" r:id="rId30"/>
    <p:sldId id="456" r:id="rId31"/>
    <p:sldId id="372" r:id="rId32"/>
    <p:sldId id="457" r:id="rId33"/>
    <p:sldId id="458" r:id="rId34"/>
    <p:sldId id="459" r:id="rId35"/>
    <p:sldId id="373" r:id="rId36"/>
    <p:sldId id="265" r:id="rId37"/>
    <p:sldId id="266" r:id="rId38"/>
    <p:sldId id="460" r:id="rId39"/>
    <p:sldId id="260" r:id="rId40"/>
    <p:sldId id="461" r:id="rId41"/>
    <p:sldId id="267" r:id="rId42"/>
    <p:sldId id="268" r:id="rId43"/>
    <p:sldId id="338" r:id="rId44"/>
    <p:sldId id="339" r:id="rId45"/>
    <p:sldId id="269" r:id="rId46"/>
    <p:sldId id="270" r:id="rId47"/>
    <p:sldId id="271" r:id="rId48"/>
    <p:sldId id="272" r:id="rId49"/>
    <p:sldId id="273" r:id="rId50"/>
    <p:sldId id="274" r:id="rId51"/>
    <p:sldId id="275" r:id="rId52"/>
    <p:sldId id="277" r:id="rId53"/>
    <p:sldId id="278" r:id="rId54"/>
    <p:sldId id="279" r:id="rId55"/>
    <p:sldId id="341" r:id="rId56"/>
    <p:sldId id="374" r:id="rId57"/>
    <p:sldId id="478" r:id="rId58"/>
    <p:sldId id="479" r:id="rId59"/>
    <p:sldId id="480" r:id="rId60"/>
    <p:sldId id="514" r:id="rId61"/>
    <p:sldId id="517" r:id="rId62"/>
    <p:sldId id="519" r:id="rId63"/>
    <p:sldId id="518" r:id="rId64"/>
    <p:sldId id="516" r:id="rId65"/>
    <p:sldId id="523" r:id="rId66"/>
    <p:sldId id="632" r:id="rId67"/>
    <p:sldId id="633" r:id="rId68"/>
    <p:sldId id="634" r:id="rId69"/>
    <p:sldId id="635" r:id="rId70"/>
    <p:sldId id="636" r:id="rId71"/>
    <p:sldId id="637" r:id="rId72"/>
    <p:sldId id="638" r:id="rId73"/>
    <p:sldId id="639" r:id="rId74"/>
    <p:sldId id="640" r:id="rId75"/>
    <p:sldId id="641" r:id="rId76"/>
    <p:sldId id="642" r:id="rId77"/>
    <p:sldId id="643" r:id="rId78"/>
    <p:sldId id="644" r:id="rId79"/>
    <p:sldId id="645" r:id="rId80"/>
    <p:sldId id="646" r:id="rId81"/>
    <p:sldId id="647" r:id="rId82"/>
    <p:sldId id="648" r:id="rId83"/>
    <p:sldId id="649" r:id="rId84"/>
    <p:sldId id="650" r:id="rId85"/>
    <p:sldId id="651" r:id="rId86"/>
    <p:sldId id="652" r:id="rId87"/>
    <p:sldId id="653" r:id="rId88"/>
    <p:sldId id="654" r:id="rId89"/>
    <p:sldId id="655" r:id="rId90"/>
    <p:sldId id="656" r:id="rId91"/>
    <p:sldId id="657" r:id="rId92"/>
    <p:sldId id="658" r:id="rId93"/>
    <p:sldId id="659" r:id="rId94"/>
    <p:sldId id="660" r:id="rId95"/>
    <p:sldId id="661" r:id="rId96"/>
    <p:sldId id="662" r:id="rId97"/>
    <p:sldId id="663" r:id="rId98"/>
    <p:sldId id="664" r:id="rId99"/>
    <p:sldId id="665" r:id="rId100"/>
    <p:sldId id="666" r:id="rId101"/>
    <p:sldId id="667" r:id="rId102"/>
    <p:sldId id="668" r:id="rId103"/>
    <p:sldId id="669" r:id="rId104"/>
    <p:sldId id="670" r:id="rId105"/>
    <p:sldId id="671" r:id="rId106"/>
    <p:sldId id="672" r:id="rId107"/>
    <p:sldId id="673" r:id="rId108"/>
    <p:sldId id="674" r:id="rId109"/>
    <p:sldId id="675" r:id="rId110"/>
    <p:sldId id="676" r:id="rId111"/>
    <p:sldId id="677" r:id="rId112"/>
    <p:sldId id="628" r:id="rId113"/>
    <p:sldId id="629" r:id="rId114"/>
    <p:sldId id="364" r:id="rId115"/>
    <p:sldId id="363" r:id="rId116"/>
    <p:sldId id="304" r:id="rId117"/>
    <p:sldId id="360" r:id="rId118"/>
    <p:sldId id="361" r:id="rId119"/>
    <p:sldId id="305" r:id="rId120"/>
    <p:sldId id="375" r:id="rId121"/>
    <p:sldId id="376" r:id="rId122"/>
    <p:sldId id="377" r:id="rId123"/>
    <p:sldId id="380" r:id="rId124"/>
    <p:sldId id="378" r:id="rId125"/>
    <p:sldId id="379" r:id="rId126"/>
    <p:sldId id="678" r:id="rId127"/>
    <p:sldId id="679" r:id="rId128"/>
    <p:sldId id="680" r:id="rId129"/>
    <p:sldId id="681" r:id="rId130"/>
    <p:sldId id="682" r:id="rId131"/>
    <p:sldId id="683" r:id="rId132"/>
    <p:sldId id="684" r:id="rId133"/>
    <p:sldId id="685" r:id="rId134"/>
    <p:sldId id="686" r:id="rId135"/>
    <p:sldId id="687" r:id="rId136"/>
    <p:sldId id="688" r:id="rId137"/>
    <p:sldId id="689" r:id="rId138"/>
    <p:sldId id="690" r:id="rId139"/>
    <p:sldId id="691" r:id="rId140"/>
    <p:sldId id="692" r:id="rId141"/>
    <p:sldId id="693" r:id="rId142"/>
    <p:sldId id="694" r:id="rId143"/>
    <p:sldId id="695" r:id="rId144"/>
    <p:sldId id="696" r:id="rId145"/>
    <p:sldId id="697" r:id="rId146"/>
    <p:sldId id="698" r:id="rId147"/>
    <p:sldId id="699" r:id="rId148"/>
    <p:sldId id="700" r:id="rId149"/>
    <p:sldId id="701" r:id="rId150"/>
    <p:sldId id="702" r:id="rId151"/>
    <p:sldId id="703" r:id="rId152"/>
    <p:sldId id="704" r:id="rId153"/>
    <p:sldId id="705" r:id="rId154"/>
    <p:sldId id="706" r:id="rId155"/>
    <p:sldId id="707" r:id="rId156"/>
    <p:sldId id="708" r:id="rId157"/>
    <p:sldId id="709" r:id="rId158"/>
    <p:sldId id="710" r:id="rId159"/>
    <p:sldId id="711" r:id="rId160"/>
    <p:sldId id="712" r:id="rId161"/>
    <p:sldId id="713" r:id="rId162"/>
    <p:sldId id="450" r:id="rId163"/>
    <p:sldId id="714" r:id="rId164"/>
    <p:sldId id="715" r:id="rId165"/>
    <p:sldId id="716" r:id="rId166"/>
    <p:sldId id="717" r:id="rId167"/>
    <p:sldId id="718" r:id="rId168"/>
    <p:sldId id="719" r:id="rId169"/>
    <p:sldId id="720" r:id="rId170"/>
    <p:sldId id="722" r:id="rId171"/>
    <p:sldId id="723" r:id="rId17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1388" y="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viewProps" Target="viewProps.xml"/><Relationship Id="rId170" Type="http://schemas.openxmlformats.org/officeDocument/2006/relationships/slide" Target="slides/slide169.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slide" Target="slides/slide163.xml"/><Relationship Id="rId169" Type="http://schemas.openxmlformats.org/officeDocument/2006/relationships/slide" Target="slides/slide168.xml"/><Relationship Id="rId177"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F69DE6D-DA3C-4485-8017-C53E8252AF82}" type="datetimeFigureOut">
              <a:rPr lang="en-US" smtClean="0"/>
              <a:pPr/>
              <a:t>6/25/2026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A12D1FB-ED01-4757-A40F-055656CC1508}"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A12D1FB-ED01-4757-A40F-055656CC1508}"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57</a:t>
            </a:fld>
            <a:endParaRPr lang="en-US"/>
          </a:p>
        </p:txBody>
      </p:sp>
    </p:spTree>
    <p:extLst>
      <p:ext uri="{BB962C8B-B14F-4D97-AF65-F5344CB8AC3E}">
        <p14:creationId xmlns:p14="http://schemas.microsoft.com/office/powerpoint/2010/main" val="41725854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62B6AB6-6A2A-4B17-BD8C-399DD935F65D}" type="datetime1">
              <a:rPr lang="en-US" smtClean="0"/>
              <a:pPr/>
              <a:t>6/25/2026</a:t>
            </a:fld>
            <a:endParaRPr lang="en-US"/>
          </a:p>
        </p:txBody>
      </p:sp>
      <p:sp>
        <p:nvSpPr>
          <p:cNvPr id="5" name="Footer Placeholder 4"/>
          <p:cNvSpPr>
            <a:spLocks noGrp="1"/>
          </p:cNvSpPr>
          <p:nvPr>
            <p:ph type="ftr" sz="quarter" idx="11"/>
          </p:nvPr>
        </p:nvSpPr>
        <p:spPr/>
        <p:txBody>
          <a:bodyPr/>
          <a:lstStyle/>
          <a:p>
            <a:r>
              <a:rPr lang="en-US"/>
              <a:t>- Assistant  Prof. Riddhi Joshi</a:t>
            </a:r>
          </a:p>
        </p:txBody>
      </p:sp>
      <p:sp>
        <p:nvSpPr>
          <p:cNvPr id="6" name="Slide Number Placeholder 5"/>
          <p:cNvSpPr>
            <a:spLocks noGrp="1"/>
          </p:cNvSpPr>
          <p:nvPr>
            <p:ph type="sldNum" sz="quarter" idx="12"/>
          </p:nvPr>
        </p:nvSpPr>
        <p:spPr/>
        <p:txBody>
          <a:bodyPr/>
          <a:lstStyle/>
          <a:p>
            <a:fld id="{521E5947-19AD-4D38-BBE9-7D3EA973E689}" type="slidenum">
              <a:rPr lang="en-US" smtClean="0"/>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89358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31F4C1-4414-4063-B913-87B20FDE2633}" type="datetime1">
              <a:rPr lang="en-US" smtClean="0"/>
              <a:pPr/>
              <a:t>6/25/2026</a:t>
            </a:fld>
            <a:endParaRPr lang="en-US"/>
          </a:p>
        </p:txBody>
      </p:sp>
      <p:sp>
        <p:nvSpPr>
          <p:cNvPr id="5" name="Footer Placeholder 4"/>
          <p:cNvSpPr>
            <a:spLocks noGrp="1"/>
          </p:cNvSpPr>
          <p:nvPr>
            <p:ph type="ftr" sz="quarter" idx="11"/>
          </p:nvPr>
        </p:nvSpPr>
        <p:spPr/>
        <p:txBody>
          <a:bodyPr/>
          <a:lstStyle/>
          <a:p>
            <a:r>
              <a:rPr lang="en-US"/>
              <a:t>- Assistant  Prof. Riddhi Joshi</a:t>
            </a:r>
          </a:p>
        </p:txBody>
      </p:sp>
      <p:sp>
        <p:nvSpPr>
          <p:cNvPr id="6" name="Slide Number Placeholder 5"/>
          <p:cNvSpPr>
            <a:spLocks noGrp="1"/>
          </p:cNvSpPr>
          <p:nvPr>
            <p:ph type="sldNum" sz="quarter" idx="12"/>
          </p:nvPr>
        </p:nvSpPr>
        <p:spPr/>
        <p:txBody>
          <a:bodyPr/>
          <a:lstStyle/>
          <a:p>
            <a:fld id="{521E5947-19AD-4D38-BBE9-7D3EA973E689}" type="slidenum">
              <a:rPr lang="en-US" smtClean="0"/>
              <a:pPr/>
              <a:t>‹#›</a:t>
            </a:fld>
            <a:endParaRPr lang="en-US"/>
          </a:p>
        </p:txBody>
      </p:sp>
    </p:spTree>
    <p:extLst>
      <p:ext uri="{BB962C8B-B14F-4D97-AF65-F5344CB8AC3E}">
        <p14:creationId xmlns:p14="http://schemas.microsoft.com/office/powerpoint/2010/main" val="3752898675"/>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048A09-4E63-4A40-BEE1-CCF89178B835}" type="datetime1">
              <a:rPr lang="en-US" smtClean="0"/>
              <a:pPr/>
              <a:t>6/25/2026</a:t>
            </a:fld>
            <a:endParaRPr lang="en-US"/>
          </a:p>
        </p:txBody>
      </p:sp>
      <p:sp>
        <p:nvSpPr>
          <p:cNvPr id="5" name="Footer Placeholder 4"/>
          <p:cNvSpPr>
            <a:spLocks noGrp="1"/>
          </p:cNvSpPr>
          <p:nvPr>
            <p:ph type="ftr" sz="quarter" idx="11"/>
          </p:nvPr>
        </p:nvSpPr>
        <p:spPr/>
        <p:txBody>
          <a:bodyPr/>
          <a:lstStyle/>
          <a:p>
            <a:r>
              <a:rPr lang="en-US"/>
              <a:t>- Assistant  Prof. Riddhi Joshi</a:t>
            </a:r>
          </a:p>
        </p:txBody>
      </p:sp>
      <p:sp>
        <p:nvSpPr>
          <p:cNvPr id="6" name="Slide Number Placeholder 5"/>
          <p:cNvSpPr>
            <a:spLocks noGrp="1"/>
          </p:cNvSpPr>
          <p:nvPr>
            <p:ph type="sldNum" sz="quarter" idx="12"/>
          </p:nvPr>
        </p:nvSpPr>
        <p:spPr/>
        <p:txBody>
          <a:bodyPr/>
          <a:lstStyle/>
          <a:p>
            <a:fld id="{521E5947-19AD-4D38-BBE9-7D3EA973E689}" type="slidenum">
              <a:rPr lang="en-US" smtClean="0"/>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46166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731F4C1-4414-4063-B913-87B20FDE2633}" type="datetime1">
              <a:rPr lang="en-US" smtClean="0"/>
              <a:pPr/>
              <a:t>6/25/2026</a:t>
            </a:fld>
            <a:endParaRPr lang="en-US"/>
          </a:p>
        </p:txBody>
      </p:sp>
      <p:sp>
        <p:nvSpPr>
          <p:cNvPr id="6" name="Footer Placeholder 5"/>
          <p:cNvSpPr>
            <a:spLocks noGrp="1"/>
          </p:cNvSpPr>
          <p:nvPr>
            <p:ph type="ftr" sz="quarter" idx="11"/>
          </p:nvPr>
        </p:nvSpPr>
        <p:spPr/>
        <p:txBody>
          <a:bodyPr/>
          <a:lstStyle/>
          <a:p>
            <a:r>
              <a:rPr lang="en-US"/>
              <a:t>- Assistant  Prof. Riddhi Joshi</a:t>
            </a:r>
          </a:p>
        </p:txBody>
      </p:sp>
      <p:sp>
        <p:nvSpPr>
          <p:cNvPr id="7" name="Slide Number Placeholder 6"/>
          <p:cNvSpPr>
            <a:spLocks noGrp="1"/>
          </p:cNvSpPr>
          <p:nvPr>
            <p:ph type="sldNum" sz="quarter" idx="12"/>
          </p:nvPr>
        </p:nvSpPr>
        <p:spPr/>
        <p:txBody>
          <a:bodyPr/>
          <a:lstStyle/>
          <a:p>
            <a:fld id="{521E5947-19AD-4D38-BBE9-7D3EA973E689}" type="slidenum">
              <a:rPr lang="en-US" smtClean="0"/>
              <a:pPr/>
              <a:t>‹#›</a:t>
            </a:fld>
            <a:endParaRPr lang="en-US"/>
          </a:p>
        </p:txBody>
      </p:sp>
    </p:spTree>
    <p:extLst>
      <p:ext uri="{BB962C8B-B14F-4D97-AF65-F5344CB8AC3E}">
        <p14:creationId xmlns:p14="http://schemas.microsoft.com/office/powerpoint/2010/main" val="4230306917"/>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731F4C1-4414-4063-B913-87B20FDE2633}" type="datetime1">
              <a:rPr lang="en-US" smtClean="0"/>
              <a:pPr/>
              <a:t>6/25/2026</a:t>
            </a:fld>
            <a:endParaRPr lang="en-US"/>
          </a:p>
        </p:txBody>
      </p:sp>
      <p:sp>
        <p:nvSpPr>
          <p:cNvPr id="8" name="Footer Placeholder 7"/>
          <p:cNvSpPr>
            <a:spLocks noGrp="1"/>
          </p:cNvSpPr>
          <p:nvPr>
            <p:ph type="ftr" sz="quarter" idx="11"/>
          </p:nvPr>
        </p:nvSpPr>
        <p:spPr/>
        <p:txBody>
          <a:bodyPr/>
          <a:lstStyle/>
          <a:p>
            <a:r>
              <a:rPr lang="en-US"/>
              <a:t>- Assistant  Prof. Riddhi Joshi</a:t>
            </a:r>
          </a:p>
        </p:txBody>
      </p:sp>
      <p:sp>
        <p:nvSpPr>
          <p:cNvPr id="9" name="Slide Number Placeholder 8"/>
          <p:cNvSpPr>
            <a:spLocks noGrp="1"/>
          </p:cNvSpPr>
          <p:nvPr>
            <p:ph type="sldNum" sz="quarter" idx="12"/>
          </p:nvPr>
        </p:nvSpPr>
        <p:spPr/>
        <p:txBody>
          <a:bodyPr/>
          <a:lstStyle/>
          <a:p>
            <a:fld id="{521E5947-19AD-4D38-BBE9-7D3EA973E689}" type="slidenum">
              <a:rPr lang="en-US" smtClean="0"/>
              <a:pPr/>
              <a:t>‹#›</a:t>
            </a:fld>
            <a:endParaRPr lang="en-US"/>
          </a:p>
        </p:txBody>
      </p:sp>
    </p:spTree>
    <p:extLst>
      <p:ext uri="{BB962C8B-B14F-4D97-AF65-F5344CB8AC3E}">
        <p14:creationId xmlns:p14="http://schemas.microsoft.com/office/powerpoint/2010/main" val="3567678847"/>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BBCA6CB-F676-4AD7-9057-F3465AE631FB}" type="datetime1">
              <a:rPr lang="en-US" smtClean="0"/>
              <a:pPr/>
              <a:t>6/25/2026</a:t>
            </a:fld>
            <a:endParaRPr lang="en-US"/>
          </a:p>
        </p:txBody>
      </p:sp>
      <p:sp>
        <p:nvSpPr>
          <p:cNvPr id="4" name="Footer Placeholder 3"/>
          <p:cNvSpPr>
            <a:spLocks noGrp="1"/>
          </p:cNvSpPr>
          <p:nvPr>
            <p:ph type="ftr" sz="quarter" idx="11"/>
          </p:nvPr>
        </p:nvSpPr>
        <p:spPr/>
        <p:txBody>
          <a:bodyPr/>
          <a:lstStyle/>
          <a:p>
            <a:r>
              <a:rPr lang="en-US"/>
              <a:t>- Assistant  Prof. Riddhi Joshi</a:t>
            </a:r>
          </a:p>
        </p:txBody>
      </p:sp>
      <p:sp>
        <p:nvSpPr>
          <p:cNvPr id="5" name="Slide Number Placeholder 4"/>
          <p:cNvSpPr>
            <a:spLocks noGrp="1"/>
          </p:cNvSpPr>
          <p:nvPr>
            <p:ph type="sldNum" sz="quarter" idx="12"/>
          </p:nvPr>
        </p:nvSpPr>
        <p:spPr/>
        <p:txBody>
          <a:bodyPr/>
          <a:lstStyle/>
          <a:p>
            <a:fld id="{521E5947-19AD-4D38-BBE9-7D3EA973E689}" type="slidenum">
              <a:rPr lang="en-US" smtClean="0"/>
              <a:pPr/>
              <a:t>‹#›</a:t>
            </a:fld>
            <a:endParaRPr lang="en-US"/>
          </a:p>
        </p:txBody>
      </p:sp>
    </p:spTree>
    <p:extLst>
      <p:ext uri="{BB962C8B-B14F-4D97-AF65-F5344CB8AC3E}">
        <p14:creationId xmlns:p14="http://schemas.microsoft.com/office/powerpoint/2010/main" val="1875235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2F160AE-FCE9-476E-858D-ED9B0F97CE3A}" type="datetime1">
              <a:rPr lang="en-US" smtClean="0"/>
              <a:pPr/>
              <a:t>6/25/2026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 Assistant  Prof. Riddhi Joshi</a:t>
            </a:r>
          </a:p>
        </p:txBody>
      </p:sp>
      <p:sp>
        <p:nvSpPr>
          <p:cNvPr id="9" name="Slide Number Placeholder 8"/>
          <p:cNvSpPr>
            <a:spLocks noGrp="1"/>
          </p:cNvSpPr>
          <p:nvPr>
            <p:ph type="sldNum" sz="quarter" idx="12"/>
          </p:nvPr>
        </p:nvSpPr>
        <p:spPr/>
        <p:txBody>
          <a:bodyPr/>
          <a:lstStyle/>
          <a:p>
            <a:fld id="{521E5947-19AD-4D38-BBE9-7D3EA973E689}" type="slidenum">
              <a:rPr lang="en-US" smtClean="0"/>
              <a:pPr/>
              <a:t>‹#›</a:t>
            </a:fld>
            <a:endParaRPr lang="en-US"/>
          </a:p>
        </p:txBody>
      </p:sp>
    </p:spTree>
    <p:extLst>
      <p:ext uri="{BB962C8B-B14F-4D97-AF65-F5344CB8AC3E}">
        <p14:creationId xmlns:p14="http://schemas.microsoft.com/office/powerpoint/2010/main" val="3017100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4731F4C1-4414-4063-B913-87B20FDE2633}" type="datetime1">
              <a:rPr lang="en-US" smtClean="0"/>
              <a:pPr/>
              <a:t>6/25/2026</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r>
              <a:rPr lang="en-US"/>
              <a:t>- Assistant  Prof. Riddhi Joshi</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21E5947-19AD-4D38-BBE9-7D3EA973E689}" type="slidenum">
              <a:rPr lang="en-US" smtClean="0"/>
              <a:pPr/>
              <a:t>‹#›</a:t>
            </a:fld>
            <a:endParaRPr lang="en-US"/>
          </a:p>
        </p:txBody>
      </p:sp>
    </p:spTree>
    <p:extLst>
      <p:ext uri="{BB962C8B-B14F-4D97-AF65-F5344CB8AC3E}">
        <p14:creationId xmlns:p14="http://schemas.microsoft.com/office/powerpoint/2010/main" val="2492824396"/>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B7E9B1-534C-46CF-9B6A-CAEC7BE4C569}" type="datetime1">
              <a:rPr lang="en-US" smtClean="0"/>
              <a:pPr/>
              <a:t>6/25/2026</a:t>
            </a:fld>
            <a:endParaRPr lang="en-US"/>
          </a:p>
        </p:txBody>
      </p:sp>
      <p:sp>
        <p:nvSpPr>
          <p:cNvPr id="6" name="Footer Placeholder 5"/>
          <p:cNvSpPr>
            <a:spLocks noGrp="1"/>
          </p:cNvSpPr>
          <p:nvPr>
            <p:ph type="ftr" sz="quarter" idx="11"/>
          </p:nvPr>
        </p:nvSpPr>
        <p:spPr/>
        <p:txBody>
          <a:bodyPr/>
          <a:lstStyle/>
          <a:p>
            <a:r>
              <a:rPr lang="en-US"/>
              <a:t>- Assistant  Prof. Riddhi Joshi</a:t>
            </a:r>
          </a:p>
        </p:txBody>
      </p:sp>
      <p:sp>
        <p:nvSpPr>
          <p:cNvPr id="7" name="Slide Number Placeholder 6"/>
          <p:cNvSpPr>
            <a:spLocks noGrp="1"/>
          </p:cNvSpPr>
          <p:nvPr>
            <p:ph type="sldNum" sz="quarter" idx="12"/>
          </p:nvPr>
        </p:nvSpPr>
        <p:spPr/>
        <p:txBody>
          <a:bodyPr/>
          <a:lstStyle/>
          <a:p>
            <a:fld id="{521E5947-19AD-4D38-BBE9-7D3EA973E689}" type="slidenum">
              <a:rPr lang="en-US" smtClean="0"/>
              <a:pPr/>
              <a:t>‹#›</a:t>
            </a:fld>
            <a:endParaRPr lang="en-US"/>
          </a:p>
        </p:txBody>
      </p:sp>
    </p:spTree>
    <p:extLst>
      <p:ext uri="{BB962C8B-B14F-4D97-AF65-F5344CB8AC3E}">
        <p14:creationId xmlns:p14="http://schemas.microsoft.com/office/powerpoint/2010/main" val="32018277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31F4C1-4414-4063-B913-87B20FDE2633}" type="datetime1">
              <a:rPr lang="en-US" smtClean="0"/>
              <a:pPr/>
              <a:t>6/25/2026</a:t>
            </a:fld>
            <a:endParaRPr lang="en-US"/>
          </a:p>
        </p:txBody>
      </p:sp>
      <p:sp>
        <p:nvSpPr>
          <p:cNvPr id="5" name="Footer Placeholder 4"/>
          <p:cNvSpPr>
            <a:spLocks noGrp="1"/>
          </p:cNvSpPr>
          <p:nvPr>
            <p:ph type="ftr" sz="quarter" idx="11"/>
          </p:nvPr>
        </p:nvSpPr>
        <p:spPr/>
        <p:txBody>
          <a:bodyPr/>
          <a:lstStyle/>
          <a:p>
            <a:r>
              <a:rPr lang="en-US"/>
              <a:t>- Assistant  Prof. Riddhi Joshi</a:t>
            </a:r>
          </a:p>
        </p:txBody>
      </p:sp>
      <p:sp>
        <p:nvSpPr>
          <p:cNvPr id="6" name="Slide Number Placeholder 5"/>
          <p:cNvSpPr>
            <a:spLocks noGrp="1"/>
          </p:cNvSpPr>
          <p:nvPr>
            <p:ph type="sldNum" sz="quarter" idx="12"/>
          </p:nvPr>
        </p:nvSpPr>
        <p:spPr/>
        <p:txBody>
          <a:bodyPr/>
          <a:lstStyle/>
          <a:p>
            <a:fld id="{521E5947-19AD-4D38-BBE9-7D3EA973E689}" type="slidenum">
              <a:rPr lang="en-US" smtClean="0"/>
              <a:pPr/>
              <a:t>‹#›</a:t>
            </a:fld>
            <a:endParaRPr lang="en-US"/>
          </a:p>
        </p:txBody>
      </p:sp>
    </p:spTree>
    <p:extLst>
      <p:ext uri="{BB962C8B-B14F-4D97-AF65-F5344CB8AC3E}">
        <p14:creationId xmlns:p14="http://schemas.microsoft.com/office/powerpoint/2010/main" val="4130218316"/>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31F4C1-4414-4063-B913-87B20FDE2633}" type="datetime1">
              <a:rPr lang="en-US" smtClean="0"/>
              <a:pPr/>
              <a:t>6/25/2026</a:t>
            </a:fld>
            <a:endParaRPr lang="en-US"/>
          </a:p>
        </p:txBody>
      </p:sp>
      <p:sp>
        <p:nvSpPr>
          <p:cNvPr id="5" name="Footer Placeholder 4"/>
          <p:cNvSpPr>
            <a:spLocks noGrp="1"/>
          </p:cNvSpPr>
          <p:nvPr>
            <p:ph type="ftr" sz="quarter" idx="11"/>
          </p:nvPr>
        </p:nvSpPr>
        <p:spPr/>
        <p:txBody>
          <a:bodyPr/>
          <a:lstStyle/>
          <a:p>
            <a:r>
              <a:rPr lang="en-US"/>
              <a:t>- Assistant  Prof. Riddhi Joshi</a:t>
            </a:r>
          </a:p>
        </p:txBody>
      </p:sp>
      <p:sp>
        <p:nvSpPr>
          <p:cNvPr id="6" name="Slide Number Placeholder 5"/>
          <p:cNvSpPr>
            <a:spLocks noGrp="1"/>
          </p:cNvSpPr>
          <p:nvPr>
            <p:ph type="sldNum" sz="quarter" idx="12"/>
          </p:nvPr>
        </p:nvSpPr>
        <p:spPr/>
        <p:txBody>
          <a:bodyPr/>
          <a:lstStyle/>
          <a:p>
            <a:fld id="{521E5947-19AD-4D38-BBE9-7D3EA973E689}" type="slidenum">
              <a:rPr lang="en-US" smtClean="0"/>
              <a:pPr/>
              <a:t>‹#›</a:t>
            </a:fld>
            <a:endParaRPr lang="en-US"/>
          </a:p>
        </p:txBody>
      </p:sp>
    </p:spTree>
    <p:extLst>
      <p:ext uri="{BB962C8B-B14F-4D97-AF65-F5344CB8AC3E}">
        <p14:creationId xmlns:p14="http://schemas.microsoft.com/office/powerpoint/2010/main" val="3882108265"/>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4731F4C1-4414-4063-B913-87B20FDE2633}" type="datetime1">
              <a:rPr lang="en-US" smtClean="0"/>
              <a:pPr/>
              <a:t>6/25/2026</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 Assistant  Prof. Riddhi Joshi</a:t>
            </a:r>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521E5947-19AD-4D38-BBE9-7D3EA973E689}" type="slidenum">
              <a:rPr lang="en-US" smtClean="0"/>
              <a:pPr/>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3441927"/>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www.worldofcomputing.net/basics/mainframe-computers.html" TargetMode="External"/><Relationship Id="rId2" Type="http://schemas.openxmlformats.org/officeDocument/2006/relationships/hyperlink" Target="http://www.worldofcomputing.net/basics/what-is-computer.html"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hyperlink" Target="mailto:hemen@silvertouch.com" TargetMode="Externa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563261" y="1815405"/>
            <a:ext cx="8017477" cy="95410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eaLnBrk="1" hangingPunct="1">
              <a:buFont typeface="Arial" pitchFamily="34" charset="0"/>
              <a:buNone/>
              <a:defRPr/>
            </a:pPr>
            <a:r>
              <a:rPr lang="en-US" sz="2800" b="1" dirty="0">
                <a:solidFill>
                  <a:srgbClr val="C00000"/>
                </a:solidFill>
                <a:effectLst>
                  <a:outerShdw blurRad="38100" dist="38100" dir="2700000" algn="tl">
                    <a:srgbClr val="000000">
                      <a:alpha val="43137"/>
                    </a:srgbClr>
                  </a:outerShdw>
                </a:effectLst>
                <a:latin typeface="Calibri" pitchFamily="34" charset="0"/>
              </a:rPr>
              <a:t>Ch.1 </a:t>
            </a:r>
          </a:p>
          <a:p>
            <a:pPr algn="ctr"/>
            <a:r>
              <a:rPr lang="en-US" sz="2800" b="1" dirty="0">
                <a:solidFill>
                  <a:srgbClr val="C00000"/>
                </a:solidFill>
                <a:effectLst>
                  <a:outerShdw blurRad="38100" dist="38100" dir="2700000" algn="tl">
                    <a:srgbClr val="000000">
                      <a:alpha val="43137"/>
                    </a:srgbClr>
                  </a:outerShdw>
                </a:effectLst>
                <a:latin typeface="Calibri" pitchFamily="34" charset="0"/>
              </a:rPr>
              <a:t>Distributed Computing</a:t>
            </a:r>
          </a:p>
        </p:txBody>
      </p:sp>
      <p:sp>
        <p:nvSpPr>
          <p:cNvPr id="10" name="Subtitle 4"/>
          <p:cNvSpPr txBox="1">
            <a:spLocks/>
          </p:cNvSpPr>
          <p:nvPr/>
        </p:nvSpPr>
        <p:spPr bwMode="auto">
          <a:xfrm>
            <a:off x="4724400" y="4343400"/>
            <a:ext cx="4267200" cy="190500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a:lstStyle/>
          <a:p>
            <a:pPr algn="ctr" eaLnBrk="1" hangingPunct="1">
              <a:buFont typeface="Arial" pitchFamily="34" charset="0"/>
              <a:buNone/>
              <a:defRPr/>
            </a:pPr>
            <a:r>
              <a:rPr lang="en-US" sz="2400" b="1" dirty="0">
                <a:solidFill>
                  <a:srgbClr val="C00000"/>
                </a:solidFill>
                <a:effectLst>
                  <a:outerShdw blurRad="38100" dist="38100" dir="2700000" algn="tl">
                    <a:srgbClr val="000000">
                      <a:alpha val="43137"/>
                    </a:srgbClr>
                  </a:outerShdw>
                </a:effectLst>
                <a:latin typeface="Calibri" pitchFamily="34" charset="0"/>
              </a:rPr>
              <a:t>Presented By:- </a:t>
            </a:r>
          </a:p>
          <a:p>
            <a:pPr algn="ctr" eaLnBrk="1" hangingPunct="1">
              <a:buFont typeface="Arial" pitchFamily="34" charset="0"/>
              <a:buNone/>
              <a:defRPr/>
            </a:pPr>
            <a:r>
              <a:rPr lang="en-US" sz="2400" b="1" dirty="0">
                <a:solidFill>
                  <a:srgbClr val="C00000"/>
                </a:solidFill>
                <a:effectLst>
                  <a:outerShdw blurRad="38100" dist="38100" dir="2700000" algn="tl">
                    <a:srgbClr val="000000">
                      <a:alpha val="43137"/>
                    </a:srgbClr>
                  </a:outerShdw>
                </a:effectLst>
                <a:latin typeface="Calibri" pitchFamily="34" charset="0"/>
              </a:rPr>
              <a:t>RIDDHI JOSHI,</a:t>
            </a:r>
          </a:p>
          <a:p>
            <a:pPr algn="ctr" eaLnBrk="1" hangingPunct="1">
              <a:buFontTx/>
              <a:buNone/>
              <a:defRPr/>
            </a:pPr>
            <a:r>
              <a:rPr lang="en-US" sz="2400" b="1" dirty="0">
                <a:solidFill>
                  <a:srgbClr val="C00000"/>
                </a:solidFill>
                <a:effectLst>
                  <a:outerShdw blurRad="38100" dist="38100" dir="2700000" algn="tl">
                    <a:srgbClr val="000000">
                      <a:alpha val="43137"/>
                    </a:srgbClr>
                  </a:outerShdw>
                </a:effectLst>
                <a:latin typeface="Calibri" pitchFamily="34" charset="0"/>
              </a:rPr>
              <a:t>Assistant Professor,</a:t>
            </a:r>
          </a:p>
          <a:p>
            <a:pPr algn="ctr" eaLnBrk="1" hangingPunct="1">
              <a:buFontTx/>
              <a:buNone/>
              <a:defRPr/>
            </a:pPr>
            <a:r>
              <a:rPr lang="en-US" sz="2400" b="1" dirty="0" err="1">
                <a:solidFill>
                  <a:srgbClr val="C00000"/>
                </a:solidFill>
                <a:effectLst>
                  <a:outerShdw blurRad="38100" dist="38100" dir="2700000" algn="tl">
                    <a:srgbClr val="000000">
                      <a:alpha val="43137"/>
                    </a:srgbClr>
                  </a:outerShdw>
                </a:effectLst>
                <a:latin typeface="Calibri" pitchFamily="34" charset="0"/>
              </a:rPr>
              <a:t>Marwadi</a:t>
            </a:r>
            <a:r>
              <a:rPr lang="en-US" sz="2400" b="1" dirty="0">
                <a:solidFill>
                  <a:srgbClr val="C00000"/>
                </a:solidFill>
                <a:effectLst>
                  <a:outerShdw blurRad="38100" dist="38100" dir="2700000" algn="tl">
                    <a:srgbClr val="000000">
                      <a:alpha val="43137"/>
                    </a:srgbClr>
                  </a:outerShdw>
                </a:effectLst>
                <a:latin typeface="Calibri" pitchFamily="34" charset="0"/>
              </a:rPr>
              <a:t> University</a:t>
            </a:r>
          </a:p>
        </p:txBody>
      </p:sp>
      <p:pic>
        <p:nvPicPr>
          <p:cNvPr id="11" name="Picture 5" descr="F:\general sub data\animated images\clipart\hhhhhh\34914-Clipart-Illustration-Of-A-Group-Of-Five-White-People-Holding-Hands-Around-A-Globe-With-Red-Continents.jpg"/>
          <p:cNvPicPr>
            <a:picLocks noChangeAspect="1" noChangeArrowheads="1"/>
          </p:cNvPicPr>
          <p:nvPr/>
        </p:nvPicPr>
        <p:blipFill>
          <a:blip r:embed="rId3"/>
          <a:srcRect/>
          <a:stretch>
            <a:fillRect/>
          </a:stretch>
        </p:blipFill>
        <p:spPr bwMode="auto">
          <a:xfrm>
            <a:off x="381000" y="3657600"/>
            <a:ext cx="3505200" cy="2857500"/>
          </a:xfrm>
          <a:prstGeom prst="rect">
            <a:avLst/>
          </a:prstGeom>
          <a:noFill/>
          <a:ln w="9525">
            <a:noFill/>
            <a:miter lim="800000"/>
            <a:headEnd/>
            <a:tailEnd/>
          </a:ln>
        </p:spPr>
      </p:pic>
      <p:sp>
        <p:nvSpPr>
          <p:cNvPr id="7" name="Slide Number Placeholder 6"/>
          <p:cNvSpPr>
            <a:spLocks noGrp="1"/>
          </p:cNvSpPr>
          <p:nvPr>
            <p:ph type="sldNum" sz="quarter" idx="12"/>
          </p:nvPr>
        </p:nvSpPr>
        <p:spPr/>
        <p:txBody>
          <a:bodyPr/>
          <a:lstStyle/>
          <a:p>
            <a:fld id="{521E5947-19AD-4D38-BBE9-7D3EA973E689}" type="slidenum">
              <a:rPr lang="en-US" smtClean="0"/>
              <a:pPr/>
              <a:t>1</a:t>
            </a:fld>
            <a:endParaRPr lang="en-US" dirty="0"/>
          </a:p>
        </p:txBody>
      </p:sp>
      <p:sp>
        <p:nvSpPr>
          <p:cNvPr id="2" name="TextBox 1">
            <a:extLst>
              <a:ext uri="{FF2B5EF4-FFF2-40B4-BE49-F238E27FC236}">
                <a16:creationId xmlns:a16="http://schemas.microsoft.com/office/drawing/2014/main" id="{2F7858DE-EBD3-AF13-B77A-84D7A4E975BB}"/>
              </a:ext>
            </a:extLst>
          </p:cNvPr>
          <p:cNvSpPr txBox="1"/>
          <p:nvPr/>
        </p:nvSpPr>
        <p:spPr>
          <a:xfrm>
            <a:off x="0" y="0"/>
            <a:ext cx="9144000" cy="1754326"/>
          </a:xfrm>
          <a:prstGeom prst="rect">
            <a:avLst/>
          </a:prstGeom>
          <a:solidFill>
            <a:schemeClr val="accent2"/>
          </a:solidFill>
          <a:ln>
            <a:solidFill>
              <a:srgbClr val="FF0000"/>
            </a:solidFill>
          </a:ln>
        </p:spPr>
        <p:txBody>
          <a:bodyPr wrap="square" rtlCol="0">
            <a:spAutoFit/>
          </a:bodyPr>
          <a:lstStyle/>
          <a:p>
            <a:pPr algn="ctr"/>
            <a:endParaRPr lang="en-US" sz="3600" b="1" dirty="0">
              <a:solidFill>
                <a:schemeClr val="bg1"/>
              </a:solidFill>
              <a:effectLst>
                <a:outerShdw blurRad="38100" dist="38100" dir="2700000" algn="tl">
                  <a:srgbClr val="000000">
                    <a:alpha val="43137"/>
                  </a:srgbClr>
                </a:outerShdw>
              </a:effectLst>
            </a:endParaRPr>
          </a:p>
          <a:p>
            <a:pPr algn="ctr"/>
            <a:r>
              <a:rPr lang="en-US" sz="3600" b="1" dirty="0">
                <a:solidFill>
                  <a:schemeClr val="bg1"/>
                </a:solidFill>
                <a:effectLst>
                  <a:outerShdw blurRad="38100" dist="38100" dir="2700000" algn="tl">
                    <a:srgbClr val="000000">
                      <a:alpha val="43137"/>
                    </a:srgbClr>
                  </a:outerShdw>
                </a:effectLst>
              </a:rPr>
              <a:t>Distributed Computing</a:t>
            </a:r>
          </a:p>
          <a:p>
            <a:pPr algn="ctr"/>
            <a:endParaRPr lang="en-IN" sz="3600" b="1" dirty="0">
              <a:solidFill>
                <a:schemeClr val="bg1"/>
              </a:solidFill>
              <a:effectLst>
                <a:outerShdw blurRad="38100" dist="38100" dir="2700000" algn="tl">
                  <a:srgbClr val="000000">
                    <a:alpha val="43137"/>
                  </a:srgb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186344" y="710624"/>
            <a:ext cx="8576656" cy="5080576"/>
          </a:xfrm>
          <a:prstGeom prst="rect">
            <a:avLst/>
          </a:prstGeom>
        </p:spPr>
        <p:style>
          <a:lnRef idx="2">
            <a:schemeClr val="accent1"/>
          </a:lnRef>
          <a:fillRef idx="1">
            <a:schemeClr val="lt1"/>
          </a:fillRef>
          <a:effectRef idx="0">
            <a:schemeClr val="accent1"/>
          </a:effectRef>
          <a:fontRef idx="minor">
            <a:schemeClr val="dk1"/>
          </a:fontRef>
        </p:style>
        <p:txBody>
          <a:bodyPr vert="horz">
            <a:normAutofit fontScale="85000" lnSpcReduction="20000"/>
          </a:bodyPr>
          <a:lstStyle/>
          <a:p>
            <a:pPr marL="274320" lvl="0" indent="-274320">
              <a:lnSpc>
                <a:spcPct val="120000"/>
              </a:lnSpc>
              <a:spcBef>
                <a:spcPts val="580"/>
              </a:spcBef>
              <a:buClr>
                <a:schemeClr val="accent1"/>
              </a:buClr>
              <a:buSzPct val="85000"/>
              <a:defRPr/>
            </a:pPr>
            <a:r>
              <a:rPr lang="en-US" sz="2800" b="1" dirty="0">
                <a:solidFill>
                  <a:schemeClr val="accent1"/>
                </a:solidFill>
                <a:latin typeface="Calibri" pitchFamily="34" charset="0"/>
              </a:rPr>
              <a:t>→ </a:t>
            </a:r>
            <a:r>
              <a:rPr kumimoji="0" lang="en-US" sz="2800" b="1" i="0" u="none" strike="noStrike" kern="1200" cap="none" spc="0" normalizeH="0" baseline="0" noProof="0" dirty="0">
                <a:ln>
                  <a:noFill/>
                </a:ln>
                <a:solidFill>
                  <a:schemeClr val="accent1"/>
                </a:solidFill>
                <a:effectLst/>
                <a:uLnTx/>
                <a:uFillTx/>
                <a:latin typeface="Calibri" pitchFamily="34" charset="0"/>
              </a:rPr>
              <a:t>1.1 Introduction &amp; Definition </a:t>
            </a:r>
          </a:p>
          <a:p>
            <a:pPr marL="274320" lvl="0" indent="-274320">
              <a:lnSpc>
                <a:spcPct val="120000"/>
              </a:lnSpc>
              <a:spcBef>
                <a:spcPts val="580"/>
              </a:spcBef>
              <a:buClr>
                <a:schemeClr val="accent1"/>
              </a:buClr>
              <a:buSzPct val="85000"/>
              <a:buFont typeface="Arial" pitchFamily="34" charset="0"/>
              <a:buChar char="•"/>
              <a:defRPr/>
            </a:pPr>
            <a:r>
              <a:rPr kumimoji="0" lang="en-US" sz="2800" i="0" u="none" strike="noStrike" kern="1200" cap="none" spc="0" normalizeH="0" baseline="0" noProof="0" dirty="0">
                <a:ln>
                  <a:noFill/>
                </a:ln>
                <a:solidFill>
                  <a:schemeClr val="tx1"/>
                </a:solidFill>
                <a:effectLst/>
                <a:uLnTx/>
                <a:uFillTx/>
                <a:latin typeface="Calibri" pitchFamily="34" charset="0"/>
              </a:rPr>
              <a:t>1.2 History of DC</a:t>
            </a:r>
          </a:p>
          <a:p>
            <a:pPr marL="274320" lvl="0" indent="-274320">
              <a:lnSpc>
                <a:spcPct val="120000"/>
              </a:lnSpc>
              <a:spcBef>
                <a:spcPts val="580"/>
              </a:spcBef>
              <a:buClr>
                <a:schemeClr val="accent1"/>
              </a:buClr>
              <a:buSzPct val="85000"/>
              <a:buFont typeface="Arial" pitchFamily="34" charset="0"/>
              <a:buChar char="•"/>
              <a:defRPr/>
            </a:pPr>
            <a:r>
              <a:rPr kumimoji="0" lang="en-US" sz="2800" i="0" u="none" strike="noStrike" kern="1200" cap="none" spc="0" normalizeH="0" baseline="0" noProof="0" dirty="0">
                <a:ln>
                  <a:noFill/>
                </a:ln>
                <a:solidFill>
                  <a:schemeClr val="tx1"/>
                </a:solidFill>
                <a:effectLst/>
                <a:uLnTx/>
                <a:uFillTx/>
                <a:latin typeface="Calibri" pitchFamily="34" charset="0"/>
              </a:rPr>
              <a:t>1.3 Different forms of Computing</a:t>
            </a:r>
          </a:p>
          <a:p>
            <a:pPr marL="274320" lvl="0" indent="-274320">
              <a:lnSpc>
                <a:spcPct val="120000"/>
              </a:lnSpc>
              <a:spcBef>
                <a:spcPts val="580"/>
              </a:spcBef>
              <a:buClr>
                <a:schemeClr val="accent1"/>
              </a:buClr>
              <a:buSzPct val="85000"/>
              <a:buFont typeface="Arial" pitchFamily="34" charset="0"/>
              <a:buChar char="•"/>
              <a:defRPr/>
            </a:pPr>
            <a:r>
              <a:rPr lang="en-US" sz="2800" dirty="0">
                <a:solidFill>
                  <a:schemeClr val="tx1"/>
                </a:solidFill>
                <a:latin typeface="Calibri" pitchFamily="34" charset="0"/>
              </a:rPr>
              <a:t>1.4 Strength &amp; Weakness</a:t>
            </a:r>
          </a:p>
          <a:p>
            <a:pPr marL="274320" lvl="0" indent="-274320">
              <a:lnSpc>
                <a:spcPct val="120000"/>
              </a:lnSpc>
              <a:spcBef>
                <a:spcPts val="580"/>
              </a:spcBef>
              <a:buClr>
                <a:schemeClr val="accent1"/>
              </a:buClr>
              <a:buSzPct val="85000"/>
              <a:buFont typeface="Arial" pitchFamily="34" charset="0"/>
              <a:buChar char="•"/>
              <a:defRPr/>
            </a:pPr>
            <a:r>
              <a:rPr lang="en-US" sz="2800" b="1" dirty="0">
                <a:solidFill>
                  <a:schemeClr val="accent1"/>
                </a:solidFill>
                <a:latin typeface="Calibri" pitchFamily="34" charset="0"/>
              </a:rPr>
              <a:t> </a:t>
            </a:r>
            <a:r>
              <a:rPr lang="en-US" sz="2800" dirty="0">
                <a:solidFill>
                  <a:schemeClr val="tx1"/>
                </a:solidFill>
                <a:latin typeface="Calibri" pitchFamily="34" charset="0"/>
              </a:rPr>
              <a:t>1.5 Basics of OS</a:t>
            </a:r>
          </a:p>
          <a:p>
            <a:pPr marL="274320" lvl="0" indent="-274320">
              <a:lnSpc>
                <a:spcPct val="120000"/>
              </a:lnSpc>
              <a:spcBef>
                <a:spcPts val="580"/>
              </a:spcBef>
              <a:buClr>
                <a:schemeClr val="accent1"/>
              </a:buClr>
              <a:buSzPct val="85000"/>
              <a:buFont typeface="Arial" pitchFamily="34" charset="0"/>
              <a:buChar char="•"/>
              <a:defRPr/>
            </a:pPr>
            <a:r>
              <a:rPr lang="en-US" sz="2800" dirty="0">
                <a:solidFill>
                  <a:schemeClr val="tx1"/>
                </a:solidFill>
                <a:latin typeface="Calibri" pitchFamily="34" charset="0"/>
              </a:rPr>
              <a:t>1.6 Network Basics</a:t>
            </a:r>
          </a:p>
          <a:p>
            <a:pPr marL="274320" lvl="0" indent="-274320">
              <a:lnSpc>
                <a:spcPct val="120000"/>
              </a:lnSpc>
              <a:spcBef>
                <a:spcPts val="580"/>
              </a:spcBef>
              <a:buClr>
                <a:schemeClr val="accent1"/>
              </a:buClr>
              <a:buSzPct val="85000"/>
              <a:buFont typeface="Arial" pitchFamily="34" charset="0"/>
              <a:buChar char="•"/>
              <a:defRPr/>
            </a:pPr>
            <a:r>
              <a:rPr lang="en-US" sz="2800" dirty="0">
                <a:solidFill>
                  <a:schemeClr val="tx1"/>
                </a:solidFill>
                <a:latin typeface="Calibri" pitchFamily="34" charset="0"/>
              </a:rPr>
              <a:t>1.7 Software Engineering Basics </a:t>
            </a:r>
          </a:p>
          <a:p>
            <a:pPr marL="274320" marR="0" lvl="0" indent="-274320" algn="l" defTabSz="914400" rtl="0" eaLnBrk="1" fontAlgn="auto" latinLnBrk="0" hangingPunct="1">
              <a:lnSpc>
                <a:spcPct val="120000"/>
              </a:lnSpc>
              <a:spcBef>
                <a:spcPts val="580"/>
              </a:spcBef>
              <a:spcAft>
                <a:spcPts val="0"/>
              </a:spcAft>
              <a:buClr>
                <a:schemeClr val="accent1"/>
              </a:buClr>
              <a:buSzPct val="85000"/>
              <a:buFont typeface="Wingdings 2"/>
              <a:buChar char=""/>
              <a:tabLst/>
              <a:defRPr/>
            </a:pPr>
            <a:r>
              <a:rPr lang="en-US" sz="2800" dirty="0">
                <a:latin typeface="Calibri" pitchFamily="34" charset="0"/>
              </a:rPr>
              <a:t>1.8 The Architecture of Distributed Application. </a:t>
            </a:r>
          </a:p>
          <a:p>
            <a:pPr marL="274320" marR="0" lvl="0" indent="-274320" algn="l" defTabSz="914400" rtl="0" eaLnBrk="1" fontAlgn="auto" latinLnBrk="0" hangingPunct="1">
              <a:lnSpc>
                <a:spcPct val="120000"/>
              </a:lnSpc>
              <a:spcBef>
                <a:spcPts val="580"/>
              </a:spcBef>
              <a:spcAft>
                <a:spcPts val="0"/>
              </a:spcAft>
              <a:buClr>
                <a:schemeClr val="accent1"/>
              </a:buClr>
              <a:buSzPct val="85000"/>
              <a:buFont typeface="Wingdings 2"/>
              <a:buChar char=""/>
              <a:tabLst/>
              <a:defRPr/>
            </a:pPr>
            <a:r>
              <a:rPr lang="en-US" sz="2800" dirty="0">
                <a:latin typeface="Calibri" pitchFamily="34" charset="0"/>
              </a:rPr>
              <a:t>1.9 Distributed Computing Paradigms – Paradigms &amp; Abstraction</a:t>
            </a:r>
          </a:p>
          <a:p>
            <a:pPr marL="274320" marR="0" lvl="0" indent="-274320" algn="l" defTabSz="914400" rtl="0" eaLnBrk="1" fontAlgn="auto" latinLnBrk="0" hangingPunct="1">
              <a:lnSpc>
                <a:spcPct val="120000"/>
              </a:lnSpc>
              <a:spcBef>
                <a:spcPts val="580"/>
              </a:spcBef>
              <a:spcAft>
                <a:spcPts val="0"/>
              </a:spcAft>
              <a:buClr>
                <a:schemeClr val="accent1"/>
              </a:buClr>
              <a:buSzPct val="85000"/>
              <a:buFont typeface="Wingdings 2"/>
              <a:buChar char=""/>
              <a:tabLst/>
              <a:defRPr/>
            </a:pPr>
            <a:r>
              <a:rPr lang="en-US" sz="2800" dirty="0">
                <a:latin typeface="Calibri" pitchFamily="34" charset="0"/>
              </a:rPr>
              <a:t>1.10 An Example Application,</a:t>
            </a:r>
          </a:p>
          <a:p>
            <a:pPr marL="274320" marR="0" lvl="0" indent="-274320" algn="l" defTabSz="914400" rtl="0" eaLnBrk="1" fontAlgn="auto" latinLnBrk="0" hangingPunct="1">
              <a:lnSpc>
                <a:spcPct val="120000"/>
              </a:lnSpc>
              <a:spcBef>
                <a:spcPts val="580"/>
              </a:spcBef>
              <a:spcAft>
                <a:spcPts val="0"/>
              </a:spcAft>
              <a:buClr>
                <a:schemeClr val="accent1"/>
              </a:buClr>
              <a:buSzPct val="85000"/>
              <a:buFont typeface="Wingdings 2"/>
              <a:buChar char=""/>
              <a:tabLst/>
              <a:defRPr/>
            </a:pPr>
            <a:r>
              <a:rPr lang="en-US" sz="2800" dirty="0">
                <a:latin typeface="Calibri" pitchFamily="34" charset="0"/>
              </a:rPr>
              <a:t>1.11 Paradigms for Distributed Applications</a:t>
            </a:r>
          </a:p>
          <a:p>
            <a:pPr marL="274320" marR="0" lvl="0" indent="-274320" algn="l" defTabSz="914400" rtl="0" eaLnBrk="1" fontAlgn="auto" latinLnBrk="0" hangingPunct="1">
              <a:lnSpc>
                <a:spcPct val="120000"/>
              </a:lnSpc>
              <a:spcBef>
                <a:spcPts val="580"/>
              </a:spcBef>
              <a:spcAft>
                <a:spcPts val="0"/>
              </a:spcAft>
              <a:buClr>
                <a:schemeClr val="accent1"/>
              </a:buClr>
              <a:buSzPct val="85000"/>
              <a:buFont typeface="Wingdings 2"/>
              <a:buChar char=""/>
              <a:tabLst/>
              <a:defRPr/>
            </a:pPr>
            <a:endParaRPr lang="en-US" sz="2400" dirty="0">
              <a:latin typeface="Calibri" pitchFamily="34" charset="0"/>
            </a:endParaRPr>
          </a:p>
          <a:p>
            <a:pPr marL="274320" marR="0" lvl="0" indent="-274320" algn="l" defTabSz="914400" rtl="0" eaLnBrk="1" fontAlgn="auto" latinLnBrk="0" hangingPunct="1">
              <a:lnSpc>
                <a:spcPct val="120000"/>
              </a:lnSpc>
              <a:spcBef>
                <a:spcPts val="580"/>
              </a:spcBef>
              <a:spcAft>
                <a:spcPts val="0"/>
              </a:spcAft>
              <a:buClr>
                <a:schemeClr val="accent1"/>
              </a:buClr>
              <a:buSzPct val="85000"/>
              <a:buFont typeface="Wingdings 2"/>
              <a:buChar char=""/>
              <a:tabLst/>
              <a:defRPr/>
            </a:pPr>
            <a:endParaRPr kumimoji="0" lang="en-US" sz="2400" b="0" i="0" u="none" strike="noStrike" kern="1200" cap="none" spc="0" normalizeH="0" baseline="0" noProof="0" dirty="0">
              <a:ln>
                <a:noFill/>
              </a:ln>
              <a:solidFill>
                <a:schemeClr val="tx1"/>
              </a:solidFill>
              <a:effectLst/>
              <a:uLnTx/>
              <a:uFillTx/>
              <a:latin typeface="Calibri" pitchFamily="34" charset="0"/>
            </a:endParaRPr>
          </a:p>
        </p:txBody>
      </p:sp>
      <p:sp>
        <p:nvSpPr>
          <p:cNvPr id="6" name="TextBox 5"/>
          <p:cNvSpPr txBox="1"/>
          <p:nvPr/>
        </p:nvSpPr>
        <p:spPr>
          <a:xfrm>
            <a:off x="21770" y="0"/>
            <a:ext cx="9122229" cy="584775"/>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buFontTx/>
              <a:buNone/>
              <a:defRPr/>
            </a:pPr>
            <a:r>
              <a:rPr lang="en-US" sz="3200" b="1" dirty="0">
                <a:effectLst>
                  <a:outerShdw blurRad="38100" dist="38100" dir="2700000" algn="tl">
                    <a:srgbClr val="000000">
                      <a:alpha val="43137"/>
                    </a:srgbClr>
                  </a:outerShdw>
                </a:effectLst>
                <a:latin typeface="Calibri" pitchFamily="34" charset="0"/>
              </a:rPr>
              <a:t>Roadmap part-1</a:t>
            </a:r>
          </a:p>
        </p:txBody>
      </p:sp>
      <p:sp>
        <p:nvSpPr>
          <p:cNvPr id="7" name="Footer Placeholder 6"/>
          <p:cNvSpPr>
            <a:spLocks noGrp="1"/>
          </p:cNvSpPr>
          <p:nvPr>
            <p:ph type="ftr" sz="quarter" idx="11"/>
          </p:nvPr>
        </p:nvSpPr>
        <p:spPr/>
        <p:txBody>
          <a:bodyPr/>
          <a:lstStyle/>
          <a:p>
            <a:r>
              <a:rPr lang="en-US"/>
              <a:t>- Assistant  Prof. Riddhi Joshi</a:t>
            </a:r>
          </a:p>
        </p:txBody>
      </p:sp>
      <p:sp>
        <p:nvSpPr>
          <p:cNvPr id="4" name="Slide Number Placeholder 3"/>
          <p:cNvSpPr>
            <a:spLocks noGrp="1"/>
          </p:cNvSpPr>
          <p:nvPr>
            <p:ph type="sldNum" sz="quarter" idx="12"/>
          </p:nvPr>
        </p:nvSpPr>
        <p:spPr/>
        <p:txBody>
          <a:bodyPr/>
          <a:lstStyle/>
          <a:p>
            <a:fld id="{521E5947-19AD-4D38-BBE9-7D3EA973E689}"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6372"/>
            <a:ext cx="9144000" cy="639762"/>
          </a:xfrm>
          <a:solidFill>
            <a:schemeClr val="accent2"/>
          </a:solidFill>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800" b="1" dirty="0">
                <a:latin typeface="Calibri" pitchFamily="34" charset="0"/>
              </a:rPr>
              <a:t>1.1 What is Distributed Computing?</a:t>
            </a:r>
          </a:p>
        </p:txBody>
      </p:sp>
      <p:sp>
        <p:nvSpPr>
          <p:cNvPr id="3" name="Content Placeholder 2"/>
          <p:cNvSpPr>
            <a:spLocks noGrp="1"/>
          </p:cNvSpPr>
          <p:nvPr>
            <p:ph idx="1"/>
          </p:nvPr>
        </p:nvSpPr>
        <p:spPr>
          <a:xfrm>
            <a:off x="152400" y="2057400"/>
            <a:ext cx="8686800" cy="3200400"/>
          </a:xfrm>
        </p:spPr>
        <p:style>
          <a:lnRef idx="2">
            <a:schemeClr val="accent1"/>
          </a:lnRef>
          <a:fillRef idx="1">
            <a:schemeClr val="lt1"/>
          </a:fillRef>
          <a:effectRef idx="0">
            <a:schemeClr val="accent1"/>
          </a:effectRef>
          <a:fontRef idx="minor">
            <a:schemeClr val="dk1"/>
          </a:fontRef>
        </p:style>
        <p:txBody>
          <a:bodyPr>
            <a:normAutofit/>
          </a:bodyPr>
          <a:lstStyle/>
          <a:p>
            <a:r>
              <a:rPr lang="en-US" sz="2400" b="1" dirty="0">
                <a:solidFill>
                  <a:schemeClr val="bg2">
                    <a:lumMod val="50000"/>
                  </a:schemeClr>
                </a:solidFill>
                <a:latin typeface="Calibri" pitchFamily="34" charset="0"/>
              </a:rPr>
              <a:t>Definition by book:</a:t>
            </a:r>
            <a:r>
              <a:rPr lang="en-US" sz="2400" b="1" dirty="0">
                <a:latin typeface="Calibri" pitchFamily="34" charset="0"/>
              </a:rPr>
              <a:t> </a:t>
            </a:r>
          </a:p>
          <a:p>
            <a:pPr algn="just">
              <a:buNone/>
            </a:pPr>
            <a:r>
              <a:rPr lang="en-US" sz="2400" dirty="0">
                <a:latin typeface="Calibri" pitchFamily="34" charset="0"/>
              </a:rPr>
              <a:t>	- A </a:t>
            </a:r>
            <a:r>
              <a:rPr lang="en-US" sz="2400" b="1" dirty="0">
                <a:solidFill>
                  <a:schemeClr val="accent2">
                    <a:lumMod val="75000"/>
                  </a:schemeClr>
                </a:solidFill>
                <a:latin typeface="Calibri" pitchFamily="34" charset="0"/>
              </a:rPr>
              <a:t>distributed system</a:t>
            </a:r>
            <a:r>
              <a:rPr lang="en-US" sz="2400" dirty="0">
                <a:latin typeface="Calibri" pitchFamily="34" charset="0"/>
              </a:rPr>
              <a:t> is a collection of independent computers, interconnected via a network, that are capable of collaborating on a task. </a:t>
            </a:r>
          </a:p>
          <a:p>
            <a:pPr>
              <a:buNone/>
            </a:pPr>
            <a:endParaRPr lang="en-US" sz="2400" dirty="0">
              <a:latin typeface="Calibri" pitchFamily="34" charset="0"/>
            </a:endParaRPr>
          </a:p>
          <a:p>
            <a:pPr algn="just">
              <a:buNone/>
            </a:pPr>
            <a:r>
              <a:rPr lang="en-US" sz="2400" dirty="0">
                <a:latin typeface="Calibri" pitchFamily="34" charset="0"/>
              </a:rPr>
              <a:t>	- A </a:t>
            </a:r>
            <a:r>
              <a:rPr lang="en-US" sz="2400" b="1" dirty="0">
                <a:solidFill>
                  <a:schemeClr val="accent2">
                    <a:lumMod val="75000"/>
                  </a:schemeClr>
                </a:solidFill>
                <a:latin typeface="Calibri" pitchFamily="34" charset="0"/>
              </a:rPr>
              <a:t>distributed computing </a:t>
            </a:r>
            <a:r>
              <a:rPr lang="en-US" sz="2400" dirty="0">
                <a:latin typeface="Calibri" pitchFamily="34" charset="0"/>
              </a:rPr>
              <a:t>is a computing performed on a distributed system.</a:t>
            </a:r>
          </a:p>
          <a:p>
            <a:pPr lvl="1"/>
            <a:endParaRPr lang="en-US" dirty="0">
              <a:latin typeface="Calibri" pitchFamily="34" charset="0"/>
            </a:endParaRPr>
          </a:p>
        </p:txBody>
      </p:sp>
      <p:sp>
        <p:nvSpPr>
          <p:cNvPr id="7" name="Footer Placeholder 6"/>
          <p:cNvSpPr>
            <a:spLocks noGrp="1"/>
          </p:cNvSpPr>
          <p:nvPr>
            <p:ph type="ftr" sz="quarter" idx="11"/>
          </p:nvPr>
        </p:nvSpPr>
        <p:spPr/>
        <p:txBody>
          <a:bodyPr/>
          <a:lstStyle/>
          <a:p>
            <a:r>
              <a:rPr lang="en-US" dirty="0"/>
              <a:t>- Assistant  Prof. </a:t>
            </a:r>
            <a:r>
              <a:rPr lang="en-US" dirty="0" err="1"/>
              <a:t>Riddhi</a:t>
            </a:r>
            <a:r>
              <a:rPr lang="en-US" dirty="0"/>
              <a:t> Joshi</a:t>
            </a:r>
          </a:p>
        </p:txBody>
      </p:sp>
      <p:sp>
        <p:nvSpPr>
          <p:cNvPr id="6" name="Slide Number Placeholder 5"/>
          <p:cNvSpPr>
            <a:spLocks noGrp="1"/>
          </p:cNvSpPr>
          <p:nvPr>
            <p:ph type="sldNum" sz="quarter" idx="12"/>
          </p:nvPr>
        </p:nvSpPr>
        <p:spPr/>
        <p:txBody>
          <a:bodyPr/>
          <a:lstStyle/>
          <a:p>
            <a:fld id="{521E5947-19AD-4D38-BBE9-7D3EA973E689}" type="slidenum">
              <a:rPr lang="en-US" smtClean="0"/>
              <a:pPr/>
              <a:t>3</a:t>
            </a:fld>
            <a:endParaRPr lang="en-US"/>
          </a:p>
        </p:txBody>
      </p:sp>
      <p:sp>
        <p:nvSpPr>
          <p:cNvPr id="8" name="Rectangle 7"/>
          <p:cNvSpPr/>
          <p:nvPr/>
        </p:nvSpPr>
        <p:spPr>
          <a:xfrm>
            <a:off x="152400" y="753775"/>
            <a:ext cx="8686800" cy="80021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Font typeface="Arial" pitchFamily="34" charset="0"/>
              <a:buChar char="•"/>
            </a:pPr>
            <a:r>
              <a:rPr lang="en-US" sz="2300" dirty="0">
                <a:latin typeface="Calibri" pitchFamily="34" charset="0"/>
              </a:rPr>
              <a:t>Early computing was performed on a single processor.  </a:t>
            </a:r>
            <a:r>
              <a:rPr lang="en-US" sz="2300" dirty="0" err="1">
                <a:latin typeface="Calibri" pitchFamily="34" charset="0"/>
              </a:rPr>
              <a:t>Uni</a:t>
            </a:r>
            <a:r>
              <a:rPr lang="en-US" sz="2300" dirty="0">
                <a:latin typeface="Calibri" pitchFamily="34" charset="0"/>
              </a:rPr>
              <a:t>-processor computing can be called </a:t>
            </a:r>
            <a:r>
              <a:rPr lang="en-US" sz="2300" i="1" dirty="0">
                <a:solidFill>
                  <a:srgbClr val="FF0F1B"/>
                </a:solidFill>
                <a:latin typeface="Calibri" pitchFamily="34" charset="0"/>
              </a:rPr>
              <a:t>centralized computing</a:t>
            </a:r>
            <a:endParaRPr lang="en-US" sz="2300" dirty="0">
              <a:latin typeface="Calibri"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6372"/>
            <a:ext cx="9144000" cy="639762"/>
          </a:xfrm>
          <a:solidFill>
            <a:schemeClr val="accent2"/>
          </a:solidFill>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800" b="1" dirty="0">
                <a:latin typeface="Calibri" pitchFamily="34" charset="0"/>
              </a:rPr>
              <a:t>What is Distributed Computing?</a:t>
            </a:r>
          </a:p>
        </p:txBody>
      </p:sp>
      <p:sp>
        <p:nvSpPr>
          <p:cNvPr id="3" name="Content Placeholder 2"/>
          <p:cNvSpPr>
            <a:spLocks noGrp="1"/>
          </p:cNvSpPr>
          <p:nvPr>
            <p:ph idx="1"/>
          </p:nvPr>
        </p:nvSpPr>
        <p:spPr>
          <a:xfrm>
            <a:off x="152400" y="2057400"/>
            <a:ext cx="8686800" cy="3200400"/>
          </a:xfrm>
        </p:spPr>
        <p:style>
          <a:lnRef idx="2">
            <a:schemeClr val="accent1"/>
          </a:lnRef>
          <a:fillRef idx="1">
            <a:schemeClr val="lt1"/>
          </a:fillRef>
          <a:effectRef idx="0">
            <a:schemeClr val="accent1"/>
          </a:effectRef>
          <a:fontRef idx="minor">
            <a:schemeClr val="dk1"/>
          </a:fontRef>
        </p:style>
        <p:txBody>
          <a:bodyPr>
            <a:normAutofit/>
          </a:bodyPr>
          <a:lstStyle/>
          <a:p>
            <a:pPr algn="just">
              <a:buFont typeface="Wingdings" panose="05000000000000000000" pitchFamily="2" charset="2"/>
              <a:buChar char="Ø"/>
            </a:pPr>
            <a:r>
              <a:rPr lang="en-US" sz="2200" dirty="0"/>
              <a:t>Distributed computing refers to a model in which multiple interconnected computers work together to solve a single problem or perform a task. These computers, often referred to as nodes or machines, share resources and communicate with each other to achieve a common goal. </a:t>
            </a:r>
          </a:p>
          <a:p>
            <a:pPr algn="just">
              <a:buFont typeface="Wingdings" panose="05000000000000000000" pitchFamily="2" charset="2"/>
              <a:buChar char="Ø"/>
            </a:pPr>
            <a:r>
              <a:rPr lang="en-US" sz="2200" dirty="0"/>
              <a:t>Distributed computing aims to achieve greater efficiency, reliability, and scalability by leveraging the combined processing power, storage, and communication capabilities of multiple machines.</a:t>
            </a:r>
          </a:p>
          <a:p>
            <a:pPr algn="just">
              <a:buFont typeface="Wingdings" panose="05000000000000000000" pitchFamily="2" charset="2"/>
              <a:buChar char="Ø"/>
            </a:pPr>
            <a:r>
              <a:rPr lang="en-US" sz="2200" b="1" dirty="0">
                <a:latin typeface="Calibri" pitchFamily="34" charset="0"/>
              </a:rPr>
              <a:t>DEFINITION : DC is a model where multiple independent computers or servers communicate over a network to achieve a common goal. </a:t>
            </a:r>
          </a:p>
        </p:txBody>
      </p:sp>
      <p:sp>
        <p:nvSpPr>
          <p:cNvPr id="7" name="Footer Placeholder 6"/>
          <p:cNvSpPr>
            <a:spLocks noGrp="1"/>
          </p:cNvSpPr>
          <p:nvPr>
            <p:ph type="ftr" sz="quarter" idx="11"/>
          </p:nvPr>
        </p:nvSpPr>
        <p:spPr/>
        <p:txBody>
          <a:bodyPr/>
          <a:lstStyle/>
          <a:p>
            <a:r>
              <a:rPr lang="en-US" dirty="0"/>
              <a:t>- Assistant  Prof. </a:t>
            </a:r>
            <a:r>
              <a:rPr lang="en-US" dirty="0" err="1"/>
              <a:t>Riddhi</a:t>
            </a:r>
            <a:r>
              <a:rPr lang="en-US" dirty="0"/>
              <a:t> Joshi</a:t>
            </a:r>
          </a:p>
        </p:txBody>
      </p:sp>
      <p:sp>
        <p:nvSpPr>
          <p:cNvPr id="6" name="Slide Number Placeholder 5"/>
          <p:cNvSpPr>
            <a:spLocks noGrp="1"/>
          </p:cNvSpPr>
          <p:nvPr>
            <p:ph type="sldNum" sz="quarter" idx="12"/>
          </p:nvPr>
        </p:nvSpPr>
        <p:spPr/>
        <p:txBody>
          <a:bodyPr/>
          <a:lstStyle/>
          <a:p>
            <a:fld id="{521E5947-19AD-4D38-BBE9-7D3EA973E689}" type="slidenum">
              <a:rPr lang="en-US" smtClean="0"/>
              <a:pPr/>
              <a:t>4</a:t>
            </a:fld>
            <a:endParaRPr lang="en-US"/>
          </a:p>
        </p:txBody>
      </p:sp>
    </p:spTree>
    <p:extLst>
      <p:ext uri="{BB962C8B-B14F-4D97-AF65-F5344CB8AC3E}">
        <p14:creationId xmlns:p14="http://schemas.microsoft.com/office/powerpoint/2010/main" val="66992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842" name="Object 2"/>
          <p:cNvGraphicFramePr>
            <a:graphicFrameLocks noChangeAspect="1"/>
          </p:cNvGraphicFramePr>
          <p:nvPr/>
        </p:nvGraphicFramePr>
        <p:xfrm>
          <a:off x="838200" y="1066800"/>
          <a:ext cx="7924800" cy="4572000"/>
        </p:xfrm>
        <a:graphic>
          <a:graphicData uri="http://schemas.openxmlformats.org/presentationml/2006/ole">
            <mc:AlternateContent xmlns:mc="http://schemas.openxmlformats.org/markup-compatibility/2006">
              <mc:Choice xmlns:v="urn:schemas-microsoft-com:vml" Requires="v">
                <p:oleObj name="SmartDraw" r:id="rId2" imgW="4846320" imgH="3053880" progId="">
                  <p:embed/>
                </p:oleObj>
              </mc:Choice>
              <mc:Fallback>
                <p:oleObj name="SmartDraw" r:id="rId2" imgW="4846320" imgH="3053880" progId="">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066800"/>
                        <a:ext cx="7924800" cy="457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2"/>
          <p:cNvSpPr>
            <a:spLocks noGrp="1" noChangeArrowheads="1"/>
          </p:cNvSpPr>
          <p:nvPr>
            <p:ph type="title"/>
          </p:nvPr>
        </p:nvSpPr>
        <p:spPr>
          <a:xfrm>
            <a:off x="-76200" y="0"/>
            <a:ext cx="9220200" cy="641350"/>
          </a:xfrm>
          <a:solidFill>
            <a:schemeClr val="accent2"/>
          </a:solidFill>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800" b="1" dirty="0">
                <a:latin typeface="Calibri" pitchFamily="34" charset="0"/>
              </a:rPr>
              <a:t>What is Distributed systems ?</a:t>
            </a:r>
          </a:p>
        </p:txBody>
      </p:sp>
      <p:sp>
        <p:nvSpPr>
          <p:cNvPr id="7" name="Footer Placeholder 6"/>
          <p:cNvSpPr>
            <a:spLocks noGrp="1"/>
          </p:cNvSpPr>
          <p:nvPr>
            <p:ph type="ftr" sz="quarter" idx="11"/>
          </p:nvPr>
        </p:nvSpPr>
        <p:spPr/>
        <p:txBody>
          <a:bodyPr/>
          <a:lstStyle/>
          <a:p>
            <a:r>
              <a:rPr lang="en-US" dirty="0"/>
              <a:t>- Assistant  Prof. </a:t>
            </a:r>
            <a:r>
              <a:rPr lang="en-US" dirty="0" err="1"/>
              <a:t>Riddhi</a:t>
            </a:r>
            <a:r>
              <a:rPr lang="en-US" dirty="0"/>
              <a:t> Joshi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04800" y="1351508"/>
            <a:ext cx="8534400" cy="38164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en-US" sz="2200" b="1" dirty="0"/>
              <a:t>Key Characteristics:</a:t>
            </a:r>
            <a:endParaRPr lang="en-US" sz="2200" dirty="0"/>
          </a:p>
          <a:p>
            <a:pPr algn="just">
              <a:buFont typeface="+mj-lt"/>
              <a:buAutoNum type="arabicPeriod"/>
            </a:pPr>
            <a:r>
              <a:rPr lang="en-US" sz="2200" b="1" dirty="0"/>
              <a:t>Concurrency</a:t>
            </a:r>
            <a:r>
              <a:rPr lang="en-US" sz="2200" dirty="0"/>
              <a:t>: Tasks can be executed concurrently on different machines.</a:t>
            </a:r>
          </a:p>
          <a:p>
            <a:pPr algn="just">
              <a:buFont typeface="+mj-lt"/>
              <a:buAutoNum type="arabicPeriod"/>
            </a:pPr>
            <a:r>
              <a:rPr lang="en-US" sz="2200" b="1" dirty="0"/>
              <a:t>Scalability</a:t>
            </a:r>
            <a:r>
              <a:rPr lang="en-US" sz="2200" dirty="0"/>
              <a:t>: The system can be scaled horizontally by adding more machines.</a:t>
            </a:r>
          </a:p>
          <a:p>
            <a:pPr algn="just">
              <a:buFont typeface="+mj-lt"/>
              <a:buAutoNum type="arabicPeriod"/>
            </a:pPr>
            <a:r>
              <a:rPr lang="en-US" sz="2200" b="1" dirty="0"/>
              <a:t>Fault Tolerance</a:t>
            </a:r>
            <a:r>
              <a:rPr lang="en-US" sz="2200" dirty="0"/>
              <a:t>: The system can continue to operate even if some machines fail.</a:t>
            </a:r>
          </a:p>
          <a:p>
            <a:pPr algn="just">
              <a:buFont typeface="+mj-lt"/>
              <a:buAutoNum type="arabicPeriod"/>
            </a:pPr>
            <a:r>
              <a:rPr lang="en-US" sz="2200" b="1" dirty="0"/>
              <a:t>Resource Sharing</a:t>
            </a:r>
            <a:r>
              <a:rPr lang="en-US" sz="2200" dirty="0"/>
              <a:t>: Nodes share resources such as CPU, memory, and storage.</a:t>
            </a:r>
          </a:p>
          <a:p>
            <a:pPr algn="just">
              <a:buFont typeface="+mj-lt"/>
              <a:buAutoNum type="arabicPeriod"/>
            </a:pPr>
            <a:r>
              <a:rPr lang="en-US" sz="2200" b="1" dirty="0"/>
              <a:t>Transparency</a:t>
            </a:r>
            <a:r>
              <a:rPr lang="en-US" sz="2200" dirty="0"/>
              <a:t>: The complexity of the distributed nature is hidden from the user.</a:t>
            </a:r>
          </a:p>
        </p:txBody>
      </p:sp>
      <p:sp>
        <p:nvSpPr>
          <p:cNvPr id="2" name="Title 1">
            <a:extLst>
              <a:ext uri="{FF2B5EF4-FFF2-40B4-BE49-F238E27FC236}">
                <a16:creationId xmlns:a16="http://schemas.microsoft.com/office/drawing/2014/main" id="{7F6F44B8-8F1C-0579-26FE-49A393C60EBD}"/>
              </a:ext>
            </a:extLst>
          </p:cNvPr>
          <p:cNvSpPr>
            <a:spLocks noGrp="1"/>
          </p:cNvSpPr>
          <p:nvPr>
            <p:ph type="title"/>
          </p:nvPr>
        </p:nvSpPr>
        <p:spPr>
          <a:xfrm>
            <a:off x="0" y="-46372"/>
            <a:ext cx="9144000" cy="639762"/>
          </a:xfrm>
          <a:solidFill>
            <a:schemeClr val="accent2"/>
          </a:solidFill>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800" b="1" dirty="0">
                <a:latin typeface="Calibri" pitchFamily="34" charset="0"/>
              </a:rPr>
              <a:t>Distributed Computing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1770" y="685800"/>
            <a:ext cx="8969829" cy="507831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Wingdings" panose="05000000000000000000" pitchFamily="2" charset="2"/>
              <a:buChar char="Ø"/>
            </a:pPr>
            <a:r>
              <a:rPr lang="en-US" b="1" dirty="0"/>
              <a:t>Example: MapReduce Framework</a:t>
            </a:r>
            <a:endParaRPr lang="en-US" dirty="0"/>
          </a:p>
          <a:p>
            <a:pPr marL="285750" indent="-285750" algn="just">
              <a:buFont typeface="Wingdings" panose="05000000000000000000" pitchFamily="2" charset="2"/>
              <a:buChar char="Ø"/>
            </a:pPr>
            <a:r>
              <a:rPr lang="en-US" b="1" dirty="0"/>
              <a:t>MapReduce</a:t>
            </a:r>
            <a:r>
              <a:rPr lang="en-US" dirty="0"/>
              <a:t> is a widely-used distributed computing framework designed to process large data sets across a distributed cluster of computers. </a:t>
            </a:r>
          </a:p>
          <a:p>
            <a:pPr marL="285750" indent="-285750" algn="just">
              <a:buFont typeface="Wingdings" panose="05000000000000000000" pitchFamily="2" charset="2"/>
              <a:buChar char="Ø"/>
            </a:pPr>
            <a:r>
              <a:rPr lang="en-US" dirty="0"/>
              <a:t>It was originally developed by Google and is now implemented in various big data processing platforms like Apache Hadoop.</a:t>
            </a:r>
          </a:p>
          <a:p>
            <a:pPr marL="285750" indent="-285750">
              <a:buFont typeface="Wingdings" panose="05000000000000000000" pitchFamily="2" charset="2"/>
              <a:buChar char="Ø"/>
            </a:pPr>
            <a:r>
              <a:rPr lang="en-US" b="1" dirty="0"/>
              <a:t>How MapReduce Works:</a:t>
            </a:r>
            <a:endParaRPr lang="en-US" dirty="0"/>
          </a:p>
          <a:p>
            <a:pPr marL="285750" indent="-285750">
              <a:buFont typeface="Wingdings" panose="05000000000000000000" pitchFamily="2" charset="2"/>
              <a:buChar char="Ø"/>
            </a:pPr>
            <a:r>
              <a:rPr lang="en-US" b="1" dirty="0"/>
              <a:t>Map Phase</a:t>
            </a:r>
            <a:r>
              <a:rPr lang="en-US" dirty="0"/>
              <a:t>:</a:t>
            </a:r>
          </a:p>
          <a:p>
            <a:pPr marL="742950" lvl="1" indent="-285750">
              <a:buFont typeface="Wingdings" panose="05000000000000000000" pitchFamily="2" charset="2"/>
              <a:buChar char="Ø"/>
            </a:pPr>
            <a:r>
              <a:rPr lang="en-US" dirty="0"/>
              <a:t>The input data is divided into smaller chunks.</a:t>
            </a:r>
          </a:p>
          <a:p>
            <a:pPr marL="742950" lvl="1" indent="-285750">
              <a:buFont typeface="Wingdings" panose="05000000000000000000" pitchFamily="2" charset="2"/>
              <a:buChar char="Ø"/>
            </a:pPr>
            <a:r>
              <a:rPr lang="en-US" dirty="0"/>
              <a:t>Each chunk is processed in parallel by a different node in the cluster.</a:t>
            </a:r>
          </a:p>
          <a:p>
            <a:pPr marL="742950" lvl="1" indent="-285750">
              <a:buFont typeface="Wingdings" panose="05000000000000000000" pitchFamily="2" charset="2"/>
              <a:buChar char="Ø"/>
            </a:pPr>
            <a:r>
              <a:rPr lang="en-US" dirty="0"/>
              <a:t>The processing involves applying a map function that transforms the input data into key-value pairs.</a:t>
            </a:r>
          </a:p>
          <a:p>
            <a:pPr marL="285750" indent="-285750">
              <a:buFont typeface="Wingdings" panose="05000000000000000000" pitchFamily="2" charset="2"/>
              <a:buChar char="Ø"/>
            </a:pPr>
            <a:r>
              <a:rPr lang="en-US" b="1" dirty="0"/>
              <a:t>Shuffle and Sort Phase</a:t>
            </a:r>
            <a:r>
              <a:rPr lang="en-US" dirty="0"/>
              <a:t>:</a:t>
            </a:r>
          </a:p>
          <a:p>
            <a:pPr marL="742950" lvl="1" indent="-285750">
              <a:buFont typeface="Wingdings" panose="05000000000000000000" pitchFamily="2" charset="2"/>
              <a:buChar char="Ø"/>
            </a:pPr>
            <a:r>
              <a:rPr lang="en-US" dirty="0"/>
              <a:t>The key-value pairs produced by the map function are grouped by key.</a:t>
            </a:r>
          </a:p>
          <a:p>
            <a:pPr marL="742950" lvl="1" indent="-285750">
              <a:buFont typeface="Wingdings" panose="05000000000000000000" pitchFamily="2" charset="2"/>
              <a:buChar char="Ø"/>
            </a:pPr>
            <a:r>
              <a:rPr lang="en-US" dirty="0"/>
              <a:t>The data is shuffled and sorted to prepare for the reduce phase.</a:t>
            </a:r>
          </a:p>
          <a:p>
            <a:pPr marL="285750" indent="-285750">
              <a:buFont typeface="Wingdings" panose="05000000000000000000" pitchFamily="2" charset="2"/>
              <a:buChar char="Ø"/>
            </a:pPr>
            <a:r>
              <a:rPr lang="en-US" b="1" dirty="0"/>
              <a:t>Reduce Phase</a:t>
            </a:r>
            <a:r>
              <a:rPr lang="en-US" dirty="0"/>
              <a:t>:</a:t>
            </a:r>
          </a:p>
          <a:p>
            <a:pPr marL="742950" lvl="1" indent="-285750">
              <a:buFont typeface="Wingdings" panose="05000000000000000000" pitchFamily="2" charset="2"/>
              <a:buChar char="Ø"/>
            </a:pPr>
            <a:r>
              <a:rPr lang="en-US" dirty="0"/>
              <a:t>The grouped key-value pairs are processed by the reduce function.</a:t>
            </a:r>
          </a:p>
          <a:p>
            <a:pPr marL="742950" lvl="1" indent="-285750">
              <a:buFont typeface="Wingdings" panose="05000000000000000000" pitchFamily="2" charset="2"/>
              <a:buChar char="Ø"/>
            </a:pPr>
            <a:r>
              <a:rPr lang="en-US" dirty="0"/>
              <a:t>The reduce function aggregates or summarizes the data based on the keys.</a:t>
            </a:r>
          </a:p>
          <a:p>
            <a:pPr marL="742950" lvl="1" indent="-285750">
              <a:buFont typeface="Wingdings" panose="05000000000000000000" pitchFamily="2" charset="2"/>
              <a:buChar char="Ø"/>
            </a:pPr>
            <a:r>
              <a:rPr lang="en-US" dirty="0"/>
              <a:t>The final output is a set of key-value pairs representing the aggregated data.</a:t>
            </a:r>
          </a:p>
        </p:txBody>
      </p:sp>
      <p:sp>
        <p:nvSpPr>
          <p:cNvPr id="2" name="Title 1">
            <a:extLst>
              <a:ext uri="{FF2B5EF4-FFF2-40B4-BE49-F238E27FC236}">
                <a16:creationId xmlns:a16="http://schemas.microsoft.com/office/drawing/2014/main" id="{7F6F44B8-8F1C-0579-26FE-49A393C60EBD}"/>
              </a:ext>
            </a:extLst>
          </p:cNvPr>
          <p:cNvSpPr>
            <a:spLocks noGrp="1"/>
          </p:cNvSpPr>
          <p:nvPr>
            <p:ph type="title"/>
          </p:nvPr>
        </p:nvSpPr>
        <p:spPr>
          <a:xfrm>
            <a:off x="0" y="-46372"/>
            <a:ext cx="9144000" cy="639762"/>
          </a:xfrm>
          <a:solidFill>
            <a:schemeClr val="accent2"/>
          </a:solidFill>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800" b="1" dirty="0">
                <a:latin typeface="Calibri" pitchFamily="34" charset="0"/>
              </a:rPr>
              <a:t>Distributed Computing</a:t>
            </a:r>
          </a:p>
        </p:txBody>
      </p:sp>
    </p:spTree>
    <p:extLst>
      <p:ext uri="{BB962C8B-B14F-4D97-AF65-F5344CB8AC3E}">
        <p14:creationId xmlns:p14="http://schemas.microsoft.com/office/powerpoint/2010/main" val="30210508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81000" y="1167348"/>
            <a:ext cx="8534400" cy="378565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400" dirty="0">
                <a:solidFill>
                  <a:srgbClr val="FF0F1B"/>
                </a:solidFill>
                <a:latin typeface="Calibri" pitchFamily="34" charset="0"/>
              </a:rPr>
              <a:t>Hardware</a:t>
            </a:r>
            <a:r>
              <a:rPr lang="en-US" sz="2400" dirty="0">
                <a:latin typeface="Calibri" pitchFamily="34" charset="0"/>
              </a:rPr>
              <a:t> is distributed</a:t>
            </a:r>
          </a:p>
          <a:p>
            <a:pPr marL="742950" lvl="1" indent="-285750"/>
            <a:r>
              <a:rPr lang="en-US" sz="2400" dirty="0">
                <a:latin typeface="Calibri" pitchFamily="34" charset="0"/>
              </a:rPr>
              <a:t>n processing elements (processor + memory)</a:t>
            </a:r>
          </a:p>
          <a:p>
            <a:pPr marL="742950" lvl="1" indent="-285750"/>
            <a:r>
              <a:rPr lang="en-US" sz="2400" dirty="0">
                <a:latin typeface="Calibri" pitchFamily="34" charset="0"/>
              </a:rPr>
              <a:t>Interconnected by some network</a:t>
            </a:r>
          </a:p>
          <a:p>
            <a:pPr marL="742950" lvl="1" indent="-285750"/>
            <a:r>
              <a:rPr lang="en-US" sz="2400" dirty="0">
                <a:latin typeface="Calibri" pitchFamily="34" charset="0"/>
              </a:rPr>
              <a:t>No shared memory</a:t>
            </a:r>
          </a:p>
          <a:p>
            <a:pPr marL="742950" lvl="1" indent="-285750"/>
            <a:endParaRPr lang="en-US" sz="2400" dirty="0">
              <a:latin typeface="Calibri" pitchFamily="34" charset="0"/>
            </a:endParaRPr>
          </a:p>
          <a:p>
            <a:r>
              <a:rPr lang="en-US" sz="2400" dirty="0">
                <a:solidFill>
                  <a:srgbClr val="FF0F1B"/>
                </a:solidFill>
                <a:latin typeface="Calibri" pitchFamily="34" charset="0"/>
              </a:rPr>
              <a:t>Software</a:t>
            </a:r>
            <a:r>
              <a:rPr lang="en-US" sz="2400" dirty="0">
                <a:latin typeface="Calibri" pitchFamily="34" charset="0"/>
              </a:rPr>
              <a:t> is distributed</a:t>
            </a:r>
          </a:p>
          <a:p>
            <a:pPr marL="742950" lvl="1" indent="-285750"/>
            <a:r>
              <a:rPr lang="en-US" sz="2400" dirty="0">
                <a:latin typeface="Calibri" pitchFamily="34" charset="0"/>
              </a:rPr>
              <a:t>No centralized OS, each system has its own copy of OS</a:t>
            </a:r>
          </a:p>
          <a:p>
            <a:pPr marL="742950" lvl="1" indent="-285750"/>
            <a:r>
              <a:rPr lang="en-US" sz="2400" dirty="0">
                <a:latin typeface="Calibri" pitchFamily="34" charset="0"/>
              </a:rPr>
              <a:t>No physically centralized file system</a:t>
            </a:r>
          </a:p>
          <a:p>
            <a:pPr marL="742950" lvl="1" indent="-285750"/>
            <a:r>
              <a:rPr lang="en-US" sz="2400" dirty="0">
                <a:latin typeface="Calibri" pitchFamily="34" charset="0"/>
              </a:rPr>
              <a:t>Means for inter-process communication is message passing at the lowest level</a:t>
            </a:r>
          </a:p>
        </p:txBody>
      </p:sp>
      <p:sp>
        <p:nvSpPr>
          <p:cNvPr id="7" name="Rectangle 2"/>
          <p:cNvSpPr>
            <a:spLocks noGrp="1" noChangeArrowheads="1"/>
          </p:cNvSpPr>
          <p:nvPr>
            <p:ph type="title"/>
          </p:nvPr>
        </p:nvSpPr>
        <p:spPr>
          <a:xfrm>
            <a:off x="228600" y="152400"/>
            <a:ext cx="8162925" cy="641350"/>
          </a:xfrm>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400" b="1" dirty="0">
                <a:latin typeface="Calibri" pitchFamily="34" charset="0"/>
              </a:rPr>
              <a:t>What is Distributed systems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28600" y="1295400"/>
            <a:ext cx="8382000" cy="374871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ct val="90000"/>
              </a:lnSpc>
              <a:buFont typeface="Arial" pitchFamily="34" charset="0"/>
              <a:buChar char="•"/>
            </a:pPr>
            <a:r>
              <a:rPr lang="en-US" sz="2400" dirty="0">
                <a:latin typeface="Calibri" pitchFamily="34" charset="0"/>
              </a:rPr>
              <a:t> Information exchange (collaborative work)</a:t>
            </a:r>
          </a:p>
          <a:p>
            <a:pPr>
              <a:lnSpc>
                <a:spcPct val="90000"/>
              </a:lnSpc>
              <a:buFont typeface="Arial" pitchFamily="34" charset="0"/>
              <a:buChar char="•"/>
            </a:pPr>
            <a:endParaRPr lang="en-US" sz="2400" dirty="0">
              <a:latin typeface="Calibri" pitchFamily="34" charset="0"/>
            </a:endParaRPr>
          </a:p>
          <a:p>
            <a:pPr>
              <a:lnSpc>
                <a:spcPct val="90000"/>
              </a:lnSpc>
              <a:buFont typeface="Arial" pitchFamily="34" charset="0"/>
              <a:buChar char="•"/>
            </a:pPr>
            <a:r>
              <a:rPr lang="en-US" sz="2400" dirty="0">
                <a:latin typeface="Calibri" pitchFamily="34" charset="0"/>
              </a:rPr>
              <a:t> Resource sharing (e.g. printer, backup storage, disk units, etc.)</a:t>
            </a:r>
          </a:p>
          <a:p>
            <a:pPr>
              <a:lnSpc>
                <a:spcPct val="90000"/>
              </a:lnSpc>
              <a:buFont typeface="Arial" pitchFamily="34" charset="0"/>
              <a:buChar char="•"/>
            </a:pPr>
            <a:endParaRPr lang="en-US" sz="2400" dirty="0">
              <a:latin typeface="Calibri" pitchFamily="34" charset="0"/>
            </a:endParaRPr>
          </a:p>
          <a:p>
            <a:pPr>
              <a:lnSpc>
                <a:spcPct val="90000"/>
              </a:lnSpc>
              <a:buFont typeface="Arial" pitchFamily="34" charset="0"/>
              <a:buChar char="•"/>
            </a:pPr>
            <a:r>
              <a:rPr lang="en-US" sz="2400" dirty="0">
                <a:latin typeface="Calibri" pitchFamily="34" charset="0"/>
              </a:rPr>
              <a:t> Resource sharing (applications, information, media, services)</a:t>
            </a:r>
          </a:p>
          <a:p>
            <a:pPr>
              <a:lnSpc>
                <a:spcPct val="90000"/>
              </a:lnSpc>
              <a:buFont typeface="Arial" pitchFamily="34" charset="0"/>
              <a:buChar char="•"/>
            </a:pPr>
            <a:endParaRPr lang="en-US" sz="2400" dirty="0">
              <a:latin typeface="Calibri" pitchFamily="34" charset="0"/>
            </a:endParaRPr>
          </a:p>
          <a:p>
            <a:pPr>
              <a:lnSpc>
                <a:spcPct val="90000"/>
              </a:lnSpc>
              <a:buFont typeface="Arial" pitchFamily="34" charset="0"/>
              <a:buChar char="•"/>
            </a:pPr>
            <a:r>
              <a:rPr lang="en-US" sz="2400" dirty="0">
                <a:latin typeface="Calibri" pitchFamily="34" charset="0"/>
              </a:rPr>
              <a:t> Cost reduction </a:t>
            </a:r>
          </a:p>
          <a:p>
            <a:pPr>
              <a:lnSpc>
                <a:spcPct val="90000"/>
              </a:lnSpc>
              <a:buFont typeface="Arial" pitchFamily="34" charset="0"/>
              <a:buChar char="•"/>
            </a:pPr>
            <a:endParaRPr lang="en-US" sz="2400" dirty="0">
              <a:latin typeface="Calibri" pitchFamily="34" charset="0"/>
            </a:endParaRPr>
          </a:p>
          <a:p>
            <a:pPr>
              <a:lnSpc>
                <a:spcPct val="90000"/>
              </a:lnSpc>
              <a:buFont typeface="Arial" pitchFamily="34" charset="0"/>
              <a:buChar char="•"/>
            </a:pPr>
            <a:r>
              <a:rPr lang="en-US" sz="2400" dirty="0">
                <a:latin typeface="Calibri" pitchFamily="34" charset="0"/>
              </a:rPr>
              <a:t> Increase of availability (partial failure)</a:t>
            </a:r>
          </a:p>
          <a:p>
            <a:pPr>
              <a:lnSpc>
                <a:spcPct val="90000"/>
              </a:lnSpc>
              <a:buFont typeface="Arial" pitchFamily="34" charset="0"/>
              <a:buChar char="•"/>
            </a:pPr>
            <a:endParaRPr lang="en-US" sz="2400" dirty="0">
              <a:latin typeface="Calibri" pitchFamily="34" charset="0"/>
            </a:endParaRPr>
          </a:p>
          <a:p>
            <a:pPr>
              <a:lnSpc>
                <a:spcPct val="90000"/>
              </a:lnSpc>
              <a:buFont typeface="Arial" pitchFamily="34" charset="0"/>
              <a:buChar char="•"/>
            </a:pPr>
            <a:r>
              <a:rPr lang="en-US" sz="2400" dirty="0">
                <a:latin typeface="Calibri" pitchFamily="34" charset="0"/>
              </a:rPr>
              <a:t> Increase of performance through parallelism</a:t>
            </a:r>
          </a:p>
        </p:txBody>
      </p:sp>
      <p:sp>
        <p:nvSpPr>
          <p:cNvPr id="7" name="Rectangle 2"/>
          <p:cNvSpPr>
            <a:spLocks noGrp="1" noChangeArrowheads="1"/>
          </p:cNvSpPr>
          <p:nvPr>
            <p:ph type="title"/>
          </p:nvPr>
        </p:nvSpPr>
        <p:spPr>
          <a:xfrm>
            <a:off x="228600" y="152400"/>
            <a:ext cx="8162925" cy="641350"/>
          </a:xfrm>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400" b="1" dirty="0">
                <a:latin typeface="Calibri" pitchFamily="34" charset="0"/>
              </a:rPr>
              <a:t>Why Distributed systems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639762"/>
          </a:xfrm>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800" b="1" dirty="0">
                <a:latin typeface="Calibri" pitchFamily="34" charset="0"/>
              </a:rPr>
              <a:t>Few Other Definitions</a:t>
            </a:r>
          </a:p>
        </p:txBody>
      </p:sp>
      <p:sp>
        <p:nvSpPr>
          <p:cNvPr id="3" name="Content Placeholder 2"/>
          <p:cNvSpPr>
            <a:spLocks noGrp="1"/>
          </p:cNvSpPr>
          <p:nvPr>
            <p:ph idx="1"/>
          </p:nvPr>
        </p:nvSpPr>
        <p:spPr>
          <a:xfrm>
            <a:off x="533400" y="1447800"/>
            <a:ext cx="8153400" cy="3810000"/>
          </a:xfrm>
        </p:spPr>
        <p:style>
          <a:lnRef idx="2">
            <a:schemeClr val="accent1"/>
          </a:lnRef>
          <a:fillRef idx="1">
            <a:schemeClr val="lt1"/>
          </a:fillRef>
          <a:effectRef idx="0">
            <a:schemeClr val="accent1"/>
          </a:effectRef>
          <a:fontRef idx="minor">
            <a:schemeClr val="dk1"/>
          </a:fontRef>
        </p:style>
        <p:txBody>
          <a:bodyPr>
            <a:normAutofit/>
          </a:bodyPr>
          <a:lstStyle/>
          <a:p>
            <a:pPr algn="just"/>
            <a:r>
              <a:rPr lang="en-US" sz="2400" dirty="0">
                <a:latin typeface="Calibri" pitchFamily="34" charset="0"/>
              </a:rPr>
              <a:t>Distributed computing is when you take a large task and break it down into many small parts and have an entire bank of computers working on the project instead of just one.</a:t>
            </a:r>
          </a:p>
          <a:p>
            <a:pPr algn="just">
              <a:buNone/>
            </a:pPr>
            <a:r>
              <a:rPr lang="en-US" sz="2400" dirty="0">
                <a:latin typeface="Calibri" pitchFamily="34" charset="0"/>
              </a:rPr>
              <a:t> </a:t>
            </a:r>
          </a:p>
          <a:p>
            <a:pPr algn="just"/>
            <a:r>
              <a:rPr lang="en-US" sz="2400" dirty="0">
                <a:latin typeface="Calibri" pitchFamily="34" charset="0"/>
              </a:rPr>
              <a:t>This allows for a project to be completed faster, using the processing power of many computers which are in the bank that is working on the project. </a:t>
            </a:r>
          </a:p>
        </p:txBody>
      </p:sp>
      <p:sp>
        <p:nvSpPr>
          <p:cNvPr id="6" name="Footer Placeholder 5"/>
          <p:cNvSpPr>
            <a:spLocks noGrp="1"/>
          </p:cNvSpPr>
          <p:nvPr>
            <p:ph type="ftr" sz="quarter" idx="11"/>
          </p:nvPr>
        </p:nvSpPr>
        <p:spPr/>
        <p:txBody>
          <a:bodyPr/>
          <a:lstStyle/>
          <a:p>
            <a:r>
              <a:rPr lang="en-US"/>
              <a:t>- Assistant  Prof. Riddhi Joshi</a:t>
            </a:r>
          </a:p>
        </p:txBody>
      </p:sp>
      <p:sp>
        <p:nvSpPr>
          <p:cNvPr id="5" name="Slide Number Placeholder 4"/>
          <p:cNvSpPr>
            <a:spLocks noGrp="1"/>
          </p:cNvSpPr>
          <p:nvPr>
            <p:ph type="sldNum" sz="quarter" idx="12"/>
          </p:nvPr>
        </p:nvSpPr>
        <p:spPr/>
        <p:txBody>
          <a:bodyPr/>
          <a:lstStyle/>
          <a:p>
            <a:fld id="{521E5947-19AD-4D38-BBE9-7D3EA973E689}"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14400" y="274638"/>
            <a:ext cx="7772400" cy="868362"/>
          </a:xfrm>
        </p:spPr>
        <p:txBody>
          <a:bodyPr/>
          <a:lstStyle/>
          <a:p>
            <a:r>
              <a:rPr lang="en-US" dirty="0"/>
              <a:t>Cont…</a:t>
            </a:r>
          </a:p>
        </p:txBody>
      </p:sp>
      <p:sp>
        <p:nvSpPr>
          <p:cNvPr id="2" name="Content Placeholder 1"/>
          <p:cNvSpPr>
            <a:spLocks noGrp="1"/>
          </p:cNvSpPr>
          <p:nvPr>
            <p:ph idx="1"/>
          </p:nvPr>
        </p:nvSpPr>
        <p:spPr>
          <a:xfrm>
            <a:off x="609600" y="1295400"/>
            <a:ext cx="7924800" cy="4572000"/>
          </a:xfrm>
        </p:spPr>
        <p:style>
          <a:lnRef idx="2">
            <a:schemeClr val="accent1"/>
          </a:lnRef>
          <a:fillRef idx="1">
            <a:schemeClr val="lt1"/>
          </a:fillRef>
          <a:effectRef idx="0">
            <a:schemeClr val="accent1"/>
          </a:effectRef>
          <a:fontRef idx="minor">
            <a:schemeClr val="dk1"/>
          </a:fontRef>
        </p:style>
        <p:txBody>
          <a:bodyPr>
            <a:normAutofit/>
          </a:bodyPr>
          <a:lstStyle/>
          <a:p>
            <a:pPr algn="just"/>
            <a:r>
              <a:rPr lang="en-US" sz="2400" dirty="0">
                <a:latin typeface="Calibri" pitchFamily="34" charset="0"/>
              </a:rPr>
              <a:t>Simply put, distributed computing is a way to take a task that would take one computer million years to complete, and instead hand it to a million computers, thus making the task obtainable.</a:t>
            </a:r>
          </a:p>
          <a:p>
            <a:pPr>
              <a:buNone/>
            </a:pPr>
            <a:endParaRPr lang="en-US" sz="2400" dirty="0">
              <a:latin typeface="Calibri" pitchFamily="34" charset="0"/>
            </a:endParaRPr>
          </a:p>
          <a:p>
            <a:pPr algn="just"/>
            <a:r>
              <a:rPr lang="en-US" sz="2400" b="1" dirty="0">
                <a:solidFill>
                  <a:schemeClr val="bg2">
                    <a:lumMod val="50000"/>
                  </a:schemeClr>
                </a:solidFill>
                <a:latin typeface="Calibri" pitchFamily="34" charset="0"/>
              </a:rPr>
              <a:t>By Wikipedia: </a:t>
            </a:r>
            <a:r>
              <a:rPr lang="en-US" sz="2400" dirty="0">
                <a:latin typeface="Calibri" pitchFamily="34" charset="0"/>
              </a:rPr>
              <a:t>	</a:t>
            </a:r>
            <a:r>
              <a:rPr lang="en-US" sz="2400" dirty="0">
                <a:solidFill>
                  <a:schemeClr val="accent2">
                    <a:lumMod val="75000"/>
                  </a:schemeClr>
                </a:solidFill>
                <a:latin typeface="Calibri" pitchFamily="34" charset="0"/>
              </a:rPr>
              <a:t>Distributed computing also refers to the use of distributed systems to solve computational problems.</a:t>
            </a:r>
            <a:r>
              <a:rPr lang="en-US" sz="2400" dirty="0">
                <a:latin typeface="Calibri" pitchFamily="34" charset="0"/>
              </a:rPr>
              <a:t> In distributed computing, a problem is divided into many tasks, each of which is solved by one or more computers</a:t>
            </a:r>
          </a:p>
          <a:p>
            <a:pPr>
              <a:buNone/>
            </a:pPr>
            <a:endParaRPr lang="en-US" sz="2400" dirty="0">
              <a:latin typeface="Calibri" pitchFamily="34" charset="0"/>
            </a:endParaRPr>
          </a:p>
        </p:txBody>
      </p:sp>
      <p:sp>
        <p:nvSpPr>
          <p:cNvPr id="3" name="Footer Placeholder 2"/>
          <p:cNvSpPr>
            <a:spLocks noGrp="1"/>
          </p:cNvSpPr>
          <p:nvPr>
            <p:ph type="ftr" sz="quarter" idx="11"/>
          </p:nvPr>
        </p:nvSpPr>
        <p:spPr/>
        <p:txBody>
          <a:bodyPr/>
          <a:lstStyle/>
          <a:p>
            <a:r>
              <a:rPr lang="en-US"/>
              <a:t>- Assistant  Prof. Riddhi Joshi</a:t>
            </a:r>
          </a:p>
        </p:txBody>
      </p:sp>
      <p:sp>
        <p:nvSpPr>
          <p:cNvPr id="5" name="Slide Number Placeholder 4"/>
          <p:cNvSpPr>
            <a:spLocks noGrp="1"/>
          </p:cNvSpPr>
          <p:nvPr>
            <p:ph type="sldNum" sz="quarter" idx="12"/>
          </p:nvPr>
        </p:nvSpPr>
        <p:spPr/>
        <p:txBody>
          <a:bodyPr/>
          <a:lstStyle/>
          <a:p>
            <a:fld id="{521E5947-19AD-4D38-BBE9-7D3EA973E689}"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15962"/>
          </a:xfrm>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latin typeface="Calibri" pitchFamily="34" charset="0"/>
              </a:rPr>
              <a:t>Fig. Shows Distributed Computing</a:t>
            </a:r>
          </a:p>
        </p:txBody>
      </p:sp>
      <p:pic>
        <p:nvPicPr>
          <p:cNvPr id="4" name="圖片 3" descr="mo2.jpg"/>
          <p:cNvPicPr>
            <a:picLocks noGrp="1" noChangeAspect="1"/>
          </p:cNvPicPr>
          <p:nvPr>
            <p:ph idx="1"/>
          </p:nvPr>
        </p:nvPicPr>
        <p:blipFill>
          <a:blip r:embed="rId2"/>
          <a:stretch>
            <a:fillRect/>
          </a:stretch>
        </p:blipFill>
        <p:spPr bwMode="auto">
          <a:xfrm>
            <a:off x="1935481" y="1846263"/>
            <a:ext cx="5317488" cy="40227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Footer Placeholder 4"/>
          <p:cNvSpPr>
            <a:spLocks noGrp="1"/>
          </p:cNvSpPr>
          <p:nvPr>
            <p:ph type="ftr" sz="quarter" idx="11"/>
          </p:nvPr>
        </p:nvSpPr>
        <p:spPr/>
        <p:txBody>
          <a:bodyPr/>
          <a:lstStyle/>
          <a:p>
            <a:r>
              <a:rPr lang="en-US"/>
              <a:t>- Assistant  Prof. Riddhi Joshi</a:t>
            </a:r>
          </a:p>
        </p:txBody>
      </p:sp>
      <p:sp>
        <p:nvSpPr>
          <p:cNvPr id="6" name="Slide Number Placeholder 5"/>
          <p:cNvSpPr>
            <a:spLocks noGrp="1"/>
          </p:cNvSpPr>
          <p:nvPr>
            <p:ph type="sldNum" sz="quarter" idx="12"/>
          </p:nvPr>
        </p:nvSpPr>
        <p:spPr/>
        <p:txBody>
          <a:bodyPr/>
          <a:lstStyle/>
          <a:p>
            <a:fld id="{521E5947-19AD-4D38-BBE9-7D3EA973E689}"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distributed-computing.jpg"/>
          <p:cNvPicPr>
            <a:picLocks noGrp="1" noChangeAspect="1"/>
          </p:cNvPicPr>
          <p:nvPr>
            <p:ph idx="1"/>
          </p:nvPr>
        </p:nvPicPr>
        <p:blipFill>
          <a:blip r:embed="rId2"/>
          <a:stretch>
            <a:fillRect/>
          </a:stretch>
        </p:blipFill>
        <p:spPr>
          <a:xfrm>
            <a:off x="685800" y="304800"/>
            <a:ext cx="7620000" cy="5715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Footer Placeholder 2"/>
          <p:cNvSpPr>
            <a:spLocks noGrp="1"/>
          </p:cNvSpPr>
          <p:nvPr>
            <p:ph type="ftr" sz="quarter" idx="11"/>
          </p:nvPr>
        </p:nvSpPr>
        <p:spPr/>
        <p:txBody>
          <a:bodyPr/>
          <a:lstStyle/>
          <a:p>
            <a:r>
              <a:rPr lang="en-US"/>
              <a:t>- Assistant  Prof. Riddhi Joshi</a:t>
            </a:r>
          </a:p>
        </p:txBody>
      </p:sp>
      <p:sp>
        <p:nvSpPr>
          <p:cNvPr id="4" name="Slide Number Placeholder 3"/>
          <p:cNvSpPr>
            <a:spLocks noGrp="1"/>
          </p:cNvSpPr>
          <p:nvPr>
            <p:ph type="sldNum" sz="quarter" idx="12"/>
          </p:nvPr>
        </p:nvSpPr>
        <p:spPr/>
        <p:txBody>
          <a:bodyPr/>
          <a:lstStyle/>
          <a:p>
            <a:fld id="{521E5947-19AD-4D38-BBE9-7D3EA973E689}"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14400" y="274638"/>
            <a:ext cx="7772400" cy="563562"/>
          </a:xfrm>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latin typeface="Calibri" pitchFamily="34" charset="0"/>
              </a:rPr>
              <a:t>Comp. in Distributed Computing</a:t>
            </a:r>
          </a:p>
        </p:txBody>
      </p:sp>
      <p:sp>
        <p:nvSpPr>
          <p:cNvPr id="2" name="Content Placeholder 1"/>
          <p:cNvSpPr>
            <a:spLocks noGrp="1"/>
          </p:cNvSpPr>
          <p:nvPr>
            <p:ph idx="1"/>
          </p:nvPr>
        </p:nvSpPr>
        <p:spPr>
          <a:xfrm>
            <a:off x="685800" y="1219200"/>
            <a:ext cx="8001000" cy="4572000"/>
          </a:xfrm>
        </p:spPr>
        <p:style>
          <a:lnRef idx="2">
            <a:schemeClr val="accent1"/>
          </a:lnRef>
          <a:fillRef idx="1">
            <a:schemeClr val="lt1"/>
          </a:fillRef>
          <a:effectRef idx="0">
            <a:schemeClr val="accent1"/>
          </a:effectRef>
          <a:fontRef idx="minor">
            <a:schemeClr val="dk1"/>
          </a:fontRef>
        </p:style>
        <p:txBody>
          <a:bodyPr>
            <a:normAutofit/>
          </a:bodyPr>
          <a:lstStyle/>
          <a:p>
            <a:r>
              <a:rPr lang="en-US" sz="2400" dirty="0">
                <a:solidFill>
                  <a:schemeClr val="accent2">
                    <a:lumMod val="75000"/>
                  </a:schemeClr>
                </a:solidFill>
                <a:latin typeface="Calibri" pitchFamily="34" charset="0"/>
              </a:rPr>
              <a:t>Workstations:</a:t>
            </a:r>
            <a:r>
              <a:rPr lang="en-US" sz="2400" dirty="0">
                <a:latin typeface="Calibri" pitchFamily="34" charset="0"/>
              </a:rPr>
              <a:t> </a:t>
            </a:r>
          </a:p>
          <a:p>
            <a:pPr lvl="6"/>
            <a:r>
              <a:rPr lang="en-US" sz="2300" dirty="0">
                <a:latin typeface="Calibri" pitchFamily="34" charset="0"/>
              </a:rPr>
              <a:t>computers used by end-users to perform computing (desktops or laptops)</a:t>
            </a:r>
          </a:p>
          <a:p>
            <a:endParaRPr lang="en-US" sz="2400" dirty="0">
              <a:solidFill>
                <a:schemeClr val="accent2">
                  <a:lumMod val="75000"/>
                </a:schemeClr>
              </a:solidFill>
              <a:latin typeface="Calibri" pitchFamily="34" charset="0"/>
            </a:endParaRPr>
          </a:p>
          <a:p>
            <a:r>
              <a:rPr lang="en-US" sz="2400" dirty="0">
                <a:solidFill>
                  <a:schemeClr val="accent2">
                    <a:lumMod val="75000"/>
                  </a:schemeClr>
                </a:solidFill>
                <a:latin typeface="Calibri" pitchFamily="34" charset="0"/>
              </a:rPr>
              <a:t>Server machines</a:t>
            </a:r>
            <a:r>
              <a:rPr lang="en-US" sz="2400" dirty="0">
                <a:latin typeface="Calibri" pitchFamily="34" charset="0"/>
              </a:rPr>
              <a:t>: </a:t>
            </a:r>
          </a:p>
          <a:p>
            <a:pPr lvl="6"/>
            <a:r>
              <a:rPr lang="en-US" sz="2300" dirty="0">
                <a:latin typeface="Calibri" pitchFamily="34" charset="0"/>
              </a:rPr>
              <a:t>computers which provide resources and services</a:t>
            </a:r>
          </a:p>
          <a:p>
            <a:pPr>
              <a:buNone/>
            </a:pPr>
            <a:endParaRPr lang="en-US" sz="2400" dirty="0">
              <a:latin typeface="Calibri" pitchFamily="34" charset="0"/>
            </a:endParaRPr>
          </a:p>
          <a:p>
            <a:r>
              <a:rPr lang="en-US" sz="2400" dirty="0">
                <a:solidFill>
                  <a:schemeClr val="accent2">
                    <a:lumMod val="75000"/>
                  </a:schemeClr>
                </a:solidFill>
                <a:latin typeface="Calibri" pitchFamily="34" charset="0"/>
              </a:rPr>
              <a:t>Personal Assistance Devices</a:t>
            </a:r>
            <a:r>
              <a:rPr lang="en-US" sz="2400" dirty="0">
                <a:latin typeface="Calibri" pitchFamily="34" charset="0"/>
              </a:rPr>
              <a:t>: </a:t>
            </a:r>
          </a:p>
          <a:p>
            <a:pPr lvl="6"/>
            <a:r>
              <a:rPr lang="en-US" sz="2300" dirty="0">
                <a:latin typeface="Calibri" pitchFamily="34" charset="0"/>
              </a:rPr>
              <a:t>Handheld computers connected to the system via a wireless communication link. Like tab PCs</a:t>
            </a:r>
          </a:p>
          <a:p>
            <a:endParaRPr lang="en-US" sz="2400" dirty="0">
              <a:latin typeface="Calibri" pitchFamily="34" charset="0"/>
            </a:endParaRPr>
          </a:p>
        </p:txBody>
      </p:sp>
      <p:sp>
        <p:nvSpPr>
          <p:cNvPr id="3" name="Footer Placeholder 2"/>
          <p:cNvSpPr>
            <a:spLocks noGrp="1"/>
          </p:cNvSpPr>
          <p:nvPr>
            <p:ph type="ftr" sz="quarter" idx="11"/>
          </p:nvPr>
        </p:nvSpPr>
        <p:spPr/>
        <p:txBody>
          <a:bodyPr/>
          <a:lstStyle/>
          <a:p>
            <a:r>
              <a:rPr lang="en-US"/>
              <a:t>- Assistant  Prof. Riddhi Joshi</a:t>
            </a:r>
            <a:endParaRPr lang="en-US" dirty="0"/>
          </a:p>
        </p:txBody>
      </p:sp>
      <p:sp>
        <p:nvSpPr>
          <p:cNvPr id="5" name="Slide Number Placeholder 4"/>
          <p:cNvSpPr>
            <a:spLocks noGrp="1"/>
          </p:cNvSpPr>
          <p:nvPr>
            <p:ph type="sldNum" sz="quarter" idx="12"/>
          </p:nvPr>
        </p:nvSpPr>
        <p:spPr/>
        <p:txBody>
          <a:bodyPr/>
          <a:lstStyle/>
          <a:p>
            <a:fld id="{521E5947-19AD-4D38-BBE9-7D3EA973E689}"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14400" y="274638"/>
            <a:ext cx="7772400" cy="639762"/>
          </a:xfrm>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800" b="1" dirty="0">
                <a:latin typeface="Calibri" pitchFamily="34" charset="0"/>
              </a:rPr>
              <a:t>DC mainly for…</a:t>
            </a:r>
          </a:p>
        </p:txBody>
      </p:sp>
      <p:sp>
        <p:nvSpPr>
          <p:cNvPr id="2" name="Content Placeholder 1"/>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pPr algn="just"/>
            <a:r>
              <a:rPr lang="en-US" sz="2400" dirty="0">
                <a:solidFill>
                  <a:schemeClr val="accent2">
                    <a:lumMod val="75000"/>
                  </a:schemeClr>
                </a:solidFill>
                <a:latin typeface="Calibri" pitchFamily="34" charset="0"/>
              </a:rPr>
              <a:t>Network Services</a:t>
            </a:r>
            <a:r>
              <a:rPr lang="en-US" sz="2400" dirty="0">
                <a:latin typeface="Calibri" pitchFamily="34" charset="0"/>
              </a:rPr>
              <a:t>: A network service is a special kind of program known as a server on a network. The WWW is such a service, as is email and FTP.</a:t>
            </a:r>
          </a:p>
          <a:p>
            <a:pPr algn="just"/>
            <a:endParaRPr lang="en-US" sz="2400" dirty="0">
              <a:latin typeface="Calibri" pitchFamily="34" charset="0"/>
            </a:endParaRPr>
          </a:p>
          <a:p>
            <a:pPr algn="just"/>
            <a:r>
              <a:rPr lang="en-US" sz="2400" dirty="0">
                <a:solidFill>
                  <a:schemeClr val="accent2">
                    <a:lumMod val="75000"/>
                  </a:schemeClr>
                </a:solidFill>
                <a:latin typeface="Calibri" pitchFamily="34" charset="0"/>
              </a:rPr>
              <a:t>Network Applications</a:t>
            </a:r>
            <a:r>
              <a:rPr lang="en-US" sz="2400" dirty="0">
                <a:latin typeface="Calibri" pitchFamily="34" charset="0"/>
              </a:rPr>
              <a:t>: A network application is an application that runs on networked computers for end users. Network application like online shopping carts, electronic auctions and noncommercial like chat rooms and network games.</a:t>
            </a:r>
          </a:p>
          <a:p>
            <a:endParaRPr lang="en-US" sz="2400" dirty="0">
              <a:latin typeface="Calibri" pitchFamily="34" charset="0"/>
            </a:endParaRPr>
          </a:p>
        </p:txBody>
      </p:sp>
      <p:sp>
        <p:nvSpPr>
          <p:cNvPr id="3" name="Footer Placeholder 2"/>
          <p:cNvSpPr>
            <a:spLocks noGrp="1"/>
          </p:cNvSpPr>
          <p:nvPr>
            <p:ph type="ftr" sz="quarter" idx="11"/>
          </p:nvPr>
        </p:nvSpPr>
        <p:spPr/>
        <p:txBody>
          <a:bodyPr/>
          <a:lstStyle/>
          <a:p>
            <a:r>
              <a:rPr lang="en-US"/>
              <a:t>- Assistant  Prof. Riddhi Joshi</a:t>
            </a:r>
          </a:p>
        </p:txBody>
      </p:sp>
      <p:sp>
        <p:nvSpPr>
          <p:cNvPr id="5" name="Slide Number Placeholder 4"/>
          <p:cNvSpPr>
            <a:spLocks noGrp="1"/>
          </p:cNvSpPr>
          <p:nvPr>
            <p:ph type="sldNum" sz="quarter" idx="12"/>
          </p:nvPr>
        </p:nvSpPr>
        <p:spPr/>
        <p:txBody>
          <a:bodyPr/>
          <a:lstStyle/>
          <a:p>
            <a:fld id="{521E5947-19AD-4D38-BBE9-7D3EA973E689}"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15962"/>
          </a:xfrm>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latin typeface="Calibri" pitchFamily="34" charset="0"/>
              </a:rPr>
              <a:t>Ex. of Distributed Computing</a:t>
            </a:r>
          </a:p>
        </p:txBody>
      </p:sp>
      <p:sp>
        <p:nvSpPr>
          <p:cNvPr id="3" name="Content Placeholder 2"/>
          <p:cNvSpPr>
            <a:spLocks noGrp="1"/>
          </p:cNvSpPr>
          <p:nvPr>
            <p:ph idx="1"/>
          </p:nvPr>
        </p:nvSpPr>
        <p:spPr>
          <a:xfrm>
            <a:off x="914400" y="1447800"/>
            <a:ext cx="7772400" cy="4343400"/>
          </a:xfrm>
        </p:spPr>
        <p:style>
          <a:lnRef idx="2">
            <a:schemeClr val="accent1"/>
          </a:lnRef>
          <a:fillRef idx="1">
            <a:schemeClr val="lt1"/>
          </a:fillRef>
          <a:effectRef idx="0">
            <a:schemeClr val="accent1"/>
          </a:effectRef>
          <a:fontRef idx="minor">
            <a:schemeClr val="dk1"/>
          </a:fontRef>
        </p:style>
        <p:txBody>
          <a:bodyPr>
            <a:noAutofit/>
          </a:bodyPr>
          <a:lstStyle/>
          <a:p>
            <a:pPr>
              <a:lnSpc>
                <a:spcPct val="90000"/>
              </a:lnSpc>
              <a:buFont typeface="Arial" pitchFamily="34" charset="0"/>
              <a:buChar char="•"/>
            </a:pPr>
            <a:r>
              <a:rPr lang="en-US" sz="2300" b="1" dirty="0">
                <a:latin typeface="Calibri" pitchFamily="34" charset="0"/>
              </a:rPr>
              <a:t>Network of workstations (NOW): </a:t>
            </a:r>
          </a:p>
          <a:p>
            <a:pPr lvl="8">
              <a:lnSpc>
                <a:spcPct val="90000"/>
              </a:lnSpc>
            </a:pPr>
            <a:r>
              <a:rPr lang="en-US" sz="2300" dirty="0">
                <a:latin typeface="Calibri" pitchFamily="34" charset="0"/>
              </a:rPr>
              <a:t>A group of networked personal workstations connected to one or more server machines.</a:t>
            </a:r>
          </a:p>
          <a:p>
            <a:pPr>
              <a:lnSpc>
                <a:spcPct val="90000"/>
              </a:lnSpc>
              <a:buFont typeface="Arial" pitchFamily="34" charset="0"/>
              <a:buChar char="•"/>
            </a:pPr>
            <a:r>
              <a:rPr lang="en-US" sz="2300" b="1" dirty="0">
                <a:latin typeface="Calibri" pitchFamily="34" charset="0"/>
              </a:rPr>
              <a:t>An intranet: </a:t>
            </a:r>
          </a:p>
          <a:p>
            <a:pPr lvl="3">
              <a:lnSpc>
                <a:spcPct val="90000"/>
              </a:lnSpc>
            </a:pPr>
            <a:r>
              <a:rPr lang="en-US" sz="2300" dirty="0">
                <a:latin typeface="Calibri" pitchFamily="34" charset="0"/>
              </a:rPr>
              <a:t>A network of computers and workstations within  </a:t>
            </a:r>
          </a:p>
          <a:p>
            <a:pPr>
              <a:lnSpc>
                <a:spcPct val="90000"/>
              </a:lnSpc>
              <a:buNone/>
            </a:pPr>
            <a:r>
              <a:rPr lang="en-US" sz="2300" dirty="0">
                <a:latin typeface="Calibri" pitchFamily="34" charset="0"/>
              </a:rPr>
              <a:t>		   an organization, segregated (divide) from the Internet   </a:t>
            </a:r>
          </a:p>
          <a:p>
            <a:pPr>
              <a:lnSpc>
                <a:spcPct val="90000"/>
              </a:lnSpc>
              <a:buNone/>
            </a:pPr>
            <a:r>
              <a:rPr lang="en-US" sz="2300" dirty="0">
                <a:latin typeface="Calibri" pitchFamily="34" charset="0"/>
              </a:rPr>
              <a:t>                via a protective device (a firewall).</a:t>
            </a:r>
          </a:p>
          <a:p>
            <a:pPr marL="609600" indent="-609600"/>
            <a:r>
              <a:rPr lang="en-US" sz="2300" dirty="0">
                <a:latin typeface="Calibri" pitchFamily="34" charset="0"/>
              </a:rPr>
              <a:t>An Internet </a:t>
            </a:r>
          </a:p>
          <a:p>
            <a:pPr marL="609600" indent="-609600"/>
            <a:r>
              <a:rPr lang="en-US" sz="2300" dirty="0">
                <a:latin typeface="Calibri" pitchFamily="34" charset="0"/>
              </a:rPr>
              <a:t>ATM (bank) machines</a:t>
            </a:r>
          </a:p>
          <a:p>
            <a:pPr marL="609600" indent="-609600"/>
            <a:r>
              <a:rPr lang="en-US" sz="2400" dirty="0">
                <a:latin typeface="Calibri" pitchFamily="34" charset="0"/>
              </a:rPr>
              <a:t>Airline reservation system</a:t>
            </a:r>
          </a:p>
          <a:p>
            <a:pPr marL="609600" indent="-609600"/>
            <a:endParaRPr lang="en-US" sz="2300" dirty="0">
              <a:latin typeface="Calibri" pitchFamily="34" charset="0"/>
            </a:endParaRPr>
          </a:p>
        </p:txBody>
      </p:sp>
      <p:sp>
        <p:nvSpPr>
          <p:cNvPr id="4" name="Footer Placeholder 3"/>
          <p:cNvSpPr>
            <a:spLocks noGrp="1"/>
          </p:cNvSpPr>
          <p:nvPr>
            <p:ph type="ftr" sz="quarter" idx="11"/>
          </p:nvPr>
        </p:nvSpPr>
        <p:spPr/>
        <p:txBody>
          <a:bodyPr/>
          <a:lstStyle/>
          <a:p>
            <a:r>
              <a:rPr lang="en-US"/>
              <a:t>- Assistant  Prof. Riddhi Joshi</a:t>
            </a:r>
          </a:p>
        </p:txBody>
      </p:sp>
      <p:sp>
        <p:nvSpPr>
          <p:cNvPr id="5" name="Slide Number Placeholder 4"/>
          <p:cNvSpPr>
            <a:spLocks noGrp="1"/>
          </p:cNvSpPr>
          <p:nvPr>
            <p:ph type="sldNum" sz="quarter" idx="12"/>
          </p:nvPr>
        </p:nvSpPr>
        <p:spPr/>
        <p:txBody>
          <a:bodyPr/>
          <a:lstStyle/>
          <a:p>
            <a:fld id="{521E5947-19AD-4D38-BBE9-7D3EA973E689}"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1"/>
          <p:cNvSpPr>
            <a:spLocks noChangeArrowheads="1"/>
          </p:cNvSpPr>
          <p:nvPr/>
        </p:nvSpPr>
        <p:spPr bwMode="auto">
          <a:xfrm>
            <a:off x="228600" y="914401"/>
            <a:ext cx="8458200" cy="1785104"/>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sz="2200" b="0" i="0" u="none" strike="noStrike" cap="none" normalizeH="0" baseline="0" dirty="0">
                <a:ln>
                  <a:noFill/>
                </a:ln>
                <a:solidFill>
                  <a:srgbClr val="000000"/>
                </a:solidFill>
                <a:effectLst/>
                <a:latin typeface="Calibri" pitchFamily="34" charset="0"/>
                <a:cs typeface="Arial" pitchFamily="34" charset="0"/>
              </a:rPr>
              <a:t>Internet is network of Computers which is open for all.</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2200" b="0" i="0" u="none" strike="noStrike" cap="none" normalizeH="0" baseline="0" dirty="0">
                <a:ln>
                  <a:noFill/>
                </a:ln>
                <a:solidFill>
                  <a:srgbClr val="000000"/>
                </a:solidFill>
                <a:effectLst/>
                <a:latin typeface="Calibri" pitchFamily="34" charset="0"/>
                <a:cs typeface="Arial" pitchFamily="34" charset="0"/>
              </a:rPr>
              <a:t>Internet itself contains a large number of intranets.</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2200" b="0" i="0" u="none" strike="noStrike" cap="none" normalizeH="0" baseline="0" dirty="0">
                <a:ln>
                  <a:noFill/>
                </a:ln>
                <a:solidFill>
                  <a:srgbClr val="000000"/>
                </a:solidFill>
                <a:effectLst/>
                <a:latin typeface="Calibri" pitchFamily="34" charset="0"/>
                <a:cs typeface="Arial" pitchFamily="34" charset="0"/>
              </a:rPr>
              <a:t>Unlimited number of users.</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2200" b="0" i="0" u="none" strike="noStrike" cap="none" normalizeH="0" baseline="0" dirty="0">
                <a:ln>
                  <a:noFill/>
                </a:ln>
                <a:solidFill>
                  <a:srgbClr val="000000"/>
                </a:solidFill>
                <a:effectLst/>
                <a:latin typeface="Calibri" pitchFamily="34" charset="0"/>
                <a:cs typeface="Arial" pitchFamily="34" charset="0"/>
              </a:rPr>
              <a:t>Visitors traffic is unlimited.</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2200" b="0" i="0" u="none" strike="noStrike" cap="none" normalizeH="0" baseline="0" dirty="0">
                <a:ln>
                  <a:noFill/>
                </a:ln>
                <a:solidFill>
                  <a:srgbClr val="000000"/>
                </a:solidFill>
                <a:effectLst/>
                <a:latin typeface="Calibri" pitchFamily="34" charset="0"/>
                <a:cs typeface="Arial" pitchFamily="34" charset="0"/>
              </a:rPr>
              <a:t>Contains unlimited source of information.</a:t>
            </a:r>
          </a:p>
        </p:txBody>
      </p:sp>
      <p:sp>
        <p:nvSpPr>
          <p:cNvPr id="7" name="Title 1"/>
          <p:cNvSpPr>
            <a:spLocks noGrp="1"/>
          </p:cNvSpPr>
          <p:nvPr>
            <p:ph type="title"/>
          </p:nvPr>
        </p:nvSpPr>
        <p:spPr>
          <a:xfrm>
            <a:off x="914400" y="46038"/>
            <a:ext cx="7772400" cy="563562"/>
          </a:xfrm>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latin typeface="Calibri" pitchFamily="34" charset="0"/>
              </a:rPr>
              <a:t>Internet Vs. Intranet</a:t>
            </a:r>
          </a:p>
        </p:txBody>
      </p:sp>
      <p:sp>
        <p:nvSpPr>
          <p:cNvPr id="91138" name="Rectangle 2"/>
          <p:cNvSpPr>
            <a:spLocks noChangeArrowheads="1"/>
          </p:cNvSpPr>
          <p:nvPr/>
        </p:nvSpPr>
        <p:spPr bwMode="auto">
          <a:xfrm>
            <a:off x="228600" y="3396496"/>
            <a:ext cx="8534400" cy="1785104"/>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sz="2200" b="0" i="0" u="none" strike="noStrike" cap="none" normalizeH="0" baseline="0" dirty="0">
                <a:ln>
                  <a:noFill/>
                </a:ln>
                <a:solidFill>
                  <a:srgbClr val="000000"/>
                </a:solidFill>
                <a:effectLst/>
                <a:latin typeface="Calibri" pitchFamily="34" charset="0"/>
                <a:cs typeface="Arial" pitchFamily="34" charset="0"/>
              </a:rPr>
              <a:t>Intranet is network of Computers designed for a specific group of users.</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2200" b="0" i="0" u="none" strike="noStrike" cap="none" normalizeH="0" baseline="0" dirty="0">
                <a:ln>
                  <a:noFill/>
                </a:ln>
                <a:solidFill>
                  <a:srgbClr val="000000"/>
                </a:solidFill>
                <a:effectLst/>
                <a:latin typeface="Calibri" pitchFamily="34" charset="0"/>
                <a:cs typeface="Arial" pitchFamily="34" charset="0"/>
              </a:rPr>
              <a:t>Intranet can be accessed from Internet but with restrictions.</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2200" b="0" i="0" u="none" strike="noStrike" cap="none" normalizeH="0" baseline="0" dirty="0">
                <a:ln>
                  <a:noFill/>
                </a:ln>
                <a:solidFill>
                  <a:srgbClr val="000000"/>
                </a:solidFill>
                <a:effectLst/>
                <a:latin typeface="Calibri" pitchFamily="34" charset="0"/>
                <a:cs typeface="Arial" pitchFamily="34" charset="0"/>
              </a:rPr>
              <a:t>Limited number of Users.</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2200" b="0" i="0" u="none" strike="noStrike" cap="none" normalizeH="0" baseline="0" dirty="0">
                <a:ln>
                  <a:noFill/>
                </a:ln>
                <a:solidFill>
                  <a:srgbClr val="000000"/>
                </a:solidFill>
                <a:effectLst/>
                <a:latin typeface="Calibri" pitchFamily="34" charset="0"/>
                <a:cs typeface="Arial" pitchFamily="34" charset="0"/>
              </a:rPr>
              <a:t>Limited visitors traffic.</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2200" b="0" i="0" u="none" strike="noStrike" cap="none" normalizeH="0" baseline="0" dirty="0">
                <a:ln>
                  <a:noFill/>
                </a:ln>
                <a:solidFill>
                  <a:srgbClr val="000000"/>
                </a:solidFill>
                <a:effectLst/>
                <a:latin typeface="Calibri" pitchFamily="34" charset="0"/>
                <a:cs typeface="Arial" pitchFamily="34" charset="0"/>
              </a:rPr>
              <a:t>Contains only specific group purpose information.</a:t>
            </a:r>
            <a:endParaRPr kumimoji="0" lang="en-US" sz="2200" b="0" i="0" u="none" strike="noStrike" cap="none" normalizeH="0" baseline="0" dirty="0">
              <a:ln>
                <a:noFill/>
              </a:ln>
              <a:solidFill>
                <a:schemeClr val="tx1"/>
              </a:solidFill>
              <a:effectLst/>
              <a:latin typeface="Calibri" pitchFamily="34" charset="0"/>
              <a:cs typeface="Arial"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457200" y="1295400"/>
            <a:ext cx="7239000" cy="4191000"/>
          </a:xfrm>
          <a:prstGeom prst="rect">
            <a:avLst/>
          </a:prstGeom>
        </p:spPr>
        <p:style>
          <a:lnRef idx="2">
            <a:schemeClr val="accent1"/>
          </a:lnRef>
          <a:fillRef idx="1">
            <a:schemeClr val="lt1"/>
          </a:fillRef>
          <a:effectRef idx="0">
            <a:schemeClr val="accent1"/>
          </a:effectRef>
          <a:fontRef idx="minor">
            <a:schemeClr val="dk1"/>
          </a:fontRef>
        </p:style>
        <p:txBody>
          <a:bodyPr vert="horz">
            <a:normAutofit lnSpcReduction="10000"/>
          </a:bodyPr>
          <a:lstStyle/>
          <a:p>
            <a:pPr marL="274320" marR="0" lvl="0" indent="-274320" algn="ctr" defTabSz="914400" rtl="0" eaLnBrk="1" fontAlgn="auto" latinLnBrk="0" hangingPunct="1">
              <a:lnSpc>
                <a:spcPct val="100000"/>
              </a:lnSpc>
              <a:spcBef>
                <a:spcPts val="580"/>
              </a:spcBef>
              <a:spcAft>
                <a:spcPts val="0"/>
              </a:spcAft>
              <a:buClr>
                <a:schemeClr val="accent1"/>
              </a:buClr>
              <a:buSzPct val="85000"/>
              <a:tabLst/>
              <a:defRPr/>
            </a:pPr>
            <a:endParaRPr kumimoji="0" lang="en-US" sz="2600" b="0" i="0" u="none" strike="noStrike" kern="1200" cap="none" spc="0" normalizeH="0" baseline="0" noProof="0" dirty="0">
              <a:ln>
                <a:noFill/>
              </a:ln>
              <a:solidFill>
                <a:schemeClr val="tx1"/>
              </a:solidFill>
              <a:effectLst/>
              <a:uLnTx/>
              <a:uFillTx/>
              <a:latin typeface="Calibri" pitchFamily="34" charset="0"/>
            </a:endParaRPr>
          </a:p>
          <a:p>
            <a:pPr marL="274320" lvl="0" indent="-274320">
              <a:spcBef>
                <a:spcPts val="580"/>
              </a:spcBef>
              <a:buClr>
                <a:schemeClr val="accent1"/>
              </a:buClr>
              <a:buSzPct val="85000"/>
              <a:buFont typeface="Arial" pitchFamily="34" charset="0"/>
              <a:buChar char="•"/>
              <a:defRPr/>
            </a:pPr>
            <a:r>
              <a:rPr kumimoji="0" lang="en-US" sz="2600" i="0" u="none" strike="noStrike" kern="1200" cap="none" spc="0" normalizeH="0" baseline="0" noProof="0" dirty="0">
                <a:ln>
                  <a:noFill/>
                </a:ln>
                <a:solidFill>
                  <a:schemeClr val="tx1"/>
                </a:solidFill>
                <a:effectLst/>
                <a:uLnTx/>
                <a:uFillTx/>
                <a:latin typeface="Calibri" pitchFamily="34" charset="0"/>
              </a:rPr>
              <a:t>1.1 Definition </a:t>
            </a:r>
          </a:p>
          <a:p>
            <a:pPr marL="274320" lvl="0" indent="-274320">
              <a:spcBef>
                <a:spcPts val="580"/>
              </a:spcBef>
              <a:buClr>
                <a:schemeClr val="accent1"/>
              </a:buClr>
              <a:buSzPct val="85000"/>
              <a:defRPr/>
            </a:pPr>
            <a:r>
              <a:rPr lang="en-US" sz="2600" b="1" dirty="0">
                <a:solidFill>
                  <a:schemeClr val="accent1"/>
                </a:solidFill>
                <a:latin typeface="Calibri" pitchFamily="34" charset="0"/>
              </a:rPr>
              <a:t>→ </a:t>
            </a:r>
            <a:r>
              <a:rPr kumimoji="0" lang="en-US" sz="2600" b="1" i="0" u="none" strike="noStrike" kern="1200" cap="none" spc="0" normalizeH="0" baseline="0" noProof="0" dirty="0">
                <a:ln>
                  <a:noFill/>
                </a:ln>
                <a:solidFill>
                  <a:schemeClr val="accent1"/>
                </a:solidFill>
                <a:effectLst/>
                <a:uLnTx/>
                <a:uFillTx/>
                <a:latin typeface="Calibri" pitchFamily="34" charset="0"/>
              </a:rPr>
              <a:t>1.2 History of DC</a:t>
            </a:r>
          </a:p>
          <a:p>
            <a:pPr marL="274320" lvl="0" indent="-274320">
              <a:spcBef>
                <a:spcPts val="580"/>
              </a:spcBef>
              <a:buClr>
                <a:schemeClr val="accent1"/>
              </a:buClr>
              <a:buSzPct val="85000"/>
              <a:buFont typeface="Arial" pitchFamily="34" charset="0"/>
              <a:buChar char="•"/>
              <a:defRPr/>
            </a:pPr>
            <a:r>
              <a:rPr kumimoji="0" lang="en-US" sz="2600" i="0" u="none" strike="noStrike" kern="1200" cap="none" spc="0" normalizeH="0" baseline="0" noProof="0" dirty="0">
                <a:ln>
                  <a:noFill/>
                </a:ln>
                <a:solidFill>
                  <a:schemeClr val="tx1"/>
                </a:solidFill>
                <a:effectLst/>
                <a:uLnTx/>
                <a:uFillTx/>
                <a:latin typeface="Calibri" pitchFamily="34" charset="0"/>
              </a:rPr>
              <a:t>1.3 Different forms of Computing</a:t>
            </a:r>
          </a:p>
          <a:p>
            <a:pPr marL="274320" lvl="0" indent="-274320">
              <a:spcBef>
                <a:spcPts val="580"/>
              </a:spcBef>
              <a:buClr>
                <a:schemeClr val="accent1"/>
              </a:buClr>
              <a:buSzPct val="85000"/>
              <a:buFont typeface="Arial" pitchFamily="34" charset="0"/>
              <a:buChar char="•"/>
              <a:defRPr/>
            </a:pPr>
            <a:r>
              <a:rPr lang="en-US" sz="2600" dirty="0">
                <a:solidFill>
                  <a:schemeClr val="tx1"/>
                </a:solidFill>
                <a:latin typeface="Calibri" pitchFamily="34" charset="0"/>
              </a:rPr>
              <a:t>1.4 Strength &amp; Weakness</a:t>
            </a:r>
          </a:p>
          <a:p>
            <a:pPr marL="274320" lvl="0" indent="-274320">
              <a:spcBef>
                <a:spcPts val="580"/>
              </a:spcBef>
              <a:buClr>
                <a:schemeClr val="accent1"/>
              </a:buClr>
              <a:buSzPct val="85000"/>
              <a:buFont typeface="Arial" pitchFamily="34" charset="0"/>
              <a:buChar char="•"/>
              <a:defRPr/>
            </a:pPr>
            <a:r>
              <a:rPr lang="en-US" sz="2600" b="1" dirty="0">
                <a:solidFill>
                  <a:schemeClr val="accent1"/>
                </a:solidFill>
                <a:latin typeface="Calibri" pitchFamily="34" charset="0"/>
              </a:rPr>
              <a:t> </a:t>
            </a:r>
            <a:r>
              <a:rPr lang="en-US" sz="2600" dirty="0">
                <a:solidFill>
                  <a:schemeClr val="tx1"/>
                </a:solidFill>
                <a:latin typeface="Calibri" pitchFamily="34" charset="0"/>
              </a:rPr>
              <a:t>1.5 Basics of OS</a:t>
            </a:r>
          </a:p>
          <a:p>
            <a:pPr marL="274320" lvl="0" indent="-274320">
              <a:spcBef>
                <a:spcPts val="580"/>
              </a:spcBef>
              <a:buClr>
                <a:schemeClr val="accent1"/>
              </a:buClr>
              <a:buSzPct val="85000"/>
              <a:buFont typeface="Arial" pitchFamily="34" charset="0"/>
              <a:buChar char="•"/>
              <a:defRPr/>
            </a:pPr>
            <a:r>
              <a:rPr lang="en-US" sz="2600" dirty="0">
                <a:solidFill>
                  <a:schemeClr val="tx1"/>
                </a:solidFill>
                <a:latin typeface="Calibri" pitchFamily="34" charset="0"/>
              </a:rPr>
              <a:t>1.6 Network Basics</a:t>
            </a:r>
          </a:p>
          <a:p>
            <a:pPr marL="274320" lvl="0" indent="-274320">
              <a:spcBef>
                <a:spcPts val="580"/>
              </a:spcBef>
              <a:buClr>
                <a:schemeClr val="accent1"/>
              </a:buClr>
              <a:buSzPct val="85000"/>
              <a:buFont typeface="Arial" pitchFamily="34" charset="0"/>
              <a:buChar char="•"/>
              <a:defRPr/>
            </a:pPr>
            <a:r>
              <a:rPr lang="en-US" sz="2600" dirty="0">
                <a:solidFill>
                  <a:schemeClr val="tx1"/>
                </a:solidFill>
                <a:latin typeface="Calibri" pitchFamily="34" charset="0"/>
              </a:rPr>
              <a:t>1.7 Software Engineering Basics </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lang="en-US" sz="2600" dirty="0">
                <a:latin typeface="Calibri" pitchFamily="34" charset="0"/>
              </a:rPr>
              <a:t>1.8 The Architecture of Distributed Application. </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n-US" sz="2600" b="0" i="0" u="none" strike="noStrike" kern="1200" cap="none" spc="0" normalizeH="0" baseline="0" noProof="0" dirty="0">
              <a:ln>
                <a:noFill/>
              </a:ln>
              <a:solidFill>
                <a:schemeClr val="tx1"/>
              </a:solidFill>
              <a:effectLst/>
              <a:uLnTx/>
              <a:uFillTx/>
              <a:latin typeface="Calibri" pitchFamily="34" charset="0"/>
            </a:endParaRPr>
          </a:p>
        </p:txBody>
      </p:sp>
      <p:sp>
        <p:nvSpPr>
          <p:cNvPr id="6" name="TextBox 5"/>
          <p:cNvSpPr txBox="1"/>
          <p:nvPr/>
        </p:nvSpPr>
        <p:spPr>
          <a:xfrm>
            <a:off x="2667000" y="457200"/>
            <a:ext cx="4267200" cy="523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lgn="ctr">
              <a:buFontTx/>
              <a:buNone/>
              <a:defRPr/>
            </a:pPr>
            <a:r>
              <a:rPr lang="en-US" sz="2800" b="1" dirty="0">
                <a:effectLst>
                  <a:outerShdw blurRad="38100" dist="38100" dir="2700000" algn="tl">
                    <a:srgbClr val="000000">
                      <a:alpha val="43137"/>
                    </a:srgbClr>
                  </a:outerShdw>
                </a:effectLst>
                <a:latin typeface="Calibri" pitchFamily="34" charset="0"/>
              </a:rPr>
              <a:t>Roadmap</a:t>
            </a:r>
          </a:p>
        </p:txBody>
      </p:sp>
      <p:sp>
        <p:nvSpPr>
          <p:cNvPr id="7" name="Footer Placeholder 6"/>
          <p:cNvSpPr>
            <a:spLocks noGrp="1"/>
          </p:cNvSpPr>
          <p:nvPr>
            <p:ph type="ftr" sz="quarter" idx="11"/>
          </p:nvPr>
        </p:nvSpPr>
        <p:spPr/>
        <p:txBody>
          <a:bodyPr/>
          <a:lstStyle/>
          <a:p>
            <a:r>
              <a:rPr lang="en-US"/>
              <a:t>- Assistant  Prof. Riddhi Joshi</a:t>
            </a:r>
          </a:p>
        </p:txBody>
      </p:sp>
      <p:sp>
        <p:nvSpPr>
          <p:cNvPr id="4" name="Slide Number Placeholder 3"/>
          <p:cNvSpPr>
            <a:spLocks noGrp="1"/>
          </p:cNvSpPr>
          <p:nvPr>
            <p:ph type="sldNum" sz="quarter" idx="12"/>
          </p:nvPr>
        </p:nvSpPr>
        <p:spPr/>
        <p:txBody>
          <a:bodyPr/>
          <a:lstStyle/>
          <a:p>
            <a:fld id="{521E5947-19AD-4D38-BBE9-7D3EA973E689}"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14400" y="274638"/>
            <a:ext cx="7772400" cy="563562"/>
          </a:xfrm>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latin typeface="Calibri" pitchFamily="34" charset="0"/>
              </a:rPr>
              <a:t>1.2 History of Distributed Computing</a:t>
            </a:r>
          </a:p>
        </p:txBody>
      </p:sp>
      <p:sp>
        <p:nvSpPr>
          <p:cNvPr id="2" name="Content Placeholder 1"/>
          <p:cNvSpPr>
            <a:spLocks noGrp="1"/>
          </p:cNvSpPr>
          <p:nvPr>
            <p:ph idx="1"/>
          </p:nvPr>
        </p:nvSpPr>
        <p:spPr>
          <a:xfrm>
            <a:off x="914400" y="1143000"/>
            <a:ext cx="7772400" cy="4724400"/>
          </a:xfrm>
        </p:spPr>
        <p:style>
          <a:lnRef idx="2">
            <a:schemeClr val="accent1"/>
          </a:lnRef>
          <a:fillRef idx="1">
            <a:schemeClr val="lt1"/>
          </a:fillRef>
          <a:effectRef idx="0">
            <a:schemeClr val="accent1"/>
          </a:effectRef>
          <a:fontRef idx="minor">
            <a:schemeClr val="dk1"/>
          </a:fontRef>
        </p:style>
        <p:txBody>
          <a:bodyPr>
            <a:normAutofit/>
          </a:bodyPr>
          <a:lstStyle/>
          <a:p>
            <a:r>
              <a:rPr lang="en-US" sz="2400" dirty="0">
                <a:latin typeface="Calibri" pitchFamily="34" charset="0"/>
              </a:rPr>
              <a:t>The beginning of Computing</a:t>
            </a:r>
          </a:p>
          <a:p>
            <a:pPr lvl="1"/>
            <a:r>
              <a:rPr lang="en-US" dirty="0">
                <a:latin typeface="Calibri" pitchFamily="34" charset="0"/>
              </a:rPr>
              <a:t>Standalone Computers</a:t>
            </a:r>
          </a:p>
          <a:p>
            <a:pPr lvl="1"/>
            <a:r>
              <a:rPr lang="en-US" dirty="0">
                <a:latin typeface="Calibri" pitchFamily="34" charset="0"/>
              </a:rPr>
              <a:t>Each is used to execute stored programs</a:t>
            </a:r>
          </a:p>
          <a:p>
            <a:pPr lvl="1"/>
            <a:r>
              <a:rPr lang="en-US" dirty="0">
                <a:latin typeface="Calibri" pitchFamily="34" charset="0"/>
              </a:rPr>
              <a:t>Each of which are connected to exchange data</a:t>
            </a:r>
          </a:p>
          <a:p>
            <a:pPr lvl="1"/>
            <a:endParaRPr lang="en-US" dirty="0">
              <a:latin typeface="Calibri" pitchFamily="34" charset="0"/>
            </a:endParaRPr>
          </a:p>
          <a:p>
            <a:r>
              <a:rPr lang="en-US" sz="2400" dirty="0">
                <a:latin typeface="Calibri" pitchFamily="34" charset="0"/>
              </a:rPr>
              <a:t>First connection of Two computers….</a:t>
            </a:r>
          </a:p>
          <a:p>
            <a:pPr lvl="1"/>
            <a:r>
              <a:rPr lang="en-US" dirty="0">
                <a:latin typeface="Calibri" pitchFamily="34" charset="0"/>
              </a:rPr>
              <a:t>In 1960s</a:t>
            </a:r>
          </a:p>
          <a:p>
            <a:pPr lvl="1"/>
            <a:r>
              <a:rPr lang="en-US" dirty="0">
                <a:latin typeface="Calibri" pitchFamily="34" charset="0"/>
              </a:rPr>
              <a:t>Manual connection and exchange data</a:t>
            </a:r>
          </a:p>
          <a:p>
            <a:pPr lvl="1"/>
            <a:r>
              <a:rPr lang="en-US" dirty="0">
                <a:latin typeface="Calibri" pitchFamily="34" charset="0"/>
              </a:rPr>
              <a:t>Autonomously run application </a:t>
            </a:r>
          </a:p>
          <a:p>
            <a:pPr lvl="1"/>
            <a:r>
              <a:rPr lang="en-US" dirty="0">
                <a:latin typeface="Calibri" pitchFamily="34" charset="0"/>
              </a:rPr>
              <a:t>Can’t share load of executing applications.</a:t>
            </a:r>
          </a:p>
          <a:p>
            <a:pPr lvl="1"/>
            <a:r>
              <a:rPr lang="en-US" dirty="0">
                <a:latin typeface="Calibri" pitchFamily="34" charset="0"/>
              </a:rPr>
              <a:t>Which lead to discover distributed computing.</a:t>
            </a:r>
          </a:p>
          <a:p>
            <a:endParaRPr lang="en-US" sz="2400" dirty="0">
              <a:latin typeface="Calibri" pitchFamily="34" charset="0"/>
            </a:endParaRPr>
          </a:p>
        </p:txBody>
      </p:sp>
      <p:sp>
        <p:nvSpPr>
          <p:cNvPr id="3" name="Footer Placeholder 2"/>
          <p:cNvSpPr>
            <a:spLocks noGrp="1"/>
          </p:cNvSpPr>
          <p:nvPr>
            <p:ph type="ftr" sz="quarter" idx="11"/>
          </p:nvPr>
        </p:nvSpPr>
        <p:spPr/>
        <p:txBody>
          <a:bodyPr/>
          <a:lstStyle/>
          <a:p>
            <a:r>
              <a:rPr lang="en-US"/>
              <a:t>- Assistant  Prof. Riddhi Joshi</a:t>
            </a:r>
          </a:p>
        </p:txBody>
      </p:sp>
      <p:sp>
        <p:nvSpPr>
          <p:cNvPr id="5" name="Slide Number Placeholder 4"/>
          <p:cNvSpPr>
            <a:spLocks noGrp="1"/>
          </p:cNvSpPr>
          <p:nvPr>
            <p:ph type="sldNum" sz="quarter" idx="12"/>
          </p:nvPr>
        </p:nvSpPr>
        <p:spPr/>
        <p:txBody>
          <a:bodyPr/>
          <a:lstStyle/>
          <a:p>
            <a:fld id="{521E5947-19AD-4D38-BBE9-7D3EA973E689}"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14400" y="76200"/>
            <a:ext cx="7772400" cy="868362"/>
          </a:xfrm>
        </p:spPr>
        <p:txBody>
          <a:bodyPr/>
          <a:lstStyle/>
          <a:p>
            <a:r>
              <a:rPr lang="en-US" dirty="0">
                <a:latin typeface="Calibri" pitchFamily="34" charset="0"/>
              </a:rPr>
              <a:t>Cont…</a:t>
            </a:r>
          </a:p>
        </p:txBody>
      </p:sp>
      <p:sp>
        <p:nvSpPr>
          <p:cNvPr id="2" name="Content Placeholder 1"/>
          <p:cNvSpPr>
            <a:spLocks noGrp="1"/>
          </p:cNvSpPr>
          <p:nvPr>
            <p:ph idx="1"/>
          </p:nvPr>
        </p:nvSpPr>
        <p:spPr>
          <a:xfrm>
            <a:off x="457200" y="838200"/>
            <a:ext cx="8001000" cy="5410200"/>
          </a:xfrm>
        </p:spPr>
        <p:style>
          <a:lnRef idx="2">
            <a:schemeClr val="accent1"/>
          </a:lnRef>
          <a:fillRef idx="1">
            <a:schemeClr val="lt1"/>
          </a:fillRef>
          <a:effectRef idx="0">
            <a:schemeClr val="accent1"/>
          </a:effectRef>
          <a:fontRef idx="minor">
            <a:schemeClr val="dk1"/>
          </a:fontRef>
        </p:style>
        <p:txBody>
          <a:bodyPr>
            <a:noAutofit/>
          </a:bodyPr>
          <a:lstStyle/>
          <a:p>
            <a:r>
              <a:rPr lang="en-US" sz="2300" dirty="0">
                <a:latin typeface="Calibri" pitchFamily="34" charset="0"/>
              </a:rPr>
              <a:t>First Request for Comments (RFC)</a:t>
            </a:r>
          </a:p>
          <a:p>
            <a:pPr lvl="1" algn="just"/>
            <a:r>
              <a:rPr lang="en-US" sz="2300" dirty="0">
                <a:latin typeface="Calibri" pitchFamily="34" charset="0"/>
              </a:rPr>
              <a:t>RFC 1 is a proposal which specifies how participating hosts can exchange information with each other through messages.</a:t>
            </a:r>
          </a:p>
          <a:p>
            <a:pPr lvl="1" algn="just"/>
            <a:endParaRPr lang="en-US" sz="2300" dirty="0">
              <a:latin typeface="Calibri" pitchFamily="34" charset="0"/>
            </a:endParaRPr>
          </a:p>
          <a:p>
            <a:r>
              <a:rPr lang="en-US" sz="2300" dirty="0">
                <a:latin typeface="Calibri" pitchFamily="34" charset="0"/>
              </a:rPr>
              <a:t>Earlier network services…</a:t>
            </a:r>
          </a:p>
          <a:p>
            <a:pPr lvl="1" algn="just"/>
            <a:r>
              <a:rPr lang="en-US" sz="2300" dirty="0">
                <a:latin typeface="Calibri" pitchFamily="34" charset="0"/>
              </a:rPr>
              <a:t>First network services was email which is reportedly sent in 1972 on a four node (comp. or host) of ARPANET.</a:t>
            </a:r>
          </a:p>
          <a:p>
            <a:pPr lvl="1" algn="just"/>
            <a:r>
              <a:rPr lang="en-US" sz="2300" dirty="0">
                <a:latin typeface="Calibri" pitchFamily="34" charset="0"/>
              </a:rPr>
              <a:t>Automated file transfer mechanism which allowed data files to be exchanged between hosts. Was requested in 1971..</a:t>
            </a:r>
          </a:p>
          <a:p>
            <a:pPr algn="just"/>
            <a:r>
              <a:rPr lang="en-US" sz="2300" dirty="0">
                <a:latin typeface="Calibri" pitchFamily="34" charset="0"/>
              </a:rPr>
              <a:t>A Node: </a:t>
            </a:r>
          </a:p>
          <a:p>
            <a:pPr lvl="3" algn="just"/>
            <a:r>
              <a:rPr lang="en-US" sz="2300" dirty="0">
                <a:latin typeface="Calibri" pitchFamily="34" charset="0"/>
              </a:rPr>
              <a:t>A node on a network is a computer or host that participates in the network.</a:t>
            </a:r>
          </a:p>
          <a:p>
            <a:pPr lvl="1" algn="just">
              <a:buNone/>
            </a:pPr>
            <a:r>
              <a:rPr lang="en-US" sz="2300" dirty="0">
                <a:latin typeface="Calibri" pitchFamily="34" charset="0"/>
              </a:rPr>
              <a:t> </a:t>
            </a:r>
          </a:p>
        </p:txBody>
      </p:sp>
      <p:sp>
        <p:nvSpPr>
          <p:cNvPr id="3" name="Footer Placeholder 2"/>
          <p:cNvSpPr>
            <a:spLocks noGrp="1"/>
          </p:cNvSpPr>
          <p:nvPr>
            <p:ph type="ftr" sz="quarter" idx="11"/>
          </p:nvPr>
        </p:nvSpPr>
        <p:spPr/>
        <p:txBody>
          <a:bodyPr/>
          <a:lstStyle/>
          <a:p>
            <a:r>
              <a:rPr lang="en-US"/>
              <a:t>- Assistant  Prof. Riddhi Joshi</a:t>
            </a:r>
          </a:p>
        </p:txBody>
      </p:sp>
      <p:sp>
        <p:nvSpPr>
          <p:cNvPr id="5" name="Slide Number Placeholder 4"/>
          <p:cNvSpPr>
            <a:spLocks noGrp="1"/>
          </p:cNvSpPr>
          <p:nvPr>
            <p:ph type="sldNum" sz="quarter" idx="12"/>
          </p:nvPr>
        </p:nvSpPr>
        <p:spPr/>
        <p:txBody>
          <a:bodyPr/>
          <a:lstStyle/>
          <a:p>
            <a:fld id="{521E5947-19AD-4D38-BBE9-7D3EA973E689}"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14400" y="274638"/>
            <a:ext cx="7772400" cy="715962"/>
          </a:xfrm>
        </p:spPr>
        <p:txBody>
          <a:bodyPr>
            <a:normAutofit fontScale="90000"/>
          </a:bodyPr>
          <a:lstStyle/>
          <a:p>
            <a:r>
              <a:rPr lang="en-US" dirty="0">
                <a:latin typeface="Calibri" pitchFamily="34" charset="0"/>
              </a:rPr>
              <a:t>Cont…</a:t>
            </a:r>
          </a:p>
        </p:txBody>
      </p:sp>
      <p:sp>
        <p:nvSpPr>
          <p:cNvPr id="2" name="Content Placeholder 1"/>
          <p:cNvSpPr>
            <a:spLocks noGrp="1"/>
          </p:cNvSpPr>
          <p:nvPr>
            <p:ph idx="1"/>
          </p:nvPr>
        </p:nvSpPr>
        <p:spPr>
          <a:xfrm>
            <a:off x="304800" y="914400"/>
            <a:ext cx="8458200" cy="4724400"/>
          </a:xfrm>
        </p:spPr>
        <p:style>
          <a:lnRef idx="2">
            <a:schemeClr val="accent1"/>
          </a:lnRef>
          <a:fillRef idx="1">
            <a:schemeClr val="lt1"/>
          </a:fillRef>
          <a:effectRef idx="0">
            <a:schemeClr val="accent1"/>
          </a:effectRef>
          <a:fontRef idx="minor">
            <a:schemeClr val="dk1"/>
          </a:fontRef>
        </p:style>
        <p:txBody>
          <a:bodyPr>
            <a:normAutofit/>
          </a:bodyPr>
          <a:lstStyle/>
          <a:p>
            <a:pPr algn="just"/>
            <a:r>
              <a:rPr lang="en-US" dirty="0">
                <a:latin typeface="Calibri" pitchFamily="34" charset="0"/>
              </a:rPr>
              <a:t>Email and File Transfer is the most popular network services. </a:t>
            </a:r>
          </a:p>
          <a:p>
            <a:pPr algn="just"/>
            <a:endParaRPr lang="en-US" dirty="0">
              <a:latin typeface="Calibri" pitchFamily="34" charset="0"/>
            </a:endParaRPr>
          </a:p>
          <a:p>
            <a:pPr algn="just"/>
            <a:r>
              <a:rPr lang="en-US" dirty="0">
                <a:latin typeface="Calibri" pitchFamily="34" charset="0"/>
              </a:rPr>
              <a:t>The best known network service is World Wide Web (WWW).</a:t>
            </a:r>
          </a:p>
          <a:p>
            <a:pPr algn="just">
              <a:buNone/>
            </a:pPr>
            <a:endParaRPr lang="en-US" dirty="0">
              <a:latin typeface="Calibri" pitchFamily="34" charset="0"/>
            </a:endParaRPr>
          </a:p>
          <a:p>
            <a:r>
              <a:rPr lang="en-US" dirty="0">
                <a:latin typeface="Calibri" pitchFamily="34" charset="0"/>
              </a:rPr>
              <a:t>WWW has since become a platform for network application and  services , including emails, search engines.  </a:t>
            </a:r>
          </a:p>
          <a:p>
            <a:pPr>
              <a:buNone/>
            </a:pPr>
            <a:endParaRPr lang="en-US" dirty="0">
              <a:latin typeface="Calibri" pitchFamily="34" charset="0"/>
            </a:endParaRPr>
          </a:p>
          <a:p>
            <a:r>
              <a:rPr lang="en-US" dirty="0">
                <a:latin typeface="Calibri" pitchFamily="34" charset="0"/>
              </a:rPr>
              <a:t>Until 1990 ARPANET the initial in internet was used by scientist, researchers and academicians. </a:t>
            </a:r>
          </a:p>
          <a:p>
            <a:pPr algn="just"/>
            <a:endParaRPr lang="en-US" dirty="0">
              <a:latin typeface="Calibri" pitchFamily="34" charset="0"/>
            </a:endParaRPr>
          </a:p>
        </p:txBody>
      </p:sp>
      <p:sp>
        <p:nvSpPr>
          <p:cNvPr id="3" name="Footer Placeholder 2"/>
          <p:cNvSpPr>
            <a:spLocks noGrp="1"/>
          </p:cNvSpPr>
          <p:nvPr>
            <p:ph type="ftr" sz="quarter" idx="11"/>
          </p:nvPr>
        </p:nvSpPr>
        <p:spPr/>
        <p:txBody>
          <a:bodyPr/>
          <a:lstStyle/>
          <a:p>
            <a:r>
              <a:rPr lang="en-US"/>
              <a:t>- Assistant  Prof. Riddhi Joshi</a:t>
            </a:r>
          </a:p>
        </p:txBody>
      </p:sp>
      <p:sp>
        <p:nvSpPr>
          <p:cNvPr id="5" name="Slide Number Placeholder 4"/>
          <p:cNvSpPr>
            <a:spLocks noGrp="1"/>
          </p:cNvSpPr>
          <p:nvPr>
            <p:ph type="sldNum" sz="quarter" idx="12"/>
          </p:nvPr>
        </p:nvSpPr>
        <p:spPr/>
        <p:txBody>
          <a:bodyPr/>
          <a:lstStyle/>
          <a:p>
            <a:fld id="{521E5947-19AD-4D38-BBE9-7D3EA973E689}"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457200" y="1295400"/>
            <a:ext cx="7239000" cy="4191000"/>
          </a:xfrm>
          <a:prstGeom prst="rect">
            <a:avLst/>
          </a:prstGeom>
        </p:spPr>
        <p:style>
          <a:lnRef idx="2">
            <a:schemeClr val="accent1"/>
          </a:lnRef>
          <a:fillRef idx="1">
            <a:schemeClr val="lt1"/>
          </a:fillRef>
          <a:effectRef idx="0">
            <a:schemeClr val="accent1"/>
          </a:effectRef>
          <a:fontRef idx="minor">
            <a:schemeClr val="dk1"/>
          </a:fontRef>
        </p:style>
        <p:txBody>
          <a:bodyPr vert="horz">
            <a:normAutofit lnSpcReduction="10000"/>
          </a:bodyPr>
          <a:lstStyle/>
          <a:p>
            <a:pPr marL="274320" marR="0" lvl="0" indent="-274320" algn="ctr" defTabSz="914400" rtl="0" eaLnBrk="1" fontAlgn="auto" latinLnBrk="0" hangingPunct="1">
              <a:lnSpc>
                <a:spcPct val="100000"/>
              </a:lnSpc>
              <a:spcBef>
                <a:spcPts val="580"/>
              </a:spcBef>
              <a:spcAft>
                <a:spcPts val="0"/>
              </a:spcAft>
              <a:buClr>
                <a:schemeClr val="accent1"/>
              </a:buClr>
              <a:buSzPct val="85000"/>
              <a:tabLst/>
              <a:defRPr/>
            </a:pPr>
            <a:endParaRPr kumimoji="0" lang="en-US" sz="2600" b="0" i="0" u="none" strike="noStrike" kern="1200" cap="none" spc="0" normalizeH="0" baseline="0" noProof="0" dirty="0">
              <a:ln>
                <a:noFill/>
              </a:ln>
              <a:solidFill>
                <a:schemeClr val="tx1"/>
              </a:solidFill>
              <a:effectLst/>
              <a:uLnTx/>
              <a:uFillTx/>
              <a:latin typeface="Calibri" pitchFamily="34" charset="0"/>
            </a:endParaRPr>
          </a:p>
          <a:p>
            <a:pPr marL="274320" lvl="0" indent="-274320">
              <a:spcBef>
                <a:spcPts val="580"/>
              </a:spcBef>
              <a:buClr>
                <a:schemeClr val="accent1"/>
              </a:buClr>
              <a:buSzPct val="85000"/>
              <a:buFont typeface="Arial" pitchFamily="34" charset="0"/>
              <a:buChar char="•"/>
              <a:defRPr/>
            </a:pPr>
            <a:r>
              <a:rPr kumimoji="0" lang="en-US" sz="2600" i="0" u="none" strike="noStrike" kern="1200" cap="none" spc="0" normalizeH="0" baseline="0" noProof="0" dirty="0">
                <a:ln>
                  <a:noFill/>
                </a:ln>
                <a:solidFill>
                  <a:schemeClr val="tx1"/>
                </a:solidFill>
                <a:effectLst/>
                <a:uLnTx/>
                <a:uFillTx/>
                <a:latin typeface="Calibri" pitchFamily="34" charset="0"/>
              </a:rPr>
              <a:t>1.1 Definition </a:t>
            </a:r>
          </a:p>
          <a:p>
            <a:pPr marL="274320" lvl="0" indent="-274320">
              <a:spcBef>
                <a:spcPts val="580"/>
              </a:spcBef>
              <a:buClr>
                <a:schemeClr val="accent1"/>
              </a:buClr>
              <a:buSzPct val="85000"/>
              <a:buFont typeface="Arial" pitchFamily="34" charset="0"/>
              <a:buChar char="•"/>
              <a:defRPr/>
            </a:pPr>
            <a:r>
              <a:rPr kumimoji="0" lang="en-US" sz="2600" i="0" u="none" strike="noStrike" kern="1200" cap="none" spc="0" normalizeH="0" baseline="0" noProof="0" dirty="0">
                <a:ln>
                  <a:noFill/>
                </a:ln>
                <a:solidFill>
                  <a:schemeClr val="tx1"/>
                </a:solidFill>
                <a:effectLst/>
                <a:uLnTx/>
                <a:uFillTx/>
                <a:latin typeface="Calibri" pitchFamily="34" charset="0"/>
              </a:rPr>
              <a:t>1.2 History of DC</a:t>
            </a:r>
          </a:p>
          <a:p>
            <a:pPr marL="274320" lvl="0" indent="-274320">
              <a:spcBef>
                <a:spcPts val="580"/>
              </a:spcBef>
              <a:buClr>
                <a:schemeClr val="accent1"/>
              </a:buClr>
              <a:buSzPct val="85000"/>
              <a:defRPr/>
            </a:pPr>
            <a:r>
              <a:rPr lang="en-US" sz="2600" b="1" dirty="0">
                <a:solidFill>
                  <a:schemeClr val="accent1"/>
                </a:solidFill>
                <a:latin typeface="Calibri" pitchFamily="34" charset="0"/>
              </a:rPr>
              <a:t>→ </a:t>
            </a:r>
            <a:r>
              <a:rPr kumimoji="0" lang="en-US" sz="2600" b="1" i="0" u="none" strike="noStrike" kern="1200" cap="none" spc="0" normalizeH="0" baseline="0" noProof="0" dirty="0">
                <a:ln>
                  <a:noFill/>
                </a:ln>
                <a:solidFill>
                  <a:schemeClr val="accent1"/>
                </a:solidFill>
                <a:effectLst/>
                <a:uLnTx/>
                <a:uFillTx/>
                <a:latin typeface="Calibri" pitchFamily="34" charset="0"/>
              </a:rPr>
              <a:t>1.3 Different forms of Computing</a:t>
            </a:r>
          </a:p>
          <a:p>
            <a:pPr marL="274320" lvl="0" indent="-274320">
              <a:spcBef>
                <a:spcPts val="580"/>
              </a:spcBef>
              <a:buClr>
                <a:schemeClr val="accent1"/>
              </a:buClr>
              <a:buSzPct val="85000"/>
              <a:buFont typeface="Arial" pitchFamily="34" charset="0"/>
              <a:buChar char="•"/>
              <a:defRPr/>
            </a:pPr>
            <a:r>
              <a:rPr lang="en-US" sz="2600" dirty="0">
                <a:solidFill>
                  <a:schemeClr val="tx1"/>
                </a:solidFill>
                <a:latin typeface="Calibri" pitchFamily="34" charset="0"/>
              </a:rPr>
              <a:t>1.4 Strength &amp; Weakness</a:t>
            </a:r>
          </a:p>
          <a:p>
            <a:pPr marL="274320" lvl="0" indent="-274320">
              <a:spcBef>
                <a:spcPts val="580"/>
              </a:spcBef>
              <a:buClr>
                <a:schemeClr val="accent1"/>
              </a:buClr>
              <a:buSzPct val="85000"/>
              <a:buFont typeface="Arial" pitchFamily="34" charset="0"/>
              <a:buChar char="•"/>
              <a:defRPr/>
            </a:pPr>
            <a:r>
              <a:rPr lang="en-US" sz="2600" b="1" dirty="0">
                <a:solidFill>
                  <a:schemeClr val="accent1"/>
                </a:solidFill>
                <a:latin typeface="Calibri" pitchFamily="34" charset="0"/>
              </a:rPr>
              <a:t> </a:t>
            </a:r>
            <a:r>
              <a:rPr lang="en-US" sz="2600" dirty="0">
                <a:solidFill>
                  <a:schemeClr val="tx1"/>
                </a:solidFill>
                <a:latin typeface="Calibri" pitchFamily="34" charset="0"/>
              </a:rPr>
              <a:t>1.5 Basics of OS</a:t>
            </a:r>
          </a:p>
          <a:p>
            <a:pPr marL="274320" lvl="0" indent="-274320">
              <a:spcBef>
                <a:spcPts val="580"/>
              </a:spcBef>
              <a:buClr>
                <a:schemeClr val="accent1"/>
              </a:buClr>
              <a:buSzPct val="85000"/>
              <a:buFont typeface="Arial" pitchFamily="34" charset="0"/>
              <a:buChar char="•"/>
              <a:defRPr/>
            </a:pPr>
            <a:r>
              <a:rPr lang="en-US" sz="2600" dirty="0">
                <a:solidFill>
                  <a:schemeClr val="tx1"/>
                </a:solidFill>
                <a:latin typeface="Calibri" pitchFamily="34" charset="0"/>
              </a:rPr>
              <a:t>1.6 Network Basics</a:t>
            </a:r>
          </a:p>
          <a:p>
            <a:pPr marL="274320" lvl="0" indent="-274320">
              <a:spcBef>
                <a:spcPts val="580"/>
              </a:spcBef>
              <a:buClr>
                <a:schemeClr val="accent1"/>
              </a:buClr>
              <a:buSzPct val="85000"/>
              <a:buFont typeface="Arial" pitchFamily="34" charset="0"/>
              <a:buChar char="•"/>
              <a:defRPr/>
            </a:pPr>
            <a:r>
              <a:rPr lang="en-US" sz="2600" dirty="0">
                <a:solidFill>
                  <a:schemeClr val="tx1"/>
                </a:solidFill>
                <a:latin typeface="Calibri" pitchFamily="34" charset="0"/>
              </a:rPr>
              <a:t>1.7 Software Engineering Basics </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lang="en-US" sz="2600" dirty="0">
                <a:latin typeface="Calibri" pitchFamily="34" charset="0"/>
              </a:rPr>
              <a:t>1.8 The Architecture of Distributed Application. </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n-US" sz="2600" b="0" i="0" u="none" strike="noStrike" kern="1200" cap="none" spc="0" normalizeH="0" baseline="0" noProof="0" dirty="0">
              <a:ln>
                <a:noFill/>
              </a:ln>
              <a:solidFill>
                <a:schemeClr val="tx1"/>
              </a:solidFill>
              <a:effectLst/>
              <a:uLnTx/>
              <a:uFillTx/>
              <a:latin typeface="Calibri" pitchFamily="34" charset="0"/>
            </a:endParaRPr>
          </a:p>
        </p:txBody>
      </p:sp>
      <p:sp>
        <p:nvSpPr>
          <p:cNvPr id="6" name="TextBox 5"/>
          <p:cNvSpPr txBox="1"/>
          <p:nvPr/>
        </p:nvSpPr>
        <p:spPr>
          <a:xfrm>
            <a:off x="2667000" y="457200"/>
            <a:ext cx="4267200" cy="523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lgn="ctr">
              <a:buFontTx/>
              <a:buNone/>
              <a:defRPr/>
            </a:pPr>
            <a:r>
              <a:rPr lang="en-US" sz="2800" b="1" dirty="0">
                <a:effectLst>
                  <a:outerShdw blurRad="38100" dist="38100" dir="2700000" algn="tl">
                    <a:srgbClr val="000000">
                      <a:alpha val="43137"/>
                    </a:srgbClr>
                  </a:outerShdw>
                </a:effectLst>
                <a:latin typeface="Calibri" pitchFamily="34" charset="0"/>
              </a:rPr>
              <a:t>Roadmap</a:t>
            </a:r>
          </a:p>
        </p:txBody>
      </p:sp>
      <p:sp>
        <p:nvSpPr>
          <p:cNvPr id="7" name="Footer Placeholder 6"/>
          <p:cNvSpPr>
            <a:spLocks noGrp="1"/>
          </p:cNvSpPr>
          <p:nvPr>
            <p:ph type="ftr" sz="quarter" idx="11"/>
          </p:nvPr>
        </p:nvSpPr>
        <p:spPr/>
        <p:txBody>
          <a:bodyPr/>
          <a:lstStyle/>
          <a:p>
            <a:r>
              <a:rPr lang="en-US"/>
              <a:t>- Assistant  Prof. Riddhi Joshi</a:t>
            </a:r>
          </a:p>
        </p:txBody>
      </p:sp>
      <p:sp>
        <p:nvSpPr>
          <p:cNvPr id="4" name="Slide Number Placeholder 3"/>
          <p:cNvSpPr>
            <a:spLocks noGrp="1"/>
          </p:cNvSpPr>
          <p:nvPr>
            <p:ph type="sldNum" sz="quarter" idx="12"/>
          </p:nvPr>
        </p:nvSpPr>
        <p:spPr/>
        <p:txBody>
          <a:bodyPr/>
          <a:lstStyle/>
          <a:p>
            <a:fld id="{521E5947-19AD-4D38-BBE9-7D3EA973E689}"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14400" y="83572"/>
            <a:ext cx="7772400" cy="639762"/>
          </a:xfrm>
          <a:solidFill>
            <a:schemeClr val="accent2"/>
          </a:solidFill>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latin typeface="Calibri" pitchFamily="34" charset="0"/>
              </a:rPr>
              <a:t>1.3 Different Form of Computing</a:t>
            </a:r>
          </a:p>
        </p:txBody>
      </p:sp>
      <p:sp>
        <p:nvSpPr>
          <p:cNvPr id="2" name="Content Placeholder 1"/>
          <p:cNvSpPr>
            <a:spLocks noGrp="1"/>
          </p:cNvSpPr>
          <p:nvPr>
            <p:ph idx="1"/>
          </p:nvPr>
        </p:nvSpPr>
        <p:spPr>
          <a:xfrm>
            <a:off x="165272" y="990600"/>
            <a:ext cx="8521527" cy="4572000"/>
          </a:xfrm>
        </p:spPr>
        <p:style>
          <a:lnRef idx="2">
            <a:schemeClr val="accent1"/>
          </a:lnRef>
          <a:fillRef idx="1">
            <a:schemeClr val="lt1"/>
          </a:fillRef>
          <a:effectRef idx="0">
            <a:schemeClr val="accent1"/>
          </a:effectRef>
          <a:fontRef idx="minor">
            <a:schemeClr val="dk1"/>
          </a:fontRef>
        </p:style>
        <p:txBody>
          <a:bodyPr>
            <a:normAutofit/>
          </a:bodyPr>
          <a:lstStyle/>
          <a:p>
            <a:r>
              <a:rPr lang="en-US" sz="2200" dirty="0">
                <a:latin typeface="Calibri" pitchFamily="34" charset="0"/>
              </a:rPr>
              <a:t>As we are learning DC we should know various form of computing. </a:t>
            </a:r>
          </a:p>
          <a:p>
            <a:pPr>
              <a:buNone/>
            </a:pPr>
            <a:endParaRPr lang="en-US" sz="2200" dirty="0">
              <a:latin typeface="Calibri" pitchFamily="34" charset="0"/>
            </a:endParaRPr>
          </a:p>
          <a:p>
            <a:pPr lvl="1"/>
            <a:r>
              <a:rPr lang="en-US" sz="2200" dirty="0">
                <a:latin typeface="Calibri" pitchFamily="34" charset="0"/>
              </a:rPr>
              <a:t>Monolithic Computing</a:t>
            </a:r>
          </a:p>
          <a:p>
            <a:pPr lvl="1"/>
            <a:endParaRPr lang="en-US" sz="2200" dirty="0">
              <a:latin typeface="Calibri" pitchFamily="34" charset="0"/>
            </a:endParaRPr>
          </a:p>
          <a:p>
            <a:pPr lvl="1"/>
            <a:r>
              <a:rPr lang="en-US" sz="2200" dirty="0">
                <a:latin typeface="Calibri" pitchFamily="34" charset="0"/>
              </a:rPr>
              <a:t>Distributed Computing</a:t>
            </a:r>
          </a:p>
          <a:p>
            <a:pPr lvl="1"/>
            <a:endParaRPr lang="en-US" sz="2200" dirty="0">
              <a:latin typeface="Calibri" pitchFamily="34" charset="0"/>
            </a:endParaRPr>
          </a:p>
          <a:p>
            <a:pPr lvl="1"/>
            <a:r>
              <a:rPr lang="en-US" sz="2200" dirty="0">
                <a:latin typeface="Calibri" pitchFamily="34" charset="0"/>
              </a:rPr>
              <a:t>Parallel Computing</a:t>
            </a:r>
          </a:p>
          <a:p>
            <a:pPr lvl="1"/>
            <a:endParaRPr lang="en-US" sz="2200" dirty="0">
              <a:latin typeface="Calibri" pitchFamily="34" charset="0"/>
            </a:endParaRPr>
          </a:p>
          <a:p>
            <a:pPr lvl="1"/>
            <a:r>
              <a:rPr lang="en-US" sz="2200" dirty="0">
                <a:latin typeface="Calibri" pitchFamily="34" charset="0"/>
              </a:rPr>
              <a:t>Cooperative Computing</a:t>
            </a:r>
          </a:p>
        </p:txBody>
      </p:sp>
      <p:sp>
        <p:nvSpPr>
          <p:cNvPr id="3" name="Footer Placeholder 2"/>
          <p:cNvSpPr>
            <a:spLocks noGrp="1"/>
          </p:cNvSpPr>
          <p:nvPr>
            <p:ph type="ftr" sz="quarter" idx="11"/>
          </p:nvPr>
        </p:nvSpPr>
        <p:spPr/>
        <p:txBody>
          <a:bodyPr/>
          <a:lstStyle/>
          <a:p>
            <a:r>
              <a:rPr lang="en-US"/>
              <a:t>- Assistant  Prof. Riddhi Joshi</a:t>
            </a:r>
          </a:p>
        </p:txBody>
      </p:sp>
      <p:sp>
        <p:nvSpPr>
          <p:cNvPr id="5" name="Slide Number Placeholder 4"/>
          <p:cNvSpPr>
            <a:spLocks noGrp="1"/>
          </p:cNvSpPr>
          <p:nvPr>
            <p:ph type="sldNum" sz="quarter" idx="12"/>
          </p:nvPr>
        </p:nvSpPr>
        <p:spPr/>
        <p:txBody>
          <a:bodyPr/>
          <a:lstStyle/>
          <a:p>
            <a:fld id="{521E5947-19AD-4D38-BBE9-7D3EA973E689}"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14400" y="0"/>
            <a:ext cx="7772400" cy="533400"/>
          </a:xfrm>
          <a:solidFill>
            <a:schemeClr val="accent2"/>
          </a:solidFill>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latin typeface="Calibri" pitchFamily="34" charset="0"/>
              </a:rPr>
              <a:t>1. Monolithic Computing</a:t>
            </a:r>
          </a:p>
        </p:txBody>
      </p:sp>
      <p:sp>
        <p:nvSpPr>
          <p:cNvPr id="2" name="Content Placeholder 1"/>
          <p:cNvSpPr>
            <a:spLocks noGrp="1"/>
          </p:cNvSpPr>
          <p:nvPr>
            <p:ph idx="1"/>
          </p:nvPr>
        </p:nvSpPr>
        <p:spPr>
          <a:xfrm>
            <a:off x="0" y="685800"/>
            <a:ext cx="9144000" cy="5486400"/>
          </a:xfrm>
        </p:spPr>
        <p:style>
          <a:lnRef idx="2">
            <a:schemeClr val="accent1"/>
          </a:lnRef>
          <a:fillRef idx="1">
            <a:schemeClr val="lt1"/>
          </a:fillRef>
          <a:effectRef idx="0">
            <a:schemeClr val="accent1"/>
          </a:effectRef>
          <a:fontRef idx="minor">
            <a:schemeClr val="dk1"/>
          </a:fontRef>
        </p:style>
        <p:txBody>
          <a:bodyPr>
            <a:noAutofit/>
          </a:bodyPr>
          <a:lstStyle/>
          <a:p>
            <a:pPr algn="just">
              <a:lnSpc>
                <a:spcPct val="100000"/>
              </a:lnSpc>
              <a:buFont typeface="Wingdings" panose="05000000000000000000" pitchFamily="2" charset="2"/>
              <a:buChar char="Ø"/>
            </a:pPr>
            <a:r>
              <a:rPr lang="en-US" sz="2500" dirty="0">
                <a:latin typeface="Calibri" pitchFamily="34" charset="0"/>
              </a:rPr>
              <a:t>In this simplest form of computing a </a:t>
            </a:r>
            <a:r>
              <a:rPr lang="en-US" sz="2500" u="sng" dirty="0">
                <a:latin typeface="Calibri" pitchFamily="34" charset="0"/>
              </a:rPr>
              <a:t>single computer</a:t>
            </a:r>
            <a:r>
              <a:rPr lang="en-US" sz="2500" dirty="0">
                <a:latin typeface="Calibri" pitchFamily="34" charset="0"/>
              </a:rPr>
              <a:t>, such as </a:t>
            </a:r>
            <a:r>
              <a:rPr lang="en-US" sz="2500" u="sng" dirty="0">
                <a:latin typeface="Calibri" pitchFamily="34" charset="0"/>
              </a:rPr>
              <a:t>personal computer</a:t>
            </a:r>
            <a:r>
              <a:rPr lang="en-US" sz="2500" dirty="0">
                <a:latin typeface="Calibri" pitchFamily="34" charset="0"/>
              </a:rPr>
              <a:t> is used for computing.</a:t>
            </a:r>
          </a:p>
          <a:p>
            <a:pPr algn="just">
              <a:lnSpc>
                <a:spcPct val="100000"/>
              </a:lnSpc>
              <a:buFont typeface="Wingdings" panose="05000000000000000000" pitchFamily="2" charset="2"/>
              <a:buChar char="Ø"/>
            </a:pPr>
            <a:r>
              <a:rPr lang="en-US" sz="2500" dirty="0">
                <a:latin typeface="Calibri" pitchFamily="34" charset="0"/>
              </a:rPr>
              <a:t>The computer is </a:t>
            </a:r>
            <a:r>
              <a:rPr lang="en-US" sz="2500" u="sng" dirty="0">
                <a:latin typeface="Calibri" pitchFamily="34" charset="0"/>
              </a:rPr>
              <a:t>not connected to any network</a:t>
            </a:r>
            <a:r>
              <a:rPr lang="en-US" sz="2500" dirty="0">
                <a:latin typeface="Calibri" pitchFamily="34" charset="0"/>
              </a:rPr>
              <a:t> and thus it may be use only those resources within its immediate access. This form of computing called as </a:t>
            </a:r>
            <a:r>
              <a:rPr lang="en-US" sz="2500" dirty="0">
                <a:solidFill>
                  <a:schemeClr val="accent2">
                    <a:lumMod val="75000"/>
                  </a:schemeClr>
                </a:solidFill>
                <a:latin typeface="Calibri" pitchFamily="34" charset="0"/>
              </a:rPr>
              <a:t>MONOLITHIC COMPUTING.</a:t>
            </a:r>
            <a:r>
              <a:rPr lang="en-US" sz="2500" dirty="0">
                <a:latin typeface="Calibri" pitchFamily="34" charset="0"/>
              </a:rPr>
              <a:t>  </a:t>
            </a:r>
          </a:p>
          <a:p>
            <a:pPr algn="just">
              <a:lnSpc>
                <a:spcPct val="100000"/>
              </a:lnSpc>
              <a:buFont typeface="Wingdings" panose="05000000000000000000" pitchFamily="2" charset="2"/>
              <a:buChar char="Ø"/>
            </a:pPr>
            <a:r>
              <a:rPr lang="en-US" sz="2500" dirty="0">
                <a:latin typeface="Calibri" pitchFamily="34" charset="0"/>
              </a:rPr>
              <a:t>Multiple users can engage in monolithic computing. This form of computing, where the resources of a single computer can be shared by concurrent users using a technique known as timesharing.</a:t>
            </a:r>
          </a:p>
          <a:p>
            <a:pPr algn="just">
              <a:lnSpc>
                <a:spcPct val="100000"/>
              </a:lnSpc>
              <a:buFont typeface="Wingdings" panose="05000000000000000000" pitchFamily="2" charset="2"/>
              <a:buChar char="Ø"/>
            </a:pPr>
            <a:r>
              <a:rPr lang="en-US" sz="2500" dirty="0">
                <a:latin typeface="Calibri" pitchFamily="34" charset="0"/>
              </a:rPr>
              <a:t>The computer that provides the centralized resource is called a mainframe.</a:t>
            </a:r>
          </a:p>
          <a:p>
            <a:pPr algn="just">
              <a:lnSpc>
                <a:spcPct val="100000"/>
              </a:lnSpc>
              <a:buFont typeface="Wingdings" panose="05000000000000000000" pitchFamily="2" charset="2"/>
              <a:buChar char="Ø"/>
            </a:pPr>
            <a:endParaRPr lang="en-US" sz="2500" dirty="0">
              <a:latin typeface="Calibri" pitchFamily="34" charset="0"/>
            </a:endParaRPr>
          </a:p>
        </p:txBody>
      </p:sp>
      <p:sp>
        <p:nvSpPr>
          <p:cNvPr id="3" name="Footer Placeholder 2"/>
          <p:cNvSpPr>
            <a:spLocks noGrp="1"/>
          </p:cNvSpPr>
          <p:nvPr>
            <p:ph type="ftr" sz="quarter" idx="11"/>
          </p:nvPr>
        </p:nvSpPr>
        <p:spPr/>
        <p:txBody>
          <a:bodyPr/>
          <a:lstStyle/>
          <a:p>
            <a:r>
              <a:rPr lang="en-US"/>
              <a:t>- Assistant  Prof. Riddhi Joshi</a:t>
            </a:r>
          </a:p>
        </p:txBody>
      </p:sp>
      <p:sp>
        <p:nvSpPr>
          <p:cNvPr id="5" name="Slide Number Placeholder 4"/>
          <p:cNvSpPr>
            <a:spLocks noGrp="1"/>
          </p:cNvSpPr>
          <p:nvPr>
            <p:ph type="sldNum" sz="quarter" idx="12"/>
          </p:nvPr>
        </p:nvSpPr>
        <p:spPr/>
        <p:txBody>
          <a:bodyPr/>
          <a:lstStyle/>
          <a:p>
            <a:fld id="{521E5947-19AD-4D38-BBE9-7D3EA973E689}"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655EF7-1590-F3CF-0826-D4F888CFA777}"/>
              </a:ext>
            </a:extLst>
          </p:cNvPr>
          <p:cNvSpPr>
            <a:spLocks noGrp="1"/>
          </p:cNvSpPr>
          <p:nvPr>
            <p:ph idx="1"/>
          </p:nvPr>
        </p:nvSpPr>
        <p:spPr>
          <a:xfrm>
            <a:off x="30480" y="685800"/>
            <a:ext cx="9037320" cy="4023360"/>
          </a:xfrm>
        </p:spPr>
        <p:txBody>
          <a:bodyPr>
            <a:noAutofit/>
          </a:bodyPr>
          <a:lstStyle/>
          <a:p>
            <a:pPr algn="just"/>
            <a:r>
              <a:rPr lang="en-US" sz="2200" b="0" i="0" dirty="0">
                <a:solidFill>
                  <a:schemeClr val="tx1"/>
                </a:solidFill>
                <a:effectLst/>
              </a:rPr>
              <a:t>There are two types: single user monolithic computing and multi-user monolithic computing.</a:t>
            </a:r>
          </a:p>
          <a:p>
            <a:pPr algn="just">
              <a:buFont typeface="Wingdings" panose="05000000000000000000" pitchFamily="2" charset="2"/>
              <a:buChar char="Ø"/>
            </a:pPr>
            <a:r>
              <a:rPr lang="en-US" sz="2200" b="1" i="0" dirty="0">
                <a:solidFill>
                  <a:schemeClr val="tx1"/>
                </a:solidFill>
                <a:effectLst/>
              </a:rPr>
              <a:t>Single user monolithic computing </a:t>
            </a:r>
            <a:br>
              <a:rPr lang="en-US" sz="2200" b="0" i="0" dirty="0">
                <a:solidFill>
                  <a:schemeClr val="tx1"/>
                </a:solidFill>
                <a:effectLst/>
              </a:rPr>
            </a:br>
            <a:r>
              <a:rPr lang="en-US" sz="2200" b="0" i="0" dirty="0">
                <a:solidFill>
                  <a:schemeClr val="tx1"/>
                </a:solidFill>
                <a:effectLst/>
              </a:rPr>
              <a:t>In this type of computing, the </a:t>
            </a:r>
            <a:r>
              <a:rPr lang="en-US" sz="2200" b="0" i="0" u="none" strike="noStrike" dirty="0">
                <a:solidFill>
                  <a:schemeClr val="tx1"/>
                </a:solidFill>
                <a:effectLst/>
                <a:hlinkClick r:id="rId2">
                  <a:extLst>
                    <a:ext uri="{A12FA001-AC4F-418D-AE19-62706E023703}">
                      <ahyp:hlinkClr xmlns:ahyp="http://schemas.microsoft.com/office/drawing/2018/hyperlinkcolor" val="tx"/>
                    </a:ext>
                  </a:extLst>
                </a:hlinkClick>
              </a:rPr>
              <a:t>computer</a:t>
            </a:r>
            <a:r>
              <a:rPr lang="en-US" sz="2200" b="0" i="0" dirty="0">
                <a:solidFill>
                  <a:schemeClr val="tx1"/>
                </a:solidFill>
                <a:effectLst/>
              </a:rPr>
              <a:t> is used by only one user at a time. </a:t>
            </a:r>
          </a:p>
          <a:p>
            <a:pPr algn="just">
              <a:buFont typeface="Wingdings" panose="05000000000000000000" pitchFamily="2" charset="2"/>
              <a:buChar char="Ø"/>
            </a:pPr>
            <a:r>
              <a:rPr lang="en-US" sz="2200" b="0" i="0" dirty="0">
                <a:solidFill>
                  <a:schemeClr val="tx1"/>
                </a:solidFill>
                <a:effectLst/>
              </a:rPr>
              <a:t>The computer can use resources only within its immediate access. </a:t>
            </a:r>
          </a:p>
          <a:p>
            <a:pPr algn="just">
              <a:buFont typeface="Wingdings" panose="05000000000000000000" pitchFamily="2" charset="2"/>
              <a:buChar char="Ø"/>
            </a:pPr>
            <a:r>
              <a:rPr lang="en-US" sz="2200" b="0" i="0" dirty="0">
                <a:solidFill>
                  <a:schemeClr val="tx1"/>
                </a:solidFill>
                <a:effectLst/>
              </a:rPr>
              <a:t>Applications such as spreadsheet or word processing program </a:t>
            </a:r>
            <a:r>
              <a:rPr lang="en-US" sz="2200" b="0" i="0" dirty="0" err="1">
                <a:solidFill>
                  <a:schemeClr val="tx1"/>
                </a:solidFill>
                <a:effectLst/>
              </a:rPr>
              <a:t>practise</a:t>
            </a:r>
            <a:r>
              <a:rPr lang="en-US" sz="2200" b="0" i="0" dirty="0">
                <a:solidFill>
                  <a:schemeClr val="tx1"/>
                </a:solidFill>
                <a:effectLst/>
              </a:rPr>
              <a:t> this form of computing.</a:t>
            </a:r>
          </a:p>
          <a:p>
            <a:pPr algn="just">
              <a:buFont typeface="Wingdings" panose="05000000000000000000" pitchFamily="2" charset="2"/>
              <a:buChar char="Ø"/>
            </a:pPr>
            <a:r>
              <a:rPr lang="en-US" sz="2200" b="1" i="0" dirty="0">
                <a:solidFill>
                  <a:schemeClr val="tx1"/>
                </a:solidFill>
                <a:effectLst/>
              </a:rPr>
              <a:t>Multi-user monolithic computing</a:t>
            </a:r>
          </a:p>
          <a:p>
            <a:pPr algn="just">
              <a:buFont typeface="Wingdings" panose="05000000000000000000" pitchFamily="2" charset="2"/>
              <a:buChar char="Ø"/>
            </a:pPr>
            <a:r>
              <a:rPr lang="en-US" sz="2200" b="0" i="0" dirty="0">
                <a:solidFill>
                  <a:schemeClr val="tx1"/>
                </a:solidFill>
                <a:effectLst/>
              </a:rPr>
              <a:t>In this type of computing, multiple users can share the resources using a technique called timesharing. </a:t>
            </a:r>
          </a:p>
          <a:p>
            <a:pPr algn="just">
              <a:buFont typeface="Wingdings" panose="05000000000000000000" pitchFamily="2" charset="2"/>
              <a:buChar char="Ø"/>
            </a:pPr>
            <a:r>
              <a:rPr lang="en-US" sz="2200" b="0" i="0" dirty="0">
                <a:solidFill>
                  <a:schemeClr val="tx1"/>
                </a:solidFill>
                <a:effectLst/>
              </a:rPr>
              <a:t>Usually </a:t>
            </a:r>
            <a:r>
              <a:rPr lang="en-US" sz="2200" b="0" i="0" u="none" strike="noStrike" dirty="0">
                <a:solidFill>
                  <a:schemeClr val="tx1"/>
                </a:solidFill>
                <a:effectLst/>
                <a:hlinkClick r:id="rId3">
                  <a:extLst>
                    <a:ext uri="{A12FA001-AC4F-418D-AE19-62706E023703}">
                      <ahyp:hlinkClr xmlns:ahyp="http://schemas.microsoft.com/office/drawing/2018/hyperlinkcolor" val="tx"/>
                    </a:ext>
                  </a:extLst>
                </a:hlinkClick>
              </a:rPr>
              <a:t>mainframe</a:t>
            </a:r>
            <a:r>
              <a:rPr lang="en-US" sz="2200" b="0" i="0" dirty="0">
                <a:solidFill>
                  <a:schemeClr val="tx1"/>
                </a:solidFill>
                <a:effectLst/>
              </a:rPr>
              <a:t> is used to proved the centralized resource. Users can access mainframe system through terminals. </a:t>
            </a:r>
          </a:p>
          <a:p>
            <a:pPr algn="just">
              <a:buFont typeface="Wingdings" panose="05000000000000000000" pitchFamily="2" charset="2"/>
              <a:buChar char="Ø"/>
            </a:pPr>
            <a:r>
              <a:rPr lang="en-US" sz="2200" b="0" i="0" dirty="0">
                <a:solidFill>
                  <a:schemeClr val="tx1"/>
                </a:solidFill>
                <a:effectLst/>
              </a:rPr>
              <a:t>Applications such as payroll and billing </a:t>
            </a:r>
            <a:r>
              <a:rPr lang="en-US" sz="2200" b="0" i="0" dirty="0" err="1">
                <a:solidFill>
                  <a:schemeClr val="tx1"/>
                </a:solidFill>
                <a:effectLst/>
              </a:rPr>
              <a:t>practise</a:t>
            </a:r>
            <a:r>
              <a:rPr lang="en-US" sz="2200" b="0" i="0" dirty="0">
                <a:solidFill>
                  <a:schemeClr val="tx1"/>
                </a:solidFill>
                <a:effectLst/>
              </a:rPr>
              <a:t> this form of computing.</a:t>
            </a:r>
          </a:p>
          <a:p>
            <a:pPr algn="just"/>
            <a:endParaRPr lang="en-IN" sz="2200" dirty="0">
              <a:solidFill>
                <a:schemeClr val="tx1"/>
              </a:solidFill>
            </a:endParaRPr>
          </a:p>
        </p:txBody>
      </p:sp>
      <p:sp>
        <p:nvSpPr>
          <p:cNvPr id="4" name="Footer Placeholder 3">
            <a:extLst>
              <a:ext uri="{FF2B5EF4-FFF2-40B4-BE49-F238E27FC236}">
                <a16:creationId xmlns:a16="http://schemas.microsoft.com/office/drawing/2014/main" id="{A2357163-1F48-8D72-53D4-A6D81751E9F0}"/>
              </a:ext>
            </a:extLst>
          </p:cNvPr>
          <p:cNvSpPr>
            <a:spLocks noGrp="1"/>
          </p:cNvSpPr>
          <p:nvPr>
            <p:ph type="ftr" sz="quarter" idx="11"/>
          </p:nvPr>
        </p:nvSpPr>
        <p:spPr/>
        <p:txBody>
          <a:bodyPr/>
          <a:lstStyle/>
          <a:p>
            <a:r>
              <a:rPr lang="en-US"/>
              <a:t>- Assistant  Prof. Riddhi Joshi</a:t>
            </a:r>
          </a:p>
        </p:txBody>
      </p:sp>
      <p:sp>
        <p:nvSpPr>
          <p:cNvPr id="5" name="Slide Number Placeholder 4">
            <a:extLst>
              <a:ext uri="{FF2B5EF4-FFF2-40B4-BE49-F238E27FC236}">
                <a16:creationId xmlns:a16="http://schemas.microsoft.com/office/drawing/2014/main" id="{7965855D-99AD-E42C-4660-1D65F64984CE}"/>
              </a:ext>
            </a:extLst>
          </p:cNvPr>
          <p:cNvSpPr>
            <a:spLocks noGrp="1"/>
          </p:cNvSpPr>
          <p:nvPr>
            <p:ph type="sldNum" sz="quarter" idx="12"/>
          </p:nvPr>
        </p:nvSpPr>
        <p:spPr/>
        <p:txBody>
          <a:bodyPr/>
          <a:lstStyle/>
          <a:p>
            <a:fld id="{521E5947-19AD-4D38-BBE9-7D3EA973E689}" type="slidenum">
              <a:rPr lang="en-US" smtClean="0"/>
              <a:pPr/>
              <a:t>25</a:t>
            </a:fld>
            <a:endParaRPr lang="en-US"/>
          </a:p>
        </p:txBody>
      </p:sp>
      <p:sp>
        <p:nvSpPr>
          <p:cNvPr id="6" name="Title 3">
            <a:extLst>
              <a:ext uri="{FF2B5EF4-FFF2-40B4-BE49-F238E27FC236}">
                <a16:creationId xmlns:a16="http://schemas.microsoft.com/office/drawing/2014/main" id="{21063C4C-48E2-96EA-6C7A-3665D8C68EAD}"/>
              </a:ext>
            </a:extLst>
          </p:cNvPr>
          <p:cNvSpPr>
            <a:spLocks noGrp="1"/>
          </p:cNvSpPr>
          <p:nvPr>
            <p:ph type="title"/>
          </p:nvPr>
        </p:nvSpPr>
        <p:spPr>
          <a:xfrm>
            <a:off x="914400" y="0"/>
            <a:ext cx="7772400" cy="533400"/>
          </a:xfrm>
          <a:solidFill>
            <a:schemeClr val="accent2"/>
          </a:solidFill>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latin typeface="Calibri" pitchFamily="34" charset="0"/>
              </a:rPr>
              <a:t>1. Monolithic Computing</a:t>
            </a:r>
          </a:p>
        </p:txBody>
      </p:sp>
    </p:spTree>
    <p:extLst>
      <p:ext uri="{BB962C8B-B14F-4D97-AF65-F5344CB8AC3E}">
        <p14:creationId xmlns:p14="http://schemas.microsoft.com/office/powerpoint/2010/main" val="30688934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14400" y="76200"/>
            <a:ext cx="7772400" cy="457200"/>
          </a:xfrm>
          <a:solidFill>
            <a:schemeClr val="accent2"/>
          </a:solidFill>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latin typeface="Calibri" pitchFamily="34" charset="0"/>
              </a:rPr>
              <a:t>2. Distributed Computing</a:t>
            </a:r>
          </a:p>
        </p:txBody>
      </p:sp>
      <p:sp>
        <p:nvSpPr>
          <p:cNvPr id="6" name="Content Placeholder 3"/>
          <p:cNvSpPr>
            <a:spLocks noGrp="1"/>
          </p:cNvSpPr>
          <p:nvPr>
            <p:ph idx="1"/>
          </p:nvPr>
        </p:nvSpPr>
        <p:spPr>
          <a:xfrm>
            <a:off x="152400" y="685800"/>
            <a:ext cx="8839200" cy="5410200"/>
          </a:xfrm>
        </p:spPr>
        <p:style>
          <a:lnRef idx="2">
            <a:schemeClr val="accent1"/>
          </a:lnRef>
          <a:fillRef idx="1">
            <a:schemeClr val="lt1"/>
          </a:fillRef>
          <a:effectRef idx="0">
            <a:schemeClr val="accent1"/>
          </a:effectRef>
          <a:fontRef idx="minor">
            <a:schemeClr val="dk1"/>
          </a:fontRef>
        </p:style>
        <p:txBody>
          <a:bodyPr>
            <a:noAutofit/>
          </a:bodyPr>
          <a:lstStyle/>
          <a:p>
            <a:endParaRPr lang="en-US" sz="2200" dirty="0">
              <a:latin typeface="Calibri" pitchFamily="34" charset="0"/>
            </a:endParaRPr>
          </a:p>
          <a:p>
            <a:r>
              <a:rPr lang="en-US" sz="2200" dirty="0">
                <a:latin typeface="Calibri" pitchFamily="34" charset="0"/>
              </a:rPr>
              <a:t>Distributed Computing involves computing performed among multiple network-connected computers.</a:t>
            </a:r>
          </a:p>
          <a:p>
            <a:endParaRPr lang="en-US" sz="2200" dirty="0">
              <a:latin typeface="Calibri" pitchFamily="34" charset="0"/>
            </a:endParaRPr>
          </a:p>
          <a:p>
            <a:r>
              <a:rPr lang="en-US" sz="2200" dirty="0">
                <a:latin typeface="Calibri" pitchFamily="34" charset="0"/>
              </a:rPr>
              <a:t>Each of which has its own processors and other resources</a:t>
            </a:r>
          </a:p>
          <a:p>
            <a:endParaRPr lang="en-US" sz="2200" dirty="0">
              <a:latin typeface="Calibri" pitchFamily="34" charset="0"/>
            </a:endParaRPr>
          </a:p>
          <a:p>
            <a:r>
              <a:rPr lang="en-US" sz="2200" dirty="0">
                <a:latin typeface="Calibri" pitchFamily="34" charset="0"/>
              </a:rPr>
              <a:t>A user, using a workstation, has full use of the resources on the local computer to which its workstation is connected</a:t>
            </a:r>
          </a:p>
          <a:p>
            <a:pPr>
              <a:buNone/>
            </a:pPr>
            <a:endParaRPr lang="en-US" sz="2200" dirty="0">
              <a:latin typeface="Calibri" pitchFamily="34" charset="0"/>
            </a:endParaRPr>
          </a:p>
          <a:p>
            <a:r>
              <a:rPr lang="en-US" sz="2200" dirty="0">
                <a:latin typeface="Calibri" pitchFamily="34" charset="0"/>
              </a:rPr>
              <a:t>In addition through the interaction of the local computers and the remote computers, the user may access resources on the remote computers.</a:t>
            </a:r>
          </a:p>
        </p:txBody>
      </p:sp>
      <p:sp>
        <p:nvSpPr>
          <p:cNvPr id="3" name="Footer Placeholder 2"/>
          <p:cNvSpPr>
            <a:spLocks noGrp="1"/>
          </p:cNvSpPr>
          <p:nvPr>
            <p:ph type="ftr" sz="quarter" idx="11"/>
          </p:nvPr>
        </p:nvSpPr>
        <p:spPr/>
        <p:txBody>
          <a:bodyPr/>
          <a:lstStyle/>
          <a:p>
            <a:r>
              <a:rPr lang="en-US"/>
              <a:t>- Assistant  Prof. Riddhi Joshi</a:t>
            </a:r>
            <a:endParaRPr lang="en-US" dirty="0"/>
          </a:p>
        </p:txBody>
      </p:sp>
      <p:sp>
        <p:nvSpPr>
          <p:cNvPr id="5" name="Slide Number Placeholder 4"/>
          <p:cNvSpPr>
            <a:spLocks noGrp="1"/>
          </p:cNvSpPr>
          <p:nvPr>
            <p:ph type="sldNum" sz="quarter" idx="12"/>
          </p:nvPr>
        </p:nvSpPr>
        <p:spPr/>
        <p:txBody>
          <a:bodyPr/>
          <a:lstStyle/>
          <a:p>
            <a:fld id="{521E5947-19AD-4D38-BBE9-7D3EA973E689}"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 Assistant  Prof. Riddhi Joshi</a:t>
            </a:r>
          </a:p>
        </p:txBody>
      </p:sp>
      <p:sp>
        <p:nvSpPr>
          <p:cNvPr id="6" name="Slide Number Placeholder 5"/>
          <p:cNvSpPr>
            <a:spLocks noGrp="1"/>
          </p:cNvSpPr>
          <p:nvPr>
            <p:ph type="sldNum" sz="quarter" idx="12"/>
          </p:nvPr>
        </p:nvSpPr>
        <p:spPr/>
        <p:txBody>
          <a:bodyPr/>
          <a:lstStyle/>
          <a:p>
            <a:fld id="{521E5947-19AD-4D38-BBE9-7D3EA973E689}" type="slidenum">
              <a:rPr lang="en-US" smtClean="0"/>
              <a:pPr/>
              <a:t>27</a:t>
            </a:fld>
            <a:endParaRPr lang="en-US"/>
          </a:p>
        </p:txBody>
      </p:sp>
      <p:graphicFrame>
        <p:nvGraphicFramePr>
          <p:cNvPr id="2050" name="Object 2"/>
          <p:cNvGraphicFramePr>
            <a:graphicFrameLocks noChangeAspect="1"/>
          </p:cNvGraphicFramePr>
          <p:nvPr/>
        </p:nvGraphicFramePr>
        <p:xfrm>
          <a:off x="990600" y="990600"/>
          <a:ext cx="7473950" cy="4668837"/>
        </p:xfrm>
        <a:graphic>
          <a:graphicData uri="http://schemas.openxmlformats.org/presentationml/2006/ole">
            <mc:AlternateContent xmlns:mc="http://schemas.openxmlformats.org/markup-compatibility/2006">
              <mc:Choice xmlns:v="urn:schemas-microsoft-com:vml" Requires="v">
                <p:oleObj name="SmartDraw" r:id="rId2" imgW="6565320" imgH="3364920" progId="">
                  <p:embed/>
                </p:oleObj>
              </mc:Choice>
              <mc:Fallback>
                <p:oleObj name="SmartDraw" r:id="rId2" imgW="6565320" imgH="3364920" progId="">
                  <p:embed/>
                  <p:pic>
                    <p:nvPicPr>
                      <p:cNvPr id="205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990600"/>
                        <a:ext cx="7473950" cy="4668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28600"/>
            <a:ext cx="7772400" cy="639762"/>
          </a:xfrm>
          <a:solidFill>
            <a:schemeClr val="accent2"/>
          </a:solidFill>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latin typeface="Calibri" pitchFamily="34" charset="0"/>
              </a:rPr>
              <a:t>3. Parallel Computing</a:t>
            </a:r>
          </a:p>
        </p:txBody>
      </p:sp>
      <p:sp>
        <p:nvSpPr>
          <p:cNvPr id="4" name="Content Placeholder 3"/>
          <p:cNvSpPr>
            <a:spLocks noGrp="1"/>
          </p:cNvSpPr>
          <p:nvPr>
            <p:ph idx="1"/>
          </p:nvPr>
        </p:nvSpPr>
        <p:spPr>
          <a:xfrm>
            <a:off x="30480" y="1028700"/>
            <a:ext cx="8808720" cy="4800600"/>
          </a:xfrm>
        </p:spPr>
        <p:style>
          <a:lnRef idx="2">
            <a:schemeClr val="accent1"/>
          </a:lnRef>
          <a:fillRef idx="1">
            <a:schemeClr val="lt1"/>
          </a:fillRef>
          <a:effectRef idx="0">
            <a:schemeClr val="accent1"/>
          </a:effectRef>
          <a:fontRef idx="minor">
            <a:schemeClr val="dk1"/>
          </a:fontRef>
        </p:style>
        <p:txBody>
          <a:bodyPr>
            <a:normAutofit/>
          </a:bodyPr>
          <a:lstStyle/>
          <a:p>
            <a:pPr algn="just">
              <a:buFont typeface="Wingdings" panose="05000000000000000000" pitchFamily="2" charset="2"/>
              <a:buChar char="Ø"/>
            </a:pPr>
            <a:r>
              <a:rPr lang="en-US" sz="2400" dirty="0">
                <a:latin typeface="Calibri" pitchFamily="34" charset="0"/>
              </a:rPr>
              <a:t>Parallel Computing uses more than one processors simultaneously to execute a single program “Ideally, parallel processing makes a program run faster because there are more engines (CPUs) running it.</a:t>
            </a:r>
          </a:p>
          <a:p>
            <a:pPr algn="just">
              <a:buFont typeface="Wingdings" panose="05000000000000000000" pitchFamily="2" charset="2"/>
              <a:buChar char="Ø"/>
            </a:pPr>
            <a:r>
              <a:rPr lang="en-US" sz="2400" dirty="0">
                <a:latin typeface="Calibri" pitchFamily="34" charset="0"/>
              </a:rPr>
              <a:t>Today Parallel computing largely used in scientific computing in areas such as biology, aerospace, weather forecasting, and semiconductor design.</a:t>
            </a:r>
          </a:p>
        </p:txBody>
      </p:sp>
      <p:sp>
        <p:nvSpPr>
          <p:cNvPr id="3" name="Footer Placeholder 2"/>
          <p:cNvSpPr>
            <a:spLocks noGrp="1"/>
          </p:cNvSpPr>
          <p:nvPr>
            <p:ph type="ftr" sz="quarter" idx="11"/>
          </p:nvPr>
        </p:nvSpPr>
        <p:spPr/>
        <p:txBody>
          <a:bodyPr/>
          <a:lstStyle/>
          <a:p>
            <a:r>
              <a:rPr lang="en-US"/>
              <a:t>- Assistant  Prof. Riddhi Joshi</a:t>
            </a:r>
          </a:p>
        </p:txBody>
      </p:sp>
      <p:sp>
        <p:nvSpPr>
          <p:cNvPr id="5" name="Slide Number Placeholder 4"/>
          <p:cNvSpPr>
            <a:spLocks noGrp="1"/>
          </p:cNvSpPr>
          <p:nvPr>
            <p:ph type="sldNum" sz="quarter" idx="12"/>
          </p:nvPr>
        </p:nvSpPr>
        <p:spPr/>
        <p:txBody>
          <a:bodyPr/>
          <a:lstStyle/>
          <a:p>
            <a:fld id="{521E5947-19AD-4D38-BBE9-7D3EA973E689}"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3B4554-3936-8220-6718-40CDD169ED47}"/>
              </a:ext>
            </a:extLst>
          </p:cNvPr>
          <p:cNvSpPr>
            <a:spLocks noGrp="1"/>
          </p:cNvSpPr>
          <p:nvPr>
            <p:ph idx="1"/>
          </p:nvPr>
        </p:nvSpPr>
        <p:spPr>
          <a:xfrm>
            <a:off x="363392" y="1219200"/>
            <a:ext cx="8552008" cy="4023360"/>
          </a:xfrm>
        </p:spPr>
        <p:txBody>
          <a:bodyPr>
            <a:normAutofit/>
          </a:bodyPr>
          <a:lstStyle/>
          <a:p>
            <a:pPr algn="l" fontAlgn="base"/>
            <a:r>
              <a:rPr lang="en-US" sz="2200" b="1" i="0" dirty="0">
                <a:solidFill>
                  <a:srgbClr val="273239"/>
                </a:solidFill>
                <a:effectLst/>
              </a:rPr>
              <a:t>Advantages</a:t>
            </a:r>
            <a:r>
              <a:rPr lang="en-US" sz="2200" b="0" i="0" dirty="0">
                <a:solidFill>
                  <a:srgbClr val="273239"/>
                </a:solidFill>
                <a:effectLst/>
              </a:rPr>
              <a:t> of Parallel Computing over Serial Computing are as follows: </a:t>
            </a:r>
          </a:p>
          <a:p>
            <a:pPr algn="l" fontAlgn="base">
              <a:buFont typeface="+mj-lt"/>
              <a:buAutoNum type="arabicPeriod"/>
            </a:pPr>
            <a:r>
              <a:rPr lang="en-US" sz="2200" b="0" i="0" dirty="0">
                <a:solidFill>
                  <a:srgbClr val="273239"/>
                </a:solidFill>
                <a:effectLst/>
              </a:rPr>
              <a:t>It saves time and money as many resources working together will reduce the time and cut potential costs. </a:t>
            </a:r>
          </a:p>
          <a:p>
            <a:pPr algn="l" fontAlgn="base">
              <a:buFont typeface="+mj-lt"/>
              <a:buAutoNum type="arabicPeriod"/>
            </a:pPr>
            <a:r>
              <a:rPr lang="en-US" sz="2200" b="0" i="0" dirty="0">
                <a:solidFill>
                  <a:srgbClr val="273239"/>
                </a:solidFill>
                <a:effectLst/>
              </a:rPr>
              <a:t>It can be impractical to solve larger problems on Serial Computing. </a:t>
            </a:r>
          </a:p>
          <a:p>
            <a:pPr algn="l" fontAlgn="base">
              <a:buFont typeface="+mj-lt"/>
              <a:buAutoNum type="arabicPeriod"/>
            </a:pPr>
            <a:r>
              <a:rPr lang="en-US" sz="2200" b="0" i="0" dirty="0">
                <a:solidFill>
                  <a:srgbClr val="273239"/>
                </a:solidFill>
                <a:effectLst/>
              </a:rPr>
              <a:t>It can take advantage of non-local resources when the local resources are finite. </a:t>
            </a:r>
          </a:p>
          <a:p>
            <a:pPr algn="l" fontAlgn="base">
              <a:buFont typeface="+mj-lt"/>
              <a:buAutoNum type="arabicPeriod"/>
            </a:pPr>
            <a:r>
              <a:rPr lang="en-US" sz="2200" b="0" i="0" dirty="0">
                <a:solidFill>
                  <a:srgbClr val="273239"/>
                </a:solidFill>
                <a:effectLst/>
              </a:rPr>
              <a:t>Serial Computing ‘wastes’ the potential computing power, thus Parallel Computing makes better work of the hardware. </a:t>
            </a:r>
          </a:p>
          <a:p>
            <a:endParaRPr lang="en-IN" sz="2200" dirty="0"/>
          </a:p>
        </p:txBody>
      </p:sp>
      <p:sp>
        <p:nvSpPr>
          <p:cNvPr id="4" name="Footer Placeholder 3">
            <a:extLst>
              <a:ext uri="{FF2B5EF4-FFF2-40B4-BE49-F238E27FC236}">
                <a16:creationId xmlns:a16="http://schemas.microsoft.com/office/drawing/2014/main" id="{C44C8627-1DB8-F569-6F17-F57CA42D664B}"/>
              </a:ext>
            </a:extLst>
          </p:cNvPr>
          <p:cNvSpPr>
            <a:spLocks noGrp="1"/>
          </p:cNvSpPr>
          <p:nvPr>
            <p:ph type="ftr" sz="quarter" idx="11"/>
          </p:nvPr>
        </p:nvSpPr>
        <p:spPr/>
        <p:txBody>
          <a:bodyPr/>
          <a:lstStyle/>
          <a:p>
            <a:r>
              <a:rPr lang="en-US"/>
              <a:t>- Assistant  Prof. Riddhi Joshi</a:t>
            </a:r>
          </a:p>
        </p:txBody>
      </p:sp>
      <p:sp>
        <p:nvSpPr>
          <p:cNvPr id="5" name="Slide Number Placeholder 4">
            <a:extLst>
              <a:ext uri="{FF2B5EF4-FFF2-40B4-BE49-F238E27FC236}">
                <a16:creationId xmlns:a16="http://schemas.microsoft.com/office/drawing/2014/main" id="{41F22D68-AEF1-82DB-4337-1071DB2017B2}"/>
              </a:ext>
            </a:extLst>
          </p:cNvPr>
          <p:cNvSpPr>
            <a:spLocks noGrp="1"/>
          </p:cNvSpPr>
          <p:nvPr>
            <p:ph type="sldNum" sz="quarter" idx="12"/>
          </p:nvPr>
        </p:nvSpPr>
        <p:spPr/>
        <p:txBody>
          <a:bodyPr/>
          <a:lstStyle/>
          <a:p>
            <a:fld id="{521E5947-19AD-4D38-BBE9-7D3EA973E689}" type="slidenum">
              <a:rPr lang="en-US" smtClean="0"/>
              <a:pPr/>
              <a:t>29</a:t>
            </a:fld>
            <a:endParaRPr lang="en-US"/>
          </a:p>
        </p:txBody>
      </p:sp>
      <p:sp>
        <p:nvSpPr>
          <p:cNvPr id="6" name="Title 1">
            <a:extLst>
              <a:ext uri="{FF2B5EF4-FFF2-40B4-BE49-F238E27FC236}">
                <a16:creationId xmlns:a16="http://schemas.microsoft.com/office/drawing/2014/main" id="{42A03DCC-6E88-62F6-79A4-C80A995AECB1}"/>
              </a:ext>
            </a:extLst>
          </p:cNvPr>
          <p:cNvSpPr txBox="1">
            <a:spLocks/>
          </p:cNvSpPr>
          <p:nvPr/>
        </p:nvSpPr>
        <p:spPr>
          <a:xfrm>
            <a:off x="914400" y="228600"/>
            <a:ext cx="7772400" cy="639762"/>
          </a:xfrm>
          <a:prstGeom prst="rect">
            <a:avLst/>
          </a:prstGeom>
          <a:solidFill>
            <a:schemeClr val="accent2"/>
          </a:solidFill>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600" b="1">
                <a:latin typeface="Calibri" pitchFamily="34" charset="0"/>
              </a:rPr>
              <a:t>3. Parallel Computing</a:t>
            </a:r>
            <a:endParaRPr lang="en-US" sz="2600" b="1" dirty="0">
              <a:latin typeface="Calibri" pitchFamily="34" charset="0"/>
            </a:endParaRPr>
          </a:p>
        </p:txBody>
      </p:sp>
    </p:spTree>
    <p:extLst>
      <p:ext uri="{BB962C8B-B14F-4D97-AF65-F5344CB8AC3E}">
        <p14:creationId xmlns:p14="http://schemas.microsoft.com/office/powerpoint/2010/main" val="2354335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639762"/>
          </a:xfrm>
          <a:solidFill>
            <a:schemeClr val="accent2"/>
          </a:solidFill>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latin typeface="Calibri" pitchFamily="34" charset="0"/>
              </a:rPr>
              <a:t>4. Cooperative Computing</a:t>
            </a:r>
          </a:p>
        </p:txBody>
      </p:sp>
      <p:sp>
        <p:nvSpPr>
          <p:cNvPr id="4" name="Content Placeholder 3"/>
          <p:cNvSpPr>
            <a:spLocks noGrp="1"/>
          </p:cNvSpPr>
          <p:nvPr>
            <p:ph idx="1"/>
          </p:nvPr>
        </p:nvSpPr>
        <p:spPr>
          <a:xfrm>
            <a:off x="381000" y="1371600"/>
            <a:ext cx="8458200" cy="3352800"/>
          </a:xfrm>
        </p:spPr>
        <p:style>
          <a:lnRef idx="2">
            <a:schemeClr val="accent1"/>
          </a:lnRef>
          <a:fillRef idx="1">
            <a:schemeClr val="lt1"/>
          </a:fillRef>
          <a:effectRef idx="0">
            <a:schemeClr val="accent1"/>
          </a:effectRef>
          <a:fontRef idx="minor">
            <a:schemeClr val="dk1"/>
          </a:fontRef>
        </p:style>
        <p:txBody>
          <a:bodyPr>
            <a:normAutofit/>
          </a:bodyPr>
          <a:lstStyle/>
          <a:p>
            <a:pPr algn="just">
              <a:buFont typeface="Wingdings" panose="05000000000000000000" pitchFamily="2" charset="2"/>
              <a:buChar char="Ø"/>
            </a:pPr>
            <a:r>
              <a:rPr lang="en-US" sz="2400" dirty="0">
                <a:latin typeface="Calibri" pitchFamily="34" charset="0"/>
              </a:rPr>
              <a:t>Recently the term Distributed Computing has also been applied to cooperative computing projects such as the Search for Extraterrestrial Intelligence (SETI).</a:t>
            </a:r>
          </a:p>
          <a:p>
            <a:pPr algn="just">
              <a:buFont typeface="Wingdings" panose="05000000000000000000" pitchFamily="2" charset="2"/>
              <a:buChar char="Ø"/>
            </a:pPr>
            <a:endParaRPr lang="en-US" sz="2400" dirty="0">
              <a:latin typeface="Calibri" pitchFamily="34" charset="0"/>
            </a:endParaRPr>
          </a:p>
          <a:p>
            <a:pPr algn="just">
              <a:buFont typeface="Wingdings" panose="05000000000000000000" pitchFamily="2" charset="2"/>
              <a:buChar char="Ø"/>
            </a:pPr>
            <a:r>
              <a:rPr lang="en-US" sz="2400" dirty="0">
                <a:latin typeface="Calibri" pitchFamily="34" charset="0"/>
              </a:rPr>
              <a:t>These are projects that parcel out large scale computing to workstations on Internet hosts making use of surplus CPU cycles.</a:t>
            </a:r>
          </a:p>
        </p:txBody>
      </p:sp>
      <p:sp>
        <p:nvSpPr>
          <p:cNvPr id="3" name="Footer Placeholder 2"/>
          <p:cNvSpPr>
            <a:spLocks noGrp="1"/>
          </p:cNvSpPr>
          <p:nvPr>
            <p:ph type="ftr" sz="quarter" idx="11"/>
          </p:nvPr>
        </p:nvSpPr>
        <p:spPr/>
        <p:txBody>
          <a:bodyPr/>
          <a:lstStyle/>
          <a:p>
            <a:r>
              <a:rPr lang="en-US"/>
              <a:t>- Assistant  Prof. Riddhi Joshi</a:t>
            </a:r>
          </a:p>
        </p:txBody>
      </p:sp>
      <p:sp>
        <p:nvSpPr>
          <p:cNvPr id="5" name="Slide Number Placeholder 4"/>
          <p:cNvSpPr>
            <a:spLocks noGrp="1"/>
          </p:cNvSpPr>
          <p:nvPr>
            <p:ph type="sldNum" sz="quarter" idx="12"/>
          </p:nvPr>
        </p:nvSpPr>
        <p:spPr/>
        <p:txBody>
          <a:bodyPr/>
          <a:lstStyle/>
          <a:p>
            <a:fld id="{521E5947-19AD-4D38-BBE9-7D3EA973E689}"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457200" y="1295400"/>
            <a:ext cx="7239000" cy="4191000"/>
          </a:xfrm>
          <a:prstGeom prst="rect">
            <a:avLst/>
          </a:prstGeom>
        </p:spPr>
        <p:style>
          <a:lnRef idx="2">
            <a:schemeClr val="accent1"/>
          </a:lnRef>
          <a:fillRef idx="1">
            <a:schemeClr val="lt1"/>
          </a:fillRef>
          <a:effectRef idx="0">
            <a:schemeClr val="accent1"/>
          </a:effectRef>
          <a:fontRef idx="minor">
            <a:schemeClr val="dk1"/>
          </a:fontRef>
        </p:style>
        <p:txBody>
          <a:bodyPr vert="horz">
            <a:normAutofit lnSpcReduction="10000"/>
          </a:bodyPr>
          <a:lstStyle/>
          <a:p>
            <a:pPr marL="274320" marR="0" lvl="0" indent="-274320" algn="ctr" defTabSz="914400" rtl="0" eaLnBrk="1" fontAlgn="auto" latinLnBrk="0" hangingPunct="1">
              <a:lnSpc>
                <a:spcPct val="100000"/>
              </a:lnSpc>
              <a:spcBef>
                <a:spcPts val="580"/>
              </a:spcBef>
              <a:spcAft>
                <a:spcPts val="0"/>
              </a:spcAft>
              <a:buClr>
                <a:schemeClr val="accent1"/>
              </a:buClr>
              <a:buSzPct val="85000"/>
              <a:tabLst/>
              <a:defRPr/>
            </a:pPr>
            <a:endParaRPr kumimoji="0" lang="en-US" sz="2600" b="0" i="0" u="none" strike="noStrike" kern="1200" cap="none" spc="0" normalizeH="0" baseline="0" noProof="0" dirty="0">
              <a:ln>
                <a:noFill/>
              </a:ln>
              <a:solidFill>
                <a:schemeClr val="tx1"/>
              </a:solidFill>
              <a:effectLst/>
              <a:uLnTx/>
              <a:uFillTx/>
              <a:latin typeface="Calibri" pitchFamily="34" charset="0"/>
            </a:endParaRPr>
          </a:p>
          <a:p>
            <a:pPr marL="274320" lvl="0" indent="-274320">
              <a:spcBef>
                <a:spcPts val="580"/>
              </a:spcBef>
              <a:buClr>
                <a:schemeClr val="accent1"/>
              </a:buClr>
              <a:buSzPct val="85000"/>
              <a:buFont typeface="Arial" pitchFamily="34" charset="0"/>
              <a:buChar char="•"/>
              <a:defRPr/>
            </a:pPr>
            <a:r>
              <a:rPr kumimoji="0" lang="en-US" sz="2600" i="0" u="none" strike="noStrike" kern="1200" cap="none" spc="0" normalizeH="0" baseline="0" noProof="0" dirty="0">
                <a:ln>
                  <a:noFill/>
                </a:ln>
                <a:solidFill>
                  <a:schemeClr val="tx1"/>
                </a:solidFill>
                <a:effectLst/>
                <a:uLnTx/>
                <a:uFillTx/>
                <a:latin typeface="Calibri" pitchFamily="34" charset="0"/>
              </a:rPr>
              <a:t>1.1 Definition </a:t>
            </a:r>
          </a:p>
          <a:p>
            <a:pPr marL="274320" lvl="0" indent="-274320">
              <a:spcBef>
                <a:spcPts val="580"/>
              </a:spcBef>
              <a:buClr>
                <a:schemeClr val="accent1"/>
              </a:buClr>
              <a:buSzPct val="85000"/>
              <a:buFont typeface="Arial" pitchFamily="34" charset="0"/>
              <a:buChar char="•"/>
              <a:defRPr/>
            </a:pPr>
            <a:r>
              <a:rPr kumimoji="0" lang="en-US" sz="2600" i="0" u="none" strike="noStrike" kern="1200" cap="none" spc="0" normalizeH="0" baseline="0" noProof="0" dirty="0">
                <a:ln>
                  <a:noFill/>
                </a:ln>
                <a:solidFill>
                  <a:schemeClr val="tx1"/>
                </a:solidFill>
                <a:effectLst/>
                <a:uLnTx/>
                <a:uFillTx/>
                <a:latin typeface="Calibri" pitchFamily="34" charset="0"/>
              </a:rPr>
              <a:t>1.2 History of DC</a:t>
            </a:r>
          </a:p>
          <a:p>
            <a:pPr marL="274320" lvl="0" indent="-274320">
              <a:spcBef>
                <a:spcPts val="580"/>
              </a:spcBef>
              <a:buClr>
                <a:schemeClr val="accent1"/>
              </a:buClr>
              <a:buSzPct val="85000"/>
              <a:buFont typeface="Arial" pitchFamily="34" charset="0"/>
              <a:buChar char="•"/>
              <a:defRPr/>
            </a:pPr>
            <a:r>
              <a:rPr lang="en-US" sz="2600" b="1" dirty="0">
                <a:solidFill>
                  <a:schemeClr val="accent1"/>
                </a:solidFill>
                <a:latin typeface="Calibri" pitchFamily="34" charset="0"/>
              </a:rPr>
              <a:t> </a:t>
            </a:r>
            <a:r>
              <a:rPr kumimoji="0" lang="en-US" sz="2600" i="0" u="none" strike="noStrike" kern="1200" cap="none" spc="0" normalizeH="0" baseline="0" noProof="0" dirty="0">
                <a:ln>
                  <a:noFill/>
                </a:ln>
                <a:solidFill>
                  <a:schemeClr val="tx1"/>
                </a:solidFill>
                <a:effectLst/>
                <a:uLnTx/>
                <a:uFillTx/>
                <a:latin typeface="Calibri" pitchFamily="34" charset="0"/>
              </a:rPr>
              <a:t>1.3 Different forms of Computing</a:t>
            </a:r>
          </a:p>
          <a:p>
            <a:pPr marL="274320" lvl="0" indent="-274320">
              <a:spcBef>
                <a:spcPts val="580"/>
              </a:spcBef>
              <a:buClr>
                <a:schemeClr val="accent1"/>
              </a:buClr>
              <a:buSzPct val="85000"/>
              <a:defRPr/>
            </a:pPr>
            <a:r>
              <a:rPr lang="en-US" sz="2600" b="1" dirty="0">
                <a:solidFill>
                  <a:schemeClr val="accent1"/>
                </a:solidFill>
                <a:latin typeface="Calibri" pitchFamily="34" charset="0"/>
              </a:rPr>
              <a:t>→ 1.4 Strength &amp; Weakness</a:t>
            </a:r>
          </a:p>
          <a:p>
            <a:pPr marL="274320" lvl="0" indent="-274320">
              <a:spcBef>
                <a:spcPts val="580"/>
              </a:spcBef>
              <a:buClr>
                <a:schemeClr val="accent1"/>
              </a:buClr>
              <a:buSzPct val="85000"/>
              <a:buFont typeface="Arial" pitchFamily="34" charset="0"/>
              <a:buChar char="•"/>
              <a:defRPr/>
            </a:pPr>
            <a:r>
              <a:rPr lang="en-US" sz="2600" b="1" dirty="0">
                <a:solidFill>
                  <a:schemeClr val="accent1"/>
                </a:solidFill>
                <a:latin typeface="Calibri" pitchFamily="34" charset="0"/>
              </a:rPr>
              <a:t> </a:t>
            </a:r>
            <a:r>
              <a:rPr lang="en-US" sz="2600" dirty="0">
                <a:solidFill>
                  <a:schemeClr val="tx1"/>
                </a:solidFill>
                <a:latin typeface="Calibri" pitchFamily="34" charset="0"/>
              </a:rPr>
              <a:t>1.5 Basics of OS</a:t>
            </a:r>
          </a:p>
          <a:p>
            <a:pPr marL="274320" lvl="0" indent="-274320">
              <a:spcBef>
                <a:spcPts val="580"/>
              </a:spcBef>
              <a:buClr>
                <a:schemeClr val="accent1"/>
              </a:buClr>
              <a:buSzPct val="85000"/>
              <a:buFont typeface="Arial" pitchFamily="34" charset="0"/>
              <a:buChar char="•"/>
              <a:defRPr/>
            </a:pPr>
            <a:r>
              <a:rPr lang="en-US" sz="2600" dirty="0">
                <a:solidFill>
                  <a:schemeClr val="tx1"/>
                </a:solidFill>
                <a:latin typeface="Calibri" pitchFamily="34" charset="0"/>
              </a:rPr>
              <a:t>1.6 Network Basics</a:t>
            </a:r>
          </a:p>
          <a:p>
            <a:pPr marL="274320" lvl="0" indent="-274320">
              <a:spcBef>
                <a:spcPts val="580"/>
              </a:spcBef>
              <a:buClr>
                <a:schemeClr val="accent1"/>
              </a:buClr>
              <a:buSzPct val="85000"/>
              <a:buFont typeface="Arial" pitchFamily="34" charset="0"/>
              <a:buChar char="•"/>
              <a:defRPr/>
            </a:pPr>
            <a:r>
              <a:rPr lang="en-US" sz="2600" dirty="0">
                <a:solidFill>
                  <a:schemeClr val="tx1"/>
                </a:solidFill>
                <a:latin typeface="Calibri" pitchFamily="34" charset="0"/>
              </a:rPr>
              <a:t>1.7 Software Engineering Basics </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lang="en-US" sz="2600" dirty="0">
                <a:latin typeface="Calibri" pitchFamily="34" charset="0"/>
              </a:rPr>
              <a:t>1.8 The Architecture of Distributed Application. </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n-US" sz="2600" b="0" i="0" u="none" strike="noStrike" kern="1200" cap="none" spc="0" normalizeH="0" baseline="0" noProof="0" dirty="0">
              <a:ln>
                <a:noFill/>
              </a:ln>
              <a:solidFill>
                <a:schemeClr val="tx1"/>
              </a:solidFill>
              <a:effectLst/>
              <a:uLnTx/>
              <a:uFillTx/>
              <a:latin typeface="Calibri" pitchFamily="34" charset="0"/>
            </a:endParaRPr>
          </a:p>
        </p:txBody>
      </p:sp>
      <p:sp>
        <p:nvSpPr>
          <p:cNvPr id="6" name="TextBox 5"/>
          <p:cNvSpPr txBox="1"/>
          <p:nvPr/>
        </p:nvSpPr>
        <p:spPr>
          <a:xfrm>
            <a:off x="2667000" y="457200"/>
            <a:ext cx="4267200" cy="523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lgn="ctr">
              <a:buFontTx/>
              <a:buNone/>
              <a:defRPr/>
            </a:pPr>
            <a:r>
              <a:rPr lang="en-US" sz="2800" b="1" dirty="0">
                <a:effectLst>
                  <a:outerShdw blurRad="38100" dist="38100" dir="2700000" algn="tl">
                    <a:srgbClr val="000000">
                      <a:alpha val="43137"/>
                    </a:srgbClr>
                  </a:outerShdw>
                </a:effectLst>
                <a:latin typeface="Calibri" pitchFamily="34" charset="0"/>
              </a:rPr>
              <a:t>Roadmap</a:t>
            </a:r>
          </a:p>
        </p:txBody>
      </p:sp>
      <p:sp>
        <p:nvSpPr>
          <p:cNvPr id="7" name="Footer Placeholder 6"/>
          <p:cNvSpPr>
            <a:spLocks noGrp="1"/>
          </p:cNvSpPr>
          <p:nvPr>
            <p:ph type="ftr" sz="quarter" idx="11"/>
          </p:nvPr>
        </p:nvSpPr>
        <p:spPr/>
        <p:txBody>
          <a:bodyPr/>
          <a:lstStyle/>
          <a:p>
            <a:r>
              <a:rPr lang="en-US"/>
              <a:t>- Assistant  Prof. Riddhi Joshi</a:t>
            </a:r>
          </a:p>
        </p:txBody>
      </p:sp>
      <p:sp>
        <p:nvSpPr>
          <p:cNvPr id="4" name="Slide Number Placeholder 3"/>
          <p:cNvSpPr>
            <a:spLocks noGrp="1"/>
          </p:cNvSpPr>
          <p:nvPr>
            <p:ph type="sldNum" sz="quarter" idx="12"/>
          </p:nvPr>
        </p:nvSpPr>
        <p:spPr/>
        <p:txBody>
          <a:bodyPr/>
          <a:lstStyle/>
          <a:p>
            <a:fld id="{521E5947-19AD-4D38-BBE9-7D3EA973E689}"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15962"/>
          </a:xfrm>
          <a:solidFill>
            <a:schemeClr val="accent2"/>
          </a:solidFill>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solidFill>
                  <a:schemeClr val="bg1"/>
                </a:solidFill>
                <a:latin typeface="Calibri" pitchFamily="34" charset="0"/>
              </a:rPr>
              <a:t>1.4 Strength &amp; Weakness of DC</a:t>
            </a:r>
          </a:p>
        </p:txBody>
      </p:sp>
      <p:sp>
        <p:nvSpPr>
          <p:cNvPr id="4" name="Content Placeholder 3"/>
          <p:cNvSpPr>
            <a:spLocks noGrp="1"/>
          </p:cNvSpPr>
          <p:nvPr>
            <p:ph idx="1"/>
          </p:nvPr>
        </p:nvSpPr>
        <p:spPr>
          <a:xfrm>
            <a:off x="228600" y="1752600"/>
            <a:ext cx="8686800" cy="4023360"/>
          </a:xfrm>
        </p:spPr>
        <p:style>
          <a:lnRef idx="2">
            <a:schemeClr val="accent1"/>
          </a:lnRef>
          <a:fillRef idx="1">
            <a:schemeClr val="lt1"/>
          </a:fillRef>
          <a:effectRef idx="0">
            <a:schemeClr val="accent1"/>
          </a:effectRef>
          <a:fontRef idx="minor">
            <a:schemeClr val="dk1"/>
          </a:fontRef>
        </p:style>
        <p:txBody>
          <a:bodyPr>
            <a:normAutofit/>
          </a:bodyPr>
          <a:lstStyle/>
          <a:p>
            <a:r>
              <a:rPr lang="en-US" sz="2400" dirty="0">
                <a:latin typeface="Calibri" pitchFamily="34" charset="0"/>
              </a:rPr>
              <a:t>Before 1980s the Computers were used for word processing and spreadsheet management. It is the maximum use of COMPUTERS.</a:t>
            </a:r>
          </a:p>
          <a:p>
            <a:endParaRPr lang="en-US" sz="2400" dirty="0">
              <a:latin typeface="Calibri" pitchFamily="34" charset="0"/>
            </a:endParaRPr>
          </a:p>
          <a:p>
            <a:r>
              <a:rPr lang="en-US" sz="2400" dirty="0">
                <a:latin typeface="Calibri" pitchFamily="34" charset="0"/>
              </a:rPr>
              <a:t>Thomas Watson The Founder of IBM was said to have the statement in 1943 “I think there is a world market for may be five computers”</a:t>
            </a:r>
          </a:p>
          <a:p>
            <a:endParaRPr lang="en-US" sz="2400" dirty="0">
              <a:latin typeface="Calibri" pitchFamily="34" charset="0"/>
            </a:endParaRPr>
          </a:p>
          <a:p>
            <a:r>
              <a:rPr lang="en-US" sz="2400" dirty="0">
                <a:latin typeface="Calibri" pitchFamily="34" charset="0"/>
              </a:rPr>
              <a:t>After 1980s, however distributed computing has become as important as – if not more important than- monolithic computing. </a:t>
            </a:r>
          </a:p>
        </p:txBody>
      </p:sp>
      <p:sp>
        <p:nvSpPr>
          <p:cNvPr id="3" name="Footer Placeholder 2"/>
          <p:cNvSpPr>
            <a:spLocks noGrp="1"/>
          </p:cNvSpPr>
          <p:nvPr>
            <p:ph type="ftr" sz="quarter" idx="11"/>
          </p:nvPr>
        </p:nvSpPr>
        <p:spPr/>
        <p:txBody>
          <a:bodyPr/>
          <a:lstStyle/>
          <a:p>
            <a:r>
              <a:rPr lang="en-US"/>
              <a:t>- Assistant  Prof. Riddhi Joshi</a:t>
            </a:r>
          </a:p>
        </p:txBody>
      </p:sp>
      <p:sp>
        <p:nvSpPr>
          <p:cNvPr id="5" name="Slide Number Placeholder 4"/>
          <p:cNvSpPr>
            <a:spLocks noGrp="1"/>
          </p:cNvSpPr>
          <p:nvPr>
            <p:ph type="sldNum" sz="quarter" idx="12"/>
          </p:nvPr>
        </p:nvSpPr>
        <p:spPr/>
        <p:txBody>
          <a:bodyPr/>
          <a:lstStyle/>
          <a:p>
            <a:fld id="{521E5947-19AD-4D38-BBE9-7D3EA973E689}" type="slidenum">
              <a:rPr lang="en-US" smtClean="0"/>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089"/>
            <a:ext cx="7772400" cy="487362"/>
          </a:xfrm>
          <a:solidFill>
            <a:schemeClr val="accent2"/>
          </a:solidFill>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latin typeface="Calibri" pitchFamily="34" charset="0"/>
              </a:rPr>
              <a:t>Strength</a:t>
            </a:r>
          </a:p>
        </p:txBody>
      </p:sp>
      <p:sp>
        <p:nvSpPr>
          <p:cNvPr id="4" name="Content Placeholder 3"/>
          <p:cNvSpPr>
            <a:spLocks noGrp="1"/>
          </p:cNvSpPr>
          <p:nvPr>
            <p:ph idx="1"/>
          </p:nvPr>
        </p:nvSpPr>
        <p:spPr>
          <a:xfrm>
            <a:off x="103562" y="914400"/>
            <a:ext cx="8888037" cy="5181600"/>
          </a:xfrm>
        </p:spPr>
        <p:style>
          <a:lnRef idx="2">
            <a:schemeClr val="accent1"/>
          </a:lnRef>
          <a:fillRef idx="1">
            <a:schemeClr val="lt1"/>
          </a:fillRef>
          <a:effectRef idx="0">
            <a:schemeClr val="accent1"/>
          </a:effectRef>
          <a:fontRef idx="minor">
            <a:schemeClr val="dk1"/>
          </a:fontRef>
        </p:style>
        <p:txBody>
          <a:bodyPr>
            <a:noAutofit/>
          </a:bodyPr>
          <a:lstStyle/>
          <a:p>
            <a:pPr algn="just" fontAlgn="base"/>
            <a:r>
              <a:rPr lang="en-US" sz="2200" b="0" i="0" dirty="0">
                <a:solidFill>
                  <a:srgbClr val="273239"/>
                </a:solidFill>
                <a:effectLst/>
              </a:rPr>
              <a:t>Advantages of the Distributed Computing System are:</a:t>
            </a:r>
          </a:p>
          <a:p>
            <a:pPr algn="just" fontAlgn="base">
              <a:buFont typeface="Arial" panose="020B0604020202020204" pitchFamily="34" charset="0"/>
              <a:buChar char="•"/>
            </a:pPr>
            <a:r>
              <a:rPr lang="en-US" sz="2200" b="1" i="0" dirty="0">
                <a:solidFill>
                  <a:srgbClr val="273239"/>
                </a:solidFill>
                <a:effectLst/>
              </a:rPr>
              <a:t>Scalability: </a:t>
            </a:r>
            <a:r>
              <a:rPr lang="en-US" sz="2200" b="0" i="0" dirty="0">
                <a:solidFill>
                  <a:srgbClr val="273239"/>
                </a:solidFill>
                <a:effectLst/>
              </a:rPr>
              <a:t>Distributed systems are generally more scalable than centralized systems, as they can easily add new devices or systems to the network to increase processing and storage capacity.</a:t>
            </a:r>
          </a:p>
          <a:p>
            <a:pPr algn="just" fontAlgn="base">
              <a:buFont typeface="Arial" panose="020B0604020202020204" pitchFamily="34" charset="0"/>
              <a:buChar char="•"/>
            </a:pPr>
            <a:r>
              <a:rPr lang="en-US" sz="2200" b="1" i="0" dirty="0">
                <a:solidFill>
                  <a:srgbClr val="273239"/>
                </a:solidFill>
                <a:effectLst/>
              </a:rPr>
              <a:t>Reliability: </a:t>
            </a:r>
            <a:r>
              <a:rPr lang="en-US" sz="2200" b="0" i="0" dirty="0">
                <a:solidFill>
                  <a:srgbClr val="273239"/>
                </a:solidFill>
                <a:effectLst/>
              </a:rPr>
              <a:t>Distributed systems are often more reliable than centralized systems, as they can continue to operate even if one device or system fails.</a:t>
            </a:r>
          </a:p>
          <a:p>
            <a:pPr algn="just" fontAlgn="base">
              <a:buFont typeface="Arial" panose="020B0604020202020204" pitchFamily="34" charset="0"/>
              <a:buChar char="•"/>
            </a:pPr>
            <a:r>
              <a:rPr lang="en-US" sz="2200" b="1" i="0" dirty="0">
                <a:solidFill>
                  <a:srgbClr val="273239"/>
                </a:solidFill>
                <a:effectLst/>
              </a:rPr>
              <a:t>Flexibility: </a:t>
            </a:r>
            <a:r>
              <a:rPr lang="en-US" sz="2200" b="0" i="0" dirty="0">
                <a:solidFill>
                  <a:srgbClr val="273239"/>
                </a:solidFill>
                <a:effectLst/>
              </a:rPr>
              <a:t>Distributed systems are generally more flexible than centralized systems, as they can be configured and reconfigured more easily to meet changing computing needs</a:t>
            </a:r>
          </a:p>
          <a:p>
            <a:pPr algn="just">
              <a:lnSpc>
                <a:spcPct val="100000"/>
              </a:lnSpc>
            </a:pPr>
            <a:r>
              <a:rPr lang="en-US" sz="2200" b="1" dirty="0"/>
              <a:t>. Fault Tolerance:</a:t>
            </a:r>
          </a:p>
          <a:p>
            <a:pPr lvl="1" algn="just">
              <a:lnSpc>
                <a:spcPct val="100000"/>
              </a:lnSpc>
            </a:pPr>
            <a:r>
              <a:rPr lang="en-US" sz="2200" dirty="0"/>
              <a:t>Distributed computing provides the opportunity of fault tolerance in that resource can be replicated to sustain its availability in the presence of failure. For ex. Backup copy in network.</a:t>
            </a:r>
          </a:p>
          <a:p>
            <a:pPr algn="just" fontAlgn="base">
              <a:buFont typeface="Arial" panose="020B0604020202020204" pitchFamily="34" charset="0"/>
              <a:buChar char="•"/>
            </a:pPr>
            <a:endParaRPr lang="en-US" sz="2200" b="0" i="0" dirty="0">
              <a:solidFill>
                <a:srgbClr val="273239"/>
              </a:solidFill>
              <a:effectLst/>
            </a:endParaRPr>
          </a:p>
          <a:p>
            <a:pPr lvl="1" algn="just"/>
            <a:endParaRPr lang="en-US" sz="2200" dirty="0"/>
          </a:p>
        </p:txBody>
      </p:sp>
      <p:sp>
        <p:nvSpPr>
          <p:cNvPr id="3" name="Footer Placeholder 2"/>
          <p:cNvSpPr>
            <a:spLocks noGrp="1"/>
          </p:cNvSpPr>
          <p:nvPr>
            <p:ph type="ftr" sz="quarter" idx="11"/>
          </p:nvPr>
        </p:nvSpPr>
        <p:spPr/>
        <p:txBody>
          <a:bodyPr/>
          <a:lstStyle/>
          <a:p>
            <a:r>
              <a:rPr lang="en-US"/>
              <a:t>- Assistant  Prof. Riddhi Joshi</a:t>
            </a:r>
          </a:p>
        </p:txBody>
      </p:sp>
      <p:sp>
        <p:nvSpPr>
          <p:cNvPr id="5" name="Slide Number Placeholder 4"/>
          <p:cNvSpPr>
            <a:spLocks noGrp="1"/>
          </p:cNvSpPr>
          <p:nvPr>
            <p:ph type="sldNum" sz="quarter" idx="12"/>
          </p:nvPr>
        </p:nvSpPr>
        <p:spPr/>
        <p:txBody>
          <a:bodyPr/>
          <a:lstStyle/>
          <a:p>
            <a:fld id="{521E5947-19AD-4D38-BBE9-7D3EA973E689}" type="slidenum">
              <a:rPr lang="en-US" smtClean="0"/>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152400" y="914400"/>
            <a:ext cx="8839200" cy="4572000"/>
          </a:xfrm>
        </p:spPr>
        <p:style>
          <a:lnRef idx="2">
            <a:schemeClr val="accent1"/>
          </a:lnRef>
          <a:fillRef idx="1">
            <a:schemeClr val="lt1"/>
          </a:fillRef>
          <a:effectRef idx="0">
            <a:schemeClr val="accent1"/>
          </a:effectRef>
          <a:fontRef idx="minor">
            <a:schemeClr val="dk1"/>
          </a:fontRef>
        </p:style>
        <p:txBody>
          <a:bodyPr>
            <a:normAutofit/>
          </a:bodyPr>
          <a:lstStyle/>
          <a:p>
            <a:pPr algn="just" fontAlgn="base"/>
            <a:r>
              <a:rPr lang="en-US" sz="2200" b="0" i="0" dirty="0">
                <a:solidFill>
                  <a:srgbClr val="273239"/>
                </a:solidFill>
                <a:effectLst/>
              </a:rPr>
              <a:t>There are a few limitations to Distributed Computing System</a:t>
            </a:r>
          </a:p>
          <a:p>
            <a:pPr algn="just" fontAlgn="base">
              <a:buFont typeface="Arial" panose="020B0604020202020204" pitchFamily="34" charset="0"/>
              <a:buChar char="•"/>
            </a:pPr>
            <a:r>
              <a:rPr lang="en-US" sz="2200" b="1" i="0" dirty="0">
                <a:solidFill>
                  <a:srgbClr val="273239"/>
                </a:solidFill>
                <a:effectLst/>
              </a:rPr>
              <a:t>Complexity: </a:t>
            </a:r>
            <a:r>
              <a:rPr lang="en-US" sz="2200" b="0" i="0" dirty="0">
                <a:solidFill>
                  <a:srgbClr val="273239"/>
                </a:solidFill>
                <a:effectLst/>
              </a:rPr>
              <a:t>Distributed systems can be more complex than centralized systems, as they involve multiple devices or systems that need to be coordinated and managed.</a:t>
            </a:r>
          </a:p>
          <a:p>
            <a:pPr algn="just" fontAlgn="base">
              <a:buFont typeface="Arial" panose="020B0604020202020204" pitchFamily="34" charset="0"/>
              <a:buChar char="•"/>
            </a:pPr>
            <a:r>
              <a:rPr lang="en-US" sz="2200" b="1" i="0" dirty="0">
                <a:solidFill>
                  <a:srgbClr val="273239"/>
                </a:solidFill>
                <a:effectLst/>
              </a:rPr>
              <a:t>Security: </a:t>
            </a:r>
            <a:r>
              <a:rPr lang="en-US" sz="2200" b="0" i="0" dirty="0">
                <a:solidFill>
                  <a:srgbClr val="273239"/>
                </a:solidFill>
                <a:effectLst/>
              </a:rPr>
              <a:t>It can be more challenging to secure a distributed system, as security measures must be implemented on each device or system to ensure the security of the entire system.</a:t>
            </a:r>
          </a:p>
          <a:p>
            <a:pPr algn="just" fontAlgn="base">
              <a:buFont typeface="Arial" panose="020B0604020202020204" pitchFamily="34" charset="0"/>
              <a:buChar char="•"/>
            </a:pPr>
            <a:r>
              <a:rPr lang="en-US" sz="2200" b="1" i="0" dirty="0">
                <a:solidFill>
                  <a:srgbClr val="273239"/>
                </a:solidFill>
                <a:effectLst/>
              </a:rPr>
              <a:t>Performance: </a:t>
            </a:r>
            <a:r>
              <a:rPr lang="en-US" sz="2200" b="0" i="0" dirty="0">
                <a:solidFill>
                  <a:srgbClr val="273239"/>
                </a:solidFill>
                <a:effectLst/>
              </a:rPr>
              <a:t>Distributed systems may not offer the same level of performance as centralized systems, as processing and data storage is distributed across multiple devices or systems.</a:t>
            </a:r>
          </a:p>
          <a:p>
            <a:pPr lvl="1" algn="just">
              <a:lnSpc>
                <a:spcPct val="150000"/>
              </a:lnSpc>
            </a:pPr>
            <a:endParaRPr lang="en-US" sz="2200" dirty="0"/>
          </a:p>
          <a:p>
            <a:pPr>
              <a:lnSpc>
                <a:spcPct val="150000"/>
              </a:lnSpc>
              <a:buNone/>
            </a:pPr>
            <a:endParaRPr lang="en-US" sz="2200" dirty="0"/>
          </a:p>
          <a:p>
            <a:pPr algn="just">
              <a:lnSpc>
                <a:spcPct val="150000"/>
              </a:lnSpc>
              <a:buNone/>
            </a:pPr>
            <a:endParaRPr lang="en-US" sz="2200" dirty="0"/>
          </a:p>
        </p:txBody>
      </p:sp>
      <p:sp>
        <p:nvSpPr>
          <p:cNvPr id="3" name="Footer Placeholder 2"/>
          <p:cNvSpPr>
            <a:spLocks noGrp="1"/>
          </p:cNvSpPr>
          <p:nvPr>
            <p:ph type="ftr" sz="quarter" idx="11"/>
          </p:nvPr>
        </p:nvSpPr>
        <p:spPr/>
        <p:txBody>
          <a:bodyPr/>
          <a:lstStyle/>
          <a:p>
            <a:r>
              <a:rPr lang="en-US"/>
              <a:t>- Assistant  Prof. Riddhi Joshi</a:t>
            </a:r>
          </a:p>
        </p:txBody>
      </p:sp>
      <p:sp>
        <p:nvSpPr>
          <p:cNvPr id="5" name="Slide Number Placeholder 4"/>
          <p:cNvSpPr>
            <a:spLocks noGrp="1"/>
          </p:cNvSpPr>
          <p:nvPr>
            <p:ph type="sldNum" sz="quarter" idx="12"/>
          </p:nvPr>
        </p:nvSpPr>
        <p:spPr/>
        <p:txBody>
          <a:bodyPr/>
          <a:lstStyle/>
          <a:p>
            <a:fld id="{521E5947-19AD-4D38-BBE9-7D3EA973E689}" type="slidenum">
              <a:rPr lang="en-US" smtClean="0"/>
              <a:pPr/>
              <a:t>34</a:t>
            </a:fld>
            <a:endParaRPr lang="en-US"/>
          </a:p>
        </p:txBody>
      </p:sp>
      <p:sp>
        <p:nvSpPr>
          <p:cNvPr id="6" name="Title 1"/>
          <p:cNvSpPr txBox="1">
            <a:spLocks/>
          </p:cNvSpPr>
          <p:nvPr/>
        </p:nvSpPr>
        <p:spPr>
          <a:xfrm>
            <a:off x="914400" y="228600"/>
            <a:ext cx="7772400" cy="487362"/>
          </a:xfrm>
          <a:prstGeom prst="rect">
            <a:avLst/>
          </a:prstGeom>
          <a:solidFill>
            <a:schemeClr val="accent2"/>
          </a:solidFill>
        </p:spPr>
        <p:style>
          <a:lnRef idx="3">
            <a:schemeClr val="lt1"/>
          </a:lnRef>
          <a:fillRef idx="1">
            <a:schemeClr val="accent1"/>
          </a:fillRef>
          <a:effectRef idx="1">
            <a:schemeClr val="accent1"/>
          </a:effectRef>
          <a:fontRef idx="minor">
            <a:schemeClr val="lt1"/>
          </a:fontRef>
        </p:style>
        <p:txBody>
          <a:bodyPr bIns="91440" anchor="b" anchorCtr="0">
            <a:normAutofit fontScale="97500" lnSpcReduction="10000"/>
          </a:bodyPr>
          <a:lstStyle/>
          <a:p>
            <a:pPr lvl="0" algn="ctr">
              <a:spcBef>
                <a:spcPct val="0"/>
              </a:spcBef>
            </a:pPr>
            <a:r>
              <a:rPr lang="en-US" sz="2400" b="1" dirty="0">
                <a:latin typeface="Calibri" pitchFamily="34" charset="0"/>
              </a:rPr>
              <a:t>Weaknesses</a:t>
            </a:r>
            <a:endParaRPr kumimoji="0" lang="en-US" sz="2600" b="1" i="0" u="none" strike="noStrike" kern="1200" cap="none" spc="0" normalizeH="0" baseline="0" noProof="0" dirty="0">
              <a:ln>
                <a:noFill/>
              </a:ln>
              <a:solidFill>
                <a:schemeClr val="lt1"/>
              </a:solidFill>
              <a:effectLst/>
              <a:uLnTx/>
              <a:uFillTx/>
              <a:latin typeface="Calibri"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457200" y="1295400"/>
            <a:ext cx="7239000" cy="4191000"/>
          </a:xfrm>
          <a:prstGeom prst="rect">
            <a:avLst/>
          </a:prstGeom>
        </p:spPr>
        <p:style>
          <a:lnRef idx="2">
            <a:schemeClr val="accent1"/>
          </a:lnRef>
          <a:fillRef idx="1">
            <a:schemeClr val="lt1"/>
          </a:fillRef>
          <a:effectRef idx="0">
            <a:schemeClr val="accent1"/>
          </a:effectRef>
          <a:fontRef idx="minor">
            <a:schemeClr val="dk1"/>
          </a:fontRef>
        </p:style>
        <p:txBody>
          <a:bodyPr vert="horz">
            <a:normAutofit lnSpcReduction="10000"/>
          </a:bodyPr>
          <a:lstStyle/>
          <a:p>
            <a:pPr marL="274320" marR="0" lvl="0" indent="-274320" algn="ctr" defTabSz="914400" rtl="0" eaLnBrk="1" fontAlgn="auto" latinLnBrk="0" hangingPunct="1">
              <a:lnSpc>
                <a:spcPct val="100000"/>
              </a:lnSpc>
              <a:spcBef>
                <a:spcPts val="580"/>
              </a:spcBef>
              <a:spcAft>
                <a:spcPts val="0"/>
              </a:spcAft>
              <a:buClr>
                <a:schemeClr val="accent1"/>
              </a:buClr>
              <a:buSzPct val="85000"/>
              <a:tabLst/>
              <a:defRPr/>
            </a:pPr>
            <a:endParaRPr kumimoji="0" lang="en-US" sz="2600" b="0" i="0" u="none" strike="noStrike" kern="1200" cap="none" spc="0" normalizeH="0" baseline="0" noProof="0" dirty="0">
              <a:ln>
                <a:noFill/>
              </a:ln>
              <a:solidFill>
                <a:schemeClr val="tx1"/>
              </a:solidFill>
              <a:effectLst/>
              <a:uLnTx/>
              <a:uFillTx/>
              <a:latin typeface="Calibri" pitchFamily="34" charset="0"/>
            </a:endParaRPr>
          </a:p>
          <a:p>
            <a:pPr marL="274320" lvl="0" indent="-274320">
              <a:spcBef>
                <a:spcPts val="580"/>
              </a:spcBef>
              <a:buClr>
                <a:schemeClr val="accent1"/>
              </a:buClr>
              <a:buSzPct val="85000"/>
              <a:buFont typeface="Arial" pitchFamily="34" charset="0"/>
              <a:buChar char="•"/>
              <a:defRPr/>
            </a:pPr>
            <a:r>
              <a:rPr kumimoji="0" lang="en-US" sz="2600" i="0" u="none" strike="noStrike" kern="1200" cap="none" spc="0" normalizeH="0" baseline="0" noProof="0" dirty="0">
                <a:ln>
                  <a:noFill/>
                </a:ln>
                <a:solidFill>
                  <a:schemeClr val="tx1"/>
                </a:solidFill>
                <a:effectLst/>
                <a:uLnTx/>
                <a:uFillTx/>
                <a:latin typeface="Calibri" pitchFamily="34" charset="0"/>
              </a:rPr>
              <a:t>1.1 Definition </a:t>
            </a:r>
          </a:p>
          <a:p>
            <a:pPr marL="274320" lvl="0" indent="-274320">
              <a:spcBef>
                <a:spcPts val="580"/>
              </a:spcBef>
              <a:buClr>
                <a:schemeClr val="accent1"/>
              </a:buClr>
              <a:buSzPct val="85000"/>
              <a:buFont typeface="Arial" pitchFamily="34" charset="0"/>
              <a:buChar char="•"/>
              <a:defRPr/>
            </a:pPr>
            <a:r>
              <a:rPr kumimoji="0" lang="en-US" sz="2600" i="0" u="none" strike="noStrike" kern="1200" cap="none" spc="0" normalizeH="0" baseline="0" noProof="0" dirty="0">
                <a:ln>
                  <a:noFill/>
                </a:ln>
                <a:solidFill>
                  <a:schemeClr val="tx1"/>
                </a:solidFill>
                <a:effectLst/>
                <a:uLnTx/>
                <a:uFillTx/>
                <a:latin typeface="Calibri" pitchFamily="34" charset="0"/>
              </a:rPr>
              <a:t>1.2 History of DC</a:t>
            </a:r>
          </a:p>
          <a:p>
            <a:pPr marL="274320" lvl="0" indent="-274320">
              <a:spcBef>
                <a:spcPts val="580"/>
              </a:spcBef>
              <a:buClr>
                <a:schemeClr val="accent1"/>
              </a:buClr>
              <a:buSzPct val="85000"/>
              <a:buFont typeface="Arial" pitchFamily="34" charset="0"/>
              <a:buChar char="•"/>
              <a:defRPr/>
            </a:pPr>
            <a:r>
              <a:rPr lang="en-US" sz="2600" b="1" dirty="0">
                <a:solidFill>
                  <a:schemeClr val="accent1"/>
                </a:solidFill>
                <a:latin typeface="Calibri" pitchFamily="34" charset="0"/>
              </a:rPr>
              <a:t> </a:t>
            </a:r>
            <a:r>
              <a:rPr kumimoji="0" lang="en-US" sz="2600" i="0" u="none" strike="noStrike" kern="1200" cap="none" spc="0" normalizeH="0" baseline="0" noProof="0" dirty="0">
                <a:ln>
                  <a:noFill/>
                </a:ln>
                <a:solidFill>
                  <a:schemeClr val="tx1"/>
                </a:solidFill>
                <a:effectLst/>
                <a:uLnTx/>
                <a:uFillTx/>
                <a:latin typeface="Calibri" pitchFamily="34" charset="0"/>
              </a:rPr>
              <a:t>1.3 Different forms of Computing</a:t>
            </a:r>
          </a:p>
          <a:p>
            <a:pPr marL="274320" lvl="0" indent="-274320">
              <a:spcBef>
                <a:spcPts val="580"/>
              </a:spcBef>
              <a:buClr>
                <a:schemeClr val="accent1"/>
              </a:buClr>
              <a:buSzPct val="85000"/>
              <a:buFont typeface="Arial" pitchFamily="34" charset="0"/>
              <a:buChar char="•"/>
              <a:defRPr/>
            </a:pPr>
            <a:r>
              <a:rPr lang="en-US" sz="2600" dirty="0">
                <a:solidFill>
                  <a:schemeClr val="tx1"/>
                </a:solidFill>
                <a:latin typeface="Calibri" pitchFamily="34" charset="0"/>
              </a:rPr>
              <a:t> 1.4 Strength &amp; Weakness</a:t>
            </a:r>
          </a:p>
          <a:p>
            <a:pPr marL="274320" lvl="0" indent="-274320">
              <a:spcBef>
                <a:spcPts val="580"/>
              </a:spcBef>
              <a:buClr>
                <a:schemeClr val="accent1"/>
              </a:buClr>
              <a:buSzPct val="85000"/>
              <a:defRPr/>
            </a:pPr>
            <a:r>
              <a:rPr lang="en-US" sz="2600" b="1" dirty="0">
                <a:solidFill>
                  <a:schemeClr val="accent1"/>
                </a:solidFill>
                <a:latin typeface="Calibri" pitchFamily="34" charset="0"/>
              </a:rPr>
              <a:t>→ 1.5 Basics of OS</a:t>
            </a:r>
          </a:p>
          <a:p>
            <a:pPr marL="274320" lvl="0" indent="-274320">
              <a:spcBef>
                <a:spcPts val="580"/>
              </a:spcBef>
              <a:buClr>
                <a:schemeClr val="accent1"/>
              </a:buClr>
              <a:buSzPct val="85000"/>
              <a:buFont typeface="Arial" pitchFamily="34" charset="0"/>
              <a:buChar char="•"/>
              <a:defRPr/>
            </a:pPr>
            <a:r>
              <a:rPr lang="en-US" sz="2600" dirty="0">
                <a:solidFill>
                  <a:schemeClr val="tx1"/>
                </a:solidFill>
                <a:latin typeface="Calibri" pitchFamily="34" charset="0"/>
              </a:rPr>
              <a:t>1.6 Network Basics</a:t>
            </a:r>
          </a:p>
          <a:p>
            <a:pPr marL="274320" lvl="0" indent="-274320">
              <a:spcBef>
                <a:spcPts val="580"/>
              </a:spcBef>
              <a:buClr>
                <a:schemeClr val="accent1"/>
              </a:buClr>
              <a:buSzPct val="85000"/>
              <a:buFont typeface="Arial" pitchFamily="34" charset="0"/>
              <a:buChar char="•"/>
              <a:defRPr/>
            </a:pPr>
            <a:r>
              <a:rPr lang="en-US" sz="2600" dirty="0">
                <a:solidFill>
                  <a:schemeClr val="tx1"/>
                </a:solidFill>
                <a:latin typeface="Calibri" pitchFamily="34" charset="0"/>
              </a:rPr>
              <a:t>1.7 Software Engineering Basics </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lang="en-US" sz="2600" dirty="0">
                <a:latin typeface="Calibri" pitchFamily="34" charset="0"/>
              </a:rPr>
              <a:t>1.8 The Architecture of Distributed Application. </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n-US" sz="2600" b="0" i="0" u="none" strike="noStrike" kern="1200" cap="none" spc="0" normalizeH="0" baseline="0" noProof="0" dirty="0">
              <a:ln>
                <a:noFill/>
              </a:ln>
              <a:solidFill>
                <a:schemeClr val="tx1"/>
              </a:solidFill>
              <a:effectLst/>
              <a:uLnTx/>
              <a:uFillTx/>
              <a:latin typeface="Calibri" pitchFamily="34" charset="0"/>
            </a:endParaRPr>
          </a:p>
        </p:txBody>
      </p:sp>
      <p:sp>
        <p:nvSpPr>
          <p:cNvPr id="6" name="TextBox 5"/>
          <p:cNvSpPr txBox="1"/>
          <p:nvPr/>
        </p:nvSpPr>
        <p:spPr>
          <a:xfrm>
            <a:off x="2667000" y="457200"/>
            <a:ext cx="4267200" cy="523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lgn="ctr">
              <a:buFontTx/>
              <a:buNone/>
              <a:defRPr/>
            </a:pPr>
            <a:r>
              <a:rPr lang="en-US" sz="2800" b="1" dirty="0">
                <a:effectLst>
                  <a:outerShdw blurRad="38100" dist="38100" dir="2700000" algn="tl">
                    <a:srgbClr val="000000">
                      <a:alpha val="43137"/>
                    </a:srgbClr>
                  </a:outerShdw>
                </a:effectLst>
                <a:latin typeface="Calibri" pitchFamily="34" charset="0"/>
              </a:rPr>
              <a:t>Roadmap</a:t>
            </a:r>
          </a:p>
        </p:txBody>
      </p:sp>
      <p:sp>
        <p:nvSpPr>
          <p:cNvPr id="7" name="Footer Placeholder 6"/>
          <p:cNvSpPr>
            <a:spLocks noGrp="1"/>
          </p:cNvSpPr>
          <p:nvPr>
            <p:ph type="ftr" sz="quarter" idx="11"/>
          </p:nvPr>
        </p:nvSpPr>
        <p:spPr/>
        <p:txBody>
          <a:bodyPr/>
          <a:lstStyle/>
          <a:p>
            <a:r>
              <a:rPr lang="en-US"/>
              <a:t>- Assistant  Prof. Riddhi Joshi</a:t>
            </a:r>
          </a:p>
        </p:txBody>
      </p:sp>
      <p:sp>
        <p:nvSpPr>
          <p:cNvPr id="4" name="Slide Number Placeholder 3"/>
          <p:cNvSpPr>
            <a:spLocks noGrp="1"/>
          </p:cNvSpPr>
          <p:nvPr>
            <p:ph type="sldNum" sz="quarter" idx="12"/>
          </p:nvPr>
        </p:nvSpPr>
        <p:spPr/>
        <p:txBody>
          <a:bodyPr/>
          <a:lstStyle/>
          <a:p>
            <a:fld id="{521E5947-19AD-4D38-BBE9-7D3EA973E689}"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152400"/>
            <a:ext cx="7772400" cy="685800"/>
          </a:xfrm>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latin typeface="Calibri" pitchFamily="34" charset="0"/>
              </a:rPr>
              <a:t>Operating System</a:t>
            </a:r>
          </a:p>
        </p:txBody>
      </p:sp>
      <p:sp>
        <p:nvSpPr>
          <p:cNvPr id="4" name="Content Placeholder 3"/>
          <p:cNvSpPr>
            <a:spLocks noGrp="1"/>
          </p:cNvSpPr>
          <p:nvPr>
            <p:ph idx="1"/>
          </p:nvPr>
        </p:nvSpPr>
        <p:spPr>
          <a:xfrm>
            <a:off x="914400" y="1447800"/>
            <a:ext cx="7772400" cy="3810000"/>
          </a:xfrm>
        </p:spPr>
        <p:style>
          <a:lnRef idx="2">
            <a:schemeClr val="accent1"/>
          </a:lnRef>
          <a:fillRef idx="1">
            <a:schemeClr val="lt1"/>
          </a:fillRef>
          <a:effectRef idx="0">
            <a:schemeClr val="accent1"/>
          </a:effectRef>
          <a:fontRef idx="minor">
            <a:schemeClr val="dk1"/>
          </a:fontRef>
        </p:style>
        <p:txBody>
          <a:bodyPr>
            <a:noAutofit/>
          </a:bodyPr>
          <a:lstStyle/>
          <a:p>
            <a:pPr>
              <a:buFont typeface="Wingdings" panose="05000000000000000000" pitchFamily="2" charset="2"/>
              <a:buChar char="§"/>
            </a:pPr>
            <a:r>
              <a:rPr lang="en-US" sz="2200" dirty="0">
                <a:latin typeface="Calibri" pitchFamily="34" charset="0"/>
              </a:rPr>
              <a:t>Distributed computing involves programs running on multiple computers.</a:t>
            </a:r>
          </a:p>
          <a:p>
            <a:pPr>
              <a:buFont typeface="Wingdings" panose="05000000000000000000" pitchFamily="2" charset="2"/>
              <a:buChar char="§"/>
            </a:pPr>
            <a:endParaRPr lang="en-US" sz="2200" dirty="0">
              <a:latin typeface="Calibri" pitchFamily="34" charset="0"/>
            </a:endParaRPr>
          </a:p>
          <a:p>
            <a:pPr>
              <a:buFont typeface="Wingdings" panose="05000000000000000000" pitchFamily="2" charset="2"/>
              <a:buChar char="§"/>
            </a:pPr>
            <a:r>
              <a:rPr lang="en-US" sz="2200" dirty="0">
                <a:latin typeface="Calibri" pitchFamily="34" charset="0"/>
              </a:rPr>
              <a:t>We should know some concepts involved with the execution of programs in modern day computers.</a:t>
            </a:r>
          </a:p>
          <a:p>
            <a:pPr>
              <a:buFont typeface="Wingdings" panose="05000000000000000000" pitchFamily="2" charset="2"/>
              <a:buChar char="§"/>
            </a:pPr>
            <a:endParaRPr lang="en-US" sz="2200" dirty="0">
              <a:latin typeface="Calibri" pitchFamily="34" charset="0"/>
            </a:endParaRPr>
          </a:p>
          <a:p>
            <a:pPr algn="just">
              <a:buFont typeface="Wingdings" panose="05000000000000000000" pitchFamily="2" charset="2"/>
              <a:buChar char="§"/>
            </a:pPr>
            <a:r>
              <a:rPr lang="en-US" sz="2200" dirty="0">
                <a:cs typeface="Times New Roman" pitchFamily="18" charset="0"/>
              </a:rPr>
              <a:t>“ An Operating system is a set  of programs that control the execution of application program and acts as an interface between application and computer hardware.”</a:t>
            </a:r>
          </a:p>
          <a:p>
            <a:pPr>
              <a:buFont typeface="Wingdings" panose="05000000000000000000" pitchFamily="2" charset="2"/>
              <a:buChar char="§"/>
            </a:pPr>
            <a:endParaRPr lang="en-US" sz="2200" dirty="0">
              <a:latin typeface="Calibri" pitchFamily="34" charset="0"/>
            </a:endParaRPr>
          </a:p>
        </p:txBody>
      </p:sp>
      <p:sp>
        <p:nvSpPr>
          <p:cNvPr id="3" name="Footer Placeholder 2"/>
          <p:cNvSpPr>
            <a:spLocks noGrp="1"/>
          </p:cNvSpPr>
          <p:nvPr>
            <p:ph type="ftr" sz="quarter" idx="11"/>
          </p:nvPr>
        </p:nvSpPr>
        <p:spPr/>
        <p:txBody>
          <a:bodyPr/>
          <a:lstStyle/>
          <a:p>
            <a:r>
              <a:rPr lang="en-US"/>
              <a:t>- Assistant  Prof. Riddhi Joshi</a:t>
            </a:r>
          </a:p>
        </p:txBody>
      </p:sp>
      <p:sp>
        <p:nvSpPr>
          <p:cNvPr id="5" name="Slide Number Placeholder 4"/>
          <p:cNvSpPr>
            <a:spLocks noGrp="1"/>
          </p:cNvSpPr>
          <p:nvPr>
            <p:ph type="sldNum" sz="quarter" idx="12"/>
          </p:nvPr>
        </p:nvSpPr>
        <p:spPr/>
        <p:txBody>
          <a:bodyPr/>
          <a:lstStyle/>
          <a:p>
            <a:fld id="{521E5947-19AD-4D38-BBE9-7D3EA973E689}" type="slidenum">
              <a:rPr lang="en-US" smtClean="0"/>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639762"/>
          </a:xfrm>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latin typeface="Calibri" pitchFamily="34" charset="0"/>
              </a:rPr>
              <a:t>Computer Program &amp; Processes</a:t>
            </a:r>
          </a:p>
        </p:txBody>
      </p:sp>
      <p:sp>
        <p:nvSpPr>
          <p:cNvPr id="4" name="Content Placeholder 3"/>
          <p:cNvSpPr>
            <a:spLocks noGrp="1"/>
          </p:cNvSpPr>
          <p:nvPr>
            <p:ph idx="1"/>
          </p:nvPr>
        </p:nvSpPr>
        <p:spPr>
          <a:xfrm>
            <a:off x="762000" y="1219200"/>
            <a:ext cx="8077200" cy="4572000"/>
          </a:xfrm>
        </p:spPr>
        <p:style>
          <a:lnRef idx="2">
            <a:schemeClr val="accent1"/>
          </a:lnRef>
          <a:fillRef idx="1">
            <a:schemeClr val="lt1"/>
          </a:fillRef>
          <a:effectRef idx="0">
            <a:schemeClr val="accent1"/>
          </a:effectRef>
          <a:fontRef idx="minor">
            <a:schemeClr val="dk1"/>
          </a:fontRef>
        </p:style>
        <p:txBody>
          <a:bodyPr>
            <a:normAutofit/>
          </a:bodyPr>
          <a:lstStyle/>
          <a:p>
            <a:r>
              <a:rPr lang="en-US" sz="2400" dirty="0">
                <a:latin typeface="Calibri" pitchFamily="34" charset="0"/>
              </a:rPr>
              <a:t>What is computer program?</a:t>
            </a:r>
          </a:p>
          <a:p>
            <a:pPr>
              <a:buNone/>
            </a:pPr>
            <a:endParaRPr lang="en-US" sz="2400" dirty="0">
              <a:latin typeface="Calibri" pitchFamily="34" charset="0"/>
            </a:endParaRPr>
          </a:p>
          <a:p>
            <a:pPr lvl="1"/>
            <a:r>
              <a:rPr lang="en-US" u="sng" dirty="0">
                <a:latin typeface="Calibri" pitchFamily="34" charset="0"/>
              </a:rPr>
              <a:t>A software program is artifact(well designed) constructed by a software developer.</a:t>
            </a:r>
          </a:p>
          <a:p>
            <a:pPr lvl="1"/>
            <a:endParaRPr lang="en-US" u="sng" dirty="0">
              <a:latin typeface="Calibri" pitchFamily="34" charset="0"/>
            </a:endParaRPr>
          </a:p>
          <a:p>
            <a:pPr lvl="1"/>
            <a:r>
              <a:rPr lang="en-US" dirty="0">
                <a:latin typeface="Calibri" pitchFamily="34" charset="0"/>
              </a:rPr>
              <a:t>Using some form of programming languages.</a:t>
            </a:r>
          </a:p>
          <a:p>
            <a:pPr lvl="1">
              <a:buNone/>
            </a:pPr>
            <a:endParaRPr lang="en-US" dirty="0">
              <a:latin typeface="Calibri" pitchFamily="34" charset="0"/>
            </a:endParaRPr>
          </a:p>
          <a:p>
            <a:pPr lvl="1"/>
            <a:r>
              <a:rPr lang="en-US" dirty="0">
                <a:latin typeface="Calibri" pitchFamily="34" charset="0"/>
              </a:rPr>
              <a:t>Typically the language is high level one that requires a compiler or an interpreter to translate it into machine language when a program is </a:t>
            </a:r>
            <a:r>
              <a:rPr lang="en-US" i="1" dirty="0">
                <a:latin typeface="Calibri" pitchFamily="34" charset="0"/>
              </a:rPr>
              <a:t>run</a:t>
            </a:r>
            <a:r>
              <a:rPr lang="en-US" dirty="0">
                <a:latin typeface="Calibri" pitchFamily="34" charset="0"/>
              </a:rPr>
              <a:t> or </a:t>
            </a:r>
            <a:r>
              <a:rPr lang="en-US" i="1" dirty="0">
                <a:latin typeface="Calibri" pitchFamily="34" charset="0"/>
              </a:rPr>
              <a:t>executed.</a:t>
            </a:r>
          </a:p>
        </p:txBody>
      </p:sp>
      <p:sp>
        <p:nvSpPr>
          <p:cNvPr id="3" name="Footer Placeholder 2"/>
          <p:cNvSpPr>
            <a:spLocks noGrp="1"/>
          </p:cNvSpPr>
          <p:nvPr>
            <p:ph type="ftr" sz="quarter" idx="11"/>
          </p:nvPr>
        </p:nvSpPr>
        <p:spPr/>
        <p:txBody>
          <a:bodyPr/>
          <a:lstStyle/>
          <a:p>
            <a:r>
              <a:rPr lang="en-US"/>
              <a:t>- Assistant  Prof. Riddhi Joshi</a:t>
            </a:r>
          </a:p>
        </p:txBody>
      </p:sp>
      <p:sp>
        <p:nvSpPr>
          <p:cNvPr id="5" name="Slide Number Placeholder 4"/>
          <p:cNvSpPr>
            <a:spLocks noGrp="1"/>
          </p:cNvSpPr>
          <p:nvPr>
            <p:ph type="sldNum" sz="quarter" idx="12"/>
          </p:nvPr>
        </p:nvSpPr>
        <p:spPr/>
        <p:txBody>
          <a:bodyPr/>
          <a:lstStyle/>
          <a:p>
            <a:fld id="{521E5947-19AD-4D38-BBE9-7D3EA973E689}" type="slidenum">
              <a:rPr lang="en-US" smtClean="0"/>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639762"/>
          </a:xfrm>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latin typeface="Calibri" pitchFamily="34" charset="0"/>
              </a:rPr>
              <a:t>Basics of OS</a:t>
            </a:r>
          </a:p>
        </p:txBody>
      </p:sp>
      <p:sp>
        <p:nvSpPr>
          <p:cNvPr id="4" name="Content Placeholder 3"/>
          <p:cNvSpPr>
            <a:spLocks noGrp="1"/>
          </p:cNvSpPr>
          <p:nvPr>
            <p:ph idx="1"/>
          </p:nvPr>
        </p:nvSpPr>
        <p:spPr>
          <a:xfrm>
            <a:off x="762000" y="1219200"/>
            <a:ext cx="8077200" cy="4572000"/>
          </a:xfrm>
        </p:spPr>
        <p:style>
          <a:lnRef idx="2">
            <a:schemeClr val="accent1"/>
          </a:lnRef>
          <a:fillRef idx="1">
            <a:schemeClr val="lt1"/>
          </a:fillRef>
          <a:effectRef idx="0">
            <a:schemeClr val="accent1"/>
          </a:effectRef>
          <a:fontRef idx="minor">
            <a:schemeClr val="dk1"/>
          </a:fontRef>
        </p:style>
        <p:txBody>
          <a:bodyPr>
            <a:normAutofit/>
          </a:bodyPr>
          <a:lstStyle/>
          <a:p>
            <a:pPr algn="just"/>
            <a:r>
              <a:rPr lang="en-US" sz="2400" b="1" dirty="0" err="1">
                <a:latin typeface="Calibri" pitchFamily="34" charset="0"/>
              </a:rPr>
              <a:t>Uniprogramming</a:t>
            </a:r>
            <a:r>
              <a:rPr lang="en-US" sz="2400" dirty="0">
                <a:latin typeface="Calibri" pitchFamily="34" charset="0"/>
              </a:rPr>
              <a:t> : One Processor executing one process.</a:t>
            </a:r>
          </a:p>
          <a:p>
            <a:pPr algn="just"/>
            <a:r>
              <a:rPr lang="en-US" sz="2400" b="1" dirty="0">
                <a:latin typeface="Calibri" pitchFamily="34" charset="0"/>
              </a:rPr>
              <a:t>Multiprogramming</a:t>
            </a:r>
            <a:r>
              <a:rPr lang="en-US" sz="2400" dirty="0">
                <a:latin typeface="Calibri" pitchFamily="34" charset="0"/>
              </a:rPr>
              <a:t> : One Processor executing multiple processes.</a:t>
            </a:r>
          </a:p>
          <a:p>
            <a:pPr algn="just"/>
            <a:r>
              <a:rPr lang="en-US" sz="2400" b="1" dirty="0">
                <a:latin typeface="Calibri" pitchFamily="34" charset="0"/>
              </a:rPr>
              <a:t>Multiprocessing</a:t>
            </a:r>
            <a:r>
              <a:rPr lang="en-US" sz="2400" dirty="0">
                <a:latin typeface="Calibri" pitchFamily="34" charset="0"/>
              </a:rPr>
              <a:t> : Multiple processors executing multiple processes. </a:t>
            </a:r>
          </a:p>
          <a:p>
            <a:r>
              <a:rPr lang="en-US" sz="2000" b="1" dirty="0">
                <a:latin typeface="Calibri" pitchFamily="34" charset="0"/>
              </a:rPr>
              <a:t>Concurrency: </a:t>
            </a:r>
            <a:r>
              <a:rPr lang="en-US" sz="2000" dirty="0">
                <a:latin typeface="Calibri" pitchFamily="34" charset="0"/>
              </a:rPr>
              <a:t>It is a property of systems in which several computations are executing simultaneously, and potentially interacting with each other.</a:t>
            </a:r>
            <a:endParaRPr lang="en-GB" sz="2000" dirty="0">
              <a:latin typeface="Calibri" pitchFamily="34" charset="0"/>
            </a:endParaRPr>
          </a:p>
          <a:p>
            <a:pPr lvl="1"/>
            <a:r>
              <a:rPr lang="en-US" sz="2000" dirty="0">
                <a:latin typeface="Calibri" pitchFamily="34" charset="0"/>
              </a:rPr>
              <a:t>It means managing the interaction of all of the processes.</a:t>
            </a:r>
          </a:p>
          <a:p>
            <a:pPr lvl="1"/>
            <a:endParaRPr lang="en-US" sz="2000" dirty="0">
              <a:latin typeface="Calibri" pitchFamily="34" charset="0"/>
            </a:endParaRPr>
          </a:p>
          <a:p>
            <a:pPr lvl="1"/>
            <a:r>
              <a:rPr lang="en-US" sz="2000" b="1" dirty="0">
                <a:latin typeface="Calibri" pitchFamily="34" charset="0"/>
              </a:rPr>
              <a:t>Thread : - Part of the process</a:t>
            </a:r>
          </a:p>
          <a:p>
            <a:pPr algn="just"/>
            <a:endParaRPr lang="en-US" sz="2400" dirty="0">
              <a:latin typeface="Calibri" pitchFamily="34" charset="0"/>
            </a:endParaRPr>
          </a:p>
          <a:p>
            <a:pPr algn="just"/>
            <a:endParaRPr lang="en-US" i="1" dirty="0">
              <a:latin typeface="Calibri" pitchFamily="34" charset="0"/>
            </a:endParaRPr>
          </a:p>
        </p:txBody>
      </p:sp>
      <p:sp>
        <p:nvSpPr>
          <p:cNvPr id="3" name="Footer Placeholder 2"/>
          <p:cNvSpPr>
            <a:spLocks noGrp="1"/>
          </p:cNvSpPr>
          <p:nvPr>
            <p:ph type="ftr" sz="quarter" idx="11"/>
          </p:nvPr>
        </p:nvSpPr>
        <p:spPr/>
        <p:txBody>
          <a:bodyPr/>
          <a:lstStyle/>
          <a:p>
            <a:r>
              <a:rPr lang="en-US"/>
              <a:t>- Assistant  Prof. Riddhi Joshi</a:t>
            </a:r>
          </a:p>
        </p:txBody>
      </p:sp>
      <p:sp>
        <p:nvSpPr>
          <p:cNvPr id="5" name="Slide Number Placeholder 4"/>
          <p:cNvSpPr>
            <a:spLocks noGrp="1"/>
          </p:cNvSpPr>
          <p:nvPr>
            <p:ph type="sldNum" sz="quarter" idx="12"/>
          </p:nvPr>
        </p:nvSpPr>
        <p:spPr/>
        <p:txBody>
          <a:bodyPr/>
          <a:lstStyle/>
          <a:p>
            <a:fld id="{521E5947-19AD-4D38-BBE9-7D3EA973E689}" type="slidenum">
              <a:rPr lang="en-US" smtClean="0"/>
              <a:pPr/>
              <a:t>38</a:t>
            </a:fld>
            <a:endParaRPr lang="en-US"/>
          </a:p>
        </p:txBody>
      </p:sp>
    </p:spTree>
    <p:extLst>
      <p:ext uri="{BB962C8B-B14F-4D97-AF65-F5344CB8AC3E}">
        <p14:creationId xmlns:p14="http://schemas.microsoft.com/office/powerpoint/2010/main" val="42034995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0298" y="-16"/>
            <a:ext cx="4000528" cy="428620"/>
          </a:xfrm>
        </p:spPr>
        <p:style>
          <a:lnRef idx="3">
            <a:schemeClr val="lt1"/>
          </a:lnRef>
          <a:fillRef idx="1">
            <a:schemeClr val="accent5"/>
          </a:fillRef>
          <a:effectRef idx="1">
            <a:schemeClr val="accent5"/>
          </a:effectRef>
          <a:fontRef idx="minor">
            <a:schemeClr val="lt1"/>
          </a:fontRef>
        </p:style>
        <p:txBody>
          <a:bodyPr>
            <a:normAutofit fontScale="90000"/>
          </a:bodyPr>
          <a:lstStyle/>
          <a:p>
            <a:pPr algn="ctr"/>
            <a:r>
              <a:rPr lang="en-GB" sz="2800" b="1" dirty="0">
                <a:solidFill>
                  <a:schemeClr val="bg1"/>
                </a:solidFill>
                <a:effectLst>
                  <a:outerShdw blurRad="38100" dist="38100" dir="2700000" algn="tl">
                    <a:srgbClr val="000000">
                      <a:alpha val="43137"/>
                    </a:srgbClr>
                  </a:outerShdw>
                </a:effectLst>
                <a:latin typeface="+mj-lt"/>
              </a:rPr>
              <a:t>KEY TERMS</a:t>
            </a:r>
          </a:p>
        </p:txBody>
      </p:sp>
      <p:pic>
        <p:nvPicPr>
          <p:cNvPr id="4" name="Content Placeholder 3" descr="Table05_01.gif"/>
          <p:cNvPicPr>
            <a:picLocks noGrp="1" noChangeAspect="1"/>
          </p:cNvPicPr>
          <p:nvPr>
            <p:ph idx="1"/>
          </p:nvPr>
        </p:nvPicPr>
        <p:blipFill>
          <a:blip r:embed="rId2"/>
          <a:srcRect/>
          <a:stretch>
            <a:fillRect/>
          </a:stretch>
        </p:blipFill>
        <p:spPr>
          <a:xfrm>
            <a:off x="0" y="500042"/>
            <a:ext cx="9144000" cy="63579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Slide Number Placeholder 4"/>
          <p:cNvSpPr>
            <a:spLocks noGrp="1"/>
          </p:cNvSpPr>
          <p:nvPr>
            <p:ph type="sldNum" sz="quarter" idx="12"/>
          </p:nvPr>
        </p:nvSpPr>
        <p:spPr/>
        <p:txBody>
          <a:bodyPr/>
          <a:lstStyle/>
          <a:p>
            <a:fld id="{8721AD9F-4A2E-478F-ACDB-FC9429174183}" type="slidenum">
              <a:rPr lang="en-GB" smtClean="0"/>
              <a:pPr/>
              <a:t>39</a:t>
            </a:fld>
            <a:endParaRPr lang="en-GB"/>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F1DE4-B5D9-5B67-F268-8FCA6100BB1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4AC4278-2F56-FEB6-1837-CB6C3E25650C}"/>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1A668412-21DC-1CCA-A76A-F93634495D3E}"/>
              </a:ext>
            </a:extLst>
          </p:cNvPr>
          <p:cNvSpPr>
            <a:spLocks noGrp="1"/>
          </p:cNvSpPr>
          <p:nvPr>
            <p:ph type="ftr" sz="quarter" idx="11"/>
          </p:nvPr>
        </p:nvSpPr>
        <p:spPr/>
        <p:txBody>
          <a:bodyPr/>
          <a:lstStyle/>
          <a:p>
            <a:r>
              <a:rPr lang="en-US"/>
              <a:t>- Assistant  Prof. Riddhi Joshi</a:t>
            </a:r>
          </a:p>
        </p:txBody>
      </p:sp>
      <p:sp>
        <p:nvSpPr>
          <p:cNvPr id="5" name="Slide Number Placeholder 4">
            <a:extLst>
              <a:ext uri="{FF2B5EF4-FFF2-40B4-BE49-F238E27FC236}">
                <a16:creationId xmlns:a16="http://schemas.microsoft.com/office/drawing/2014/main" id="{9B00DD5F-28D9-1424-F51B-3D35D4FDE04E}"/>
              </a:ext>
            </a:extLst>
          </p:cNvPr>
          <p:cNvSpPr>
            <a:spLocks noGrp="1"/>
          </p:cNvSpPr>
          <p:nvPr>
            <p:ph type="sldNum" sz="quarter" idx="12"/>
          </p:nvPr>
        </p:nvSpPr>
        <p:spPr/>
        <p:txBody>
          <a:bodyPr/>
          <a:lstStyle/>
          <a:p>
            <a:fld id="{521E5947-19AD-4D38-BBE9-7D3EA973E689}" type="slidenum">
              <a:rPr lang="en-US" smtClean="0"/>
              <a:pPr/>
              <a:t>40</a:t>
            </a:fld>
            <a:endParaRPr lang="en-US"/>
          </a:p>
        </p:txBody>
      </p:sp>
      <p:graphicFrame>
        <p:nvGraphicFramePr>
          <p:cNvPr id="6" name="Table 5">
            <a:extLst>
              <a:ext uri="{FF2B5EF4-FFF2-40B4-BE49-F238E27FC236}">
                <a16:creationId xmlns:a16="http://schemas.microsoft.com/office/drawing/2014/main" id="{07DC51D8-AA0C-082D-4B4F-CF8763502D3C}"/>
              </a:ext>
            </a:extLst>
          </p:cNvPr>
          <p:cNvGraphicFramePr>
            <a:graphicFrameLocks noGrp="1"/>
          </p:cNvGraphicFramePr>
          <p:nvPr>
            <p:extLst>
              <p:ext uri="{D42A27DB-BD31-4B8C-83A1-F6EECF244321}">
                <p14:modId xmlns:p14="http://schemas.microsoft.com/office/powerpoint/2010/main" val="70957410"/>
              </p:ext>
            </p:extLst>
          </p:nvPr>
        </p:nvGraphicFramePr>
        <p:xfrm>
          <a:off x="22859" y="33089"/>
          <a:ext cx="9143999" cy="6423025"/>
        </p:xfrm>
        <a:graphic>
          <a:graphicData uri="http://schemas.openxmlformats.org/drawingml/2006/table">
            <a:tbl>
              <a:tblPr firstRow="1" bandRow="1">
                <a:tableStyleId>{7DF18680-E054-41AD-8BC1-D1AEF772440D}</a:tableStyleId>
              </a:tblPr>
              <a:tblGrid>
                <a:gridCol w="914399">
                  <a:extLst>
                    <a:ext uri="{9D8B030D-6E8A-4147-A177-3AD203B41FA5}">
                      <a16:colId xmlns:a16="http://schemas.microsoft.com/office/drawing/2014/main" val="20000"/>
                    </a:ext>
                  </a:extLst>
                </a:gridCol>
                <a:gridCol w="3962400">
                  <a:extLst>
                    <a:ext uri="{9D8B030D-6E8A-4147-A177-3AD203B41FA5}">
                      <a16:colId xmlns:a16="http://schemas.microsoft.com/office/drawing/2014/main" val="20001"/>
                    </a:ext>
                  </a:extLst>
                </a:gridCol>
                <a:gridCol w="4267200">
                  <a:extLst>
                    <a:ext uri="{9D8B030D-6E8A-4147-A177-3AD203B41FA5}">
                      <a16:colId xmlns:a16="http://schemas.microsoft.com/office/drawing/2014/main" val="20002"/>
                    </a:ext>
                  </a:extLst>
                </a:gridCol>
              </a:tblGrid>
              <a:tr h="640017">
                <a:tc>
                  <a:txBody>
                    <a:bodyPr/>
                    <a:lstStyle/>
                    <a:p>
                      <a:r>
                        <a:rPr lang="en-GB" sz="1600" dirty="0"/>
                        <a:t>SR.</a:t>
                      </a:r>
                      <a:r>
                        <a:rPr lang="en-GB" sz="1600" baseline="0" dirty="0"/>
                        <a:t> NO:</a:t>
                      </a:r>
                      <a:endParaRPr lang="en-GB" sz="1600" dirty="0">
                        <a:latin typeface="Calibri" pitchFamily="34" charset="0"/>
                      </a:endParaRPr>
                    </a:p>
                  </a:txBody>
                  <a:tcPr marT="45716" marB="45716"/>
                </a:tc>
                <a:tc>
                  <a:txBody>
                    <a:bodyPr/>
                    <a:lstStyle/>
                    <a:p>
                      <a:r>
                        <a:rPr lang="en-GB" sz="1600" dirty="0"/>
                        <a:t>  PROCESSES</a:t>
                      </a:r>
                      <a:endParaRPr lang="en-GB" sz="1600" dirty="0">
                        <a:latin typeface="Calibri" pitchFamily="34" charset="0"/>
                      </a:endParaRPr>
                    </a:p>
                  </a:txBody>
                  <a:tcPr marT="45716" marB="45716"/>
                </a:tc>
                <a:tc>
                  <a:txBody>
                    <a:bodyPr/>
                    <a:lstStyle/>
                    <a:p>
                      <a:r>
                        <a:rPr lang="en-GB" sz="1600" dirty="0"/>
                        <a:t>THREADS</a:t>
                      </a:r>
                      <a:endParaRPr lang="en-GB" sz="1600" dirty="0">
                        <a:latin typeface="Calibri" pitchFamily="34" charset="0"/>
                      </a:endParaRPr>
                    </a:p>
                  </a:txBody>
                  <a:tcPr marT="45716" marB="45716"/>
                </a:tc>
                <a:extLst>
                  <a:ext uri="{0D108BD9-81ED-4DB2-BD59-A6C34878D82A}">
                    <a16:rowId xmlns:a16="http://schemas.microsoft.com/office/drawing/2014/main" val="10000"/>
                  </a:ext>
                </a:extLst>
              </a:tr>
              <a:tr h="679594">
                <a:tc>
                  <a:txBody>
                    <a:bodyPr/>
                    <a:lstStyle/>
                    <a:p>
                      <a:r>
                        <a:rPr lang="en-GB" sz="1600" dirty="0"/>
                        <a:t>1</a:t>
                      </a:r>
                      <a:endParaRPr lang="en-GB" sz="1600" dirty="0">
                        <a:latin typeface="Calibri" pitchFamily="34" charset="0"/>
                      </a:endParaRPr>
                    </a:p>
                  </a:txBody>
                  <a:tcPr marT="45716" marB="45716"/>
                </a:tc>
                <a:tc>
                  <a:txBody>
                    <a:bodyPr/>
                    <a:lstStyle/>
                    <a:p>
                      <a:r>
                        <a:rPr lang="en-GB" sz="1600" dirty="0"/>
                        <a:t>Process</a:t>
                      </a:r>
                      <a:r>
                        <a:rPr lang="en-GB" sz="1600" baseline="0" dirty="0"/>
                        <a:t> is unit of allocation i.e. Resources, privileges, etc.</a:t>
                      </a:r>
                      <a:endParaRPr lang="en-GB" sz="1600" dirty="0">
                        <a:latin typeface="Calibri" pitchFamily="34" charset="0"/>
                      </a:endParaRPr>
                    </a:p>
                  </a:txBody>
                  <a:tcPr marT="45716" marB="45716"/>
                </a:tc>
                <a:tc>
                  <a:txBody>
                    <a:bodyPr/>
                    <a:lstStyle/>
                    <a:p>
                      <a:r>
                        <a:rPr lang="en-GB" sz="1600" dirty="0"/>
                        <a:t>Threads are unit of execution which includes pc,sp and register</a:t>
                      </a:r>
                      <a:endParaRPr lang="en-GB" sz="1600" dirty="0">
                        <a:latin typeface="Calibri" pitchFamily="34" charset="0"/>
                      </a:endParaRPr>
                    </a:p>
                  </a:txBody>
                  <a:tcPr marT="45716" marB="45716"/>
                </a:tc>
                <a:extLst>
                  <a:ext uri="{0D108BD9-81ED-4DB2-BD59-A6C34878D82A}">
                    <a16:rowId xmlns:a16="http://schemas.microsoft.com/office/drawing/2014/main" val="10001"/>
                  </a:ext>
                </a:extLst>
              </a:tr>
              <a:tr h="550797">
                <a:tc>
                  <a:txBody>
                    <a:bodyPr/>
                    <a:lstStyle/>
                    <a:p>
                      <a:r>
                        <a:rPr lang="en-GB" sz="1600" dirty="0"/>
                        <a:t>2</a:t>
                      </a:r>
                      <a:endParaRPr lang="en-GB" sz="1600" dirty="0">
                        <a:latin typeface="Calibri" pitchFamily="34" charset="0"/>
                      </a:endParaRPr>
                    </a:p>
                  </a:txBody>
                  <a:tcPr marT="45716" marB="45716"/>
                </a:tc>
                <a:tc>
                  <a:txBody>
                    <a:bodyPr/>
                    <a:lstStyle/>
                    <a:p>
                      <a:r>
                        <a:rPr lang="en-GB" sz="1600" dirty="0"/>
                        <a:t>Each process has one or more threads</a:t>
                      </a:r>
                      <a:endParaRPr lang="en-GB" sz="1600" dirty="0">
                        <a:latin typeface="Calibri" pitchFamily="34" charset="0"/>
                      </a:endParaRPr>
                    </a:p>
                  </a:txBody>
                  <a:tcPr marT="45716" marB="45716"/>
                </a:tc>
                <a:tc>
                  <a:txBody>
                    <a:bodyPr/>
                    <a:lstStyle/>
                    <a:p>
                      <a:r>
                        <a:rPr lang="en-GB" sz="1600" dirty="0"/>
                        <a:t>Each thread belongs to one process.</a:t>
                      </a:r>
                      <a:endParaRPr lang="en-GB" sz="1600" dirty="0">
                        <a:latin typeface="Calibri" pitchFamily="34" charset="0"/>
                      </a:endParaRPr>
                    </a:p>
                  </a:txBody>
                  <a:tcPr marT="45716" marB="45716"/>
                </a:tc>
                <a:extLst>
                  <a:ext uri="{0D108BD9-81ED-4DB2-BD59-A6C34878D82A}">
                    <a16:rowId xmlns:a16="http://schemas.microsoft.com/office/drawing/2014/main" val="10002"/>
                  </a:ext>
                </a:extLst>
              </a:tr>
              <a:tr h="914310">
                <a:tc>
                  <a:txBody>
                    <a:bodyPr/>
                    <a:lstStyle/>
                    <a:p>
                      <a:r>
                        <a:rPr lang="en-GB" sz="1600" dirty="0"/>
                        <a:t>3</a:t>
                      </a:r>
                      <a:endParaRPr lang="en-GB" sz="1600" dirty="0">
                        <a:latin typeface="Calibri" pitchFamily="34" charset="0"/>
                      </a:endParaRPr>
                    </a:p>
                  </a:txBody>
                  <a:tcPr marT="45716" marB="45716"/>
                </a:tc>
                <a:tc>
                  <a:txBody>
                    <a:bodyPr/>
                    <a:lstStyle/>
                    <a:p>
                      <a:r>
                        <a:rPr lang="en-GB" sz="1600" dirty="0"/>
                        <a:t>Inter process communication is expensive </a:t>
                      </a:r>
                      <a:r>
                        <a:rPr lang="en-GB" sz="1600" dirty="0" err="1"/>
                        <a:t>i.e</a:t>
                      </a:r>
                      <a:r>
                        <a:rPr lang="en-GB" sz="1600" dirty="0"/>
                        <a:t> Context switching required</a:t>
                      </a:r>
                      <a:endParaRPr lang="en-GB" sz="1600" dirty="0">
                        <a:latin typeface="Calibri" pitchFamily="34" charset="0"/>
                      </a:endParaRPr>
                    </a:p>
                  </a:txBody>
                  <a:tcPr marT="45716" marB="45716"/>
                </a:tc>
                <a:tc>
                  <a:txBody>
                    <a:bodyPr/>
                    <a:lstStyle/>
                    <a:p>
                      <a:r>
                        <a:rPr lang="en-GB" sz="1600" dirty="0"/>
                        <a:t>Inter thread communication is cheap. Don't</a:t>
                      </a:r>
                      <a:r>
                        <a:rPr lang="en-GB" sz="1600" baseline="0" dirty="0"/>
                        <a:t> </a:t>
                      </a:r>
                      <a:r>
                        <a:rPr lang="en-GB" sz="1600" dirty="0"/>
                        <a:t>required process switching.</a:t>
                      </a:r>
                      <a:endParaRPr lang="en-GB" sz="1600" dirty="0">
                        <a:latin typeface="Calibri" pitchFamily="34" charset="0"/>
                      </a:endParaRPr>
                    </a:p>
                  </a:txBody>
                  <a:tcPr marT="45716" marB="45716"/>
                </a:tc>
                <a:extLst>
                  <a:ext uri="{0D108BD9-81ED-4DB2-BD59-A6C34878D82A}">
                    <a16:rowId xmlns:a16="http://schemas.microsoft.com/office/drawing/2014/main" val="10003"/>
                  </a:ext>
                </a:extLst>
              </a:tr>
              <a:tr h="679594">
                <a:tc>
                  <a:txBody>
                    <a:bodyPr/>
                    <a:lstStyle/>
                    <a:p>
                      <a:r>
                        <a:rPr lang="en-GB" sz="1600" dirty="0"/>
                        <a:t>4</a:t>
                      </a:r>
                      <a:endParaRPr lang="en-GB" sz="1600" dirty="0">
                        <a:latin typeface="Calibri" pitchFamily="34" charset="0"/>
                      </a:endParaRPr>
                    </a:p>
                  </a:txBody>
                  <a:tcPr marT="45716" marB="45716"/>
                </a:tc>
                <a:tc>
                  <a:txBody>
                    <a:bodyPr/>
                    <a:lstStyle/>
                    <a:p>
                      <a:r>
                        <a:rPr lang="en-GB" sz="1600" dirty="0"/>
                        <a:t>These are secure because one</a:t>
                      </a:r>
                      <a:r>
                        <a:rPr lang="en-GB" sz="1600" baseline="0" dirty="0"/>
                        <a:t> process can not corrupt another process</a:t>
                      </a:r>
                      <a:endParaRPr lang="en-GB" sz="1600" dirty="0">
                        <a:latin typeface="Calibri" pitchFamily="34" charset="0"/>
                      </a:endParaRPr>
                    </a:p>
                  </a:txBody>
                  <a:tcPr marT="45716" marB="45716"/>
                </a:tc>
                <a:tc>
                  <a:txBody>
                    <a:bodyPr/>
                    <a:lstStyle/>
                    <a:p>
                      <a:r>
                        <a:rPr lang="en-GB" sz="1600" dirty="0"/>
                        <a:t>These are not secure because a thread can write memory used by another</a:t>
                      </a:r>
                      <a:r>
                        <a:rPr lang="en-GB" sz="1600" baseline="0" dirty="0"/>
                        <a:t> thread.</a:t>
                      </a:r>
                      <a:endParaRPr lang="en-GB" sz="1600" dirty="0">
                        <a:latin typeface="Calibri" pitchFamily="34" charset="0"/>
                      </a:endParaRPr>
                    </a:p>
                  </a:txBody>
                  <a:tcPr marT="45716" marB="45716"/>
                </a:tc>
                <a:extLst>
                  <a:ext uri="{0D108BD9-81ED-4DB2-BD59-A6C34878D82A}">
                    <a16:rowId xmlns:a16="http://schemas.microsoft.com/office/drawing/2014/main" val="10004"/>
                  </a:ext>
                </a:extLst>
              </a:tr>
              <a:tr h="550797">
                <a:tc>
                  <a:txBody>
                    <a:bodyPr/>
                    <a:lstStyle/>
                    <a:p>
                      <a:r>
                        <a:rPr lang="en-GB" sz="1600" dirty="0"/>
                        <a:t>5</a:t>
                      </a:r>
                      <a:endParaRPr lang="en-GB" sz="1600" dirty="0">
                        <a:latin typeface="Calibri" pitchFamily="34" charset="0"/>
                      </a:endParaRPr>
                    </a:p>
                  </a:txBody>
                  <a:tcPr marT="45716" marB="45716"/>
                </a:tc>
                <a:tc>
                  <a:txBody>
                    <a:bodyPr/>
                    <a:lstStyle/>
                    <a:p>
                      <a:r>
                        <a:rPr lang="en-GB" sz="1600" dirty="0"/>
                        <a:t>Take more time to create a process.</a:t>
                      </a:r>
                      <a:endParaRPr lang="en-GB" sz="1600" dirty="0">
                        <a:latin typeface="Calibri" pitchFamily="34" charset="0"/>
                      </a:endParaRPr>
                    </a:p>
                  </a:txBody>
                  <a:tcPr marT="45716" marB="45716"/>
                </a:tc>
                <a:tc>
                  <a:txBody>
                    <a:bodyPr/>
                    <a:lstStyle/>
                    <a:p>
                      <a:r>
                        <a:rPr lang="en-GB" sz="1600" dirty="0"/>
                        <a:t>Takes less time to create a thread.</a:t>
                      </a:r>
                      <a:endParaRPr lang="en-GB" sz="1600" dirty="0">
                        <a:latin typeface="Calibri" pitchFamily="34" charset="0"/>
                      </a:endParaRPr>
                    </a:p>
                  </a:txBody>
                  <a:tcPr marT="45716" marB="45716"/>
                </a:tc>
                <a:extLst>
                  <a:ext uri="{0D108BD9-81ED-4DB2-BD59-A6C34878D82A}">
                    <a16:rowId xmlns:a16="http://schemas.microsoft.com/office/drawing/2014/main" val="10005"/>
                  </a:ext>
                </a:extLst>
              </a:tr>
              <a:tr h="550797">
                <a:tc>
                  <a:txBody>
                    <a:bodyPr/>
                    <a:lstStyle/>
                    <a:p>
                      <a:r>
                        <a:rPr lang="en-GB" sz="1600" dirty="0"/>
                        <a:t>6</a:t>
                      </a:r>
                      <a:endParaRPr lang="en-GB" sz="1600" dirty="0">
                        <a:latin typeface="Calibri" pitchFamily="34" charset="0"/>
                      </a:endParaRPr>
                    </a:p>
                  </a:txBody>
                  <a:tcPr marT="45716" marB="45716"/>
                </a:tc>
                <a:tc>
                  <a:txBody>
                    <a:bodyPr/>
                    <a:lstStyle/>
                    <a:p>
                      <a:r>
                        <a:rPr lang="en-GB" sz="1600" dirty="0"/>
                        <a:t>Take more time to terminate a process</a:t>
                      </a:r>
                      <a:endParaRPr lang="en-GB" sz="1600" dirty="0">
                        <a:latin typeface="Calibri" pitchFamily="34" charset="0"/>
                      </a:endParaRPr>
                    </a:p>
                  </a:txBody>
                  <a:tcPr marT="45716" marB="45716"/>
                </a:tc>
                <a:tc>
                  <a:txBody>
                    <a:bodyPr/>
                    <a:lstStyle/>
                    <a:p>
                      <a:r>
                        <a:rPr lang="en-GB" sz="1600" dirty="0"/>
                        <a:t>Takes less time to terminate a thread</a:t>
                      </a:r>
                      <a:endParaRPr lang="en-GB" sz="1600" dirty="0">
                        <a:latin typeface="Calibri" pitchFamily="34" charset="0"/>
                      </a:endParaRPr>
                    </a:p>
                  </a:txBody>
                  <a:tcPr marT="45716" marB="45716"/>
                </a:tc>
                <a:extLst>
                  <a:ext uri="{0D108BD9-81ED-4DB2-BD59-A6C34878D82A}">
                    <a16:rowId xmlns:a16="http://schemas.microsoft.com/office/drawing/2014/main" val="10006"/>
                  </a:ext>
                </a:extLst>
              </a:tr>
              <a:tr h="640017">
                <a:tc>
                  <a:txBody>
                    <a:bodyPr/>
                    <a:lstStyle/>
                    <a:p>
                      <a:r>
                        <a:rPr lang="en-GB" sz="1600" dirty="0"/>
                        <a:t>7</a:t>
                      </a:r>
                      <a:endParaRPr lang="en-GB" sz="1600" dirty="0">
                        <a:latin typeface="Calibri" pitchFamily="34" charset="0"/>
                      </a:endParaRPr>
                    </a:p>
                  </a:txBody>
                  <a:tcPr marT="45716" marB="4571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dirty="0"/>
                        <a:t>Take more time to switch between processes</a:t>
                      </a:r>
                      <a:endParaRPr lang="en-GB" sz="1600" dirty="0">
                        <a:latin typeface="Calibri" pitchFamily="34" charset="0"/>
                      </a:endParaRPr>
                    </a:p>
                  </a:txBody>
                  <a:tcPr marT="45716" marB="4571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dirty="0"/>
                        <a:t>Take less time to switch between threads</a:t>
                      </a:r>
                    </a:p>
                    <a:p>
                      <a:endParaRPr lang="en-GB" sz="1600" dirty="0">
                        <a:latin typeface="Calibri" pitchFamily="34" charset="0"/>
                      </a:endParaRPr>
                    </a:p>
                  </a:txBody>
                  <a:tcPr marT="45716" marB="45716"/>
                </a:tc>
                <a:extLst>
                  <a:ext uri="{0D108BD9-81ED-4DB2-BD59-A6C34878D82A}">
                    <a16:rowId xmlns:a16="http://schemas.microsoft.com/office/drawing/2014/main" val="10007"/>
                  </a:ext>
                </a:extLst>
              </a:tr>
              <a:tr h="550797">
                <a:tc>
                  <a:txBody>
                    <a:bodyPr/>
                    <a:lstStyle/>
                    <a:p>
                      <a:r>
                        <a:rPr lang="en-GB" sz="1600" dirty="0"/>
                        <a:t>8</a:t>
                      </a:r>
                      <a:endParaRPr lang="en-GB" sz="1600" dirty="0">
                        <a:latin typeface="Calibri" pitchFamily="34" charset="0"/>
                      </a:endParaRPr>
                    </a:p>
                  </a:txBody>
                  <a:tcPr marT="45716" marB="45716"/>
                </a:tc>
                <a:tc>
                  <a:txBody>
                    <a:bodyPr/>
                    <a:lstStyle/>
                    <a:p>
                      <a:r>
                        <a:rPr lang="en-GB" sz="1600" dirty="0"/>
                        <a:t>It</a:t>
                      </a:r>
                      <a:r>
                        <a:rPr lang="en-GB" sz="1600" baseline="0" dirty="0"/>
                        <a:t> has more communication overheads</a:t>
                      </a:r>
                      <a:endParaRPr lang="en-GB" sz="1600" i="1" dirty="0">
                        <a:latin typeface="Calibri" pitchFamily="34" charset="0"/>
                      </a:endParaRPr>
                    </a:p>
                  </a:txBody>
                  <a:tcPr marT="45716" marB="45716"/>
                </a:tc>
                <a:tc>
                  <a:txBody>
                    <a:bodyPr/>
                    <a:lstStyle/>
                    <a:p>
                      <a:r>
                        <a:rPr lang="en-GB" sz="1600" dirty="0"/>
                        <a:t>It has less communication overheads</a:t>
                      </a:r>
                      <a:endParaRPr lang="en-GB" sz="1600" dirty="0">
                        <a:latin typeface="Calibri" pitchFamily="34" charset="0"/>
                      </a:endParaRPr>
                    </a:p>
                  </a:txBody>
                  <a:tcPr marT="45716" marB="45716"/>
                </a:tc>
                <a:extLst>
                  <a:ext uri="{0D108BD9-81ED-4DB2-BD59-A6C34878D82A}">
                    <a16:rowId xmlns:a16="http://schemas.microsoft.com/office/drawing/2014/main" val="10008"/>
                  </a:ext>
                </a:extLst>
              </a:tr>
              <a:tr h="666305">
                <a:tc>
                  <a:txBody>
                    <a:bodyPr/>
                    <a:lstStyle/>
                    <a:p>
                      <a:r>
                        <a:rPr lang="en-GB" sz="1600" dirty="0"/>
                        <a:t>9</a:t>
                      </a:r>
                      <a:endParaRPr lang="en-GB" sz="1600" dirty="0">
                        <a:latin typeface="Calibri" pitchFamily="34" charset="0"/>
                      </a:endParaRPr>
                    </a:p>
                  </a:txBody>
                  <a:tcPr marT="45716" marB="45716"/>
                </a:tc>
                <a:tc>
                  <a:txBody>
                    <a:bodyPr/>
                    <a:lstStyle/>
                    <a:p>
                      <a:r>
                        <a:rPr lang="en-GB" sz="1600" dirty="0"/>
                        <a:t>Processes</a:t>
                      </a:r>
                      <a:r>
                        <a:rPr lang="en-GB" sz="1600" baseline="0" dirty="0"/>
                        <a:t> are independent of one another.</a:t>
                      </a:r>
                      <a:endParaRPr lang="en-GB" sz="1600" dirty="0">
                        <a:latin typeface="Calibri" pitchFamily="34" charset="0"/>
                      </a:endParaRPr>
                    </a:p>
                  </a:txBody>
                  <a:tcPr marT="45716" marB="45716"/>
                </a:tc>
                <a:tc>
                  <a:txBody>
                    <a:bodyPr/>
                    <a:lstStyle/>
                    <a:p>
                      <a:r>
                        <a:rPr lang="en-GB" sz="1600" dirty="0"/>
                        <a:t>Threads are not independent of one another.</a:t>
                      </a:r>
                      <a:endParaRPr lang="en-GB" sz="1600" dirty="0">
                        <a:latin typeface="Calibri" pitchFamily="34" charset="0"/>
                      </a:endParaRPr>
                    </a:p>
                  </a:txBody>
                  <a:tcPr marT="45716" marB="45716"/>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925110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533400" y="685800"/>
            <a:ext cx="8077200" cy="5029200"/>
          </a:xfrm>
        </p:spPr>
        <p:style>
          <a:lnRef idx="2">
            <a:schemeClr val="accent1"/>
          </a:lnRef>
          <a:fillRef idx="1">
            <a:schemeClr val="lt1"/>
          </a:fillRef>
          <a:effectRef idx="0">
            <a:schemeClr val="accent1"/>
          </a:effectRef>
          <a:fontRef idx="minor">
            <a:schemeClr val="dk1"/>
          </a:fontRef>
        </p:style>
        <p:txBody>
          <a:bodyPr>
            <a:noAutofit/>
          </a:bodyPr>
          <a:lstStyle/>
          <a:p>
            <a:r>
              <a:rPr lang="en-US" sz="2400" dirty="0">
                <a:latin typeface="Calibri" pitchFamily="34" charset="0"/>
              </a:rPr>
              <a:t>What is Process?</a:t>
            </a:r>
          </a:p>
          <a:p>
            <a:pPr lvl="1"/>
            <a:r>
              <a:rPr lang="en-US" dirty="0">
                <a:latin typeface="Calibri" pitchFamily="34" charset="0"/>
              </a:rPr>
              <a:t>Above task is represented as process.</a:t>
            </a:r>
          </a:p>
          <a:p>
            <a:pPr lvl="1">
              <a:buNone/>
            </a:pPr>
            <a:endParaRPr lang="en-US" dirty="0">
              <a:latin typeface="Calibri" pitchFamily="34" charset="0"/>
            </a:endParaRPr>
          </a:p>
          <a:p>
            <a:pPr lvl="1"/>
            <a:r>
              <a:rPr lang="en-US" dirty="0">
                <a:latin typeface="Calibri" pitchFamily="34" charset="0"/>
              </a:rPr>
              <a:t>On modern computers a process consists of an </a:t>
            </a:r>
          </a:p>
          <a:p>
            <a:pPr lvl="2"/>
            <a:r>
              <a:rPr lang="en-US" sz="2400" dirty="0">
                <a:latin typeface="Calibri" pitchFamily="34" charset="0"/>
              </a:rPr>
              <a:t>Executing program</a:t>
            </a:r>
          </a:p>
          <a:p>
            <a:pPr lvl="2"/>
            <a:r>
              <a:rPr lang="en-US" sz="2400" dirty="0">
                <a:latin typeface="Calibri" pitchFamily="34" charset="0"/>
              </a:rPr>
              <a:t>Its current values </a:t>
            </a:r>
          </a:p>
          <a:p>
            <a:pPr lvl="2"/>
            <a:r>
              <a:rPr lang="en-US" sz="2400" dirty="0">
                <a:latin typeface="Calibri" pitchFamily="34" charset="0"/>
              </a:rPr>
              <a:t>State Information </a:t>
            </a:r>
          </a:p>
          <a:p>
            <a:pPr lvl="2"/>
            <a:r>
              <a:rPr lang="en-US" sz="2400" dirty="0">
                <a:latin typeface="Calibri" pitchFamily="34" charset="0"/>
              </a:rPr>
              <a:t>Resource used by OS to manage the program execution</a:t>
            </a:r>
          </a:p>
          <a:p>
            <a:pPr lvl="2">
              <a:buNone/>
            </a:pPr>
            <a:endParaRPr lang="en-US" sz="2400" dirty="0">
              <a:latin typeface="Calibri" pitchFamily="34" charset="0"/>
            </a:endParaRPr>
          </a:p>
          <a:p>
            <a:pPr lvl="1"/>
            <a:r>
              <a:rPr lang="en-US" dirty="0">
                <a:latin typeface="Calibri" pitchFamily="34" charset="0"/>
              </a:rPr>
              <a:t>In other words “Process is a dynamic entity that exist only when a program is run” </a:t>
            </a:r>
          </a:p>
          <a:p>
            <a:endParaRPr lang="en-US" sz="2400" dirty="0">
              <a:latin typeface="Calibri" pitchFamily="34" charset="0"/>
            </a:endParaRPr>
          </a:p>
        </p:txBody>
      </p:sp>
      <p:sp>
        <p:nvSpPr>
          <p:cNvPr id="3" name="Footer Placeholder 2"/>
          <p:cNvSpPr>
            <a:spLocks noGrp="1"/>
          </p:cNvSpPr>
          <p:nvPr>
            <p:ph type="ftr" sz="quarter" idx="11"/>
          </p:nvPr>
        </p:nvSpPr>
        <p:spPr/>
        <p:txBody>
          <a:bodyPr/>
          <a:lstStyle/>
          <a:p>
            <a:r>
              <a:rPr lang="en-US"/>
              <a:t>- Assistant  Prof. Riddhi Joshi</a:t>
            </a:r>
          </a:p>
        </p:txBody>
      </p:sp>
      <p:sp>
        <p:nvSpPr>
          <p:cNvPr id="5" name="Slide Number Placeholder 4"/>
          <p:cNvSpPr>
            <a:spLocks noGrp="1"/>
          </p:cNvSpPr>
          <p:nvPr>
            <p:ph type="sldNum" sz="quarter" idx="12"/>
          </p:nvPr>
        </p:nvSpPr>
        <p:spPr/>
        <p:txBody>
          <a:bodyPr/>
          <a:lstStyle/>
          <a:p>
            <a:fld id="{521E5947-19AD-4D38-BBE9-7D3EA973E689}" type="slidenum">
              <a:rPr lang="en-US" smtClean="0"/>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563562"/>
          </a:xfrm>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latin typeface="Calibri" pitchFamily="34" charset="0"/>
              </a:rPr>
              <a:t>Five State process model</a:t>
            </a:r>
          </a:p>
        </p:txBody>
      </p:sp>
      <p:pic>
        <p:nvPicPr>
          <p:cNvPr id="3" name="Content Placeholder 3" descr="Fig03_06.gif">
            <a:extLst>
              <a:ext uri="{FF2B5EF4-FFF2-40B4-BE49-F238E27FC236}">
                <a16:creationId xmlns:a16="http://schemas.microsoft.com/office/drawing/2014/main" id="{24018C58-08D5-B2A1-02D2-1671E3F052A6}"/>
              </a:ext>
            </a:extLst>
          </p:cNvPr>
          <p:cNvPicPr>
            <a:picLocks noGrp="1" noChangeAspect="1"/>
          </p:cNvPicPr>
          <p:nvPr>
            <p:ph idx="1"/>
          </p:nvPr>
        </p:nvPicPr>
        <p:blipFill>
          <a:blip r:embed="rId2"/>
          <a:srcRect/>
          <a:stretch>
            <a:fillRect/>
          </a:stretch>
        </p:blipFill>
        <p:spPr>
          <a:xfrm>
            <a:off x="457200" y="1295400"/>
            <a:ext cx="7976937" cy="3886200"/>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28600" y="990600"/>
            <a:ext cx="8610600" cy="359636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457200" indent="-457200">
              <a:lnSpc>
                <a:spcPct val="90000"/>
              </a:lnSpc>
              <a:buFont typeface="Arial" pitchFamily="34" charset="0"/>
              <a:buChar char="•"/>
            </a:pPr>
            <a:r>
              <a:rPr lang="en-US" sz="2300" dirty="0">
                <a:latin typeface="Calibri" pitchFamily="34" charset="0"/>
              </a:rPr>
              <a:t>There are three types of Java program: applications, applets, and </a:t>
            </a:r>
            <a:r>
              <a:rPr lang="en-US" sz="2300" dirty="0" err="1">
                <a:latin typeface="Calibri" pitchFamily="34" charset="0"/>
              </a:rPr>
              <a:t>servlets</a:t>
            </a:r>
            <a:r>
              <a:rPr lang="en-US" sz="2300" dirty="0">
                <a:latin typeface="Calibri" pitchFamily="34" charset="0"/>
              </a:rPr>
              <a:t>, all are written as a class</a:t>
            </a:r>
          </a:p>
          <a:p>
            <a:pPr marL="457200" indent="-457200">
              <a:lnSpc>
                <a:spcPct val="90000"/>
              </a:lnSpc>
              <a:buFont typeface="Arial" pitchFamily="34" charset="0"/>
              <a:buChar char="•"/>
            </a:pPr>
            <a:endParaRPr lang="en-US" sz="2300" dirty="0">
              <a:latin typeface="Calibri" pitchFamily="34" charset="0"/>
            </a:endParaRPr>
          </a:p>
          <a:p>
            <a:pPr marL="569913" indent="-455613">
              <a:lnSpc>
                <a:spcPct val="90000"/>
              </a:lnSpc>
              <a:buFont typeface="Arial" pitchFamily="34" charset="0"/>
              <a:buChar char="•"/>
            </a:pPr>
            <a:r>
              <a:rPr lang="en-US" sz="2300" dirty="0">
                <a:latin typeface="Calibri" pitchFamily="34" charset="0"/>
              </a:rPr>
              <a:t>A Java </a:t>
            </a:r>
            <a:r>
              <a:rPr lang="en-US" sz="2300" dirty="0">
                <a:solidFill>
                  <a:srgbClr val="FF0F1B"/>
                </a:solidFill>
                <a:latin typeface="Calibri" pitchFamily="34" charset="0"/>
              </a:rPr>
              <a:t>application program</a:t>
            </a:r>
            <a:r>
              <a:rPr lang="en-US" sz="2300" dirty="0">
                <a:latin typeface="Calibri" pitchFamily="34" charset="0"/>
              </a:rPr>
              <a:t> is run as an independent(standalone) process</a:t>
            </a:r>
          </a:p>
          <a:p>
            <a:pPr marL="569913" indent="-455613">
              <a:lnSpc>
                <a:spcPct val="90000"/>
              </a:lnSpc>
              <a:buFont typeface="Arial" pitchFamily="34" charset="0"/>
              <a:buChar char="•"/>
            </a:pPr>
            <a:r>
              <a:rPr lang="en-US" sz="2300" dirty="0">
                <a:latin typeface="Calibri" pitchFamily="34" charset="0"/>
              </a:rPr>
              <a:t>An </a:t>
            </a:r>
            <a:r>
              <a:rPr lang="en-US" sz="2300" dirty="0">
                <a:solidFill>
                  <a:srgbClr val="FF0F1B"/>
                </a:solidFill>
                <a:latin typeface="Calibri" pitchFamily="34" charset="0"/>
              </a:rPr>
              <a:t>applet</a:t>
            </a:r>
            <a:r>
              <a:rPr lang="en-US" sz="2300" dirty="0">
                <a:latin typeface="Calibri" pitchFamily="34" charset="0"/>
              </a:rPr>
              <a:t> is run using a browser or the applet viewer</a:t>
            </a:r>
          </a:p>
          <a:p>
            <a:pPr marL="569913" indent="-455613">
              <a:lnSpc>
                <a:spcPct val="90000"/>
              </a:lnSpc>
              <a:buFont typeface="Arial" pitchFamily="34" charset="0"/>
              <a:buChar char="•"/>
            </a:pPr>
            <a:r>
              <a:rPr lang="en-US" sz="2300" dirty="0">
                <a:latin typeface="Calibri" pitchFamily="34" charset="0"/>
              </a:rPr>
              <a:t>A </a:t>
            </a:r>
            <a:r>
              <a:rPr lang="en-US" sz="2300" dirty="0" err="1">
                <a:solidFill>
                  <a:srgbClr val="FF0F1B"/>
                </a:solidFill>
                <a:latin typeface="Calibri" pitchFamily="34" charset="0"/>
              </a:rPr>
              <a:t>servlet</a:t>
            </a:r>
            <a:r>
              <a:rPr lang="en-US" sz="2300" dirty="0">
                <a:latin typeface="Calibri" pitchFamily="34" charset="0"/>
              </a:rPr>
              <a:t> is run in the context of a web server</a:t>
            </a:r>
          </a:p>
          <a:p>
            <a:pPr marL="569913" indent="-455613">
              <a:lnSpc>
                <a:spcPct val="90000"/>
              </a:lnSpc>
              <a:buFont typeface="Arial" pitchFamily="34" charset="0"/>
              <a:buChar char="•"/>
            </a:pPr>
            <a:endParaRPr lang="en-US" sz="2300" dirty="0">
              <a:latin typeface="Calibri" pitchFamily="34" charset="0"/>
            </a:endParaRPr>
          </a:p>
          <a:p>
            <a:pPr marL="457200" indent="-457200">
              <a:lnSpc>
                <a:spcPct val="90000"/>
              </a:lnSpc>
              <a:buFont typeface="Arial" pitchFamily="34" charset="0"/>
              <a:buChar char="•"/>
            </a:pPr>
            <a:r>
              <a:rPr lang="en-US" sz="2300" dirty="0">
                <a:latin typeface="Calibri" pitchFamily="34" charset="0"/>
              </a:rPr>
              <a:t>A Java program is compiled into byte code, a universal object code.  When run, the byte code is interpreted by the Java Virtual Machine (JVM).  A just-in-time compiler (JIT) improves execution speed.</a:t>
            </a:r>
          </a:p>
        </p:txBody>
      </p:sp>
      <p:sp>
        <p:nvSpPr>
          <p:cNvPr id="7" name="Title 1"/>
          <p:cNvSpPr>
            <a:spLocks noGrp="1"/>
          </p:cNvSpPr>
          <p:nvPr>
            <p:ph type="title"/>
          </p:nvPr>
        </p:nvSpPr>
        <p:spPr>
          <a:xfrm>
            <a:off x="914400" y="152400"/>
            <a:ext cx="7772400" cy="563562"/>
          </a:xfrm>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800" b="1" dirty="0">
                <a:latin typeface="Calibri" pitchFamily="34" charset="0"/>
              </a:rPr>
              <a:t>Example: Java processes</a:t>
            </a:r>
            <a:endParaRPr lang="en-US" sz="2600" b="1" dirty="0">
              <a:latin typeface="Calibri"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533400" y="76200"/>
            <a:ext cx="7543800" cy="504825"/>
          </a:xfrm>
        </p:spPr>
        <p:style>
          <a:lnRef idx="3">
            <a:schemeClr val="lt1"/>
          </a:lnRef>
          <a:fillRef idx="1">
            <a:schemeClr val="accent1"/>
          </a:fillRef>
          <a:effectRef idx="1">
            <a:schemeClr val="accent1"/>
          </a:effectRef>
          <a:fontRef idx="minor">
            <a:schemeClr val="lt1"/>
          </a:fontRef>
        </p:style>
        <p:txBody>
          <a:bodyPr>
            <a:normAutofit/>
          </a:bodyPr>
          <a:lstStyle/>
          <a:p>
            <a:pPr algn="ctr" eaLnBrk="1" hangingPunct="1"/>
            <a:r>
              <a:rPr lang="en-US" sz="2400" b="1" dirty="0">
                <a:latin typeface="Calibri" pitchFamily="34" charset="0"/>
              </a:rPr>
              <a:t>Three types of Java programs</a:t>
            </a:r>
          </a:p>
        </p:txBody>
      </p:sp>
      <p:sp>
        <p:nvSpPr>
          <p:cNvPr id="7" name="Rectangle 3"/>
          <p:cNvSpPr txBox="1">
            <a:spLocks noChangeArrowheads="1"/>
          </p:cNvSpPr>
          <p:nvPr/>
        </p:nvSpPr>
        <p:spPr>
          <a:xfrm>
            <a:off x="304800" y="609600"/>
            <a:ext cx="8229600" cy="5400675"/>
          </a:xfrm>
          <a:prstGeom prst="rect">
            <a:avLst/>
          </a:prstGeom>
        </p:spPr>
        <p:style>
          <a:lnRef idx="2">
            <a:schemeClr val="accent1"/>
          </a:lnRef>
          <a:fillRef idx="1">
            <a:schemeClr val="lt1"/>
          </a:fillRef>
          <a:effectRef idx="0">
            <a:schemeClr val="accent1"/>
          </a:effectRef>
          <a:fontRef idx="minor">
            <a:schemeClr val="dk1"/>
          </a:fontRef>
        </p:style>
        <p:txBody>
          <a:bodyPr vert="horz">
            <a:normAutofit/>
          </a:bodyPr>
          <a:lstStyle/>
          <a:p>
            <a:pPr marL="457200" marR="0" lvl="0" indent="-457200"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kumimoji="0" lang="en-US" sz="2400" i="0" u="none" strike="noStrike" kern="1200" cap="none" spc="0" normalizeH="0" baseline="0" noProof="0" dirty="0">
                <a:ln>
                  <a:noFill/>
                </a:ln>
                <a:solidFill>
                  <a:srgbClr val="FF0F1B"/>
                </a:solidFill>
                <a:effectLst/>
                <a:uLnTx/>
                <a:uFillTx/>
                <a:latin typeface="Calibri" pitchFamily="34" charset="0"/>
              </a:rPr>
              <a:t>Applications</a:t>
            </a:r>
            <a:endParaRPr kumimoji="0" lang="en-US" sz="2400" i="0" u="none" strike="noStrike" kern="1200" cap="none" spc="0" normalizeH="0" baseline="0" noProof="0" dirty="0">
              <a:ln>
                <a:noFill/>
              </a:ln>
              <a:solidFill>
                <a:schemeClr val="tx1"/>
              </a:solidFill>
              <a:effectLst/>
              <a:uLnTx/>
              <a:uFillTx/>
              <a:latin typeface="Calibri" pitchFamily="34" charset="0"/>
            </a:endParaRPr>
          </a:p>
          <a:p>
            <a:pPr marL="457200" marR="0" lvl="0" indent="-457200" defTabSz="914400" rtl="0" eaLnBrk="1" fontAlgn="auto" latinLnBrk="0" hangingPunct="1">
              <a:lnSpc>
                <a:spcPct val="100000"/>
              </a:lnSpc>
              <a:spcBef>
                <a:spcPts val="580"/>
              </a:spcBef>
              <a:spcAft>
                <a:spcPts val="0"/>
              </a:spcAft>
              <a:buClr>
                <a:schemeClr val="accent1"/>
              </a:buClr>
              <a:buSzPct val="85000"/>
              <a:buFont typeface="Wingdings" pitchFamily="2" charset="2"/>
              <a:buNone/>
              <a:tabLst/>
              <a:defRPr/>
            </a:pPr>
            <a:r>
              <a:rPr kumimoji="0" lang="en-US" sz="2400" i="0" u="none" strike="noStrike" kern="1200" cap="none" spc="0" normalizeH="0" baseline="0" noProof="0" dirty="0">
                <a:ln>
                  <a:noFill/>
                </a:ln>
                <a:solidFill>
                  <a:schemeClr val="tx1"/>
                </a:solidFill>
                <a:effectLst/>
                <a:uLnTx/>
                <a:uFillTx/>
                <a:latin typeface="Calibri" pitchFamily="34" charset="0"/>
              </a:rPr>
              <a:t>	A program whose byte code can be run on any system which has a Java Virtual Machine.  An application may be standalone (monolithic) or distributed (if it interacts with another process).</a:t>
            </a:r>
          </a:p>
          <a:p>
            <a:pPr marL="457200" marR="0" lvl="0" indent="-457200"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kumimoji="0" lang="en-US" sz="2400" i="0" u="none" strike="noStrike" kern="1200" cap="none" spc="0" normalizeH="0" baseline="0" noProof="0" dirty="0">
                <a:ln>
                  <a:noFill/>
                </a:ln>
                <a:solidFill>
                  <a:srgbClr val="FF0F1B"/>
                </a:solidFill>
                <a:effectLst/>
                <a:uLnTx/>
                <a:uFillTx/>
                <a:latin typeface="Calibri" pitchFamily="34" charset="0"/>
              </a:rPr>
              <a:t>Applets</a:t>
            </a:r>
            <a:endParaRPr kumimoji="0" lang="en-US" sz="2400" i="0" u="none" strike="noStrike" kern="1200" cap="none" spc="0" normalizeH="0" baseline="0" noProof="0" dirty="0">
              <a:ln>
                <a:noFill/>
              </a:ln>
              <a:solidFill>
                <a:schemeClr val="tx1"/>
              </a:solidFill>
              <a:effectLst/>
              <a:uLnTx/>
              <a:uFillTx/>
              <a:latin typeface="Calibri" pitchFamily="34" charset="0"/>
            </a:endParaRPr>
          </a:p>
          <a:p>
            <a:pPr marL="457200" marR="0" lvl="0" indent="-457200" defTabSz="914400" rtl="0" eaLnBrk="1" fontAlgn="auto" latinLnBrk="0" hangingPunct="1">
              <a:lnSpc>
                <a:spcPct val="100000"/>
              </a:lnSpc>
              <a:spcBef>
                <a:spcPts val="580"/>
              </a:spcBef>
              <a:spcAft>
                <a:spcPts val="0"/>
              </a:spcAft>
              <a:buClr>
                <a:schemeClr val="accent1"/>
              </a:buClr>
              <a:buSzPct val="85000"/>
              <a:buFont typeface="Wingdings" pitchFamily="2" charset="2"/>
              <a:buNone/>
              <a:tabLst/>
              <a:defRPr/>
            </a:pPr>
            <a:r>
              <a:rPr kumimoji="0" lang="en-US" sz="2400" i="0" u="none" strike="noStrike" kern="1200" cap="none" spc="0" normalizeH="0" baseline="0" noProof="0" dirty="0">
                <a:ln>
                  <a:noFill/>
                </a:ln>
                <a:solidFill>
                  <a:schemeClr val="tx1"/>
                </a:solidFill>
                <a:effectLst/>
                <a:uLnTx/>
                <a:uFillTx/>
                <a:latin typeface="Calibri" pitchFamily="34" charset="0"/>
              </a:rPr>
              <a:t>	A program whose byte code is downloaded from a remote machine and is run in the browser’s Java Virtual Machine.</a:t>
            </a:r>
          </a:p>
          <a:p>
            <a:pPr marL="457200" marR="0" lvl="0" indent="-457200"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kumimoji="0" lang="en-US" sz="2400" i="0" u="none" strike="noStrike" kern="1200" cap="none" spc="0" normalizeH="0" baseline="0" noProof="0" dirty="0">
                <a:ln>
                  <a:noFill/>
                </a:ln>
                <a:solidFill>
                  <a:srgbClr val="FF0F1B"/>
                </a:solidFill>
                <a:effectLst/>
                <a:uLnTx/>
                <a:uFillTx/>
                <a:latin typeface="Calibri" pitchFamily="34" charset="0"/>
              </a:rPr>
              <a:t>Servlets</a:t>
            </a:r>
            <a:endParaRPr kumimoji="0" lang="en-US" sz="2400" i="0" u="none" strike="noStrike" kern="1200" cap="none" spc="0" normalizeH="0" baseline="0" noProof="0" dirty="0">
              <a:ln>
                <a:noFill/>
              </a:ln>
              <a:solidFill>
                <a:schemeClr val="tx1"/>
              </a:solidFill>
              <a:effectLst/>
              <a:uLnTx/>
              <a:uFillTx/>
              <a:latin typeface="Calibri" pitchFamily="34" charset="0"/>
            </a:endParaRPr>
          </a:p>
          <a:p>
            <a:pPr marL="457200" marR="0" lvl="0" indent="-457200" defTabSz="914400" rtl="0" eaLnBrk="1" fontAlgn="auto" latinLnBrk="0" hangingPunct="1">
              <a:lnSpc>
                <a:spcPct val="100000"/>
              </a:lnSpc>
              <a:spcBef>
                <a:spcPts val="580"/>
              </a:spcBef>
              <a:spcAft>
                <a:spcPts val="0"/>
              </a:spcAft>
              <a:buClr>
                <a:schemeClr val="accent1"/>
              </a:buClr>
              <a:buSzPct val="85000"/>
              <a:buFont typeface="Wingdings" pitchFamily="2" charset="2"/>
              <a:buNone/>
              <a:tabLst/>
              <a:defRPr/>
            </a:pPr>
            <a:r>
              <a:rPr kumimoji="0" lang="en-US" sz="2400" i="0" u="none" strike="noStrike" kern="1200" cap="none" spc="0" normalizeH="0" baseline="0" noProof="0" dirty="0">
                <a:ln>
                  <a:noFill/>
                </a:ln>
                <a:solidFill>
                  <a:schemeClr val="tx1"/>
                </a:solidFill>
                <a:effectLst/>
                <a:uLnTx/>
                <a:uFillTx/>
                <a:latin typeface="Calibri" pitchFamily="34" charset="0"/>
              </a:rPr>
              <a:t>	A program whose byte code resides on a remote machine and is run at the request of an HTTP client (a browser).</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15962"/>
          </a:xfrm>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300" b="1" dirty="0">
                <a:latin typeface="Calibri" pitchFamily="34" charset="0"/>
              </a:rPr>
              <a:t>A stand alone java application is run on a local machine</a:t>
            </a:r>
          </a:p>
        </p:txBody>
      </p:sp>
      <p:sp>
        <p:nvSpPr>
          <p:cNvPr id="4" name="Content Placeholder 3"/>
          <p:cNvSpPr>
            <a:spLocks noGrp="1"/>
          </p:cNvSpPr>
          <p:nvPr>
            <p:ph idx="1"/>
          </p:nvPr>
        </p:nvSpPr>
        <p:spPr/>
        <p:style>
          <a:lnRef idx="2">
            <a:schemeClr val="accent1"/>
          </a:lnRef>
          <a:fillRef idx="1">
            <a:schemeClr val="lt1"/>
          </a:fillRef>
          <a:effectRef idx="0">
            <a:schemeClr val="accent1"/>
          </a:effectRef>
          <a:fontRef idx="minor">
            <a:schemeClr val="dk1"/>
          </a:fontRef>
        </p:style>
        <p:txBody>
          <a:bodyPr/>
          <a:lstStyle/>
          <a:p>
            <a:pPr>
              <a:buNone/>
            </a:pPr>
            <a:endParaRPr lang="en-US" dirty="0"/>
          </a:p>
          <a:p>
            <a:pPr>
              <a:buNone/>
            </a:pPr>
            <a:endParaRPr lang="en-US" dirty="0"/>
          </a:p>
        </p:txBody>
      </p:sp>
      <p:sp>
        <p:nvSpPr>
          <p:cNvPr id="3" name="Footer Placeholder 2"/>
          <p:cNvSpPr>
            <a:spLocks noGrp="1"/>
          </p:cNvSpPr>
          <p:nvPr>
            <p:ph type="ftr" sz="quarter" idx="11"/>
          </p:nvPr>
        </p:nvSpPr>
        <p:spPr/>
        <p:txBody>
          <a:bodyPr/>
          <a:lstStyle/>
          <a:p>
            <a:r>
              <a:rPr lang="en-US"/>
              <a:t>- Assistant  Prof. Riddhi Joshi</a:t>
            </a:r>
          </a:p>
        </p:txBody>
      </p:sp>
      <p:sp>
        <p:nvSpPr>
          <p:cNvPr id="14" name="Slide Number Placeholder 13"/>
          <p:cNvSpPr>
            <a:spLocks noGrp="1"/>
          </p:cNvSpPr>
          <p:nvPr>
            <p:ph type="sldNum" sz="quarter" idx="12"/>
          </p:nvPr>
        </p:nvSpPr>
        <p:spPr/>
        <p:txBody>
          <a:bodyPr/>
          <a:lstStyle/>
          <a:p>
            <a:fld id="{521E5947-19AD-4D38-BBE9-7D3EA973E689}" type="slidenum">
              <a:rPr lang="en-US" smtClean="0"/>
              <a:pPr/>
              <a:t>45</a:t>
            </a:fld>
            <a:endParaRPr lang="en-US"/>
          </a:p>
        </p:txBody>
      </p:sp>
      <p:sp>
        <p:nvSpPr>
          <p:cNvPr id="5" name="Rectangle 4"/>
          <p:cNvSpPr/>
          <p:nvPr/>
        </p:nvSpPr>
        <p:spPr>
          <a:xfrm>
            <a:off x="3581400" y="2438400"/>
            <a:ext cx="3048000" cy="30480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6" name="Rectangle 5"/>
          <p:cNvSpPr/>
          <p:nvPr/>
        </p:nvSpPr>
        <p:spPr>
          <a:xfrm>
            <a:off x="4572000" y="2971800"/>
            <a:ext cx="1447800" cy="17526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7" name="Oval 6"/>
          <p:cNvSpPr/>
          <p:nvPr/>
        </p:nvSpPr>
        <p:spPr>
          <a:xfrm>
            <a:off x="4953000" y="3276600"/>
            <a:ext cx="685800" cy="304800"/>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cxnSp>
        <p:nvCxnSpPr>
          <p:cNvPr id="9" name="Straight Connector 8"/>
          <p:cNvCxnSpPr/>
          <p:nvPr/>
        </p:nvCxnSpPr>
        <p:spPr>
          <a:xfrm>
            <a:off x="5638800" y="3352800"/>
            <a:ext cx="16002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7315200" y="3124200"/>
            <a:ext cx="1143000" cy="369332"/>
          </a:xfrm>
          <a:prstGeom prst="rect">
            <a:avLst/>
          </a:prstGeom>
          <a:noFill/>
        </p:spPr>
        <p:txBody>
          <a:bodyPr wrap="square" rtlCol="0">
            <a:spAutoFit/>
          </a:bodyPr>
          <a:lstStyle/>
          <a:p>
            <a:r>
              <a:rPr lang="en-US" dirty="0"/>
              <a:t>Java Object</a:t>
            </a:r>
          </a:p>
        </p:txBody>
      </p:sp>
      <p:sp>
        <p:nvSpPr>
          <p:cNvPr id="11" name="TextBox 10"/>
          <p:cNvSpPr txBox="1"/>
          <p:nvPr/>
        </p:nvSpPr>
        <p:spPr>
          <a:xfrm>
            <a:off x="4495800" y="1981200"/>
            <a:ext cx="1143000" cy="369332"/>
          </a:xfrm>
          <a:prstGeom prst="rect">
            <a:avLst/>
          </a:prstGeom>
          <a:noFill/>
        </p:spPr>
        <p:txBody>
          <a:bodyPr wrap="square" rtlCol="0">
            <a:spAutoFit/>
          </a:bodyPr>
          <a:lstStyle/>
          <a:p>
            <a:r>
              <a:rPr lang="en-US" dirty="0"/>
              <a:t>Computer</a:t>
            </a:r>
          </a:p>
        </p:txBody>
      </p:sp>
      <p:sp>
        <p:nvSpPr>
          <p:cNvPr id="12" name="TextBox 11"/>
          <p:cNvSpPr txBox="1"/>
          <p:nvPr/>
        </p:nvSpPr>
        <p:spPr>
          <a:xfrm>
            <a:off x="7467600" y="3810000"/>
            <a:ext cx="1143000" cy="646331"/>
          </a:xfrm>
          <a:prstGeom prst="rect">
            <a:avLst/>
          </a:prstGeom>
          <a:noFill/>
        </p:spPr>
        <p:txBody>
          <a:bodyPr wrap="square" rtlCol="0">
            <a:spAutoFit/>
          </a:bodyPr>
          <a:lstStyle/>
          <a:p>
            <a:r>
              <a:rPr lang="en-US" dirty="0"/>
              <a:t>Java Virtual Machine</a:t>
            </a:r>
          </a:p>
        </p:txBody>
      </p:sp>
      <p:cxnSp>
        <p:nvCxnSpPr>
          <p:cNvPr id="13" name="Straight Connector 12"/>
          <p:cNvCxnSpPr/>
          <p:nvPr/>
        </p:nvCxnSpPr>
        <p:spPr>
          <a:xfrm>
            <a:off x="6019800" y="4267200"/>
            <a:ext cx="13716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868362"/>
          </a:xfrm>
        </p:spPr>
        <p:style>
          <a:lnRef idx="3">
            <a:schemeClr val="lt1"/>
          </a:lnRef>
          <a:fillRef idx="1">
            <a:schemeClr val="accent1"/>
          </a:fillRef>
          <a:effectRef idx="1">
            <a:schemeClr val="accent1"/>
          </a:effectRef>
          <a:fontRef idx="minor">
            <a:schemeClr val="lt1"/>
          </a:fontRef>
        </p:style>
        <p:txBody>
          <a:bodyPr>
            <a:normAutofit/>
          </a:bodyPr>
          <a:lstStyle/>
          <a:p>
            <a:r>
              <a:rPr lang="en-US" sz="2000" b="1" dirty="0">
                <a:latin typeface="Calibri" pitchFamily="34" charset="0"/>
              </a:rPr>
              <a:t>An Applet is an object downloaded from remote machine and then run on a local machine….</a:t>
            </a:r>
          </a:p>
        </p:txBody>
      </p:sp>
      <p:sp>
        <p:nvSpPr>
          <p:cNvPr id="3" name="Footer Placeholder 2"/>
          <p:cNvSpPr>
            <a:spLocks noGrp="1"/>
          </p:cNvSpPr>
          <p:nvPr>
            <p:ph type="ftr" sz="quarter" idx="11"/>
          </p:nvPr>
        </p:nvSpPr>
        <p:spPr/>
        <p:txBody>
          <a:bodyPr/>
          <a:lstStyle/>
          <a:p>
            <a:r>
              <a:rPr lang="en-US"/>
              <a:t>- Assistant  Prof. Riddhi Joshi</a:t>
            </a:r>
            <a:endParaRPr lang="en-US" dirty="0"/>
          </a:p>
        </p:txBody>
      </p:sp>
      <p:sp>
        <p:nvSpPr>
          <p:cNvPr id="24" name="Slide Number Placeholder 23"/>
          <p:cNvSpPr>
            <a:spLocks noGrp="1"/>
          </p:cNvSpPr>
          <p:nvPr>
            <p:ph type="sldNum" sz="quarter" idx="12"/>
          </p:nvPr>
        </p:nvSpPr>
        <p:spPr/>
        <p:txBody>
          <a:bodyPr/>
          <a:lstStyle/>
          <a:p>
            <a:fld id="{521E5947-19AD-4D38-BBE9-7D3EA973E689}" type="slidenum">
              <a:rPr lang="en-US" smtClean="0"/>
              <a:pPr/>
              <a:t>46</a:t>
            </a:fld>
            <a:endParaRPr lang="en-US"/>
          </a:p>
        </p:txBody>
      </p:sp>
      <p:sp>
        <p:nvSpPr>
          <p:cNvPr id="14" name="Rectangle 13"/>
          <p:cNvSpPr/>
          <p:nvPr/>
        </p:nvSpPr>
        <p:spPr>
          <a:xfrm>
            <a:off x="3505200" y="2590800"/>
            <a:ext cx="3048000" cy="30480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15" name="Rectangle 14"/>
          <p:cNvSpPr/>
          <p:nvPr/>
        </p:nvSpPr>
        <p:spPr>
          <a:xfrm>
            <a:off x="4495800" y="3124200"/>
            <a:ext cx="1447800" cy="17526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6" name="Oval 15"/>
          <p:cNvSpPr/>
          <p:nvPr/>
        </p:nvSpPr>
        <p:spPr>
          <a:xfrm>
            <a:off x="4876800" y="3429000"/>
            <a:ext cx="685800" cy="304800"/>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cxnSp>
        <p:nvCxnSpPr>
          <p:cNvPr id="17" name="Straight Connector 16"/>
          <p:cNvCxnSpPr/>
          <p:nvPr/>
        </p:nvCxnSpPr>
        <p:spPr>
          <a:xfrm>
            <a:off x="5562600" y="3505200"/>
            <a:ext cx="16002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7239000" y="3124200"/>
            <a:ext cx="1143000" cy="707886"/>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000" dirty="0">
                <a:latin typeface="Calibri" pitchFamily="34" charset="0"/>
              </a:rPr>
              <a:t>Java Object</a:t>
            </a:r>
          </a:p>
        </p:txBody>
      </p:sp>
      <p:sp>
        <p:nvSpPr>
          <p:cNvPr id="19" name="TextBox 18"/>
          <p:cNvSpPr txBox="1"/>
          <p:nvPr/>
        </p:nvSpPr>
        <p:spPr>
          <a:xfrm>
            <a:off x="4419600" y="2133600"/>
            <a:ext cx="1143000" cy="369332"/>
          </a:xfrm>
          <a:prstGeom prst="rect">
            <a:avLst/>
          </a:prstGeom>
          <a:noFill/>
        </p:spPr>
        <p:txBody>
          <a:bodyPr wrap="square" rtlCol="0">
            <a:spAutoFit/>
          </a:bodyPr>
          <a:lstStyle/>
          <a:p>
            <a:r>
              <a:rPr lang="en-US" dirty="0"/>
              <a:t>Computer</a:t>
            </a:r>
          </a:p>
        </p:txBody>
      </p:sp>
      <p:sp>
        <p:nvSpPr>
          <p:cNvPr id="20" name="TextBox 19"/>
          <p:cNvSpPr txBox="1"/>
          <p:nvPr/>
        </p:nvSpPr>
        <p:spPr>
          <a:xfrm>
            <a:off x="7391400" y="3962400"/>
            <a:ext cx="1143000" cy="144655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200" dirty="0">
                <a:latin typeface="Calibri" pitchFamily="34" charset="0"/>
              </a:rPr>
              <a:t>Java Virtual Machine</a:t>
            </a:r>
          </a:p>
        </p:txBody>
      </p:sp>
      <p:cxnSp>
        <p:nvCxnSpPr>
          <p:cNvPr id="21" name="Straight Connector 20"/>
          <p:cNvCxnSpPr/>
          <p:nvPr/>
        </p:nvCxnSpPr>
        <p:spPr>
          <a:xfrm>
            <a:off x="5943600" y="4419600"/>
            <a:ext cx="13716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1142999" y="2819400"/>
            <a:ext cx="1769535" cy="2628898"/>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23" name="Oval 22"/>
          <p:cNvSpPr/>
          <p:nvPr/>
        </p:nvSpPr>
        <p:spPr>
          <a:xfrm>
            <a:off x="1600200" y="3352800"/>
            <a:ext cx="838201" cy="457200"/>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25" name="TextBox 24"/>
          <p:cNvSpPr txBox="1"/>
          <p:nvPr/>
        </p:nvSpPr>
        <p:spPr>
          <a:xfrm>
            <a:off x="1524000" y="3886200"/>
            <a:ext cx="1143000" cy="369332"/>
          </a:xfrm>
          <a:prstGeom prst="rect">
            <a:avLst/>
          </a:prstGeom>
          <a:noFill/>
        </p:spPr>
        <p:txBody>
          <a:bodyPr wrap="square" rtlCol="0">
            <a:spAutoFit/>
          </a:bodyPr>
          <a:lstStyle/>
          <a:p>
            <a:r>
              <a:rPr lang="en-US" dirty="0"/>
              <a:t>An Applet</a:t>
            </a:r>
          </a:p>
        </p:txBody>
      </p:sp>
      <p:cxnSp>
        <p:nvCxnSpPr>
          <p:cNvPr id="27" name="Straight Arrow Connector 26"/>
          <p:cNvCxnSpPr>
            <a:stCxn id="23" idx="6"/>
          </p:cNvCxnSpPr>
          <p:nvPr/>
        </p:nvCxnSpPr>
        <p:spPr>
          <a:xfrm>
            <a:off x="2438401" y="3581400"/>
            <a:ext cx="2362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868362"/>
          </a:xfrm>
        </p:spPr>
        <p:style>
          <a:lnRef idx="3">
            <a:schemeClr val="lt1"/>
          </a:lnRef>
          <a:fillRef idx="1">
            <a:schemeClr val="accent1"/>
          </a:fillRef>
          <a:effectRef idx="1">
            <a:schemeClr val="accent1"/>
          </a:effectRef>
          <a:fontRef idx="minor">
            <a:schemeClr val="lt1"/>
          </a:fontRef>
        </p:style>
        <p:txBody>
          <a:bodyPr>
            <a:normAutofit/>
          </a:bodyPr>
          <a:lstStyle/>
          <a:p>
            <a:r>
              <a:rPr lang="en-US" sz="2000" b="1" dirty="0">
                <a:latin typeface="Calibri" pitchFamily="34" charset="0"/>
              </a:rPr>
              <a:t>A </a:t>
            </a:r>
            <a:r>
              <a:rPr lang="en-US" sz="2000" b="1" dirty="0" err="1">
                <a:latin typeface="Calibri" pitchFamily="34" charset="0"/>
              </a:rPr>
              <a:t>servlet</a:t>
            </a:r>
            <a:r>
              <a:rPr lang="en-US" sz="2000" b="1" dirty="0">
                <a:latin typeface="Calibri" pitchFamily="34" charset="0"/>
              </a:rPr>
              <a:t> is an object that runs on a remote machine and interact with a local process using a request-response protocol</a:t>
            </a:r>
          </a:p>
        </p:txBody>
      </p:sp>
      <p:sp>
        <p:nvSpPr>
          <p:cNvPr id="3" name="Footer Placeholder 2"/>
          <p:cNvSpPr>
            <a:spLocks noGrp="1"/>
          </p:cNvSpPr>
          <p:nvPr>
            <p:ph type="ftr" sz="quarter" idx="11"/>
          </p:nvPr>
        </p:nvSpPr>
        <p:spPr/>
        <p:txBody>
          <a:bodyPr/>
          <a:lstStyle/>
          <a:p>
            <a:r>
              <a:rPr lang="en-US"/>
              <a:t>- Assistant  Prof. Riddhi Joshi</a:t>
            </a:r>
          </a:p>
        </p:txBody>
      </p:sp>
      <p:sp>
        <p:nvSpPr>
          <p:cNvPr id="16" name="Slide Number Placeholder 15"/>
          <p:cNvSpPr>
            <a:spLocks noGrp="1"/>
          </p:cNvSpPr>
          <p:nvPr>
            <p:ph type="sldNum" sz="quarter" idx="12"/>
          </p:nvPr>
        </p:nvSpPr>
        <p:spPr/>
        <p:txBody>
          <a:bodyPr/>
          <a:lstStyle/>
          <a:p>
            <a:fld id="{521E5947-19AD-4D38-BBE9-7D3EA973E689}" type="slidenum">
              <a:rPr lang="en-US" smtClean="0"/>
              <a:pPr/>
              <a:t>47</a:t>
            </a:fld>
            <a:endParaRPr lang="en-US"/>
          </a:p>
        </p:txBody>
      </p:sp>
      <p:sp>
        <p:nvSpPr>
          <p:cNvPr id="5" name="Rectangle 4"/>
          <p:cNvSpPr/>
          <p:nvPr/>
        </p:nvSpPr>
        <p:spPr>
          <a:xfrm>
            <a:off x="1142999" y="2819400"/>
            <a:ext cx="1769535" cy="1828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6" name="Oval 5"/>
          <p:cNvSpPr/>
          <p:nvPr/>
        </p:nvSpPr>
        <p:spPr>
          <a:xfrm>
            <a:off x="1752600" y="3352800"/>
            <a:ext cx="685800" cy="533400"/>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7" name="TextBox 6"/>
          <p:cNvSpPr txBox="1"/>
          <p:nvPr/>
        </p:nvSpPr>
        <p:spPr>
          <a:xfrm>
            <a:off x="1524000" y="2895600"/>
            <a:ext cx="1143000" cy="369332"/>
          </a:xfrm>
          <a:prstGeom prst="rect">
            <a:avLst/>
          </a:prstGeom>
          <a:noFill/>
        </p:spPr>
        <p:txBody>
          <a:bodyPr wrap="square" rtlCol="0">
            <a:spAutoFit/>
          </a:bodyPr>
          <a:lstStyle/>
          <a:p>
            <a:r>
              <a:rPr lang="en-US" dirty="0"/>
              <a:t>A Servlet</a:t>
            </a:r>
          </a:p>
        </p:txBody>
      </p:sp>
      <p:sp>
        <p:nvSpPr>
          <p:cNvPr id="8" name="Rectangle 7"/>
          <p:cNvSpPr/>
          <p:nvPr/>
        </p:nvSpPr>
        <p:spPr>
          <a:xfrm>
            <a:off x="5105400" y="2819400"/>
            <a:ext cx="1769535" cy="1828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9" name="Oval 8"/>
          <p:cNvSpPr/>
          <p:nvPr/>
        </p:nvSpPr>
        <p:spPr>
          <a:xfrm>
            <a:off x="5715000" y="3429000"/>
            <a:ext cx="609599" cy="457200"/>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cxnSp>
        <p:nvCxnSpPr>
          <p:cNvPr id="12" name="Straight Arrow Connector 11"/>
          <p:cNvCxnSpPr/>
          <p:nvPr/>
        </p:nvCxnSpPr>
        <p:spPr>
          <a:xfrm>
            <a:off x="2438400" y="3810000"/>
            <a:ext cx="3276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rot="10800000">
            <a:off x="2438400" y="3581400"/>
            <a:ext cx="3276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3429000" y="3962400"/>
            <a:ext cx="1143000" cy="381000"/>
          </a:xfrm>
          <a:prstGeom prst="rect">
            <a:avLst/>
          </a:prstGeom>
          <a:noFill/>
        </p:spPr>
        <p:txBody>
          <a:bodyPr wrap="square" rtlCol="0">
            <a:spAutoFit/>
          </a:bodyPr>
          <a:lstStyle/>
          <a:p>
            <a:r>
              <a:rPr lang="en-US" dirty="0"/>
              <a:t>Response</a:t>
            </a:r>
          </a:p>
        </p:txBody>
      </p:sp>
      <p:sp>
        <p:nvSpPr>
          <p:cNvPr id="23" name="TextBox 22"/>
          <p:cNvSpPr txBox="1"/>
          <p:nvPr/>
        </p:nvSpPr>
        <p:spPr>
          <a:xfrm>
            <a:off x="3429000" y="3124200"/>
            <a:ext cx="1143000" cy="369332"/>
          </a:xfrm>
          <a:prstGeom prst="rect">
            <a:avLst/>
          </a:prstGeom>
          <a:noFill/>
        </p:spPr>
        <p:txBody>
          <a:bodyPr wrap="square" rtlCol="0">
            <a:spAutoFit/>
          </a:bodyPr>
          <a:lstStyle/>
          <a:p>
            <a:r>
              <a:rPr lang="en-US" dirty="0"/>
              <a:t>Request</a:t>
            </a:r>
          </a:p>
        </p:txBody>
      </p:sp>
      <p:cxnSp>
        <p:nvCxnSpPr>
          <p:cNvPr id="25" name="Straight Connector 24"/>
          <p:cNvCxnSpPr>
            <a:stCxn id="9" idx="6"/>
          </p:cNvCxnSpPr>
          <p:nvPr/>
        </p:nvCxnSpPr>
        <p:spPr>
          <a:xfrm>
            <a:off x="6324599" y="3657600"/>
            <a:ext cx="1066801" cy="1588"/>
          </a:xfrm>
          <a:prstGeom prst="line">
            <a:avLst/>
          </a:prstGeom>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7391400" y="3505200"/>
            <a:ext cx="1143000" cy="381000"/>
          </a:xfrm>
          <a:prstGeom prst="rect">
            <a:avLst/>
          </a:prstGeom>
          <a:noFill/>
        </p:spPr>
        <p:txBody>
          <a:bodyPr wrap="square" rtlCol="0">
            <a:spAutoFit/>
          </a:bodyPr>
          <a:lstStyle/>
          <a:p>
            <a:r>
              <a:rPr lang="en-US" dirty="0"/>
              <a:t>A process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15962"/>
          </a:xfrm>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latin typeface="Calibri" pitchFamily="34" charset="0"/>
              </a:rPr>
              <a:t>Concurrent Programming</a:t>
            </a:r>
          </a:p>
        </p:txBody>
      </p:sp>
      <p:sp>
        <p:nvSpPr>
          <p:cNvPr id="4" name="Content Placeholder 3"/>
          <p:cNvSpPr>
            <a:spLocks noGrp="1"/>
          </p:cNvSpPr>
          <p:nvPr>
            <p:ph idx="1"/>
          </p:nvPr>
        </p:nvSpPr>
        <p:spPr>
          <a:xfrm>
            <a:off x="914400" y="1295400"/>
            <a:ext cx="7772400" cy="4572000"/>
          </a:xfrm>
        </p:spPr>
        <p:style>
          <a:lnRef idx="2">
            <a:schemeClr val="accent1"/>
          </a:lnRef>
          <a:fillRef idx="1">
            <a:schemeClr val="lt1"/>
          </a:fillRef>
          <a:effectRef idx="0">
            <a:schemeClr val="accent1"/>
          </a:effectRef>
          <a:fontRef idx="minor">
            <a:schemeClr val="dk1"/>
          </a:fontRef>
        </p:style>
        <p:txBody>
          <a:bodyPr>
            <a:normAutofit/>
          </a:bodyPr>
          <a:lstStyle/>
          <a:p>
            <a:pPr lvl="1"/>
            <a:r>
              <a:rPr lang="en-US" dirty="0">
                <a:latin typeface="Calibri" pitchFamily="34" charset="0"/>
              </a:rPr>
              <a:t>Distributed computing involves concurrent programming.</a:t>
            </a:r>
          </a:p>
          <a:p>
            <a:pPr lvl="1">
              <a:buNone/>
            </a:pPr>
            <a:endParaRPr lang="en-US" dirty="0">
              <a:latin typeface="Calibri" pitchFamily="34" charset="0"/>
            </a:endParaRPr>
          </a:p>
          <a:p>
            <a:pPr lvl="1"/>
            <a:r>
              <a:rPr lang="en-US" dirty="0">
                <a:latin typeface="Calibri" pitchFamily="34" charset="0"/>
              </a:rPr>
              <a:t>Which is programming that involves the simultaneous execution of process.  We look at three kinds of concurrent programming.</a:t>
            </a:r>
          </a:p>
          <a:p>
            <a:pPr lvl="1"/>
            <a:endParaRPr lang="en-US" dirty="0">
              <a:latin typeface="Calibri" pitchFamily="34" charset="0"/>
            </a:endParaRPr>
          </a:p>
          <a:p>
            <a:pPr lvl="1"/>
            <a:r>
              <a:rPr lang="en-US" dirty="0">
                <a:latin typeface="Calibri" pitchFamily="34" charset="0"/>
              </a:rPr>
              <a:t>Concurrent processes executed on multiple computers</a:t>
            </a:r>
          </a:p>
          <a:p>
            <a:pPr lvl="1"/>
            <a:endParaRPr lang="en-US" dirty="0">
              <a:latin typeface="Calibri" pitchFamily="34" charset="0"/>
            </a:endParaRPr>
          </a:p>
          <a:p>
            <a:pPr lvl="1"/>
            <a:r>
              <a:rPr lang="en-US" dirty="0">
                <a:latin typeface="Calibri" pitchFamily="34" charset="0"/>
              </a:rPr>
              <a:t>Concurrent processes executed on a single computer.</a:t>
            </a:r>
          </a:p>
          <a:p>
            <a:pPr lvl="1">
              <a:buNone/>
            </a:pPr>
            <a:endParaRPr lang="en-US" dirty="0">
              <a:latin typeface="Calibri" pitchFamily="34" charset="0"/>
            </a:endParaRPr>
          </a:p>
          <a:p>
            <a:pPr lvl="1"/>
            <a:r>
              <a:rPr lang="en-US">
                <a:latin typeface="Calibri" pitchFamily="34" charset="0"/>
              </a:rPr>
              <a:t>Concurrent  programming </a:t>
            </a:r>
            <a:r>
              <a:rPr lang="en-US" dirty="0">
                <a:latin typeface="Calibri" pitchFamily="34" charset="0"/>
              </a:rPr>
              <a:t>in a process.</a:t>
            </a:r>
          </a:p>
        </p:txBody>
      </p:sp>
      <p:sp>
        <p:nvSpPr>
          <p:cNvPr id="3" name="Footer Placeholder 2"/>
          <p:cNvSpPr>
            <a:spLocks noGrp="1"/>
          </p:cNvSpPr>
          <p:nvPr>
            <p:ph type="ftr" sz="quarter" idx="11"/>
          </p:nvPr>
        </p:nvSpPr>
        <p:spPr/>
        <p:txBody>
          <a:bodyPr/>
          <a:lstStyle/>
          <a:p>
            <a:r>
              <a:rPr lang="en-US"/>
              <a:t>- Assistant  Prof. Riddhi Joshi</a:t>
            </a:r>
          </a:p>
        </p:txBody>
      </p:sp>
      <p:sp>
        <p:nvSpPr>
          <p:cNvPr id="5" name="Slide Number Placeholder 4"/>
          <p:cNvSpPr>
            <a:spLocks noGrp="1"/>
          </p:cNvSpPr>
          <p:nvPr>
            <p:ph type="sldNum" sz="quarter" idx="12"/>
          </p:nvPr>
        </p:nvSpPr>
        <p:spPr/>
        <p:txBody>
          <a:bodyPr/>
          <a:lstStyle/>
          <a:p>
            <a:fld id="{521E5947-19AD-4D38-BBE9-7D3EA973E689}" type="slidenum">
              <a:rPr lang="en-US" smtClean="0"/>
              <a:pPr/>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609600"/>
            <a:ext cx="8229600" cy="5638800"/>
          </a:xfrm>
        </p:spPr>
        <p:style>
          <a:lnRef idx="2">
            <a:schemeClr val="accent1"/>
          </a:lnRef>
          <a:fillRef idx="1">
            <a:schemeClr val="lt1"/>
          </a:fillRef>
          <a:effectRef idx="0">
            <a:schemeClr val="accent1"/>
          </a:effectRef>
          <a:fontRef idx="minor">
            <a:schemeClr val="dk1"/>
          </a:fontRef>
        </p:style>
        <p:txBody>
          <a:bodyPr>
            <a:noAutofit/>
          </a:bodyPr>
          <a:lstStyle/>
          <a:p>
            <a:r>
              <a:rPr lang="en-US" sz="2400" b="1" dirty="0">
                <a:latin typeface="Calibri" pitchFamily="34" charset="0"/>
              </a:rPr>
              <a:t>Concurrent Process Executed on multiple computers:</a:t>
            </a:r>
          </a:p>
          <a:p>
            <a:pPr lvl="1"/>
            <a:r>
              <a:rPr lang="en-US" dirty="0">
                <a:latin typeface="Calibri" pitchFamily="34" charset="0"/>
              </a:rPr>
              <a:t>Till this time we learn separate process running concurrently on separate, independent computers interconnected via a network.</a:t>
            </a:r>
          </a:p>
          <a:p>
            <a:pPr lvl="1">
              <a:buNone/>
            </a:pPr>
            <a:endParaRPr lang="en-US" dirty="0">
              <a:latin typeface="Calibri" pitchFamily="34" charset="0"/>
            </a:endParaRPr>
          </a:p>
          <a:p>
            <a:pPr lvl="1"/>
            <a:r>
              <a:rPr lang="en-US" dirty="0">
                <a:latin typeface="Calibri" pitchFamily="34" charset="0"/>
              </a:rPr>
              <a:t>The process interact with each other by exchanging data over the network, but their execution is otherwise completely independent.</a:t>
            </a:r>
          </a:p>
          <a:p>
            <a:pPr lvl="1"/>
            <a:endParaRPr lang="en-US" dirty="0">
              <a:latin typeface="Calibri" pitchFamily="34" charset="0"/>
            </a:endParaRPr>
          </a:p>
          <a:p>
            <a:pPr lvl="1"/>
            <a:r>
              <a:rPr lang="en-US" dirty="0">
                <a:latin typeface="Calibri" pitchFamily="34" charset="0"/>
              </a:rPr>
              <a:t>Concurrent programming involving multiple machines requires programming support; that is, </a:t>
            </a:r>
          </a:p>
          <a:p>
            <a:pPr lvl="1"/>
            <a:r>
              <a:rPr lang="en-US" dirty="0">
                <a:latin typeface="Calibri" pitchFamily="34" charset="0"/>
              </a:rPr>
              <a:t>the software for the participating program must be written to contain logic to support the interaction between processes.</a:t>
            </a:r>
          </a:p>
        </p:txBody>
      </p:sp>
      <p:sp>
        <p:nvSpPr>
          <p:cNvPr id="3" name="Footer Placeholder 2"/>
          <p:cNvSpPr>
            <a:spLocks noGrp="1"/>
          </p:cNvSpPr>
          <p:nvPr>
            <p:ph type="ftr" sz="quarter" idx="11"/>
          </p:nvPr>
        </p:nvSpPr>
        <p:spPr/>
        <p:txBody>
          <a:bodyPr/>
          <a:lstStyle/>
          <a:p>
            <a:r>
              <a:rPr lang="en-US"/>
              <a:t>- Assistant  Prof. Riddhi Joshi</a:t>
            </a:r>
          </a:p>
        </p:txBody>
      </p:sp>
      <p:sp>
        <p:nvSpPr>
          <p:cNvPr id="5" name="Slide Number Placeholder 4"/>
          <p:cNvSpPr>
            <a:spLocks noGrp="1"/>
          </p:cNvSpPr>
          <p:nvPr>
            <p:ph type="sldNum" sz="quarter" idx="12"/>
          </p:nvPr>
        </p:nvSpPr>
        <p:spPr/>
        <p:txBody>
          <a:bodyPr/>
          <a:lstStyle/>
          <a:p>
            <a:fld id="{521E5947-19AD-4D38-BBE9-7D3EA973E689}" type="slidenum">
              <a:rPr lang="en-US" smtClean="0"/>
              <a:pPr/>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76200" y="76200"/>
            <a:ext cx="8991600" cy="3276600"/>
          </a:xfrm>
        </p:spPr>
        <p:style>
          <a:lnRef idx="2">
            <a:schemeClr val="accent1"/>
          </a:lnRef>
          <a:fillRef idx="1">
            <a:schemeClr val="lt1"/>
          </a:fillRef>
          <a:effectRef idx="0">
            <a:schemeClr val="accent1"/>
          </a:effectRef>
          <a:fontRef idx="minor">
            <a:schemeClr val="dk1"/>
          </a:fontRef>
        </p:style>
        <p:txBody>
          <a:bodyPr>
            <a:normAutofit/>
          </a:bodyPr>
          <a:lstStyle/>
          <a:p>
            <a:r>
              <a:rPr lang="en-US" sz="2400" b="1" dirty="0">
                <a:latin typeface="Calibri" pitchFamily="34" charset="0"/>
              </a:rPr>
              <a:t>Concurrent process executed on a single computers</a:t>
            </a:r>
          </a:p>
          <a:p>
            <a:pPr lvl="1"/>
            <a:r>
              <a:rPr lang="en-US" dirty="0">
                <a:latin typeface="Calibri" pitchFamily="34" charset="0"/>
              </a:rPr>
              <a:t>Modern computers are supported with multitasking OS.</a:t>
            </a:r>
          </a:p>
          <a:p>
            <a:pPr lvl="1"/>
            <a:r>
              <a:rPr lang="en-US" dirty="0">
                <a:latin typeface="Calibri" pitchFamily="34" charset="0"/>
              </a:rPr>
              <a:t>The concurrency may be real or virtual.</a:t>
            </a:r>
          </a:p>
          <a:p>
            <a:pPr lvl="1"/>
            <a:r>
              <a:rPr lang="en-US" dirty="0">
                <a:latin typeface="Calibri" pitchFamily="34" charset="0"/>
              </a:rPr>
              <a:t>True concurrency multitasking on a single computer is feasible only if the computer has multiple CPUs. </a:t>
            </a:r>
          </a:p>
          <a:p>
            <a:pPr lvl="1"/>
            <a:r>
              <a:rPr lang="en-US" dirty="0">
                <a:latin typeface="Calibri" pitchFamily="34" charset="0"/>
              </a:rPr>
              <a:t>So that each CPU can execute a separate process.</a:t>
            </a:r>
          </a:p>
          <a:p>
            <a:pPr lvl="1"/>
            <a:r>
              <a:rPr lang="en-US" dirty="0">
                <a:latin typeface="Calibri" pitchFamily="34" charset="0"/>
              </a:rPr>
              <a:t>Computers with single CPU uses Time Sharing or Time Slicing method for execution.</a:t>
            </a:r>
          </a:p>
          <a:p>
            <a:pPr lvl="1"/>
            <a:endParaRPr lang="en-US" dirty="0">
              <a:latin typeface="Calibri" pitchFamily="34" charset="0"/>
            </a:endParaRPr>
          </a:p>
          <a:p>
            <a:pPr lvl="1"/>
            <a:endParaRPr lang="en-US" dirty="0">
              <a:latin typeface="Calibri" pitchFamily="34" charset="0"/>
            </a:endParaRPr>
          </a:p>
          <a:p>
            <a:pPr lvl="1"/>
            <a:endParaRPr lang="en-US" dirty="0">
              <a:latin typeface="Calibri" pitchFamily="34" charset="0"/>
            </a:endParaRPr>
          </a:p>
        </p:txBody>
      </p:sp>
      <p:sp>
        <p:nvSpPr>
          <p:cNvPr id="3" name="Footer Placeholder 2"/>
          <p:cNvSpPr>
            <a:spLocks noGrp="1"/>
          </p:cNvSpPr>
          <p:nvPr>
            <p:ph type="ftr" sz="quarter" idx="11"/>
          </p:nvPr>
        </p:nvSpPr>
        <p:spPr/>
        <p:txBody>
          <a:bodyPr/>
          <a:lstStyle/>
          <a:p>
            <a:r>
              <a:rPr lang="en-US"/>
              <a:t>- Assistant  Prof. Riddhi Joshi</a:t>
            </a:r>
          </a:p>
        </p:txBody>
      </p:sp>
      <p:sp>
        <p:nvSpPr>
          <p:cNvPr id="5" name="Slide Number Placeholder 4"/>
          <p:cNvSpPr>
            <a:spLocks noGrp="1"/>
          </p:cNvSpPr>
          <p:nvPr>
            <p:ph type="sldNum" sz="quarter" idx="12"/>
          </p:nvPr>
        </p:nvSpPr>
        <p:spPr/>
        <p:txBody>
          <a:bodyPr/>
          <a:lstStyle/>
          <a:p>
            <a:fld id="{521E5947-19AD-4D38-BBE9-7D3EA973E689}" type="slidenum">
              <a:rPr lang="en-US" smtClean="0"/>
              <a:pPr/>
              <a:t>50</a:t>
            </a:fld>
            <a:endParaRPr lang="en-US"/>
          </a:p>
        </p:txBody>
      </p:sp>
      <p:grpSp>
        <p:nvGrpSpPr>
          <p:cNvPr id="6" name="Group 6"/>
          <p:cNvGrpSpPr>
            <a:grpSpLocks noChangeAspect="1"/>
          </p:cNvGrpSpPr>
          <p:nvPr/>
        </p:nvGrpSpPr>
        <p:grpSpPr bwMode="auto">
          <a:xfrm>
            <a:off x="457200" y="3429000"/>
            <a:ext cx="7781925" cy="2895600"/>
            <a:chOff x="624" y="2208"/>
            <a:chExt cx="4902" cy="1824"/>
          </a:xfrm>
        </p:grpSpPr>
        <p:sp>
          <p:nvSpPr>
            <p:cNvPr id="7" name="AutoShape 5"/>
            <p:cNvSpPr>
              <a:spLocks noChangeAspect="1" noChangeArrowheads="1" noTextEdit="1"/>
            </p:cNvSpPr>
            <p:nvPr/>
          </p:nvSpPr>
          <p:spPr bwMode="auto">
            <a:xfrm>
              <a:off x="624" y="2208"/>
              <a:ext cx="4896" cy="1824"/>
            </a:xfrm>
            <a:prstGeom prst="rect">
              <a:avLst/>
            </a:prstGeom>
            <a:noFill/>
            <a:ln w="9525">
              <a:noFill/>
              <a:miter lim="800000"/>
              <a:headEnd/>
              <a:tailEnd/>
            </a:ln>
          </p:spPr>
          <p:txBody>
            <a:bodyPr/>
            <a:lstStyle/>
            <a:p>
              <a:endParaRPr lang="en-US"/>
            </a:p>
          </p:txBody>
        </p:sp>
        <p:sp>
          <p:nvSpPr>
            <p:cNvPr id="8" name="Line 7"/>
            <p:cNvSpPr>
              <a:spLocks noChangeShapeType="1"/>
            </p:cNvSpPr>
            <p:nvPr/>
          </p:nvSpPr>
          <p:spPr bwMode="auto">
            <a:xfrm>
              <a:off x="1220" y="2625"/>
              <a:ext cx="1" cy="1002"/>
            </a:xfrm>
            <a:prstGeom prst="line">
              <a:avLst/>
            </a:prstGeom>
            <a:noFill/>
            <a:ln w="14288">
              <a:solidFill>
                <a:srgbClr val="000000"/>
              </a:solidFill>
              <a:round/>
              <a:headEnd/>
              <a:tailEnd/>
            </a:ln>
          </p:spPr>
          <p:txBody>
            <a:bodyPr/>
            <a:lstStyle/>
            <a:p>
              <a:endParaRPr lang="en-US"/>
            </a:p>
          </p:txBody>
        </p:sp>
        <p:sp>
          <p:nvSpPr>
            <p:cNvPr id="9" name="Line 8"/>
            <p:cNvSpPr>
              <a:spLocks noChangeShapeType="1"/>
            </p:cNvSpPr>
            <p:nvPr/>
          </p:nvSpPr>
          <p:spPr bwMode="auto">
            <a:xfrm>
              <a:off x="1456" y="2818"/>
              <a:ext cx="388" cy="1"/>
            </a:xfrm>
            <a:prstGeom prst="line">
              <a:avLst/>
            </a:prstGeom>
            <a:noFill/>
            <a:ln w="30163">
              <a:solidFill>
                <a:srgbClr val="FF0000"/>
              </a:solidFill>
              <a:round/>
              <a:headEnd/>
              <a:tailEnd/>
            </a:ln>
          </p:spPr>
          <p:txBody>
            <a:bodyPr/>
            <a:lstStyle/>
            <a:p>
              <a:endParaRPr lang="en-US"/>
            </a:p>
          </p:txBody>
        </p:sp>
        <p:sp>
          <p:nvSpPr>
            <p:cNvPr id="10" name="Line 9"/>
            <p:cNvSpPr>
              <a:spLocks noChangeShapeType="1"/>
            </p:cNvSpPr>
            <p:nvPr/>
          </p:nvSpPr>
          <p:spPr bwMode="auto">
            <a:xfrm>
              <a:off x="1844" y="3023"/>
              <a:ext cx="322" cy="1"/>
            </a:xfrm>
            <a:prstGeom prst="line">
              <a:avLst/>
            </a:prstGeom>
            <a:noFill/>
            <a:ln w="30163">
              <a:solidFill>
                <a:srgbClr val="0000FF"/>
              </a:solidFill>
              <a:round/>
              <a:headEnd/>
              <a:tailEnd/>
            </a:ln>
          </p:spPr>
          <p:txBody>
            <a:bodyPr/>
            <a:lstStyle/>
            <a:p>
              <a:endParaRPr lang="en-US"/>
            </a:p>
          </p:txBody>
        </p:sp>
        <p:sp>
          <p:nvSpPr>
            <p:cNvPr id="11" name="Line 10"/>
            <p:cNvSpPr>
              <a:spLocks noChangeShapeType="1"/>
            </p:cNvSpPr>
            <p:nvPr/>
          </p:nvSpPr>
          <p:spPr bwMode="auto">
            <a:xfrm>
              <a:off x="2166" y="3325"/>
              <a:ext cx="312" cy="1"/>
            </a:xfrm>
            <a:prstGeom prst="line">
              <a:avLst/>
            </a:prstGeom>
            <a:noFill/>
            <a:ln w="30163">
              <a:solidFill>
                <a:srgbClr val="00C000"/>
              </a:solidFill>
              <a:round/>
              <a:headEnd/>
              <a:tailEnd/>
            </a:ln>
          </p:spPr>
          <p:txBody>
            <a:bodyPr/>
            <a:lstStyle/>
            <a:p>
              <a:endParaRPr lang="en-US"/>
            </a:p>
          </p:txBody>
        </p:sp>
        <p:sp>
          <p:nvSpPr>
            <p:cNvPr id="12" name="Line 11"/>
            <p:cNvSpPr>
              <a:spLocks noChangeShapeType="1"/>
            </p:cNvSpPr>
            <p:nvPr/>
          </p:nvSpPr>
          <p:spPr bwMode="auto">
            <a:xfrm>
              <a:off x="2478" y="2818"/>
              <a:ext cx="397" cy="1"/>
            </a:xfrm>
            <a:prstGeom prst="line">
              <a:avLst/>
            </a:prstGeom>
            <a:noFill/>
            <a:ln w="30163">
              <a:solidFill>
                <a:srgbClr val="FF0000"/>
              </a:solidFill>
              <a:round/>
              <a:headEnd/>
              <a:tailEnd/>
            </a:ln>
          </p:spPr>
          <p:txBody>
            <a:bodyPr/>
            <a:lstStyle/>
            <a:p>
              <a:endParaRPr lang="en-US"/>
            </a:p>
          </p:txBody>
        </p:sp>
        <p:sp>
          <p:nvSpPr>
            <p:cNvPr id="13" name="Line 12"/>
            <p:cNvSpPr>
              <a:spLocks noChangeShapeType="1"/>
            </p:cNvSpPr>
            <p:nvPr/>
          </p:nvSpPr>
          <p:spPr bwMode="auto">
            <a:xfrm>
              <a:off x="2875" y="3023"/>
              <a:ext cx="388" cy="1"/>
            </a:xfrm>
            <a:prstGeom prst="line">
              <a:avLst/>
            </a:prstGeom>
            <a:noFill/>
            <a:ln w="30163">
              <a:solidFill>
                <a:srgbClr val="0000FF"/>
              </a:solidFill>
              <a:round/>
              <a:headEnd/>
              <a:tailEnd/>
            </a:ln>
          </p:spPr>
          <p:txBody>
            <a:bodyPr/>
            <a:lstStyle/>
            <a:p>
              <a:endParaRPr lang="en-US"/>
            </a:p>
          </p:txBody>
        </p:sp>
        <p:sp>
          <p:nvSpPr>
            <p:cNvPr id="14" name="Line 13"/>
            <p:cNvSpPr>
              <a:spLocks noChangeShapeType="1"/>
            </p:cNvSpPr>
            <p:nvPr/>
          </p:nvSpPr>
          <p:spPr bwMode="auto">
            <a:xfrm>
              <a:off x="3263" y="3325"/>
              <a:ext cx="321" cy="1"/>
            </a:xfrm>
            <a:prstGeom prst="line">
              <a:avLst/>
            </a:prstGeom>
            <a:noFill/>
            <a:ln w="30163">
              <a:solidFill>
                <a:srgbClr val="00C000"/>
              </a:solidFill>
              <a:round/>
              <a:headEnd/>
              <a:tailEnd/>
            </a:ln>
          </p:spPr>
          <p:txBody>
            <a:bodyPr/>
            <a:lstStyle/>
            <a:p>
              <a:endParaRPr lang="en-US"/>
            </a:p>
          </p:txBody>
        </p:sp>
        <p:sp>
          <p:nvSpPr>
            <p:cNvPr id="15" name="Line 14"/>
            <p:cNvSpPr>
              <a:spLocks noChangeShapeType="1"/>
            </p:cNvSpPr>
            <p:nvPr/>
          </p:nvSpPr>
          <p:spPr bwMode="auto">
            <a:xfrm>
              <a:off x="3896" y="2818"/>
              <a:ext cx="388" cy="1"/>
            </a:xfrm>
            <a:prstGeom prst="line">
              <a:avLst/>
            </a:prstGeom>
            <a:noFill/>
            <a:ln w="30163">
              <a:solidFill>
                <a:srgbClr val="FF0000"/>
              </a:solidFill>
              <a:round/>
              <a:headEnd/>
              <a:tailEnd/>
            </a:ln>
          </p:spPr>
          <p:txBody>
            <a:bodyPr/>
            <a:lstStyle/>
            <a:p>
              <a:endParaRPr lang="en-US"/>
            </a:p>
          </p:txBody>
        </p:sp>
        <p:sp>
          <p:nvSpPr>
            <p:cNvPr id="16" name="Line 15"/>
            <p:cNvSpPr>
              <a:spLocks noChangeShapeType="1"/>
            </p:cNvSpPr>
            <p:nvPr/>
          </p:nvSpPr>
          <p:spPr bwMode="auto">
            <a:xfrm>
              <a:off x="3584" y="3531"/>
              <a:ext cx="322" cy="1"/>
            </a:xfrm>
            <a:prstGeom prst="line">
              <a:avLst/>
            </a:prstGeom>
            <a:noFill/>
            <a:ln w="30163">
              <a:solidFill>
                <a:srgbClr val="FF00FF"/>
              </a:solidFill>
              <a:round/>
              <a:headEnd/>
              <a:tailEnd/>
            </a:ln>
          </p:spPr>
          <p:txBody>
            <a:bodyPr/>
            <a:lstStyle/>
            <a:p>
              <a:endParaRPr lang="en-US"/>
            </a:p>
          </p:txBody>
        </p:sp>
        <p:sp>
          <p:nvSpPr>
            <p:cNvPr id="17" name="Line 16"/>
            <p:cNvSpPr>
              <a:spLocks noChangeShapeType="1"/>
            </p:cNvSpPr>
            <p:nvPr/>
          </p:nvSpPr>
          <p:spPr bwMode="auto">
            <a:xfrm>
              <a:off x="4294" y="3023"/>
              <a:ext cx="387" cy="1"/>
            </a:xfrm>
            <a:prstGeom prst="line">
              <a:avLst/>
            </a:prstGeom>
            <a:noFill/>
            <a:ln w="30163">
              <a:solidFill>
                <a:srgbClr val="0000FF"/>
              </a:solidFill>
              <a:round/>
              <a:headEnd/>
              <a:tailEnd/>
            </a:ln>
          </p:spPr>
          <p:txBody>
            <a:bodyPr/>
            <a:lstStyle/>
            <a:p>
              <a:endParaRPr lang="en-US"/>
            </a:p>
          </p:txBody>
        </p:sp>
        <p:sp>
          <p:nvSpPr>
            <p:cNvPr id="18" name="Line 17"/>
            <p:cNvSpPr>
              <a:spLocks noChangeShapeType="1"/>
            </p:cNvSpPr>
            <p:nvPr/>
          </p:nvSpPr>
          <p:spPr bwMode="auto">
            <a:xfrm>
              <a:off x="4681" y="3531"/>
              <a:ext cx="322" cy="1"/>
            </a:xfrm>
            <a:prstGeom prst="line">
              <a:avLst/>
            </a:prstGeom>
            <a:noFill/>
            <a:ln w="30163">
              <a:solidFill>
                <a:srgbClr val="FF00FF"/>
              </a:solidFill>
              <a:round/>
              <a:headEnd/>
              <a:tailEnd/>
            </a:ln>
          </p:spPr>
          <p:txBody>
            <a:bodyPr/>
            <a:lstStyle/>
            <a:p>
              <a:endParaRPr lang="en-US"/>
            </a:p>
          </p:txBody>
        </p:sp>
        <p:sp>
          <p:nvSpPr>
            <p:cNvPr id="19" name="Line 18"/>
            <p:cNvSpPr>
              <a:spLocks noChangeShapeType="1"/>
            </p:cNvSpPr>
            <p:nvPr/>
          </p:nvSpPr>
          <p:spPr bwMode="auto">
            <a:xfrm>
              <a:off x="1220" y="3627"/>
              <a:ext cx="3840" cy="1"/>
            </a:xfrm>
            <a:prstGeom prst="line">
              <a:avLst/>
            </a:prstGeom>
            <a:noFill/>
            <a:ln w="14288">
              <a:solidFill>
                <a:srgbClr val="000000"/>
              </a:solidFill>
              <a:round/>
              <a:headEnd/>
              <a:tailEnd/>
            </a:ln>
          </p:spPr>
          <p:txBody>
            <a:bodyPr/>
            <a:lstStyle/>
            <a:p>
              <a:endParaRPr lang="en-US"/>
            </a:p>
          </p:txBody>
        </p:sp>
        <p:sp>
          <p:nvSpPr>
            <p:cNvPr id="20" name="Freeform 19"/>
            <p:cNvSpPr>
              <a:spLocks/>
            </p:cNvSpPr>
            <p:nvPr/>
          </p:nvSpPr>
          <p:spPr bwMode="auto">
            <a:xfrm>
              <a:off x="5022" y="3567"/>
              <a:ext cx="132" cy="121"/>
            </a:xfrm>
            <a:custGeom>
              <a:avLst/>
              <a:gdLst>
                <a:gd name="T0" fmla="*/ 132 w 132"/>
                <a:gd name="T1" fmla="*/ 60 h 121"/>
                <a:gd name="T2" fmla="*/ 0 w 132"/>
                <a:gd name="T3" fmla="*/ 121 h 121"/>
                <a:gd name="T4" fmla="*/ 0 w 132"/>
                <a:gd name="T5" fmla="*/ 0 h 121"/>
                <a:gd name="T6" fmla="*/ 132 w 132"/>
                <a:gd name="T7" fmla="*/ 60 h 121"/>
                <a:gd name="T8" fmla="*/ 0 60000 65536"/>
                <a:gd name="T9" fmla="*/ 0 60000 65536"/>
                <a:gd name="T10" fmla="*/ 0 60000 65536"/>
                <a:gd name="T11" fmla="*/ 0 60000 65536"/>
                <a:gd name="T12" fmla="*/ 0 w 132"/>
                <a:gd name="T13" fmla="*/ 0 h 121"/>
                <a:gd name="T14" fmla="*/ 132 w 132"/>
                <a:gd name="T15" fmla="*/ 121 h 121"/>
              </a:gdLst>
              <a:ahLst/>
              <a:cxnLst>
                <a:cxn ang="T8">
                  <a:pos x="T0" y="T1"/>
                </a:cxn>
                <a:cxn ang="T9">
                  <a:pos x="T2" y="T3"/>
                </a:cxn>
                <a:cxn ang="T10">
                  <a:pos x="T4" y="T5"/>
                </a:cxn>
                <a:cxn ang="T11">
                  <a:pos x="T6" y="T7"/>
                </a:cxn>
              </a:cxnLst>
              <a:rect l="T12" t="T13" r="T14" b="T15"/>
              <a:pathLst>
                <a:path w="132" h="121">
                  <a:moveTo>
                    <a:pt x="132" y="60"/>
                  </a:moveTo>
                  <a:lnTo>
                    <a:pt x="0" y="121"/>
                  </a:lnTo>
                  <a:lnTo>
                    <a:pt x="0" y="0"/>
                  </a:lnTo>
                  <a:lnTo>
                    <a:pt x="132" y="60"/>
                  </a:lnTo>
                  <a:close/>
                </a:path>
              </a:pathLst>
            </a:custGeom>
            <a:solidFill>
              <a:srgbClr val="000000"/>
            </a:solidFill>
            <a:ln w="0">
              <a:solidFill>
                <a:srgbClr val="000000"/>
              </a:solidFill>
              <a:round/>
              <a:headEnd/>
              <a:tailEnd/>
            </a:ln>
          </p:spPr>
          <p:txBody>
            <a:bodyPr/>
            <a:lstStyle/>
            <a:p>
              <a:endParaRPr lang="en-US"/>
            </a:p>
          </p:txBody>
        </p:sp>
        <p:sp>
          <p:nvSpPr>
            <p:cNvPr id="21" name="Rectangle 20"/>
            <p:cNvSpPr>
              <a:spLocks noChangeArrowheads="1"/>
            </p:cNvSpPr>
            <p:nvPr/>
          </p:nvSpPr>
          <p:spPr bwMode="auto">
            <a:xfrm>
              <a:off x="671" y="2268"/>
              <a:ext cx="560" cy="208"/>
            </a:xfrm>
            <a:prstGeom prst="rect">
              <a:avLst/>
            </a:prstGeom>
            <a:noFill/>
            <a:ln w="9525">
              <a:noFill/>
              <a:miter lim="800000"/>
              <a:headEnd/>
              <a:tailEnd/>
            </a:ln>
          </p:spPr>
          <p:txBody>
            <a:bodyPr/>
            <a:lstStyle/>
            <a:p>
              <a:endParaRPr lang="en-US"/>
            </a:p>
          </p:txBody>
        </p:sp>
        <p:sp>
          <p:nvSpPr>
            <p:cNvPr id="22" name="Rectangle 21"/>
            <p:cNvSpPr>
              <a:spLocks noChangeArrowheads="1"/>
            </p:cNvSpPr>
            <p:nvPr/>
          </p:nvSpPr>
          <p:spPr bwMode="auto">
            <a:xfrm>
              <a:off x="671" y="2287"/>
              <a:ext cx="682" cy="202"/>
            </a:xfrm>
            <a:prstGeom prst="rect">
              <a:avLst/>
            </a:prstGeom>
            <a:noFill/>
            <a:ln w="9525">
              <a:noFill/>
              <a:miter lim="800000"/>
              <a:headEnd/>
              <a:tailEnd/>
            </a:ln>
          </p:spPr>
          <p:txBody>
            <a:bodyPr wrap="none" lIns="0" tIns="0" rIns="0" bIns="0">
              <a:spAutoFit/>
            </a:bodyPr>
            <a:lstStyle/>
            <a:p>
              <a:r>
                <a:rPr lang="en-US" sz="2100" b="1">
                  <a:solidFill>
                    <a:srgbClr val="000000"/>
                  </a:solidFill>
                  <a:latin typeface="Times New Roman" pitchFamily="18" charset="0"/>
                </a:rPr>
                <a:t>Processes</a:t>
              </a:r>
              <a:endParaRPr lang="en-US"/>
            </a:p>
          </p:txBody>
        </p:sp>
        <p:sp>
          <p:nvSpPr>
            <p:cNvPr id="23" name="Rectangle 22"/>
            <p:cNvSpPr>
              <a:spLocks noChangeArrowheads="1"/>
            </p:cNvSpPr>
            <p:nvPr/>
          </p:nvSpPr>
          <p:spPr bwMode="auto">
            <a:xfrm>
              <a:off x="5208" y="3573"/>
              <a:ext cx="266" cy="207"/>
            </a:xfrm>
            <a:prstGeom prst="rect">
              <a:avLst/>
            </a:prstGeom>
            <a:noFill/>
            <a:ln w="9525">
              <a:noFill/>
              <a:miter lim="800000"/>
              <a:headEnd/>
              <a:tailEnd/>
            </a:ln>
          </p:spPr>
          <p:txBody>
            <a:bodyPr/>
            <a:lstStyle/>
            <a:p>
              <a:endParaRPr lang="en-US"/>
            </a:p>
          </p:txBody>
        </p:sp>
        <p:sp>
          <p:nvSpPr>
            <p:cNvPr id="24" name="Rectangle 23"/>
            <p:cNvSpPr>
              <a:spLocks noChangeArrowheads="1"/>
            </p:cNvSpPr>
            <p:nvPr/>
          </p:nvSpPr>
          <p:spPr bwMode="auto">
            <a:xfrm>
              <a:off x="5208" y="3591"/>
              <a:ext cx="318" cy="202"/>
            </a:xfrm>
            <a:prstGeom prst="rect">
              <a:avLst/>
            </a:prstGeom>
            <a:noFill/>
            <a:ln w="9525">
              <a:noFill/>
              <a:miter lim="800000"/>
              <a:headEnd/>
              <a:tailEnd/>
            </a:ln>
          </p:spPr>
          <p:txBody>
            <a:bodyPr wrap="none" lIns="0" tIns="0" rIns="0" bIns="0">
              <a:spAutoFit/>
            </a:bodyPr>
            <a:lstStyle/>
            <a:p>
              <a:r>
                <a:rPr lang="en-US" sz="2100" b="1">
                  <a:solidFill>
                    <a:srgbClr val="000000"/>
                  </a:solidFill>
                  <a:latin typeface="Times New Roman" pitchFamily="18" charset="0"/>
                </a:rPr>
                <a:t>time</a:t>
              </a:r>
              <a:endParaRPr lang="en-US"/>
            </a:p>
          </p:txBody>
        </p:sp>
        <p:sp>
          <p:nvSpPr>
            <p:cNvPr id="25" name="Rectangle 24"/>
            <p:cNvSpPr>
              <a:spLocks noChangeArrowheads="1"/>
            </p:cNvSpPr>
            <p:nvPr/>
          </p:nvSpPr>
          <p:spPr bwMode="auto">
            <a:xfrm>
              <a:off x="1543" y="2570"/>
              <a:ext cx="143" cy="196"/>
            </a:xfrm>
            <a:prstGeom prst="rect">
              <a:avLst/>
            </a:prstGeom>
            <a:noFill/>
            <a:ln w="9525">
              <a:noFill/>
              <a:miter lim="800000"/>
              <a:headEnd/>
              <a:tailEnd/>
            </a:ln>
          </p:spPr>
          <p:txBody>
            <a:bodyPr/>
            <a:lstStyle/>
            <a:p>
              <a:endParaRPr lang="en-US"/>
            </a:p>
          </p:txBody>
        </p:sp>
        <p:sp>
          <p:nvSpPr>
            <p:cNvPr id="26" name="Rectangle 25"/>
            <p:cNvSpPr>
              <a:spLocks noChangeArrowheads="1"/>
            </p:cNvSpPr>
            <p:nvPr/>
          </p:nvSpPr>
          <p:spPr bwMode="auto">
            <a:xfrm>
              <a:off x="1543" y="2578"/>
              <a:ext cx="177" cy="202"/>
            </a:xfrm>
            <a:prstGeom prst="rect">
              <a:avLst/>
            </a:prstGeom>
            <a:noFill/>
            <a:ln w="9525">
              <a:noFill/>
              <a:miter lim="800000"/>
              <a:headEnd/>
              <a:tailEnd/>
            </a:ln>
          </p:spPr>
          <p:txBody>
            <a:bodyPr wrap="none" lIns="0" tIns="0" rIns="0" bIns="0">
              <a:spAutoFit/>
            </a:bodyPr>
            <a:lstStyle/>
            <a:p>
              <a:r>
                <a:rPr lang="en-US" sz="2100">
                  <a:solidFill>
                    <a:srgbClr val="000000"/>
                  </a:solidFill>
                  <a:latin typeface="Times New Roman" pitchFamily="18" charset="0"/>
                </a:rPr>
                <a:t>P1</a:t>
              </a:r>
              <a:endParaRPr lang="en-US"/>
            </a:p>
          </p:txBody>
        </p:sp>
        <p:sp>
          <p:nvSpPr>
            <p:cNvPr id="27" name="Rectangle 26"/>
            <p:cNvSpPr>
              <a:spLocks noChangeArrowheads="1"/>
            </p:cNvSpPr>
            <p:nvPr/>
          </p:nvSpPr>
          <p:spPr bwMode="auto">
            <a:xfrm>
              <a:off x="1940" y="2776"/>
              <a:ext cx="301" cy="195"/>
            </a:xfrm>
            <a:prstGeom prst="rect">
              <a:avLst/>
            </a:prstGeom>
            <a:noFill/>
            <a:ln w="9525">
              <a:noFill/>
              <a:miter lim="800000"/>
              <a:headEnd/>
              <a:tailEnd/>
            </a:ln>
          </p:spPr>
          <p:txBody>
            <a:bodyPr/>
            <a:lstStyle/>
            <a:p>
              <a:endParaRPr lang="en-US"/>
            </a:p>
          </p:txBody>
        </p:sp>
        <p:sp>
          <p:nvSpPr>
            <p:cNvPr id="28" name="Rectangle 27"/>
            <p:cNvSpPr>
              <a:spLocks noChangeArrowheads="1"/>
            </p:cNvSpPr>
            <p:nvPr/>
          </p:nvSpPr>
          <p:spPr bwMode="auto">
            <a:xfrm>
              <a:off x="1940" y="2784"/>
              <a:ext cx="177" cy="202"/>
            </a:xfrm>
            <a:prstGeom prst="rect">
              <a:avLst/>
            </a:prstGeom>
            <a:noFill/>
            <a:ln w="9525">
              <a:noFill/>
              <a:miter lim="800000"/>
              <a:headEnd/>
              <a:tailEnd/>
            </a:ln>
          </p:spPr>
          <p:txBody>
            <a:bodyPr wrap="none" lIns="0" tIns="0" rIns="0" bIns="0">
              <a:spAutoFit/>
            </a:bodyPr>
            <a:lstStyle/>
            <a:p>
              <a:r>
                <a:rPr lang="en-US" sz="2100">
                  <a:solidFill>
                    <a:srgbClr val="000000"/>
                  </a:solidFill>
                  <a:latin typeface="Times New Roman" pitchFamily="18" charset="0"/>
                </a:rPr>
                <a:t>P2</a:t>
              </a:r>
              <a:endParaRPr lang="en-US"/>
            </a:p>
          </p:txBody>
        </p:sp>
        <p:sp>
          <p:nvSpPr>
            <p:cNvPr id="29" name="Rectangle 28"/>
            <p:cNvSpPr>
              <a:spLocks noChangeArrowheads="1"/>
            </p:cNvSpPr>
            <p:nvPr/>
          </p:nvSpPr>
          <p:spPr bwMode="auto">
            <a:xfrm>
              <a:off x="2252" y="3078"/>
              <a:ext cx="144" cy="195"/>
            </a:xfrm>
            <a:prstGeom prst="rect">
              <a:avLst/>
            </a:prstGeom>
            <a:noFill/>
            <a:ln w="9525">
              <a:noFill/>
              <a:miter lim="800000"/>
              <a:headEnd/>
              <a:tailEnd/>
            </a:ln>
          </p:spPr>
          <p:txBody>
            <a:bodyPr/>
            <a:lstStyle/>
            <a:p>
              <a:endParaRPr lang="en-US"/>
            </a:p>
          </p:txBody>
        </p:sp>
        <p:sp>
          <p:nvSpPr>
            <p:cNvPr id="30" name="Rectangle 29"/>
            <p:cNvSpPr>
              <a:spLocks noChangeArrowheads="1"/>
            </p:cNvSpPr>
            <p:nvPr/>
          </p:nvSpPr>
          <p:spPr bwMode="auto">
            <a:xfrm>
              <a:off x="2252" y="3086"/>
              <a:ext cx="177" cy="202"/>
            </a:xfrm>
            <a:prstGeom prst="rect">
              <a:avLst/>
            </a:prstGeom>
            <a:noFill/>
            <a:ln w="9525">
              <a:noFill/>
              <a:miter lim="800000"/>
              <a:headEnd/>
              <a:tailEnd/>
            </a:ln>
          </p:spPr>
          <p:txBody>
            <a:bodyPr wrap="none" lIns="0" tIns="0" rIns="0" bIns="0">
              <a:spAutoFit/>
            </a:bodyPr>
            <a:lstStyle/>
            <a:p>
              <a:r>
                <a:rPr lang="en-US" sz="2100">
                  <a:solidFill>
                    <a:srgbClr val="000000"/>
                  </a:solidFill>
                  <a:latin typeface="Times New Roman" pitchFamily="18" charset="0"/>
                </a:rPr>
                <a:t>P3</a:t>
              </a:r>
              <a:endParaRPr lang="en-US"/>
            </a:p>
          </p:txBody>
        </p:sp>
        <p:sp>
          <p:nvSpPr>
            <p:cNvPr id="31" name="Rectangle 30"/>
            <p:cNvSpPr>
              <a:spLocks noChangeArrowheads="1"/>
            </p:cNvSpPr>
            <p:nvPr/>
          </p:nvSpPr>
          <p:spPr bwMode="auto">
            <a:xfrm>
              <a:off x="3671" y="3271"/>
              <a:ext cx="143" cy="195"/>
            </a:xfrm>
            <a:prstGeom prst="rect">
              <a:avLst/>
            </a:prstGeom>
            <a:noFill/>
            <a:ln w="9525">
              <a:noFill/>
              <a:miter lim="800000"/>
              <a:headEnd/>
              <a:tailEnd/>
            </a:ln>
          </p:spPr>
          <p:txBody>
            <a:bodyPr/>
            <a:lstStyle/>
            <a:p>
              <a:endParaRPr lang="en-US"/>
            </a:p>
          </p:txBody>
        </p:sp>
        <p:sp>
          <p:nvSpPr>
            <p:cNvPr id="32" name="Rectangle 31"/>
            <p:cNvSpPr>
              <a:spLocks noChangeArrowheads="1"/>
            </p:cNvSpPr>
            <p:nvPr/>
          </p:nvSpPr>
          <p:spPr bwMode="auto">
            <a:xfrm>
              <a:off x="3671" y="3279"/>
              <a:ext cx="177" cy="202"/>
            </a:xfrm>
            <a:prstGeom prst="rect">
              <a:avLst/>
            </a:prstGeom>
            <a:noFill/>
            <a:ln w="9525">
              <a:noFill/>
              <a:miter lim="800000"/>
              <a:headEnd/>
              <a:tailEnd/>
            </a:ln>
          </p:spPr>
          <p:txBody>
            <a:bodyPr wrap="none" lIns="0" tIns="0" rIns="0" bIns="0">
              <a:spAutoFit/>
            </a:bodyPr>
            <a:lstStyle/>
            <a:p>
              <a:r>
                <a:rPr lang="en-US" sz="2100">
                  <a:solidFill>
                    <a:srgbClr val="000000"/>
                  </a:solidFill>
                  <a:latin typeface="Times New Roman" pitchFamily="18" charset="0"/>
                </a:rPr>
                <a:t>P4</a:t>
              </a:r>
              <a:endParaRPr lang="en-US"/>
            </a:p>
          </p:txBody>
        </p:sp>
        <p:sp>
          <p:nvSpPr>
            <p:cNvPr id="33" name="Rectangle 32"/>
            <p:cNvSpPr>
              <a:spLocks noChangeArrowheads="1"/>
            </p:cNvSpPr>
            <p:nvPr/>
          </p:nvSpPr>
          <p:spPr bwMode="auto">
            <a:xfrm>
              <a:off x="2090" y="3778"/>
              <a:ext cx="1543" cy="196"/>
            </a:xfrm>
            <a:prstGeom prst="rect">
              <a:avLst/>
            </a:prstGeom>
            <a:noFill/>
            <a:ln w="9525">
              <a:noFill/>
              <a:miter lim="800000"/>
              <a:headEnd/>
              <a:tailEnd/>
            </a:ln>
          </p:spPr>
          <p:txBody>
            <a:bodyPr/>
            <a:lstStyle/>
            <a:p>
              <a:endParaRPr lang="en-US"/>
            </a:p>
          </p:txBody>
        </p:sp>
        <p:sp>
          <p:nvSpPr>
            <p:cNvPr id="34" name="Line 33"/>
            <p:cNvSpPr>
              <a:spLocks noChangeShapeType="1"/>
            </p:cNvSpPr>
            <p:nvPr/>
          </p:nvSpPr>
          <p:spPr bwMode="auto">
            <a:xfrm>
              <a:off x="2090" y="3947"/>
              <a:ext cx="1409" cy="1"/>
            </a:xfrm>
            <a:prstGeom prst="line">
              <a:avLst/>
            </a:prstGeom>
            <a:noFill/>
            <a:ln w="14288">
              <a:solidFill>
                <a:srgbClr val="000000"/>
              </a:solidFill>
              <a:round/>
              <a:headEnd/>
              <a:tailEnd/>
            </a:ln>
          </p:spPr>
          <p:txBody>
            <a:bodyPr/>
            <a:lstStyle/>
            <a:p>
              <a:endParaRPr lang="en-US"/>
            </a:p>
          </p:txBody>
        </p:sp>
        <p:sp>
          <p:nvSpPr>
            <p:cNvPr id="35" name="Rectangle 34"/>
            <p:cNvSpPr>
              <a:spLocks noChangeArrowheads="1"/>
            </p:cNvSpPr>
            <p:nvPr/>
          </p:nvSpPr>
          <p:spPr bwMode="auto">
            <a:xfrm>
              <a:off x="2090" y="3786"/>
              <a:ext cx="1948" cy="202"/>
            </a:xfrm>
            <a:prstGeom prst="rect">
              <a:avLst/>
            </a:prstGeom>
            <a:noFill/>
            <a:ln w="9525">
              <a:noFill/>
              <a:miter lim="800000"/>
              <a:headEnd/>
              <a:tailEnd/>
            </a:ln>
          </p:spPr>
          <p:txBody>
            <a:bodyPr wrap="none" lIns="0" tIns="0" rIns="0" bIns="0">
              <a:spAutoFit/>
            </a:bodyPr>
            <a:lstStyle/>
            <a:p>
              <a:r>
                <a:rPr lang="en-US" sz="2100">
                  <a:solidFill>
                    <a:srgbClr val="000000"/>
                  </a:solidFill>
                  <a:cs typeface="Arial" pitchFamily="34" charset="0"/>
                </a:rPr>
                <a:t>Timesharing of a resource</a:t>
              </a:r>
              <a:endParaRPr lang="en-US">
                <a:cs typeface="Arial" pitchFamily="34" charset="0"/>
              </a:endParaRPr>
            </a:p>
          </p:txBody>
        </p:sp>
        <p:sp>
          <p:nvSpPr>
            <p:cNvPr id="36" name="Line 35"/>
            <p:cNvSpPr>
              <a:spLocks noChangeShapeType="1"/>
            </p:cNvSpPr>
            <p:nvPr/>
          </p:nvSpPr>
          <p:spPr bwMode="auto">
            <a:xfrm>
              <a:off x="1844" y="2818"/>
              <a:ext cx="634" cy="1"/>
            </a:xfrm>
            <a:prstGeom prst="line">
              <a:avLst/>
            </a:prstGeom>
            <a:noFill/>
            <a:ln w="0">
              <a:solidFill>
                <a:srgbClr val="FF0000"/>
              </a:solidFill>
              <a:prstDash val="sysDot"/>
              <a:round/>
              <a:headEnd/>
              <a:tailEnd/>
            </a:ln>
          </p:spPr>
          <p:txBody>
            <a:bodyPr/>
            <a:lstStyle/>
            <a:p>
              <a:endParaRPr lang="en-US"/>
            </a:p>
          </p:txBody>
        </p:sp>
        <p:sp>
          <p:nvSpPr>
            <p:cNvPr id="37" name="Line 36"/>
            <p:cNvSpPr>
              <a:spLocks noChangeShapeType="1"/>
            </p:cNvSpPr>
            <p:nvPr/>
          </p:nvSpPr>
          <p:spPr bwMode="auto">
            <a:xfrm>
              <a:off x="2875" y="2818"/>
              <a:ext cx="1021" cy="1"/>
            </a:xfrm>
            <a:prstGeom prst="line">
              <a:avLst/>
            </a:prstGeom>
            <a:noFill/>
            <a:ln w="0">
              <a:solidFill>
                <a:srgbClr val="FF0000"/>
              </a:solidFill>
              <a:prstDash val="sysDot"/>
              <a:round/>
              <a:headEnd/>
              <a:tailEnd/>
            </a:ln>
          </p:spPr>
          <p:txBody>
            <a:bodyPr/>
            <a:lstStyle/>
            <a:p>
              <a:endParaRPr lang="en-US"/>
            </a:p>
          </p:txBody>
        </p:sp>
        <p:sp>
          <p:nvSpPr>
            <p:cNvPr id="38" name="Line 37"/>
            <p:cNvSpPr>
              <a:spLocks noChangeShapeType="1"/>
            </p:cNvSpPr>
            <p:nvPr/>
          </p:nvSpPr>
          <p:spPr bwMode="auto">
            <a:xfrm>
              <a:off x="4284" y="2818"/>
              <a:ext cx="795" cy="1"/>
            </a:xfrm>
            <a:prstGeom prst="line">
              <a:avLst/>
            </a:prstGeom>
            <a:noFill/>
            <a:ln w="0">
              <a:solidFill>
                <a:srgbClr val="FF0000"/>
              </a:solidFill>
              <a:prstDash val="sysDot"/>
              <a:round/>
              <a:headEnd/>
              <a:tailEnd/>
            </a:ln>
          </p:spPr>
          <p:txBody>
            <a:bodyPr/>
            <a:lstStyle/>
            <a:p>
              <a:endParaRPr lang="en-US"/>
            </a:p>
          </p:txBody>
        </p:sp>
        <p:sp>
          <p:nvSpPr>
            <p:cNvPr id="39" name="Line 38"/>
            <p:cNvSpPr>
              <a:spLocks noChangeShapeType="1"/>
            </p:cNvSpPr>
            <p:nvPr/>
          </p:nvSpPr>
          <p:spPr bwMode="auto">
            <a:xfrm>
              <a:off x="2166" y="3023"/>
              <a:ext cx="709" cy="1"/>
            </a:xfrm>
            <a:prstGeom prst="line">
              <a:avLst/>
            </a:prstGeom>
            <a:noFill/>
            <a:ln w="0">
              <a:solidFill>
                <a:srgbClr val="0000FF"/>
              </a:solidFill>
              <a:prstDash val="sysDot"/>
              <a:round/>
              <a:headEnd/>
              <a:tailEnd/>
            </a:ln>
          </p:spPr>
          <p:txBody>
            <a:bodyPr/>
            <a:lstStyle/>
            <a:p>
              <a:endParaRPr lang="en-US"/>
            </a:p>
          </p:txBody>
        </p:sp>
        <p:sp>
          <p:nvSpPr>
            <p:cNvPr id="40" name="Line 39"/>
            <p:cNvSpPr>
              <a:spLocks noChangeShapeType="1"/>
            </p:cNvSpPr>
            <p:nvPr/>
          </p:nvSpPr>
          <p:spPr bwMode="auto">
            <a:xfrm>
              <a:off x="3263" y="3023"/>
              <a:ext cx="1031" cy="1"/>
            </a:xfrm>
            <a:prstGeom prst="line">
              <a:avLst/>
            </a:prstGeom>
            <a:noFill/>
            <a:ln w="0">
              <a:solidFill>
                <a:srgbClr val="0000FF"/>
              </a:solidFill>
              <a:prstDash val="sysDot"/>
              <a:round/>
              <a:headEnd/>
              <a:tailEnd/>
            </a:ln>
          </p:spPr>
          <p:txBody>
            <a:bodyPr/>
            <a:lstStyle/>
            <a:p>
              <a:endParaRPr lang="en-US"/>
            </a:p>
          </p:txBody>
        </p:sp>
        <p:sp>
          <p:nvSpPr>
            <p:cNvPr id="41" name="Line 40"/>
            <p:cNvSpPr>
              <a:spLocks noChangeShapeType="1"/>
            </p:cNvSpPr>
            <p:nvPr/>
          </p:nvSpPr>
          <p:spPr bwMode="auto">
            <a:xfrm>
              <a:off x="4681" y="3023"/>
              <a:ext cx="322" cy="1"/>
            </a:xfrm>
            <a:prstGeom prst="line">
              <a:avLst/>
            </a:prstGeom>
            <a:noFill/>
            <a:ln w="0">
              <a:solidFill>
                <a:srgbClr val="0000FF"/>
              </a:solidFill>
              <a:prstDash val="sysDot"/>
              <a:round/>
              <a:headEnd/>
              <a:tailEnd/>
            </a:ln>
          </p:spPr>
          <p:txBody>
            <a:bodyPr/>
            <a:lstStyle/>
            <a:p>
              <a:endParaRPr lang="en-US"/>
            </a:p>
          </p:txBody>
        </p:sp>
        <p:sp>
          <p:nvSpPr>
            <p:cNvPr id="42" name="Line 41"/>
            <p:cNvSpPr>
              <a:spLocks noChangeShapeType="1"/>
            </p:cNvSpPr>
            <p:nvPr/>
          </p:nvSpPr>
          <p:spPr bwMode="auto">
            <a:xfrm>
              <a:off x="2478" y="3325"/>
              <a:ext cx="794" cy="1"/>
            </a:xfrm>
            <a:prstGeom prst="line">
              <a:avLst/>
            </a:prstGeom>
            <a:noFill/>
            <a:ln w="0">
              <a:solidFill>
                <a:srgbClr val="00C000"/>
              </a:solidFill>
              <a:prstDash val="sysDot"/>
              <a:round/>
              <a:headEnd/>
              <a:tailEnd/>
            </a:ln>
          </p:spPr>
          <p:txBody>
            <a:bodyPr/>
            <a:lstStyle/>
            <a:p>
              <a:endParaRPr lang="en-US"/>
            </a:p>
          </p:txBody>
        </p:sp>
        <p:sp>
          <p:nvSpPr>
            <p:cNvPr id="43" name="Line 42"/>
            <p:cNvSpPr>
              <a:spLocks noChangeShapeType="1"/>
            </p:cNvSpPr>
            <p:nvPr/>
          </p:nvSpPr>
          <p:spPr bwMode="auto">
            <a:xfrm>
              <a:off x="3895" y="3531"/>
              <a:ext cx="794" cy="1"/>
            </a:xfrm>
            <a:prstGeom prst="line">
              <a:avLst/>
            </a:prstGeom>
            <a:noFill/>
            <a:ln w="0">
              <a:solidFill>
                <a:srgbClr val="FF00FF"/>
              </a:solidFill>
              <a:prstDash val="sysDot"/>
              <a:round/>
              <a:headEnd/>
              <a:tailEnd/>
            </a:ln>
          </p:spPr>
          <p:txBody>
            <a:bodyPr/>
            <a:lstStyle/>
            <a:p>
              <a:endParaRPr lang="en-US"/>
            </a:p>
          </p:txBody>
        </p:sp>
        <p:sp>
          <p:nvSpPr>
            <p:cNvPr id="44" name="Line 43"/>
            <p:cNvSpPr>
              <a:spLocks noChangeShapeType="1"/>
            </p:cNvSpPr>
            <p:nvPr/>
          </p:nvSpPr>
          <p:spPr bwMode="auto">
            <a:xfrm>
              <a:off x="3272" y="3537"/>
              <a:ext cx="312" cy="1"/>
            </a:xfrm>
            <a:prstGeom prst="line">
              <a:avLst/>
            </a:prstGeom>
            <a:noFill/>
            <a:ln w="0">
              <a:solidFill>
                <a:srgbClr val="FF00FF"/>
              </a:solidFill>
              <a:prstDash val="sysDot"/>
              <a:round/>
              <a:headEnd/>
              <a:tailEnd/>
            </a:ln>
          </p:spPr>
          <p:txBody>
            <a:bodyPr/>
            <a:lstStyle/>
            <a:p>
              <a:endParaRPr lang="en-US"/>
            </a:p>
          </p:txBody>
        </p:sp>
        <p:sp>
          <p:nvSpPr>
            <p:cNvPr id="45" name="Line 44"/>
            <p:cNvSpPr>
              <a:spLocks noChangeShapeType="1"/>
            </p:cNvSpPr>
            <p:nvPr/>
          </p:nvSpPr>
          <p:spPr bwMode="auto">
            <a:xfrm flipV="1">
              <a:off x="1854" y="3325"/>
              <a:ext cx="312" cy="6"/>
            </a:xfrm>
            <a:prstGeom prst="line">
              <a:avLst/>
            </a:prstGeom>
            <a:noFill/>
            <a:ln w="0">
              <a:solidFill>
                <a:srgbClr val="00C000"/>
              </a:solidFill>
              <a:prstDash val="sysDot"/>
              <a:round/>
              <a:headEnd/>
              <a:tailEnd/>
            </a:ln>
          </p:spPr>
          <p:txBody>
            <a:bodyPr/>
            <a:lstStyle/>
            <a:p>
              <a:endParaRPr lang="en-US"/>
            </a:p>
          </p:txBody>
        </p:sp>
        <p:sp>
          <p:nvSpPr>
            <p:cNvPr id="46" name="Line 45"/>
            <p:cNvSpPr>
              <a:spLocks noChangeShapeType="1"/>
            </p:cNvSpPr>
            <p:nvPr/>
          </p:nvSpPr>
          <p:spPr bwMode="auto">
            <a:xfrm flipV="1">
              <a:off x="1617" y="3023"/>
              <a:ext cx="235" cy="6"/>
            </a:xfrm>
            <a:prstGeom prst="line">
              <a:avLst/>
            </a:prstGeom>
            <a:noFill/>
            <a:ln w="0">
              <a:solidFill>
                <a:srgbClr val="0000FF"/>
              </a:solidFill>
              <a:prstDash val="sysDot"/>
              <a:round/>
              <a:headEnd/>
              <a:tailEnd/>
            </a:ln>
          </p:spPr>
          <p:txBody>
            <a:bodyPr/>
            <a:lstStyle/>
            <a:p>
              <a:endParaRPr lang="en-US"/>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533400" y="685800"/>
            <a:ext cx="8077200" cy="4572000"/>
          </a:xfrm>
        </p:spPr>
        <p:style>
          <a:lnRef idx="2">
            <a:schemeClr val="accent1"/>
          </a:lnRef>
          <a:fillRef idx="1">
            <a:schemeClr val="lt1"/>
          </a:fillRef>
          <a:effectRef idx="0">
            <a:schemeClr val="accent1"/>
          </a:effectRef>
          <a:fontRef idx="minor">
            <a:schemeClr val="dk1"/>
          </a:fontRef>
        </p:style>
        <p:txBody>
          <a:bodyPr>
            <a:normAutofit/>
          </a:bodyPr>
          <a:lstStyle/>
          <a:p>
            <a:r>
              <a:rPr lang="en-US" sz="2400" b="1" dirty="0">
                <a:latin typeface="Calibri" pitchFamily="34" charset="0"/>
              </a:rPr>
              <a:t>Concurrent programming in a process:</a:t>
            </a:r>
          </a:p>
          <a:p>
            <a:pPr lvl="1"/>
            <a:r>
              <a:rPr lang="en-US" dirty="0">
                <a:latin typeface="Calibri" pitchFamily="34" charset="0"/>
              </a:rPr>
              <a:t>Not only process but program also need to initiate tasks that are to executed concurrently.</a:t>
            </a:r>
          </a:p>
          <a:p>
            <a:pPr lvl="1"/>
            <a:r>
              <a:rPr lang="en-US" dirty="0">
                <a:latin typeface="Calibri" pitchFamily="34" charset="0"/>
              </a:rPr>
              <a:t>Sometimes it is compulsory to perform another task while waiting for first task to complete. </a:t>
            </a:r>
          </a:p>
          <a:p>
            <a:pPr lvl="1"/>
            <a:r>
              <a:rPr lang="en-US" dirty="0">
                <a:latin typeface="Calibri" pitchFamily="34" charset="0"/>
              </a:rPr>
              <a:t>It may also be desirable for a program to execute tasks in parallel, for performance reason.</a:t>
            </a:r>
          </a:p>
          <a:p>
            <a:pPr lvl="1"/>
            <a:r>
              <a:rPr lang="en-US" dirty="0">
                <a:latin typeface="Calibri" pitchFamily="34" charset="0"/>
              </a:rPr>
              <a:t>Concurrent programming within a process is performed by two ways.</a:t>
            </a:r>
          </a:p>
          <a:p>
            <a:pPr lvl="1">
              <a:buNone/>
            </a:pPr>
            <a:r>
              <a:rPr lang="en-US" dirty="0">
                <a:latin typeface="Calibri" pitchFamily="34" charset="0"/>
              </a:rPr>
              <a:t>	-	Parent and Child Process</a:t>
            </a:r>
          </a:p>
          <a:p>
            <a:pPr lvl="1">
              <a:buNone/>
            </a:pPr>
            <a:r>
              <a:rPr lang="en-US" dirty="0">
                <a:latin typeface="Calibri" pitchFamily="34" charset="0"/>
              </a:rPr>
              <a:t>	-	Thread.</a:t>
            </a:r>
          </a:p>
        </p:txBody>
      </p:sp>
      <p:sp>
        <p:nvSpPr>
          <p:cNvPr id="3" name="Footer Placeholder 2"/>
          <p:cNvSpPr>
            <a:spLocks noGrp="1"/>
          </p:cNvSpPr>
          <p:nvPr>
            <p:ph type="ftr" sz="quarter" idx="11"/>
          </p:nvPr>
        </p:nvSpPr>
        <p:spPr/>
        <p:txBody>
          <a:bodyPr/>
          <a:lstStyle/>
          <a:p>
            <a:r>
              <a:rPr lang="en-US"/>
              <a:t>- Assistant  Prof. Riddhi Joshi</a:t>
            </a:r>
          </a:p>
        </p:txBody>
      </p:sp>
      <p:sp>
        <p:nvSpPr>
          <p:cNvPr id="5" name="Slide Number Placeholder 4"/>
          <p:cNvSpPr>
            <a:spLocks noGrp="1"/>
          </p:cNvSpPr>
          <p:nvPr>
            <p:ph type="sldNum" sz="quarter" idx="12"/>
          </p:nvPr>
        </p:nvSpPr>
        <p:spPr/>
        <p:txBody>
          <a:bodyPr/>
          <a:lstStyle/>
          <a:p>
            <a:fld id="{521E5947-19AD-4D38-BBE9-7D3EA973E689}" type="slidenum">
              <a:rPr lang="en-US" smtClean="0"/>
              <a:pPr/>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533400" y="838200"/>
            <a:ext cx="8229600" cy="4572000"/>
          </a:xfrm>
        </p:spPr>
        <p:style>
          <a:lnRef idx="2">
            <a:schemeClr val="accent1"/>
          </a:lnRef>
          <a:fillRef idx="1">
            <a:schemeClr val="lt1"/>
          </a:fillRef>
          <a:effectRef idx="0">
            <a:schemeClr val="accent1"/>
          </a:effectRef>
          <a:fontRef idx="minor">
            <a:schemeClr val="dk1"/>
          </a:fontRef>
        </p:style>
        <p:txBody>
          <a:bodyPr>
            <a:normAutofit/>
          </a:bodyPr>
          <a:lstStyle/>
          <a:p>
            <a:r>
              <a:rPr lang="en-US" sz="2400" b="1" u="sng" dirty="0">
                <a:latin typeface="Calibri" pitchFamily="34" charset="0"/>
              </a:rPr>
              <a:t>Parent and child process</a:t>
            </a:r>
          </a:p>
          <a:p>
            <a:pPr lvl="1"/>
            <a:r>
              <a:rPr lang="en-US" dirty="0">
                <a:latin typeface="Calibri" pitchFamily="34" charset="0"/>
              </a:rPr>
              <a:t>At run time a process may release</a:t>
            </a:r>
            <a:r>
              <a:rPr lang="en-US" u="sng" dirty="0">
                <a:latin typeface="Calibri" pitchFamily="34" charset="0"/>
              </a:rPr>
              <a:t> subordinate process or child processes </a:t>
            </a:r>
            <a:r>
              <a:rPr lang="en-US" dirty="0">
                <a:latin typeface="Calibri" pitchFamily="34" charset="0"/>
              </a:rPr>
              <a:t>through real or virtual multitasking.</a:t>
            </a:r>
            <a:endParaRPr lang="en-US" u="sng" dirty="0">
              <a:latin typeface="Calibri" pitchFamily="34" charset="0"/>
            </a:endParaRPr>
          </a:p>
          <a:p>
            <a:pPr lvl="1"/>
            <a:r>
              <a:rPr lang="en-US" dirty="0">
                <a:latin typeface="Calibri" pitchFamily="34" charset="0"/>
              </a:rPr>
              <a:t> The original process called the parent process, continues to run simultaneously with the child process.</a:t>
            </a:r>
          </a:p>
          <a:p>
            <a:pPr lvl="1"/>
            <a:r>
              <a:rPr lang="en-US" dirty="0">
                <a:latin typeface="Calibri" pitchFamily="34" charset="0"/>
              </a:rPr>
              <a:t>A child process is a complete process, consisting of an executing program, its own current values, and state information, some of which inherited from the parent process. </a:t>
            </a:r>
          </a:p>
          <a:p>
            <a:pPr lvl="1"/>
            <a:r>
              <a:rPr lang="en-US" dirty="0">
                <a:latin typeface="Calibri" pitchFamily="34" charset="0"/>
              </a:rPr>
              <a:t>A process can be notified when a child process has terminated.</a:t>
            </a:r>
          </a:p>
        </p:txBody>
      </p:sp>
      <p:sp>
        <p:nvSpPr>
          <p:cNvPr id="3" name="Footer Placeholder 2"/>
          <p:cNvSpPr>
            <a:spLocks noGrp="1"/>
          </p:cNvSpPr>
          <p:nvPr>
            <p:ph type="ftr" sz="quarter" idx="11"/>
          </p:nvPr>
        </p:nvSpPr>
        <p:spPr/>
        <p:txBody>
          <a:bodyPr/>
          <a:lstStyle/>
          <a:p>
            <a:r>
              <a:rPr lang="en-US"/>
              <a:t>- Assistant  Prof. Riddhi Joshi</a:t>
            </a:r>
          </a:p>
        </p:txBody>
      </p:sp>
      <p:sp>
        <p:nvSpPr>
          <p:cNvPr id="5" name="Slide Number Placeholder 4"/>
          <p:cNvSpPr>
            <a:spLocks noGrp="1"/>
          </p:cNvSpPr>
          <p:nvPr>
            <p:ph type="sldNum" sz="quarter" idx="12"/>
          </p:nvPr>
        </p:nvSpPr>
        <p:spPr/>
        <p:txBody>
          <a:bodyPr/>
          <a:lstStyle/>
          <a:p>
            <a:fld id="{521E5947-19AD-4D38-BBE9-7D3EA973E689}" type="slidenum">
              <a:rPr lang="en-US" smtClean="0"/>
              <a:pPr/>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p:cNvSpPr/>
          <p:nvPr/>
        </p:nvSpPr>
        <p:spPr>
          <a:xfrm>
            <a:off x="4419600" y="1676400"/>
            <a:ext cx="3886200" cy="4038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1" name="Rectangle 20"/>
          <p:cNvSpPr/>
          <p:nvPr/>
        </p:nvSpPr>
        <p:spPr>
          <a:xfrm>
            <a:off x="533400" y="1752600"/>
            <a:ext cx="3352800" cy="3733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6" name="Title 35"/>
          <p:cNvSpPr>
            <a:spLocks noGrp="1"/>
          </p:cNvSpPr>
          <p:nvPr>
            <p:ph type="title"/>
          </p:nvPr>
        </p:nvSpPr>
        <p:spPr>
          <a:xfrm>
            <a:off x="533400" y="304800"/>
            <a:ext cx="7772400" cy="762000"/>
          </a:xfrm>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400" b="1" dirty="0">
                <a:latin typeface="Calibri" pitchFamily="34" charset="0"/>
              </a:rPr>
              <a:t>Concurrent processing within a </a:t>
            </a:r>
            <a:r>
              <a:rPr lang="en-US" sz="2400" b="1" dirty="0" err="1">
                <a:latin typeface="Calibri" pitchFamily="34" charset="0"/>
              </a:rPr>
              <a:t>prcess</a:t>
            </a:r>
            <a:r>
              <a:rPr lang="en-US" sz="2400" b="1" dirty="0">
                <a:latin typeface="Calibri" pitchFamily="34" charset="0"/>
              </a:rPr>
              <a:t>.</a:t>
            </a:r>
          </a:p>
        </p:txBody>
      </p:sp>
      <p:sp>
        <p:nvSpPr>
          <p:cNvPr id="3" name="Footer Placeholder 2"/>
          <p:cNvSpPr>
            <a:spLocks noGrp="1"/>
          </p:cNvSpPr>
          <p:nvPr>
            <p:ph type="ftr" sz="quarter" idx="11"/>
          </p:nvPr>
        </p:nvSpPr>
        <p:spPr/>
        <p:txBody>
          <a:bodyPr/>
          <a:lstStyle/>
          <a:p>
            <a:r>
              <a:rPr lang="en-US"/>
              <a:t>- Assistant  Prof. Riddhi Joshi</a:t>
            </a:r>
          </a:p>
        </p:txBody>
      </p:sp>
      <p:sp>
        <p:nvSpPr>
          <p:cNvPr id="24" name="Slide Number Placeholder 23"/>
          <p:cNvSpPr>
            <a:spLocks noGrp="1"/>
          </p:cNvSpPr>
          <p:nvPr>
            <p:ph type="sldNum" sz="quarter" idx="12"/>
          </p:nvPr>
        </p:nvSpPr>
        <p:spPr/>
        <p:txBody>
          <a:bodyPr/>
          <a:lstStyle/>
          <a:p>
            <a:fld id="{521E5947-19AD-4D38-BBE9-7D3EA973E689}" type="slidenum">
              <a:rPr lang="en-US" smtClean="0"/>
              <a:pPr/>
              <a:t>53</a:t>
            </a:fld>
            <a:endParaRPr lang="en-US"/>
          </a:p>
        </p:txBody>
      </p:sp>
      <p:sp>
        <p:nvSpPr>
          <p:cNvPr id="5" name="Rectangle 4"/>
          <p:cNvSpPr/>
          <p:nvPr/>
        </p:nvSpPr>
        <p:spPr>
          <a:xfrm>
            <a:off x="1414524" y="2209800"/>
            <a:ext cx="990600" cy="457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7" name="Rectangle 6"/>
          <p:cNvSpPr/>
          <p:nvPr/>
        </p:nvSpPr>
        <p:spPr>
          <a:xfrm>
            <a:off x="804924" y="4114800"/>
            <a:ext cx="6858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643124" y="4114800"/>
            <a:ext cx="6858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2481324" y="4114800"/>
            <a:ext cx="6858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p:cNvCxnSpPr>
            <a:endCxn id="7" idx="0"/>
          </p:cNvCxnSpPr>
          <p:nvPr/>
        </p:nvCxnSpPr>
        <p:spPr>
          <a:xfrm rot="5400000">
            <a:off x="633474" y="3181350"/>
            <a:ext cx="1447800" cy="4191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6200000" flipH="1">
            <a:off x="1757424" y="3162300"/>
            <a:ext cx="144780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5" idx="2"/>
            <a:endCxn id="8" idx="0"/>
          </p:cNvCxnSpPr>
          <p:nvPr/>
        </p:nvCxnSpPr>
        <p:spPr>
          <a:xfrm rot="16200000" flipH="1">
            <a:off x="1224024" y="3352800"/>
            <a:ext cx="1447800" cy="76200"/>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481324" y="2286000"/>
            <a:ext cx="1447800" cy="369332"/>
          </a:xfrm>
          <a:prstGeom prst="rect">
            <a:avLst/>
          </a:prstGeom>
          <a:noFill/>
        </p:spPr>
        <p:txBody>
          <a:bodyPr wrap="square" rtlCol="0">
            <a:spAutoFit/>
          </a:bodyPr>
          <a:lstStyle/>
          <a:p>
            <a:r>
              <a:rPr lang="en-US" dirty="0"/>
              <a:t>Parent Process</a:t>
            </a:r>
          </a:p>
        </p:txBody>
      </p:sp>
      <p:sp>
        <p:nvSpPr>
          <p:cNvPr id="20" name="TextBox 19"/>
          <p:cNvSpPr txBox="1"/>
          <p:nvPr/>
        </p:nvSpPr>
        <p:spPr>
          <a:xfrm>
            <a:off x="1338324" y="4724400"/>
            <a:ext cx="1447800" cy="369332"/>
          </a:xfrm>
          <a:prstGeom prst="rect">
            <a:avLst/>
          </a:prstGeom>
          <a:noFill/>
        </p:spPr>
        <p:txBody>
          <a:bodyPr wrap="square" rtlCol="0">
            <a:spAutoFit/>
          </a:bodyPr>
          <a:lstStyle/>
          <a:p>
            <a:r>
              <a:rPr lang="en-US" dirty="0"/>
              <a:t>Child Process</a:t>
            </a:r>
          </a:p>
        </p:txBody>
      </p:sp>
      <p:sp>
        <p:nvSpPr>
          <p:cNvPr id="22" name="Rectangle 21"/>
          <p:cNvSpPr/>
          <p:nvPr/>
        </p:nvSpPr>
        <p:spPr>
          <a:xfrm>
            <a:off x="5791200" y="2057400"/>
            <a:ext cx="990600" cy="457200"/>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23" name="TextBox 22"/>
          <p:cNvSpPr txBox="1"/>
          <p:nvPr/>
        </p:nvSpPr>
        <p:spPr>
          <a:xfrm>
            <a:off x="7010400" y="2133600"/>
            <a:ext cx="1066800" cy="369332"/>
          </a:xfrm>
          <a:prstGeom prst="rect">
            <a:avLst/>
          </a:prstGeom>
          <a:noFill/>
        </p:spPr>
        <p:txBody>
          <a:bodyPr wrap="square" rtlCol="0">
            <a:spAutoFit/>
          </a:bodyPr>
          <a:lstStyle/>
          <a:p>
            <a:r>
              <a:rPr lang="en-US" dirty="0"/>
              <a:t>A Process</a:t>
            </a:r>
          </a:p>
        </p:txBody>
      </p:sp>
      <p:cxnSp>
        <p:nvCxnSpPr>
          <p:cNvPr id="25" name="Straight Connector 24"/>
          <p:cNvCxnSpPr>
            <a:stCxn id="22" idx="2"/>
          </p:cNvCxnSpPr>
          <p:nvPr/>
        </p:nvCxnSpPr>
        <p:spPr>
          <a:xfrm rot="16200000" flipH="1">
            <a:off x="4899537" y="3901563"/>
            <a:ext cx="2819400" cy="45474"/>
          </a:xfrm>
          <a:prstGeom prst="line">
            <a:avLst/>
          </a:prstGeom>
        </p:spPr>
        <p:style>
          <a:lnRef idx="1">
            <a:schemeClr val="accent1"/>
          </a:lnRef>
          <a:fillRef idx="0">
            <a:schemeClr val="accent1"/>
          </a:fillRef>
          <a:effectRef idx="0">
            <a:schemeClr val="accent1"/>
          </a:effectRef>
          <a:fontRef idx="minor">
            <a:schemeClr val="tx1"/>
          </a:fontRef>
        </p:style>
      </p:cxnSp>
      <p:sp>
        <p:nvSpPr>
          <p:cNvPr id="28" name="Arc 27"/>
          <p:cNvSpPr/>
          <p:nvPr/>
        </p:nvSpPr>
        <p:spPr>
          <a:xfrm rot="10800000">
            <a:off x="6019800" y="2971800"/>
            <a:ext cx="533400" cy="1295400"/>
          </a:xfrm>
          <a:prstGeom prst="arc">
            <a:avLst>
              <a:gd name="adj1" fmla="val 16200000"/>
              <a:gd name="adj2" fmla="val 5275005"/>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Arc 29"/>
          <p:cNvSpPr/>
          <p:nvPr/>
        </p:nvSpPr>
        <p:spPr>
          <a:xfrm>
            <a:off x="6019800" y="3962400"/>
            <a:ext cx="533400" cy="1295400"/>
          </a:xfrm>
          <a:prstGeom prst="arc">
            <a:avLst>
              <a:gd name="adj1" fmla="val 16200000"/>
              <a:gd name="adj2" fmla="val 5275005"/>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TextBox 30"/>
          <p:cNvSpPr txBox="1"/>
          <p:nvPr/>
        </p:nvSpPr>
        <p:spPr>
          <a:xfrm>
            <a:off x="4495800" y="3429000"/>
            <a:ext cx="1447800" cy="369332"/>
          </a:xfrm>
          <a:prstGeom prst="rect">
            <a:avLst/>
          </a:prstGeom>
          <a:noFill/>
        </p:spPr>
        <p:txBody>
          <a:bodyPr wrap="square" rtlCol="0">
            <a:spAutoFit/>
          </a:bodyPr>
          <a:lstStyle/>
          <a:p>
            <a:r>
              <a:rPr lang="en-US" dirty="0"/>
              <a:t>Child Thread 1</a:t>
            </a:r>
          </a:p>
        </p:txBody>
      </p:sp>
      <p:sp>
        <p:nvSpPr>
          <p:cNvPr id="32" name="TextBox 31"/>
          <p:cNvSpPr txBox="1"/>
          <p:nvPr/>
        </p:nvSpPr>
        <p:spPr>
          <a:xfrm>
            <a:off x="6781800" y="4419600"/>
            <a:ext cx="1447800" cy="369332"/>
          </a:xfrm>
          <a:prstGeom prst="rect">
            <a:avLst/>
          </a:prstGeom>
          <a:noFill/>
        </p:spPr>
        <p:txBody>
          <a:bodyPr wrap="square" rtlCol="0">
            <a:spAutoFit/>
          </a:bodyPr>
          <a:lstStyle/>
          <a:p>
            <a:r>
              <a:rPr lang="en-US" dirty="0"/>
              <a:t>Child Thread 2</a:t>
            </a:r>
          </a:p>
        </p:txBody>
      </p:sp>
      <p:sp>
        <p:nvSpPr>
          <p:cNvPr id="34" name="TextBox 33"/>
          <p:cNvSpPr txBox="1"/>
          <p:nvPr/>
        </p:nvSpPr>
        <p:spPr>
          <a:xfrm>
            <a:off x="609600" y="1828800"/>
            <a:ext cx="3200400" cy="369332"/>
          </a:xfrm>
          <a:prstGeom prst="rect">
            <a:avLst/>
          </a:prstGeom>
          <a:noFill/>
        </p:spPr>
        <p:txBody>
          <a:bodyPr wrap="square" rtlCol="0">
            <a:spAutoFit/>
          </a:bodyPr>
          <a:lstStyle/>
          <a:p>
            <a:r>
              <a:rPr lang="en-US" dirty="0"/>
              <a:t>A process may release child process</a:t>
            </a:r>
          </a:p>
        </p:txBody>
      </p:sp>
      <p:sp>
        <p:nvSpPr>
          <p:cNvPr id="35" name="TextBox 34"/>
          <p:cNvSpPr txBox="1"/>
          <p:nvPr/>
        </p:nvSpPr>
        <p:spPr>
          <a:xfrm>
            <a:off x="4648200" y="1676400"/>
            <a:ext cx="3200400" cy="369332"/>
          </a:xfrm>
          <a:prstGeom prst="rect">
            <a:avLst/>
          </a:prstGeom>
          <a:noFill/>
        </p:spPr>
        <p:txBody>
          <a:bodyPr wrap="square" rtlCol="0">
            <a:spAutoFit/>
          </a:bodyPr>
          <a:lstStyle/>
          <a:p>
            <a:r>
              <a:rPr lang="en-US" dirty="0"/>
              <a:t>A process may release child threads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5"/>
          <p:cNvSpPr>
            <a:spLocks noGrp="1"/>
          </p:cNvSpPr>
          <p:nvPr>
            <p:ph type="title"/>
          </p:nvPr>
        </p:nvSpPr>
        <p:spPr>
          <a:xfrm>
            <a:off x="533400" y="152400"/>
            <a:ext cx="7772400" cy="609600"/>
          </a:xfrm>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400" b="1" dirty="0">
                <a:latin typeface="Calibri" pitchFamily="34" charset="0"/>
              </a:rPr>
              <a:t>Threads</a:t>
            </a:r>
          </a:p>
        </p:txBody>
      </p:sp>
      <p:sp>
        <p:nvSpPr>
          <p:cNvPr id="4" name="Content Placeholder 3"/>
          <p:cNvSpPr>
            <a:spLocks noGrp="1"/>
          </p:cNvSpPr>
          <p:nvPr>
            <p:ph idx="1"/>
          </p:nvPr>
        </p:nvSpPr>
        <p:spPr>
          <a:xfrm>
            <a:off x="533400" y="990600"/>
            <a:ext cx="8229600" cy="5029200"/>
          </a:xfrm>
        </p:spPr>
        <p:style>
          <a:lnRef idx="2">
            <a:schemeClr val="accent1"/>
          </a:lnRef>
          <a:fillRef idx="1">
            <a:schemeClr val="lt1"/>
          </a:fillRef>
          <a:effectRef idx="0">
            <a:schemeClr val="accent1"/>
          </a:effectRef>
          <a:fontRef idx="minor">
            <a:schemeClr val="dk1"/>
          </a:fontRef>
        </p:style>
        <p:txBody>
          <a:bodyPr>
            <a:normAutofit/>
          </a:bodyPr>
          <a:lstStyle/>
          <a:p>
            <a:pPr lvl="1"/>
            <a:r>
              <a:rPr lang="en-US" sz="2300" dirty="0">
                <a:latin typeface="Calibri" pitchFamily="34" charset="0"/>
              </a:rPr>
              <a:t>Instead of child process, a process may release threads, also known as light weight processes.</a:t>
            </a:r>
          </a:p>
          <a:p>
            <a:pPr lvl="1"/>
            <a:r>
              <a:rPr lang="en-US" sz="2300" dirty="0">
                <a:latin typeface="Calibri" pitchFamily="34" charset="0"/>
              </a:rPr>
              <a:t>Threads carry a minimum of state information, but otherwise behave the same as process.</a:t>
            </a:r>
          </a:p>
          <a:p>
            <a:pPr lvl="1"/>
            <a:r>
              <a:rPr lang="en-US" sz="2300" dirty="0">
                <a:latin typeface="Calibri" pitchFamily="34" charset="0"/>
              </a:rPr>
              <a:t>Since they are less overhead, threads are preferred over child process.</a:t>
            </a:r>
          </a:p>
          <a:p>
            <a:pPr lvl="1"/>
            <a:r>
              <a:rPr lang="en-US" sz="2300" dirty="0">
                <a:latin typeface="Calibri" pitchFamily="34" charset="0"/>
              </a:rPr>
              <a:t>The release and co-ordination of child thread requires programming support </a:t>
            </a:r>
          </a:p>
          <a:p>
            <a:pPr lvl="1"/>
            <a:r>
              <a:rPr lang="en-US" sz="2300" dirty="0">
                <a:latin typeface="Calibri" pitchFamily="34" charset="0"/>
              </a:rPr>
              <a:t>the software for the program must be written to contain logic to support the spawning of threads to co-ordinate or synchronize, the execution of the family of threads  spawned by the parent threads.</a:t>
            </a:r>
          </a:p>
          <a:p>
            <a:pPr lvl="1"/>
            <a:endParaRPr lang="en-US" sz="2300" dirty="0">
              <a:latin typeface="Calibri" pitchFamily="34" charset="0"/>
            </a:endParaRPr>
          </a:p>
          <a:p>
            <a:pPr lvl="1">
              <a:buNone/>
            </a:pPr>
            <a:endParaRPr lang="en-US" sz="2300" dirty="0">
              <a:latin typeface="Calibri" pitchFamily="34" charset="0"/>
            </a:endParaRPr>
          </a:p>
          <a:p>
            <a:pPr lvl="1"/>
            <a:endParaRPr lang="en-US" sz="2300" dirty="0">
              <a:latin typeface="Calibri" pitchFamily="34" charset="0"/>
            </a:endParaRPr>
          </a:p>
        </p:txBody>
      </p:sp>
      <p:sp>
        <p:nvSpPr>
          <p:cNvPr id="3" name="Footer Placeholder 2"/>
          <p:cNvSpPr>
            <a:spLocks noGrp="1"/>
          </p:cNvSpPr>
          <p:nvPr>
            <p:ph type="ftr" sz="quarter" idx="11"/>
          </p:nvPr>
        </p:nvSpPr>
        <p:spPr/>
        <p:txBody>
          <a:bodyPr/>
          <a:lstStyle/>
          <a:p>
            <a:r>
              <a:rPr lang="en-US" dirty="0"/>
              <a:t>- Assistant  Prof. </a:t>
            </a:r>
            <a:r>
              <a:rPr lang="en-US" dirty="0" err="1"/>
              <a:t>Riddhi</a:t>
            </a:r>
            <a:r>
              <a:rPr lang="en-US" dirty="0"/>
              <a:t> Joshi</a:t>
            </a:r>
          </a:p>
        </p:txBody>
      </p:sp>
      <p:sp>
        <p:nvSpPr>
          <p:cNvPr id="5" name="Slide Number Placeholder 4"/>
          <p:cNvSpPr>
            <a:spLocks noGrp="1"/>
          </p:cNvSpPr>
          <p:nvPr>
            <p:ph type="sldNum" sz="quarter" idx="12"/>
          </p:nvPr>
        </p:nvSpPr>
        <p:spPr/>
        <p:txBody>
          <a:bodyPr/>
          <a:lstStyle/>
          <a:p>
            <a:fld id="{521E5947-19AD-4D38-BBE9-7D3EA973E689}" type="slidenum">
              <a:rPr lang="en-US" smtClean="0"/>
              <a:pPr/>
              <a:t>54</a:t>
            </a:fld>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533400"/>
            <a:ext cx="8763000" cy="594008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Font typeface="Arial" pitchFamily="34" charset="0"/>
              <a:buChar char="•"/>
            </a:pPr>
            <a:r>
              <a:rPr lang="en-US" sz="2000" dirty="0">
                <a:latin typeface="Calibri" pitchFamily="34" charset="0"/>
              </a:rPr>
              <a:t> The concurrent execution of threads may result in race condition.</a:t>
            </a:r>
          </a:p>
          <a:p>
            <a:pPr>
              <a:buFont typeface="Arial" pitchFamily="34" charset="0"/>
              <a:buChar char="•"/>
            </a:pPr>
            <a:r>
              <a:rPr lang="en-US" sz="2000" dirty="0">
                <a:latin typeface="Calibri" pitchFamily="34" charset="0"/>
              </a:rPr>
              <a:t> Fig. 1.10 shows race condition</a:t>
            </a:r>
          </a:p>
          <a:p>
            <a:r>
              <a:rPr lang="en-US" sz="2000" b="1" u="sng" dirty="0">
                <a:latin typeface="Calibri" pitchFamily="34" charset="0"/>
              </a:rPr>
              <a:t>Race condition:</a:t>
            </a:r>
          </a:p>
          <a:p>
            <a:r>
              <a:rPr lang="en-US" sz="2000" b="1" dirty="0">
                <a:latin typeface="Calibri" pitchFamily="34" charset="0"/>
              </a:rPr>
              <a:t>	 </a:t>
            </a:r>
            <a:r>
              <a:rPr lang="en-US" sz="2000" dirty="0">
                <a:latin typeface="Calibri" pitchFamily="34" charset="0"/>
              </a:rPr>
              <a:t>A situation in which multiple threads or processes read and write a shared data item and the final result depends on the relative timing of their execution.</a:t>
            </a:r>
          </a:p>
          <a:p>
            <a:pPr>
              <a:buFont typeface="Arial" pitchFamily="34" charset="0"/>
              <a:buChar char="•"/>
            </a:pPr>
            <a:r>
              <a:rPr lang="en-US" sz="2000" dirty="0">
                <a:latin typeface="Calibri" pitchFamily="34" charset="0"/>
              </a:rPr>
              <a:t>It can be avoided using mutual exclusion.</a:t>
            </a:r>
          </a:p>
          <a:p>
            <a:r>
              <a:rPr lang="en-US" sz="2000" b="1" u="sng" dirty="0">
                <a:latin typeface="Calibri" pitchFamily="34" charset="0"/>
              </a:rPr>
              <a:t>Mutual exclusion:</a:t>
            </a:r>
          </a:p>
          <a:p>
            <a:r>
              <a:rPr lang="en-US" sz="2000" b="1" dirty="0">
                <a:latin typeface="Calibri" pitchFamily="34" charset="0"/>
              </a:rPr>
              <a:t>	</a:t>
            </a:r>
            <a:r>
              <a:rPr lang="en-US" sz="2000" dirty="0">
                <a:latin typeface="Calibri" pitchFamily="34" charset="0"/>
              </a:rPr>
              <a:t> The requirement that when one process is in a critical section that accesses shared resources, no other process may be in a critical section that accesses any of those shared resources.</a:t>
            </a:r>
          </a:p>
          <a:p>
            <a:pPr>
              <a:buFont typeface="Arial" pitchFamily="34" charset="0"/>
              <a:buChar char="•"/>
            </a:pPr>
            <a:r>
              <a:rPr lang="en-US" sz="2000" dirty="0">
                <a:latin typeface="Calibri" pitchFamily="34" charset="0"/>
              </a:rPr>
              <a:t>Mutual exclusion is provided to a code segment and this code segment is called a critical region.</a:t>
            </a:r>
          </a:p>
          <a:p>
            <a:r>
              <a:rPr lang="en-US" sz="2000" b="1" u="sng" dirty="0">
                <a:latin typeface="Calibri" pitchFamily="34" charset="0"/>
              </a:rPr>
              <a:t>Critical section:</a:t>
            </a:r>
          </a:p>
          <a:p>
            <a:r>
              <a:rPr lang="en-US" sz="2000" b="1" dirty="0">
                <a:latin typeface="Calibri" pitchFamily="34" charset="0"/>
              </a:rPr>
              <a:t>	 </a:t>
            </a:r>
            <a:r>
              <a:rPr lang="en-US" sz="2000" dirty="0">
                <a:latin typeface="Calibri" pitchFamily="34" charset="0"/>
              </a:rPr>
              <a:t>A section of code within a process that requires access to shared resources and that must not be executed while another process is in a corresponding section of code.</a:t>
            </a:r>
          </a:p>
          <a:p>
            <a:r>
              <a:rPr lang="en-US" sz="2000" b="1" u="sng" dirty="0">
                <a:latin typeface="Calibri" pitchFamily="34" charset="0"/>
              </a:rPr>
              <a:t>Thread-safe:</a:t>
            </a:r>
          </a:p>
          <a:p>
            <a:r>
              <a:rPr lang="en-US" sz="2000" dirty="0">
                <a:latin typeface="Calibri" pitchFamily="34" charset="0"/>
              </a:rPr>
              <a:t>A multi-threaded program that is written to </a:t>
            </a:r>
            <a:r>
              <a:rPr lang="en-US" sz="2000">
                <a:latin typeface="Calibri" pitchFamily="34" charset="0"/>
              </a:rPr>
              <a:t>guard against </a:t>
            </a:r>
            <a:r>
              <a:rPr lang="en-US" sz="2000" dirty="0">
                <a:latin typeface="Calibri" pitchFamily="34" charset="0"/>
              </a:rPr>
              <a:t>race conditions is said to be thread-safe.</a:t>
            </a:r>
          </a:p>
        </p:txBody>
      </p:sp>
      <p:sp>
        <p:nvSpPr>
          <p:cNvPr id="7" name="Rectangle 2"/>
          <p:cNvSpPr>
            <a:spLocks noGrp="1" noChangeArrowheads="1"/>
          </p:cNvSpPr>
          <p:nvPr>
            <p:ph type="title"/>
          </p:nvPr>
        </p:nvSpPr>
        <p:spPr>
          <a:xfrm>
            <a:off x="457200" y="76200"/>
            <a:ext cx="7543800" cy="411162"/>
          </a:xfrm>
        </p:spPr>
        <p:style>
          <a:lnRef idx="3">
            <a:schemeClr val="lt1"/>
          </a:lnRef>
          <a:fillRef idx="1">
            <a:schemeClr val="accent1"/>
          </a:fillRef>
          <a:effectRef idx="1">
            <a:schemeClr val="accent1"/>
          </a:effectRef>
          <a:fontRef idx="minor">
            <a:schemeClr val="lt1"/>
          </a:fontRef>
        </p:style>
        <p:txBody>
          <a:bodyPr>
            <a:normAutofit fontScale="90000"/>
          </a:bodyPr>
          <a:lstStyle/>
          <a:p>
            <a:pPr algn="ctr" eaLnBrk="1" hangingPunct="1"/>
            <a:r>
              <a:rPr lang="en-US" sz="2600" b="1" dirty="0">
                <a:latin typeface="Calibri" pitchFamily="34" charset="0"/>
              </a:rPr>
              <a:t>Thread-safe programming</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457200" y="1295400"/>
            <a:ext cx="7239000" cy="4191000"/>
          </a:xfrm>
          <a:prstGeom prst="rect">
            <a:avLst/>
          </a:prstGeom>
        </p:spPr>
        <p:style>
          <a:lnRef idx="2">
            <a:schemeClr val="accent1"/>
          </a:lnRef>
          <a:fillRef idx="1">
            <a:schemeClr val="lt1"/>
          </a:fillRef>
          <a:effectRef idx="0">
            <a:schemeClr val="accent1"/>
          </a:effectRef>
          <a:fontRef idx="minor">
            <a:schemeClr val="dk1"/>
          </a:fontRef>
        </p:style>
        <p:txBody>
          <a:bodyPr vert="horz">
            <a:normAutofit lnSpcReduction="10000"/>
          </a:bodyPr>
          <a:lstStyle/>
          <a:p>
            <a:pPr marL="274320" marR="0" lvl="0" indent="-274320" algn="ctr" defTabSz="914400" rtl="0" eaLnBrk="1" fontAlgn="auto" latinLnBrk="0" hangingPunct="1">
              <a:lnSpc>
                <a:spcPct val="100000"/>
              </a:lnSpc>
              <a:spcBef>
                <a:spcPts val="580"/>
              </a:spcBef>
              <a:spcAft>
                <a:spcPts val="0"/>
              </a:spcAft>
              <a:buClr>
                <a:schemeClr val="accent1"/>
              </a:buClr>
              <a:buSzPct val="85000"/>
              <a:tabLst/>
              <a:defRPr/>
            </a:pPr>
            <a:endParaRPr kumimoji="0" lang="en-US" sz="2600" b="0" i="0" u="none" strike="noStrike" kern="1200" cap="none" spc="0" normalizeH="0" baseline="0" noProof="0" dirty="0">
              <a:ln>
                <a:noFill/>
              </a:ln>
              <a:solidFill>
                <a:schemeClr val="tx1"/>
              </a:solidFill>
              <a:effectLst/>
              <a:uLnTx/>
              <a:uFillTx/>
              <a:latin typeface="Calibri" pitchFamily="34" charset="0"/>
            </a:endParaRPr>
          </a:p>
          <a:p>
            <a:pPr marL="274320" lvl="0" indent="-274320">
              <a:spcBef>
                <a:spcPts val="580"/>
              </a:spcBef>
              <a:buClr>
                <a:schemeClr val="accent1"/>
              </a:buClr>
              <a:buSzPct val="85000"/>
              <a:buFont typeface="Arial" pitchFamily="34" charset="0"/>
              <a:buChar char="•"/>
              <a:defRPr/>
            </a:pPr>
            <a:r>
              <a:rPr kumimoji="0" lang="en-US" sz="2600" i="0" u="none" strike="noStrike" kern="1200" cap="none" spc="0" normalizeH="0" baseline="0" noProof="0" dirty="0">
                <a:ln>
                  <a:noFill/>
                </a:ln>
                <a:solidFill>
                  <a:schemeClr val="tx1"/>
                </a:solidFill>
                <a:effectLst/>
                <a:uLnTx/>
                <a:uFillTx/>
                <a:latin typeface="Calibri" pitchFamily="34" charset="0"/>
              </a:rPr>
              <a:t>1.1 Definition </a:t>
            </a:r>
          </a:p>
          <a:p>
            <a:pPr marL="274320" lvl="0" indent="-274320">
              <a:spcBef>
                <a:spcPts val="580"/>
              </a:spcBef>
              <a:buClr>
                <a:schemeClr val="accent1"/>
              </a:buClr>
              <a:buSzPct val="85000"/>
              <a:buFont typeface="Arial" pitchFamily="34" charset="0"/>
              <a:buChar char="•"/>
              <a:defRPr/>
            </a:pPr>
            <a:r>
              <a:rPr kumimoji="0" lang="en-US" sz="2600" i="0" u="none" strike="noStrike" kern="1200" cap="none" spc="0" normalizeH="0" baseline="0" noProof="0" dirty="0">
                <a:ln>
                  <a:noFill/>
                </a:ln>
                <a:solidFill>
                  <a:schemeClr val="tx1"/>
                </a:solidFill>
                <a:effectLst/>
                <a:uLnTx/>
                <a:uFillTx/>
                <a:latin typeface="Calibri" pitchFamily="34" charset="0"/>
              </a:rPr>
              <a:t>1.2 History of DC</a:t>
            </a:r>
          </a:p>
          <a:p>
            <a:pPr marL="274320" lvl="0" indent="-274320">
              <a:spcBef>
                <a:spcPts val="580"/>
              </a:spcBef>
              <a:buClr>
                <a:schemeClr val="accent1"/>
              </a:buClr>
              <a:buSzPct val="85000"/>
              <a:buFont typeface="Arial" pitchFamily="34" charset="0"/>
              <a:buChar char="•"/>
              <a:defRPr/>
            </a:pPr>
            <a:r>
              <a:rPr lang="en-US" sz="2600" b="1" dirty="0">
                <a:solidFill>
                  <a:schemeClr val="accent1"/>
                </a:solidFill>
                <a:latin typeface="Calibri" pitchFamily="34" charset="0"/>
              </a:rPr>
              <a:t> </a:t>
            </a:r>
            <a:r>
              <a:rPr kumimoji="0" lang="en-US" sz="2600" i="0" u="none" strike="noStrike" kern="1200" cap="none" spc="0" normalizeH="0" baseline="0" noProof="0" dirty="0">
                <a:ln>
                  <a:noFill/>
                </a:ln>
                <a:solidFill>
                  <a:schemeClr val="tx1"/>
                </a:solidFill>
                <a:effectLst/>
                <a:uLnTx/>
                <a:uFillTx/>
                <a:latin typeface="Calibri" pitchFamily="34" charset="0"/>
              </a:rPr>
              <a:t>1.3 Different forms of Computing</a:t>
            </a:r>
          </a:p>
          <a:p>
            <a:pPr marL="274320" lvl="0" indent="-274320">
              <a:spcBef>
                <a:spcPts val="580"/>
              </a:spcBef>
              <a:buClr>
                <a:schemeClr val="accent1"/>
              </a:buClr>
              <a:buSzPct val="85000"/>
              <a:buFont typeface="Arial" pitchFamily="34" charset="0"/>
              <a:buChar char="•"/>
              <a:defRPr/>
            </a:pPr>
            <a:r>
              <a:rPr lang="en-US" sz="2600" dirty="0">
                <a:solidFill>
                  <a:schemeClr val="tx1"/>
                </a:solidFill>
                <a:latin typeface="Calibri" pitchFamily="34" charset="0"/>
              </a:rPr>
              <a:t> 1.4 Strength &amp; Weakness</a:t>
            </a:r>
          </a:p>
          <a:p>
            <a:pPr marL="274320" lvl="0" indent="-274320">
              <a:spcBef>
                <a:spcPts val="580"/>
              </a:spcBef>
              <a:buClr>
                <a:schemeClr val="accent1"/>
              </a:buClr>
              <a:buSzPct val="85000"/>
              <a:buFont typeface="Arial" pitchFamily="34" charset="0"/>
              <a:buChar char="•"/>
              <a:defRPr/>
            </a:pPr>
            <a:r>
              <a:rPr lang="en-US" sz="2600" dirty="0">
                <a:solidFill>
                  <a:schemeClr val="tx1"/>
                </a:solidFill>
                <a:latin typeface="Calibri" pitchFamily="34" charset="0"/>
              </a:rPr>
              <a:t>1.5 Basics of OS</a:t>
            </a:r>
          </a:p>
          <a:p>
            <a:pPr marL="274320" lvl="0" indent="-274320">
              <a:spcBef>
                <a:spcPts val="580"/>
              </a:spcBef>
              <a:buClr>
                <a:schemeClr val="accent1"/>
              </a:buClr>
              <a:buSzPct val="85000"/>
              <a:defRPr/>
            </a:pPr>
            <a:r>
              <a:rPr lang="en-US" sz="2600" b="1" dirty="0">
                <a:solidFill>
                  <a:schemeClr val="accent1"/>
                </a:solidFill>
                <a:latin typeface="Calibri" pitchFamily="34" charset="0"/>
              </a:rPr>
              <a:t>→ 1.6 Network Basics</a:t>
            </a:r>
          </a:p>
          <a:p>
            <a:pPr marL="274320" lvl="0" indent="-274320">
              <a:spcBef>
                <a:spcPts val="580"/>
              </a:spcBef>
              <a:buClr>
                <a:schemeClr val="accent1"/>
              </a:buClr>
              <a:buSzPct val="85000"/>
              <a:buFont typeface="Arial" pitchFamily="34" charset="0"/>
              <a:buChar char="•"/>
              <a:defRPr/>
            </a:pPr>
            <a:r>
              <a:rPr lang="en-US" sz="2600" dirty="0">
                <a:solidFill>
                  <a:schemeClr val="tx1"/>
                </a:solidFill>
                <a:latin typeface="Calibri" pitchFamily="34" charset="0"/>
              </a:rPr>
              <a:t>1.7 Software Engineering Basics </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lang="en-US" sz="2600" dirty="0">
                <a:latin typeface="Calibri" pitchFamily="34" charset="0"/>
              </a:rPr>
              <a:t>1.8 The Architecture of Distributed Application. </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n-US" sz="2600" b="0" i="0" u="none" strike="noStrike" kern="1200" cap="none" spc="0" normalizeH="0" baseline="0" noProof="0" dirty="0">
              <a:ln>
                <a:noFill/>
              </a:ln>
              <a:solidFill>
                <a:schemeClr val="tx1"/>
              </a:solidFill>
              <a:effectLst/>
              <a:uLnTx/>
              <a:uFillTx/>
              <a:latin typeface="Calibri" pitchFamily="34" charset="0"/>
            </a:endParaRPr>
          </a:p>
        </p:txBody>
      </p:sp>
      <p:sp>
        <p:nvSpPr>
          <p:cNvPr id="6" name="TextBox 5"/>
          <p:cNvSpPr txBox="1"/>
          <p:nvPr/>
        </p:nvSpPr>
        <p:spPr>
          <a:xfrm>
            <a:off x="2667000" y="457200"/>
            <a:ext cx="4267200" cy="523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lgn="ctr">
              <a:buFontTx/>
              <a:buNone/>
              <a:defRPr/>
            </a:pPr>
            <a:r>
              <a:rPr lang="en-US" sz="2800" b="1" dirty="0">
                <a:effectLst>
                  <a:outerShdw blurRad="38100" dist="38100" dir="2700000" algn="tl">
                    <a:srgbClr val="000000">
                      <a:alpha val="43137"/>
                    </a:srgbClr>
                  </a:outerShdw>
                </a:effectLst>
                <a:latin typeface="Calibri" pitchFamily="34" charset="0"/>
              </a:rPr>
              <a:t>Roadmap</a:t>
            </a:r>
          </a:p>
        </p:txBody>
      </p:sp>
      <p:sp>
        <p:nvSpPr>
          <p:cNvPr id="7" name="Footer Placeholder 6"/>
          <p:cNvSpPr>
            <a:spLocks noGrp="1"/>
          </p:cNvSpPr>
          <p:nvPr>
            <p:ph type="ftr" sz="quarter" idx="11"/>
          </p:nvPr>
        </p:nvSpPr>
        <p:spPr/>
        <p:txBody>
          <a:bodyPr/>
          <a:lstStyle/>
          <a:p>
            <a:r>
              <a:rPr lang="en-US"/>
              <a:t>- Assistant  Prof. Riddhi Joshi</a:t>
            </a:r>
          </a:p>
        </p:txBody>
      </p:sp>
      <p:sp>
        <p:nvSpPr>
          <p:cNvPr id="4" name="Slide Number Placeholder 3"/>
          <p:cNvSpPr>
            <a:spLocks noGrp="1"/>
          </p:cNvSpPr>
          <p:nvPr>
            <p:ph type="sldNum" sz="quarter" idx="12"/>
          </p:nvPr>
        </p:nvSpPr>
        <p:spPr/>
        <p:txBody>
          <a:bodyPr/>
          <a:lstStyle/>
          <a:p>
            <a:fld id="{521E5947-19AD-4D38-BBE9-7D3EA973E689}" type="slidenum">
              <a:rPr lang="en-US" smtClean="0"/>
              <a:pPr/>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2803676" y="2796182"/>
            <a:ext cx="3309731" cy="2171700"/>
            <a:chOff x="4769126" y="3048000"/>
            <a:chExt cx="4184374" cy="2669618"/>
          </a:xfrm>
        </p:grpSpPr>
        <p:pic>
          <p:nvPicPr>
            <p:cNvPr id="3" name="Picture 2"/>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769126" y="3217862"/>
              <a:ext cx="4184374" cy="2499756"/>
            </a:xfrm>
            <a:prstGeom prst="rect">
              <a:avLst/>
            </a:prstGeom>
            <a:ln/>
          </p:spPr>
          <p:style>
            <a:lnRef idx="2">
              <a:schemeClr val="dk1"/>
            </a:lnRef>
            <a:fillRef idx="1">
              <a:schemeClr val="lt1"/>
            </a:fillRef>
            <a:effectRef idx="0">
              <a:schemeClr val="dk1"/>
            </a:effectRef>
            <a:fontRef idx="minor">
              <a:schemeClr val="dk1"/>
            </a:fontRef>
          </p:style>
        </p:pic>
        <p:sp>
          <p:nvSpPr>
            <p:cNvPr id="5" name="Rectangle 4"/>
            <p:cNvSpPr/>
            <p:nvPr/>
          </p:nvSpPr>
          <p:spPr>
            <a:xfrm>
              <a:off x="7924800" y="3048000"/>
              <a:ext cx="1028700" cy="4572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grpSp>
      <p:sp>
        <p:nvSpPr>
          <p:cNvPr id="2" name="Title 1"/>
          <p:cNvSpPr>
            <a:spLocks noGrp="1"/>
          </p:cNvSpPr>
          <p:nvPr>
            <p:ph type="title"/>
          </p:nvPr>
        </p:nvSpPr>
        <p:spPr/>
        <p:txBody>
          <a:bodyPr/>
          <a:lstStyle/>
          <a:p>
            <a:r>
              <a:rPr lang="en-IN" dirty="0">
                <a:latin typeface="+mj-lt"/>
              </a:rPr>
              <a:t>What is Computer Network?</a:t>
            </a:r>
          </a:p>
        </p:txBody>
      </p:sp>
      <p:sp>
        <p:nvSpPr>
          <p:cNvPr id="4" name="Content Placeholder 3"/>
          <p:cNvSpPr>
            <a:spLocks noGrp="1"/>
          </p:cNvSpPr>
          <p:nvPr>
            <p:ph idx="1"/>
          </p:nvPr>
        </p:nvSpPr>
        <p:spPr/>
        <p:txBody>
          <a:bodyPr/>
          <a:lstStyle/>
          <a:p>
            <a:pPr algn="just"/>
            <a:r>
              <a:rPr lang="en-IN" dirty="0"/>
              <a:t>Computer Network is a system in which multiple computers are </a:t>
            </a:r>
            <a:r>
              <a:rPr lang="en-IN" dirty="0">
                <a:solidFill>
                  <a:srgbClr val="FF0000"/>
                </a:solidFill>
              </a:rPr>
              <a:t>connected</a:t>
            </a:r>
            <a:r>
              <a:rPr lang="en-IN" dirty="0"/>
              <a:t> to each other to </a:t>
            </a:r>
            <a:r>
              <a:rPr lang="en-IN" dirty="0">
                <a:solidFill>
                  <a:srgbClr val="FF0000"/>
                </a:solidFill>
              </a:rPr>
              <a:t>share</a:t>
            </a:r>
            <a:r>
              <a:rPr lang="en-IN" dirty="0"/>
              <a:t> </a:t>
            </a:r>
            <a:r>
              <a:rPr lang="en-IN" dirty="0">
                <a:solidFill>
                  <a:srgbClr val="FF0000"/>
                </a:solidFill>
              </a:rPr>
              <a:t>information</a:t>
            </a:r>
            <a:r>
              <a:rPr lang="en-IN" dirty="0"/>
              <a:t> and </a:t>
            </a:r>
            <a:r>
              <a:rPr lang="en-IN" dirty="0">
                <a:solidFill>
                  <a:srgbClr val="FF0000"/>
                </a:solidFill>
              </a:rPr>
              <a:t>resources</a:t>
            </a:r>
            <a:r>
              <a:rPr lang="en-IN" dirty="0"/>
              <a:t>.</a:t>
            </a:r>
          </a:p>
          <a:p>
            <a:pPr marL="0" indent="0">
              <a:buNone/>
            </a:pPr>
            <a:endParaRPr lang="en-IN" dirty="0"/>
          </a:p>
        </p:txBody>
      </p:sp>
      <p:cxnSp>
        <p:nvCxnSpPr>
          <p:cNvPr id="16" name="Straight Arrow Connector 15"/>
          <p:cNvCxnSpPr/>
          <p:nvPr/>
        </p:nvCxnSpPr>
        <p:spPr>
          <a:xfrm>
            <a:off x="3965961" y="2934363"/>
            <a:ext cx="0" cy="8161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570619" y="2657505"/>
            <a:ext cx="906676" cy="300082"/>
          </a:xfrm>
          <a:prstGeom prst="rect">
            <a:avLst/>
          </a:prstGeom>
          <a:noFill/>
        </p:spPr>
        <p:txBody>
          <a:bodyPr wrap="square" rtlCol="0">
            <a:spAutoFit/>
          </a:bodyPr>
          <a:lstStyle/>
          <a:p>
            <a:r>
              <a:rPr lang="en-US" sz="1350" b="1" dirty="0">
                <a:solidFill>
                  <a:srgbClr val="FF0000"/>
                </a:solidFill>
              </a:rPr>
              <a:t>Wireless</a:t>
            </a:r>
          </a:p>
        </p:txBody>
      </p:sp>
      <p:sp>
        <p:nvSpPr>
          <p:cNvPr id="20" name="TextBox 19"/>
          <p:cNvSpPr txBox="1"/>
          <p:nvPr/>
        </p:nvSpPr>
        <p:spPr>
          <a:xfrm>
            <a:off x="3135086" y="5314533"/>
            <a:ext cx="739583" cy="300082"/>
          </a:xfrm>
          <a:prstGeom prst="rect">
            <a:avLst/>
          </a:prstGeom>
          <a:noFill/>
        </p:spPr>
        <p:txBody>
          <a:bodyPr wrap="square" rtlCol="0">
            <a:spAutoFit/>
          </a:bodyPr>
          <a:lstStyle/>
          <a:p>
            <a:r>
              <a:rPr lang="en-US" sz="1350" b="1" dirty="0">
                <a:solidFill>
                  <a:srgbClr val="FF0000"/>
                </a:solidFill>
              </a:rPr>
              <a:t>Wired</a:t>
            </a:r>
          </a:p>
        </p:txBody>
      </p:sp>
      <p:cxnSp>
        <p:nvCxnSpPr>
          <p:cNvPr id="21" name="Straight Arrow Connector 20"/>
          <p:cNvCxnSpPr/>
          <p:nvPr/>
        </p:nvCxnSpPr>
        <p:spPr>
          <a:xfrm flipV="1">
            <a:off x="3887883" y="4743451"/>
            <a:ext cx="1141318" cy="70958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3372948" y="4683009"/>
            <a:ext cx="395342" cy="69330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2925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0"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a:t>
            </a:r>
            <a:endParaRPr lang="en-IN" dirty="0"/>
          </a:p>
        </p:txBody>
      </p:sp>
      <p:sp>
        <p:nvSpPr>
          <p:cNvPr id="3" name="Content Placeholder 2"/>
          <p:cNvSpPr>
            <a:spLocks noGrp="1"/>
          </p:cNvSpPr>
          <p:nvPr>
            <p:ph idx="1"/>
          </p:nvPr>
        </p:nvSpPr>
        <p:spPr>
          <a:xfrm>
            <a:off x="971550" y="2228850"/>
            <a:ext cx="7200900" cy="3223260"/>
          </a:xfrm>
        </p:spPr>
        <p:txBody>
          <a:bodyPr>
            <a:normAutofit lnSpcReduction="10000"/>
          </a:bodyPr>
          <a:lstStyle/>
          <a:p>
            <a:pPr algn="just"/>
            <a:r>
              <a:rPr lang="en-US" dirty="0"/>
              <a:t>A computer network is a group of devices connected with each other through a transmission medium such as wires, cables etc. </a:t>
            </a:r>
          </a:p>
          <a:p>
            <a:pPr algn="just"/>
            <a:r>
              <a:rPr lang="en-US" dirty="0"/>
              <a:t>These devices can be computers, printers, scanners, Fax machines etc.</a:t>
            </a:r>
          </a:p>
          <a:p>
            <a:pPr algn="just"/>
            <a:r>
              <a:rPr lang="en-US" dirty="0"/>
              <a:t>The purpose of having computer network is to send and receive data stored in other devices over the network.</a:t>
            </a:r>
          </a:p>
          <a:p>
            <a:pPr algn="just"/>
            <a:r>
              <a:rPr lang="en-US" dirty="0"/>
              <a:t>Computer networks can also include multiple devices/mediums which help in the communication between two different devices; these are known as Network devices and include things such as routers, switches, hubs, and bridges. </a:t>
            </a:r>
          </a:p>
          <a:p>
            <a:pPr algn="just"/>
            <a:endParaRPr lang="en-IN" dirty="0"/>
          </a:p>
        </p:txBody>
      </p:sp>
    </p:spTree>
    <p:extLst>
      <p:ext uri="{BB962C8B-B14F-4D97-AF65-F5344CB8AC3E}">
        <p14:creationId xmlns:p14="http://schemas.microsoft.com/office/powerpoint/2010/main" val="35395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a:t>
            </a:r>
            <a:endParaRPr lang="en-IN" dirty="0"/>
          </a:p>
        </p:txBody>
      </p:sp>
      <p:sp>
        <p:nvSpPr>
          <p:cNvPr id="3" name="Content Placeholder 2"/>
          <p:cNvSpPr>
            <a:spLocks noGrp="1"/>
          </p:cNvSpPr>
          <p:nvPr>
            <p:ph idx="1"/>
          </p:nvPr>
        </p:nvSpPr>
        <p:spPr>
          <a:xfrm>
            <a:off x="971550" y="2228850"/>
            <a:ext cx="7200900" cy="3223260"/>
          </a:xfrm>
        </p:spPr>
        <p:txBody>
          <a:bodyPr>
            <a:normAutofit/>
          </a:bodyPr>
          <a:lstStyle/>
          <a:p>
            <a:pPr algn="just"/>
            <a:r>
              <a:rPr lang="en-US" dirty="0"/>
              <a:t>We need to generate information and disseminate information. </a:t>
            </a:r>
            <a:r>
              <a:rPr lang="en-US" dirty="0" err="1"/>
              <a:t>Eg.</a:t>
            </a:r>
            <a:r>
              <a:rPr lang="en-US" dirty="0"/>
              <a:t> </a:t>
            </a:r>
          </a:p>
          <a:p>
            <a:pPr lvl="1" algn="just"/>
            <a:r>
              <a:rPr lang="en-US" sz="1500" dirty="0"/>
              <a:t>Music files can be downloaded and uploaded on internet from LAN </a:t>
            </a:r>
          </a:p>
          <a:p>
            <a:pPr lvl="1" algn="just"/>
            <a:r>
              <a:rPr lang="en-US" sz="1500" dirty="0"/>
              <a:t>Emails </a:t>
            </a:r>
          </a:p>
          <a:p>
            <a:pPr lvl="1" algn="just"/>
            <a:r>
              <a:rPr lang="en-US" sz="1500" dirty="0"/>
              <a:t>Skype Voice –Video Calls </a:t>
            </a:r>
          </a:p>
          <a:p>
            <a:pPr lvl="1" algn="just"/>
            <a:r>
              <a:rPr lang="en-US" sz="1500" dirty="0"/>
              <a:t>Access information from blogs </a:t>
            </a:r>
          </a:p>
          <a:p>
            <a:pPr lvl="1" algn="just"/>
            <a:r>
              <a:rPr lang="en-US" sz="1500" dirty="0"/>
              <a:t>Access Database at remote location </a:t>
            </a:r>
          </a:p>
          <a:p>
            <a:pPr lvl="1" algn="just"/>
            <a:r>
              <a:rPr lang="en-US" sz="1500" dirty="0"/>
              <a:t>Audio and Video Conferencing</a:t>
            </a:r>
          </a:p>
          <a:p>
            <a:pPr algn="just"/>
            <a:endParaRPr lang="en-US" dirty="0"/>
          </a:p>
        </p:txBody>
      </p:sp>
    </p:spTree>
    <p:extLst>
      <p:ext uri="{BB962C8B-B14F-4D97-AF65-F5344CB8AC3E}">
        <p14:creationId xmlns:p14="http://schemas.microsoft.com/office/powerpoint/2010/main" val="4076745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464" y="2413670"/>
            <a:ext cx="7200900" cy="815009"/>
          </a:xfrm>
        </p:spPr>
        <p:txBody>
          <a:bodyPr>
            <a:normAutofit/>
          </a:bodyPr>
          <a:lstStyle/>
          <a:p>
            <a:pPr algn="ctr"/>
            <a:r>
              <a:rPr lang="en-US" sz="3000" dirty="0"/>
              <a:t>Data Communication fundamentals</a:t>
            </a:r>
          </a:p>
        </p:txBody>
      </p:sp>
    </p:spTree>
    <p:extLst>
      <p:ext uri="{BB962C8B-B14F-4D97-AF65-F5344CB8AC3E}">
        <p14:creationId xmlns:p14="http://schemas.microsoft.com/office/powerpoint/2010/main" val="3112394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Bandwidth and data rate</a:t>
            </a:r>
            <a:endParaRPr lang="en-IN" dirty="0"/>
          </a:p>
        </p:txBody>
      </p:sp>
      <p:sp>
        <p:nvSpPr>
          <p:cNvPr id="3" name="Content Placeholder 2"/>
          <p:cNvSpPr>
            <a:spLocks noGrp="1"/>
          </p:cNvSpPr>
          <p:nvPr>
            <p:ph idx="1"/>
          </p:nvPr>
        </p:nvSpPr>
        <p:spPr/>
        <p:txBody>
          <a:bodyPr>
            <a:normAutofit/>
          </a:bodyPr>
          <a:lstStyle/>
          <a:p>
            <a:pPr algn="just"/>
            <a:r>
              <a:rPr lang="en-US" sz="2100" b="1" dirty="0"/>
              <a:t>Bandwidth:</a:t>
            </a:r>
          </a:p>
          <a:p>
            <a:pPr algn="just"/>
            <a:r>
              <a:rPr lang="en-US" sz="2100" dirty="0"/>
              <a:t>Bandwidth is defined as the potential of the data that is to be transferred in a specific period of time. </a:t>
            </a:r>
          </a:p>
          <a:p>
            <a:pPr algn="just"/>
            <a:r>
              <a:rPr lang="en-US" sz="2100" dirty="0"/>
              <a:t>Represents the range of frequencies that can pass thru a medium.</a:t>
            </a:r>
          </a:p>
          <a:p>
            <a:pPr algn="just"/>
            <a:r>
              <a:rPr lang="en-US" sz="2100" dirty="0"/>
              <a:t> It is the data carrying capacity of the network or transmission medium. </a:t>
            </a:r>
          </a:p>
          <a:p>
            <a:pPr algn="just"/>
            <a:r>
              <a:rPr lang="en-US" sz="2100" dirty="0"/>
              <a:t>In simple words, it is the maximum amount of data that can be transferred per second on a link. </a:t>
            </a:r>
          </a:p>
        </p:txBody>
      </p:sp>
    </p:spTree>
    <p:extLst>
      <p:ext uri="{BB962C8B-B14F-4D97-AF65-F5344CB8AC3E}">
        <p14:creationId xmlns:p14="http://schemas.microsoft.com/office/powerpoint/2010/main" val="2893897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Bandwidth and data rate</a:t>
            </a:r>
            <a:endParaRPr lang="en-IN" dirty="0"/>
          </a:p>
        </p:txBody>
      </p:sp>
      <p:sp>
        <p:nvSpPr>
          <p:cNvPr id="3" name="Content Placeholder 2"/>
          <p:cNvSpPr>
            <a:spLocks noGrp="1"/>
          </p:cNvSpPr>
          <p:nvPr>
            <p:ph idx="1"/>
          </p:nvPr>
        </p:nvSpPr>
        <p:spPr/>
        <p:txBody>
          <a:bodyPr>
            <a:normAutofit/>
          </a:bodyPr>
          <a:lstStyle/>
          <a:p>
            <a:pPr algn="just"/>
            <a:r>
              <a:rPr lang="en-US" sz="2100" dirty="0"/>
              <a:t>It is generally measured in bits per second(bps), Mega bits per second(Mbps) or Giga bits per second(Gbps).</a:t>
            </a:r>
          </a:p>
          <a:p>
            <a:pPr algn="just"/>
            <a:r>
              <a:rPr lang="en-US" sz="2100" dirty="0"/>
              <a:t>For example, if bandwidth is 100 Mbps, it means maximum 100 Mb data can be transferred per second on that channel.</a:t>
            </a:r>
          </a:p>
          <a:p>
            <a:pPr algn="just"/>
            <a:r>
              <a:rPr lang="en-US" sz="2100" dirty="0"/>
              <a:t>More the bandwidth larger the data it can transmit.</a:t>
            </a:r>
          </a:p>
          <a:p>
            <a:pPr algn="just"/>
            <a:r>
              <a:rPr lang="en-US" sz="2100" dirty="0" err="1"/>
              <a:t>Eg.</a:t>
            </a:r>
            <a:r>
              <a:rPr lang="en-US" sz="2100" dirty="0"/>
              <a:t> Wider the road, larger #Vehicles accommodated.</a:t>
            </a:r>
          </a:p>
          <a:p>
            <a:pPr marL="34290" indent="0" algn="just">
              <a:buNone/>
            </a:pPr>
            <a:endParaRPr lang="en-US" sz="2100" dirty="0"/>
          </a:p>
        </p:txBody>
      </p:sp>
    </p:spTree>
    <p:extLst>
      <p:ext uri="{BB962C8B-B14F-4D97-AF65-F5344CB8AC3E}">
        <p14:creationId xmlns:p14="http://schemas.microsoft.com/office/powerpoint/2010/main" val="2503122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Bandwidth and data rate</a:t>
            </a:r>
            <a:endParaRPr lang="en-IN" dirty="0"/>
          </a:p>
        </p:txBody>
      </p:sp>
      <p:sp>
        <p:nvSpPr>
          <p:cNvPr id="3" name="Content Placeholder 2"/>
          <p:cNvSpPr>
            <a:spLocks noGrp="1"/>
          </p:cNvSpPr>
          <p:nvPr>
            <p:ph idx="1"/>
          </p:nvPr>
        </p:nvSpPr>
        <p:spPr/>
        <p:txBody>
          <a:bodyPr>
            <a:normAutofit/>
          </a:bodyPr>
          <a:lstStyle/>
          <a:p>
            <a:pPr algn="just"/>
            <a:r>
              <a:rPr lang="en-US" sz="2100" b="1" dirty="0"/>
              <a:t>Data Rate</a:t>
            </a:r>
          </a:p>
          <a:p>
            <a:pPr algn="just"/>
            <a:r>
              <a:rPr lang="en-US" sz="2100" dirty="0"/>
              <a:t>Data Rate is defined as the amount of data transmitted during a specified time period over a network. </a:t>
            </a:r>
          </a:p>
          <a:p>
            <a:pPr algn="just"/>
            <a:r>
              <a:rPr lang="en-US" sz="2100" dirty="0"/>
              <a:t>It is the speed at which data is transferred from one device to another or between a peripheral device and the computer. </a:t>
            </a:r>
          </a:p>
          <a:p>
            <a:pPr algn="just"/>
            <a:r>
              <a:rPr lang="en-US" sz="2100" dirty="0"/>
              <a:t>It is generally measured in Mega bits per second(Mbps) or Mega bytes per second(Mbps).</a:t>
            </a:r>
          </a:p>
          <a:p>
            <a:pPr algn="just"/>
            <a:r>
              <a:rPr lang="en-US" sz="2100" dirty="0"/>
              <a:t>For example, if bandwidth is 100 Mbps but data rate is 50 Mbps, it means maximum 100 Mb data can be transferred but channel is transmitting only 50 Mb data per second.</a:t>
            </a:r>
          </a:p>
        </p:txBody>
      </p:sp>
    </p:spTree>
    <p:extLst>
      <p:ext uri="{BB962C8B-B14F-4D97-AF65-F5344CB8AC3E}">
        <p14:creationId xmlns:p14="http://schemas.microsoft.com/office/powerpoint/2010/main" val="1198722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Bandwidth and data rate</a:t>
            </a:r>
            <a:endParaRPr lang="en-IN" dirty="0"/>
          </a:p>
        </p:txBody>
      </p:sp>
      <p:sp>
        <p:nvSpPr>
          <p:cNvPr id="3" name="Content Placeholder 2"/>
          <p:cNvSpPr>
            <a:spLocks noGrp="1"/>
          </p:cNvSpPr>
          <p:nvPr>
            <p:ph idx="1"/>
          </p:nvPr>
        </p:nvSpPr>
        <p:spPr/>
        <p:txBody>
          <a:bodyPr>
            <a:normAutofit/>
          </a:bodyPr>
          <a:lstStyle/>
          <a:p>
            <a:pPr algn="just"/>
            <a:r>
              <a:rPr lang="en-US" sz="2100" dirty="0"/>
              <a:t>Purely depends on bandwidth.</a:t>
            </a:r>
          </a:p>
          <a:p>
            <a:pPr algn="just"/>
            <a:r>
              <a:rPr lang="en-US" sz="2100" dirty="0"/>
              <a:t>Variable.</a:t>
            </a:r>
          </a:p>
          <a:p>
            <a:pPr algn="just"/>
            <a:r>
              <a:rPr lang="en-US" sz="2100" dirty="0" err="1"/>
              <a:t>Eg</a:t>
            </a:r>
            <a:r>
              <a:rPr lang="en-US" sz="2100" dirty="0"/>
              <a:t>: Driver asking for infinite speed (bandwidth) for transmission</a:t>
            </a:r>
          </a:p>
          <a:p>
            <a:pPr algn="just"/>
            <a:r>
              <a:rPr lang="en-US" sz="2100" dirty="0"/>
              <a:t>Data rates depends on Bandwidth utilization, If Analog: constellation points, If Digital, Number of levels, Receiver’s sensitivity, Media resistance and temperature.</a:t>
            </a:r>
          </a:p>
          <a:p>
            <a:pPr algn="just"/>
            <a:r>
              <a:rPr lang="en-US" sz="2100" dirty="0"/>
              <a:t>In short data rate is equal to the number of vehicles passing through the highway and bandwidth is number of lanes the highway has.</a:t>
            </a:r>
          </a:p>
          <a:p>
            <a:pPr algn="just"/>
            <a:endParaRPr lang="en-US" sz="2100" dirty="0"/>
          </a:p>
        </p:txBody>
      </p:sp>
    </p:spTree>
    <p:extLst>
      <p:ext uri="{BB962C8B-B14F-4D97-AF65-F5344CB8AC3E}">
        <p14:creationId xmlns:p14="http://schemas.microsoft.com/office/powerpoint/2010/main" val="3854692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Frequency &amp; Band: </a:t>
            </a:r>
            <a:endParaRPr lang="en-IN" dirty="0"/>
          </a:p>
        </p:txBody>
      </p:sp>
      <p:sp>
        <p:nvSpPr>
          <p:cNvPr id="3" name="Content Placeholder 2"/>
          <p:cNvSpPr>
            <a:spLocks noGrp="1"/>
          </p:cNvSpPr>
          <p:nvPr>
            <p:ph idx="1"/>
          </p:nvPr>
        </p:nvSpPr>
        <p:spPr/>
        <p:txBody>
          <a:bodyPr>
            <a:normAutofit fontScale="92500" lnSpcReduction="20000"/>
          </a:bodyPr>
          <a:lstStyle/>
          <a:p>
            <a:pPr algn="just"/>
            <a:r>
              <a:rPr lang="en-US" sz="2100" dirty="0"/>
              <a:t>A wave is a vibration that carries energy with it. </a:t>
            </a:r>
          </a:p>
          <a:p>
            <a:pPr algn="just"/>
            <a:r>
              <a:rPr lang="en-US" sz="2100" dirty="0"/>
              <a:t>The frequency of a wave is the number of waves that pass by each second, and is measured in Hertz (Hz). </a:t>
            </a:r>
          </a:p>
          <a:p>
            <a:pPr algn="just"/>
            <a:r>
              <a:rPr lang="en-US" sz="2100" dirty="0"/>
              <a:t>For example, a sound wave might have a frequency of 450 Hz.</a:t>
            </a:r>
          </a:p>
          <a:p>
            <a:pPr algn="just"/>
            <a:r>
              <a:rPr lang="en-US" sz="2100" dirty="0"/>
              <a:t>Signal travels through a medium also has a bandwidth </a:t>
            </a:r>
          </a:p>
          <a:p>
            <a:pPr algn="just"/>
            <a:r>
              <a:rPr lang="en-US" sz="2100" dirty="0"/>
              <a:t>It is the range of frequencies the signal contains.</a:t>
            </a:r>
          </a:p>
          <a:p>
            <a:pPr algn="just"/>
            <a:r>
              <a:rPr lang="en-US" sz="2100" dirty="0"/>
              <a:t>This range of frequencies is called frequency band. </a:t>
            </a:r>
          </a:p>
          <a:p>
            <a:pPr algn="just"/>
            <a:r>
              <a:rPr lang="en-US" sz="2100" dirty="0"/>
              <a:t>If we try to accommodate more radio stations in a band, they become too noisy. </a:t>
            </a:r>
          </a:p>
          <a:p>
            <a:pPr algn="just"/>
            <a:r>
              <a:rPr lang="en-US" sz="2100" dirty="0"/>
              <a:t>(</a:t>
            </a:r>
            <a:r>
              <a:rPr lang="en-US" sz="2100" dirty="0" err="1"/>
              <a:t>Eg.</a:t>
            </a:r>
            <a:r>
              <a:rPr lang="en-US" sz="2100" dirty="0"/>
              <a:t> For radio station 98.3 Frequencies are: Radio FM: 98.0 to 98.5)</a:t>
            </a:r>
          </a:p>
          <a:p>
            <a:pPr algn="just"/>
            <a:r>
              <a:rPr lang="en-US" sz="2100" dirty="0"/>
              <a:t>Similarly for LANs, limits the #users. </a:t>
            </a:r>
          </a:p>
        </p:txBody>
      </p:sp>
    </p:spTree>
    <p:extLst>
      <p:ext uri="{BB962C8B-B14F-4D97-AF65-F5344CB8AC3E}">
        <p14:creationId xmlns:p14="http://schemas.microsoft.com/office/powerpoint/2010/main" val="224874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 model</a:t>
            </a:r>
            <a:endParaRPr lang="en-IN" dirty="0"/>
          </a:p>
        </p:txBody>
      </p:sp>
      <p:sp>
        <p:nvSpPr>
          <p:cNvPr id="3" name="Content Placeholder 2"/>
          <p:cNvSpPr>
            <a:spLocks noGrp="1"/>
          </p:cNvSpPr>
          <p:nvPr>
            <p:ph idx="1"/>
          </p:nvPr>
        </p:nvSpPr>
        <p:spPr/>
        <p:txBody>
          <a:bodyPr>
            <a:normAutofit/>
          </a:bodyPr>
          <a:lstStyle/>
          <a:p>
            <a:pPr algn="just"/>
            <a:r>
              <a:rPr lang="en-US" sz="1800" b="1" dirty="0"/>
              <a:t>What is Reference model?</a:t>
            </a:r>
          </a:p>
          <a:p>
            <a:pPr algn="just"/>
            <a:r>
              <a:rPr lang="en-US" dirty="0"/>
              <a:t>A reference model is a conceptual layout that describes how communication between devices should occur. </a:t>
            </a:r>
          </a:p>
          <a:p>
            <a:pPr algn="just"/>
            <a:r>
              <a:rPr lang="en-US" dirty="0"/>
              <a:t>A reference model has many advantages such as it defines standards for building network components thereby permitting multiple vendor development and also defines which functions should be performed at each layer of the model thereby promoting the </a:t>
            </a:r>
            <a:r>
              <a:rPr lang="en-IN" dirty="0"/>
              <a:t>standardization of network.</a:t>
            </a:r>
          </a:p>
        </p:txBody>
      </p:sp>
    </p:spTree>
    <p:extLst>
      <p:ext uri="{BB962C8B-B14F-4D97-AF65-F5344CB8AC3E}">
        <p14:creationId xmlns:p14="http://schemas.microsoft.com/office/powerpoint/2010/main" val="3140451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 ISO -OSI</a:t>
            </a:r>
            <a:endParaRPr lang="en-IN" dirty="0"/>
          </a:p>
        </p:txBody>
      </p:sp>
      <p:sp>
        <p:nvSpPr>
          <p:cNvPr id="3" name="Content Placeholder 2"/>
          <p:cNvSpPr>
            <a:spLocks noGrp="1"/>
          </p:cNvSpPr>
          <p:nvPr>
            <p:ph idx="1"/>
          </p:nvPr>
        </p:nvSpPr>
        <p:spPr>
          <a:xfrm>
            <a:off x="971550" y="2228850"/>
            <a:ext cx="7200900" cy="3275463"/>
          </a:xfrm>
        </p:spPr>
        <p:txBody>
          <a:bodyPr>
            <a:normAutofit fontScale="85000" lnSpcReduction="10000"/>
          </a:bodyPr>
          <a:lstStyle/>
          <a:p>
            <a:pPr algn="just"/>
            <a:r>
              <a:rPr lang="en-US" dirty="0"/>
              <a:t>In 1984 in order to aid network interconnection without necessarily requiring complete redesign, the Open Systems Interconnection (OSI) reference model was approved as an </a:t>
            </a:r>
            <a:r>
              <a:rPr lang="en-IN" dirty="0"/>
              <a:t>international standard for communications architecture.</a:t>
            </a:r>
          </a:p>
          <a:p>
            <a:pPr algn="just"/>
            <a:r>
              <a:rPr lang="en-US" dirty="0"/>
              <a:t>The Open Systems Interconnection (OSI) reference model is a descriptive network scheme. It ensures greater compatibility and interoperability between various types of network </a:t>
            </a:r>
            <a:r>
              <a:rPr lang="en-IN" dirty="0"/>
              <a:t>technologies.</a:t>
            </a:r>
          </a:p>
          <a:p>
            <a:pPr algn="just"/>
            <a:r>
              <a:rPr lang="en-US" dirty="0"/>
              <a:t>The OSI model describes how information or data makes its way from application programs (such as spreadsheets) through a network medium (such as wire) to another application program located on another network.</a:t>
            </a:r>
          </a:p>
          <a:p>
            <a:pPr algn="just"/>
            <a:r>
              <a:rPr lang="en-US" dirty="0"/>
              <a:t>The OSI reference model divides the problem of moving information between computers over a network medium into SEVEN smaller and more manageable problems.</a:t>
            </a:r>
            <a:endParaRPr lang="en-IN" dirty="0"/>
          </a:p>
        </p:txBody>
      </p:sp>
    </p:spTree>
    <p:extLst>
      <p:ext uri="{BB962C8B-B14F-4D97-AF65-F5344CB8AC3E}">
        <p14:creationId xmlns:p14="http://schemas.microsoft.com/office/powerpoint/2010/main" val="3623238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OSI Reference Model</a:t>
            </a:r>
          </a:p>
        </p:txBody>
      </p:sp>
      <p:sp>
        <p:nvSpPr>
          <p:cNvPr id="3" name="Content Placeholder 2"/>
          <p:cNvSpPr>
            <a:spLocks noGrp="1"/>
          </p:cNvSpPr>
          <p:nvPr>
            <p:ph idx="1"/>
          </p:nvPr>
        </p:nvSpPr>
        <p:spPr/>
        <p:txBody>
          <a:bodyPr/>
          <a:lstStyle/>
          <a:p>
            <a:r>
              <a:rPr lang="en-US" dirty="0"/>
              <a:t>This model is based on a proposal developed by the International Standards Organization (ISO) as a first step toward international standardization of the protocols used in the various layers (Day and Zimmermann, 1983).</a:t>
            </a:r>
          </a:p>
          <a:p>
            <a:r>
              <a:rPr lang="en-US" dirty="0"/>
              <a:t>It was revised in 1995 (Day, 1995). The model is called the ISO </a:t>
            </a:r>
            <a:r>
              <a:rPr lang="en-US" b="1" dirty="0"/>
              <a:t>OSI </a:t>
            </a:r>
            <a:r>
              <a:rPr lang="en-US" dirty="0"/>
              <a:t>(</a:t>
            </a:r>
            <a:r>
              <a:rPr lang="en-US" b="1" dirty="0"/>
              <a:t>Open Systems Interconnection</a:t>
            </a:r>
            <a:r>
              <a:rPr lang="en-US" dirty="0"/>
              <a:t>) Reference Model because it deals with connecting open systems—that is, systems that are open for communication with other systems. We will just call it the </a:t>
            </a:r>
            <a:r>
              <a:rPr lang="en-US" b="1" dirty="0"/>
              <a:t>OSI </a:t>
            </a:r>
            <a:r>
              <a:rPr lang="en-IN" b="1" dirty="0"/>
              <a:t>model </a:t>
            </a:r>
            <a:r>
              <a:rPr lang="en-IN" dirty="0"/>
              <a:t>for short.</a:t>
            </a:r>
          </a:p>
        </p:txBody>
      </p:sp>
    </p:spTree>
    <p:extLst>
      <p:ext uri="{BB962C8B-B14F-4D97-AF65-F5344CB8AC3E}">
        <p14:creationId xmlns:p14="http://schemas.microsoft.com/office/powerpoint/2010/main" val="3334552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lstStyle/>
          <a:p>
            <a:r>
              <a:rPr lang="en-IN" dirty="0"/>
              <a:t> OSI model </a:t>
            </a:r>
          </a:p>
        </p:txBody>
      </p:sp>
      <p:sp>
        <p:nvSpPr>
          <p:cNvPr id="6" name="Content Placeholder 5">
            <a:extLst>
              <a:ext uri="{FF2B5EF4-FFF2-40B4-BE49-F238E27FC236}">
                <a16:creationId xmlns:a16="http://schemas.microsoft.com/office/drawing/2014/main" id="{99AFED72-6866-4834-973C-CBCF10BF5B58}"/>
              </a:ext>
            </a:extLst>
          </p:cNvPr>
          <p:cNvSpPr>
            <a:spLocks noGrp="1"/>
          </p:cNvSpPr>
          <p:nvPr>
            <p:ph idx="1"/>
          </p:nvPr>
        </p:nvSpPr>
        <p:spPr>
          <a:xfrm>
            <a:off x="971550" y="1885950"/>
            <a:ext cx="7200900" cy="3086100"/>
          </a:xfrm>
        </p:spPr>
        <p:txBody>
          <a:bodyPr>
            <a:noAutofit/>
          </a:bodyPr>
          <a:lstStyle/>
          <a:p>
            <a:pPr algn="just"/>
            <a:r>
              <a:rPr lang="en-US" dirty="0"/>
              <a:t>To deals with connecting systems that are open for communication with other systems. </a:t>
            </a:r>
          </a:p>
          <a:p>
            <a:pPr algn="just"/>
            <a:r>
              <a:rPr lang="en-US" dirty="0"/>
              <a:t>OSI Layer Model (Open Systems Interconnection) </a:t>
            </a:r>
          </a:p>
          <a:p>
            <a:pPr algn="just"/>
            <a:r>
              <a:rPr lang="en-US" dirty="0"/>
              <a:t>Developed by the International Standards Organization (ISO) with seven different layers</a:t>
            </a:r>
            <a:r>
              <a:rPr lang="en-US" sz="1800" dirty="0"/>
              <a:t>.</a:t>
            </a:r>
          </a:p>
          <a:p>
            <a:pPr lvl="1" algn="just"/>
            <a:r>
              <a:rPr lang="en-US" sz="1500" dirty="0"/>
              <a:t>Physical Layer	</a:t>
            </a:r>
          </a:p>
          <a:p>
            <a:pPr lvl="1" algn="just"/>
            <a:r>
              <a:rPr lang="en-US" sz="1500" dirty="0"/>
              <a:t>Data Link Layer</a:t>
            </a:r>
          </a:p>
          <a:p>
            <a:pPr lvl="1" algn="just"/>
            <a:r>
              <a:rPr lang="en-US" sz="1500" dirty="0"/>
              <a:t>Network Layer	</a:t>
            </a:r>
          </a:p>
          <a:p>
            <a:pPr lvl="1" algn="just"/>
            <a:r>
              <a:rPr lang="en-US" sz="1500" dirty="0"/>
              <a:t>Transport Layer</a:t>
            </a:r>
          </a:p>
          <a:p>
            <a:pPr lvl="1" algn="just"/>
            <a:r>
              <a:rPr lang="en-US" sz="1500" dirty="0"/>
              <a:t>Session Layer	</a:t>
            </a:r>
          </a:p>
          <a:p>
            <a:pPr lvl="1" algn="just"/>
            <a:r>
              <a:rPr lang="en-US" sz="1500" dirty="0"/>
              <a:t>Presentation Layer</a:t>
            </a:r>
          </a:p>
          <a:p>
            <a:pPr lvl="1" algn="just"/>
            <a:r>
              <a:rPr lang="en-US" sz="1500" dirty="0"/>
              <a:t>Application Layer</a:t>
            </a:r>
          </a:p>
          <a:p>
            <a:pPr algn="just"/>
            <a:endParaRPr lang="en-US" sz="1800" dirty="0"/>
          </a:p>
          <a:p>
            <a:pPr algn="just"/>
            <a:endParaRPr lang="en-US" sz="1800" dirty="0"/>
          </a:p>
        </p:txBody>
      </p:sp>
    </p:spTree>
    <p:extLst>
      <p:ext uri="{BB962C8B-B14F-4D97-AF65-F5344CB8AC3E}">
        <p14:creationId xmlns:p14="http://schemas.microsoft.com/office/powerpoint/2010/main" val="908489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84156"/>
            <a:ext cx="7200900" cy="857250"/>
          </a:xfrm>
        </p:spPr>
        <p:txBody>
          <a:bodyPr/>
          <a:lstStyle/>
          <a:p>
            <a:r>
              <a:rPr lang="en-IN" b="1" dirty="0"/>
              <a:t>Example – Air Plane Travel</a:t>
            </a:r>
            <a:endParaRPr lang="en-IN" dirty="0"/>
          </a:p>
        </p:txBody>
      </p:sp>
      <p:sp>
        <p:nvSpPr>
          <p:cNvPr id="5" name="Text Box 5">
            <a:extLst>
              <a:ext uri="{FF2B5EF4-FFF2-40B4-BE49-F238E27FC236}">
                <a16:creationId xmlns:a16="http://schemas.microsoft.com/office/drawing/2014/main" id="{85E57CAE-103A-43A4-8B72-1A588565AF34}"/>
              </a:ext>
            </a:extLst>
          </p:cNvPr>
          <p:cNvSpPr txBox="1">
            <a:spLocks noChangeArrowheads="1"/>
          </p:cNvSpPr>
          <p:nvPr/>
        </p:nvSpPr>
        <p:spPr bwMode="auto">
          <a:xfrm>
            <a:off x="2164515" y="2343683"/>
            <a:ext cx="1487458" cy="216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r>
              <a:rPr lang="en-US" altLang="en-US" sz="1500" dirty="0">
                <a:solidFill>
                  <a:srgbClr val="000099"/>
                </a:solidFill>
                <a:latin typeface="+mn-lt"/>
              </a:rPr>
              <a:t>ticket (purchase)</a:t>
            </a:r>
          </a:p>
          <a:p>
            <a:endParaRPr lang="en-US" altLang="en-US" sz="1500" dirty="0">
              <a:solidFill>
                <a:srgbClr val="000099"/>
              </a:solidFill>
              <a:latin typeface="+mn-lt"/>
            </a:endParaRPr>
          </a:p>
          <a:p>
            <a:r>
              <a:rPr lang="en-US" altLang="en-US" sz="1500" dirty="0">
                <a:solidFill>
                  <a:srgbClr val="000099"/>
                </a:solidFill>
                <a:latin typeface="+mn-lt"/>
              </a:rPr>
              <a:t>baggage (check)</a:t>
            </a:r>
          </a:p>
          <a:p>
            <a:endParaRPr lang="en-US" altLang="en-US" sz="1500" dirty="0">
              <a:solidFill>
                <a:srgbClr val="000099"/>
              </a:solidFill>
              <a:latin typeface="+mn-lt"/>
            </a:endParaRPr>
          </a:p>
          <a:p>
            <a:r>
              <a:rPr lang="en-US" altLang="en-US" sz="1500" dirty="0">
                <a:solidFill>
                  <a:srgbClr val="000099"/>
                </a:solidFill>
                <a:latin typeface="+mn-lt"/>
              </a:rPr>
              <a:t>gates (load)</a:t>
            </a:r>
          </a:p>
          <a:p>
            <a:endParaRPr lang="en-US" altLang="en-US" sz="1500" dirty="0">
              <a:solidFill>
                <a:srgbClr val="000099"/>
              </a:solidFill>
              <a:latin typeface="+mn-lt"/>
            </a:endParaRPr>
          </a:p>
          <a:p>
            <a:r>
              <a:rPr lang="en-US" altLang="en-US" sz="1500" dirty="0">
                <a:solidFill>
                  <a:srgbClr val="000099"/>
                </a:solidFill>
                <a:latin typeface="+mn-lt"/>
              </a:rPr>
              <a:t>runway takeoff</a:t>
            </a:r>
          </a:p>
          <a:p>
            <a:endParaRPr lang="en-US" altLang="en-US" sz="1500" dirty="0">
              <a:solidFill>
                <a:srgbClr val="000099"/>
              </a:solidFill>
              <a:latin typeface="+mn-lt"/>
            </a:endParaRPr>
          </a:p>
          <a:p>
            <a:r>
              <a:rPr lang="en-US" altLang="en-US" sz="1500" dirty="0">
                <a:solidFill>
                  <a:srgbClr val="000099"/>
                </a:solidFill>
                <a:latin typeface="+mn-lt"/>
              </a:rPr>
              <a:t>airplane routing</a:t>
            </a:r>
          </a:p>
        </p:txBody>
      </p:sp>
      <p:sp>
        <p:nvSpPr>
          <p:cNvPr id="7" name="Text Box 6">
            <a:extLst>
              <a:ext uri="{FF2B5EF4-FFF2-40B4-BE49-F238E27FC236}">
                <a16:creationId xmlns:a16="http://schemas.microsoft.com/office/drawing/2014/main" id="{18B54F6D-D03C-4B1B-A790-5073EB7FDB72}"/>
              </a:ext>
            </a:extLst>
          </p:cNvPr>
          <p:cNvSpPr txBox="1">
            <a:spLocks noChangeArrowheads="1"/>
          </p:cNvSpPr>
          <p:nvPr/>
        </p:nvSpPr>
        <p:spPr bwMode="auto">
          <a:xfrm>
            <a:off x="5251038" y="2335062"/>
            <a:ext cx="1493486" cy="216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r>
              <a:rPr lang="en-US" altLang="en-US" sz="1500" dirty="0">
                <a:solidFill>
                  <a:srgbClr val="000099"/>
                </a:solidFill>
                <a:latin typeface="+mn-lt"/>
              </a:rPr>
              <a:t>ticket (complain)</a:t>
            </a:r>
          </a:p>
          <a:p>
            <a:endParaRPr lang="en-US" altLang="en-US" sz="1500" dirty="0">
              <a:solidFill>
                <a:srgbClr val="000099"/>
              </a:solidFill>
              <a:latin typeface="+mn-lt"/>
            </a:endParaRPr>
          </a:p>
          <a:p>
            <a:r>
              <a:rPr lang="en-US" altLang="en-US" sz="1500" dirty="0">
                <a:solidFill>
                  <a:srgbClr val="000099"/>
                </a:solidFill>
                <a:latin typeface="+mn-lt"/>
              </a:rPr>
              <a:t>baggage (claim)</a:t>
            </a:r>
          </a:p>
          <a:p>
            <a:endParaRPr lang="en-US" altLang="en-US" sz="1500" dirty="0">
              <a:solidFill>
                <a:srgbClr val="000099"/>
              </a:solidFill>
              <a:latin typeface="+mn-lt"/>
            </a:endParaRPr>
          </a:p>
          <a:p>
            <a:r>
              <a:rPr lang="en-US" altLang="en-US" sz="1500" dirty="0">
                <a:solidFill>
                  <a:srgbClr val="000099"/>
                </a:solidFill>
                <a:latin typeface="+mn-lt"/>
              </a:rPr>
              <a:t>gates (unload)</a:t>
            </a:r>
          </a:p>
          <a:p>
            <a:endParaRPr lang="en-US" altLang="en-US" sz="1500" dirty="0">
              <a:solidFill>
                <a:srgbClr val="000099"/>
              </a:solidFill>
              <a:latin typeface="+mn-lt"/>
            </a:endParaRPr>
          </a:p>
          <a:p>
            <a:r>
              <a:rPr lang="en-US" altLang="en-US" sz="1500" dirty="0">
                <a:solidFill>
                  <a:srgbClr val="000099"/>
                </a:solidFill>
                <a:latin typeface="+mn-lt"/>
              </a:rPr>
              <a:t>runway landing</a:t>
            </a:r>
          </a:p>
          <a:p>
            <a:endParaRPr lang="en-US" altLang="en-US" sz="1500" dirty="0">
              <a:solidFill>
                <a:srgbClr val="000099"/>
              </a:solidFill>
              <a:latin typeface="+mn-lt"/>
            </a:endParaRPr>
          </a:p>
          <a:p>
            <a:r>
              <a:rPr lang="en-US" altLang="en-US" sz="1500" dirty="0">
                <a:solidFill>
                  <a:srgbClr val="000099"/>
                </a:solidFill>
                <a:latin typeface="+mn-lt"/>
              </a:rPr>
              <a:t>airplane routing</a:t>
            </a:r>
          </a:p>
        </p:txBody>
      </p:sp>
      <p:sp>
        <p:nvSpPr>
          <p:cNvPr id="8" name="Text Box 7">
            <a:extLst>
              <a:ext uri="{FF2B5EF4-FFF2-40B4-BE49-F238E27FC236}">
                <a16:creationId xmlns:a16="http://schemas.microsoft.com/office/drawing/2014/main" id="{5E19599D-D013-4A3C-B889-AB460C773276}"/>
              </a:ext>
            </a:extLst>
          </p:cNvPr>
          <p:cNvSpPr txBox="1">
            <a:spLocks noChangeArrowheads="1"/>
          </p:cNvSpPr>
          <p:nvPr/>
        </p:nvSpPr>
        <p:spPr bwMode="auto">
          <a:xfrm>
            <a:off x="3746422" y="4955754"/>
            <a:ext cx="143193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r>
              <a:rPr lang="en-US" altLang="en-US" sz="1500" dirty="0">
                <a:solidFill>
                  <a:srgbClr val="000099"/>
                </a:solidFill>
                <a:latin typeface="+mn-lt"/>
              </a:rPr>
              <a:t>airplane routing</a:t>
            </a:r>
          </a:p>
        </p:txBody>
      </p:sp>
      <p:sp>
        <p:nvSpPr>
          <p:cNvPr id="9" name="Freeform 8">
            <a:extLst>
              <a:ext uri="{FF2B5EF4-FFF2-40B4-BE49-F238E27FC236}">
                <a16:creationId xmlns:a16="http://schemas.microsoft.com/office/drawing/2014/main" id="{BBF32AE6-2092-4CB2-8425-E7FD49B20C33}"/>
              </a:ext>
            </a:extLst>
          </p:cNvPr>
          <p:cNvSpPr>
            <a:spLocks/>
          </p:cNvSpPr>
          <p:nvPr/>
        </p:nvSpPr>
        <p:spPr bwMode="auto">
          <a:xfrm>
            <a:off x="1976437" y="2333626"/>
            <a:ext cx="5281613" cy="2977015"/>
          </a:xfrm>
          <a:custGeom>
            <a:avLst/>
            <a:gdLst>
              <a:gd name="T0" fmla="*/ 0 w 4100"/>
              <a:gd name="T1" fmla="*/ 0 h 2072"/>
              <a:gd name="T2" fmla="*/ 4 w 4100"/>
              <a:gd name="T3" fmla="*/ 1736 h 2072"/>
              <a:gd name="T4" fmla="*/ 804 w 4100"/>
              <a:gd name="T5" fmla="*/ 2064 h 2072"/>
              <a:gd name="T6" fmla="*/ 3468 w 4100"/>
              <a:gd name="T7" fmla="*/ 2072 h 2072"/>
              <a:gd name="T8" fmla="*/ 4100 w 4100"/>
              <a:gd name="T9" fmla="*/ 1736 h 2072"/>
              <a:gd name="T10" fmla="*/ 4100 w 4100"/>
              <a:gd name="T11" fmla="*/ 96 h 2072"/>
              <a:gd name="T12" fmla="*/ 0 60000 65536"/>
              <a:gd name="T13" fmla="*/ 0 60000 65536"/>
              <a:gd name="T14" fmla="*/ 0 60000 65536"/>
              <a:gd name="T15" fmla="*/ 0 60000 65536"/>
              <a:gd name="T16" fmla="*/ 0 60000 65536"/>
              <a:gd name="T17" fmla="*/ 0 60000 65536"/>
              <a:gd name="T18" fmla="*/ 0 w 4100"/>
              <a:gd name="T19" fmla="*/ 0 h 2072"/>
              <a:gd name="T20" fmla="*/ 4100 w 4100"/>
              <a:gd name="T21" fmla="*/ 2072 h 2072"/>
            </a:gdLst>
            <a:ahLst/>
            <a:cxnLst>
              <a:cxn ang="T12">
                <a:pos x="T0" y="T1"/>
              </a:cxn>
              <a:cxn ang="T13">
                <a:pos x="T2" y="T3"/>
              </a:cxn>
              <a:cxn ang="T14">
                <a:pos x="T4" y="T5"/>
              </a:cxn>
              <a:cxn ang="T15">
                <a:pos x="T6" y="T7"/>
              </a:cxn>
              <a:cxn ang="T16">
                <a:pos x="T8" y="T9"/>
              </a:cxn>
              <a:cxn ang="T17">
                <a:pos x="T10" y="T11"/>
              </a:cxn>
            </a:cxnLst>
            <a:rect l="T18" t="T19" r="T20" b="T21"/>
            <a:pathLst>
              <a:path w="4100" h="2072">
                <a:moveTo>
                  <a:pt x="0" y="0"/>
                </a:moveTo>
                <a:lnTo>
                  <a:pt x="4" y="1736"/>
                </a:lnTo>
                <a:lnTo>
                  <a:pt x="804" y="2064"/>
                </a:lnTo>
                <a:lnTo>
                  <a:pt x="3468" y="2072"/>
                </a:lnTo>
                <a:lnTo>
                  <a:pt x="4100" y="1736"/>
                </a:lnTo>
                <a:lnTo>
                  <a:pt x="4100" y="96"/>
                </a:lnTo>
              </a:path>
            </a:pathLst>
          </a:custGeom>
          <a:noFill/>
          <a:ln w="38100">
            <a:solidFill>
              <a:schemeClr val="accent2"/>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sz="1350"/>
          </a:p>
        </p:txBody>
      </p:sp>
      <p:sp>
        <p:nvSpPr>
          <p:cNvPr id="10" name="TextBox 9">
            <a:extLst>
              <a:ext uri="{FF2B5EF4-FFF2-40B4-BE49-F238E27FC236}">
                <a16:creationId xmlns:a16="http://schemas.microsoft.com/office/drawing/2014/main" id="{26D5106B-3896-4F5D-AC38-A3EEEE396471}"/>
              </a:ext>
            </a:extLst>
          </p:cNvPr>
          <p:cNvSpPr txBox="1"/>
          <p:nvPr/>
        </p:nvSpPr>
        <p:spPr>
          <a:xfrm>
            <a:off x="2400300" y="1770876"/>
            <a:ext cx="1001621" cy="323165"/>
          </a:xfrm>
          <a:prstGeom prst="rect">
            <a:avLst/>
          </a:prstGeom>
          <a:noFill/>
        </p:spPr>
        <p:txBody>
          <a:bodyPr wrap="none" rtlCol="0">
            <a:spAutoFit/>
          </a:bodyPr>
          <a:lstStyle/>
          <a:p>
            <a:r>
              <a:rPr lang="en-US" sz="1500" b="1" u="sng" dirty="0"/>
              <a:t>Departure</a:t>
            </a:r>
          </a:p>
        </p:txBody>
      </p:sp>
      <p:sp>
        <p:nvSpPr>
          <p:cNvPr id="11" name="TextBox 10">
            <a:extLst>
              <a:ext uri="{FF2B5EF4-FFF2-40B4-BE49-F238E27FC236}">
                <a16:creationId xmlns:a16="http://schemas.microsoft.com/office/drawing/2014/main" id="{0E465A99-B5A1-4CD0-8BB3-86686FBC546E}"/>
              </a:ext>
            </a:extLst>
          </p:cNvPr>
          <p:cNvSpPr txBox="1"/>
          <p:nvPr/>
        </p:nvSpPr>
        <p:spPr>
          <a:xfrm>
            <a:off x="5596724" y="1770876"/>
            <a:ext cx="715645" cy="323165"/>
          </a:xfrm>
          <a:prstGeom prst="rect">
            <a:avLst/>
          </a:prstGeom>
          <a:noFill/>
        </p:spPr>
        <p:txBody>
          <a:bodyPr wrap="none" rtlCol="0">
            <a:spAutoFit/>
          </a:bodyPr>
          <a:lstStyle/>
          <a:p>
            <a:r>
              <a:rPr lang="en-US" sz="1500" b="1" u="sng" dirty="0"/>
              <a:t>Arrival</a:t>
            </a:r>
          </a:p>
        </p:txBody>
      </p:sp>
    </p:spTree>
    <p:extLst>
      <p:ext uri="{BB962C8B-B14F-4D97-AF65-F5344CB8AC3E}">
        <p14:creationId xmlns:p14="http://schemas.microsoft.com/office/powerpoint/2010/main" val="2162089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30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
                                            <p:bg/>
                                          </p:spTgt>
                                        </p:tgtEl>
                                        <p:attrNameLst>
                                          <p:attrName>style.visibility</p:attrName>
                                        </p:attrNameLst>
                                      </p:cBhvr>
                                      <p:to>
                                        <p:strVal val="visible"/>
                                      </p:to>
                                    </p:set>
                                    <p:animEffect transition="in" filter="wipe(left)">
                                      <p:cBhvr>
                                        <p:cTn id="16" dur="3000"/>
                                        <p:tgtEl>
                                          <p:spTgt spid="9">
                                            <p:bg/>
                                          </p:spTgt>
                                        </p:tgtEl>
                                      </p:cBhvr>
                                    </p:animEffect>
                                  </p:childTnLst>
                                </p:cTn>
                              </p:par>
                              <p:par>
                                <p:cTn id="17" presetID="22" presetClass="entr" presetSubtype="8" fill="hold" grpId="0" nodeType="withEffect" nodePh="1">
                                  <p:stCondLst>
                                    <p:cond delay="0"/>
                                  </p:stCondLst>
                                  <p:endCondLst>
                                    <p:cond evt="begin" delay="0">
                                      <p:tn val="17"/>
                                    </p:cond>
                                  </p:endCondLst>
                                  <p:childTnLst>
                                    <p:set>
                                      <p:cBhvr>
                                        <p:cTn id="18" dur="1" fill="hold">
                                          <p:stCondLst>
                                            <p:cond delay="0"/>
                                          </p:stCondLst>
                                        </p:cTn>
                                        <p:tgtEl>
                                          <p:spTgt spid="9">
                                            <p:txEl>
                                              <p:pRg st="0" end="0"/>
                                            </p:txEl>
                                          </p:spTgt>
                                        </p:tgtEl>
                                        <p:attrNameLst>
                                          <p:attrName>style.visibility</p:attrName>
                                        </p:attrNameLst>
                                      </p:cBhvr>
                                      <p:to>
                                        <p:strVal val="visible"/>
                                      </p:to>
                                    </p:set>
                                    <p:animEffect transition="in" filter="wipe(left)">
                                      <p:cBhvr>
                                        <p:cTn id="19" dur="3000"/>
                                        <p:tgtEl>
                                          <p:spTgt spid="9">
                                            <p:txEl>
                                              <p:pRg st="0" end="0"/>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30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down)">
                                      <p:cBhvr>
                                        <p:cTn id="31" dur="3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build="allAtOnce" animBg="1"/>
      <p:bldP spid="10" grpId="0"/>
      <p:bldP spid="11"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84156"/>
            <a:ext cx="7200900" cy="857250"/>
          </a:xfrm>
        </p:spPr>
        <p:txBody>
          <a:bodyPr/>
          <a:lstStyle/>
          <a:p>
            <a:r>
              <a:rPr lang="en-US" dirty="0"/>
              <a:t>H</a:t>
            </a:r>
            <a:r>
              <a:rPr lang="en-IN" dirty="0"/>
              <a:t>ow </a:t>
            </a:r>
            <a:r>
              <a:rPr lang="en-IN" dirty="0" err="1"/>
              <a:t>osi</a:t>
            </a:r>
            <a:r>
              <a:rPr lang="en-IN" dirty="0"/>
              <a:t> layers works?</a:t>
            </a:r>
          </a:p>
        </p:txBody>
      </p:sp>
      <p:pic>
        <p:nvPicPr>
          <p:cNvPr id="12" name="Content Placeholder 2">
            <a:extLst>
              <a:ext uri="{FF2B5EF4-FFF2-40B4-BE49-F238E27FC236}">
                <a16:creationId xmlns:a16="http://schemas.microsoft.com/office/drawing/2014/main" id="{80ABB1E2-26C0-4BF9-9CD1-29D0BE9941C2}"/>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1371600" y="2746772"/>
            <a:ext cx="6400800" cy="1364456"/>
          </a:xfrm>
        </p:spPr>
      </p:pic>
    </p:spTree>
    <p:extLst>
      <p:ext uri="{BB962C8B-B14F-4D97-AF65-F5344CB8AC3E}">
        <p14:creationId xmlns:p14="http://schemas.microsoft.com/office/powerpoint/2010/main" val="1731894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lstStyle/>
          <a:p>
            <a:r>
              <a:rPr lang="en-IN" b="1" dirty="0"/>
              <a:t>Physical Layer </a:t>
            </a:r>
            <a:endParaRPr lang="en-IN" dirty="0"/>
          </a:p>
        </p:txBody>
      </p:sp>
      <p:sp>
        <p:nvSpPr>
          <p:cNvPr id="6" name="Content Placeholder 5">
            <a:extLst>
              <a:ext uri="{FF2B5EF4-FFF2-40B4-BE49-F238E27FC236}">
                <a16:creationId xmlns:a16="http://schemas.microsoft.com/office/drawing/2014/main" id="{99AFED72-6866-4834-973C-CBCF10BF5B58}"/>
              </a:ext>
            </a:extLst>
          </p:cNvPr>
          <p:cNvSpPr>
            <a:spLocks noGrp="1"/>
          </p:cNvSpPr>
          <p:nvPr>
            <p:ph idx="1"/>
          </p:nvPr>
        </p:nvSpPr>
        <p:spPr>
          <a:xfrm>
            <a:off x="971550" y="1885950"/>
            <a:ext cx="7200900" cy="3086100"/>
          </a:xfrm>
        </p:spPr>
        <p:txBody>
          <a:bodyPr>
            <a:noAutofit/>
          </a:bodyPr>
          <a:lstStyle/>
          <a:p>
            <a:pPr algn="just"/>
            <a:r>
              <a:rPr lang="en-US" sz="1800" dirty="0"/>
              <a:t>The physical layer is responsible for </a:t>
            </a:r>
            <a:r>
              <a:rPr lang="en-US" sz="1800" b="1" dirty="0"/>
              <a:t>movements of individual bits </a:t>
            </a:r>
            <a:r>
              <a:rPr lang="en-US" sz="1800" dirty="0"/>
              <a:t>from one hop (node) to the next.</a:t>
            </a:r>
          </a:p>
          <a:p>
            <a:pPr algn="just"/>
            <a:endParaRPr lang="en-US" sz="1800" dirty="0"/>
          </a:p>
        </p:txBody>
      </p:sp>
      <p:pic>
        <p:nvPicPr>
          <p:cNvPr id="5" name="Picture 6">
            <a:extLst>
              <a:ext uri="{FF2B5EF4-FFF2-40B4-BE49-F238E27FC236}">
                <a16:creationId xmlns:a16="http://schemas.microsoft.com/office/drawing/2014/main" id="{DC89619A-49A2-494A-9515-0DBF0125AEA6}"/>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1836356" y="2946398"/>
            <a:ext cx="5906245" cy="188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2245238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lstStyle/>
          <a:p>
            <a:r>
              <a:rPr lang="en-IN" b="1" dirty="0"/>
              <a:t>Physical Layer </a:t>
            </a:r>
            <a:endParaRPr lang="en-IN" dirty="0"/>
          </a:p>
        </p:txBody>
      </p:sp>
      <p:sp>
        <p:nvSpPr>
          <p:cNvPr id="6" name="Content Placeholder 5">
            <a:extLst>
              <a:ext uri="{FF2B5EF4-FFF2-40B4-BE49-F238E27FC236}">
                <a16:creationId xmlns:a16="http://schemas.microsoft.com/office/drawing/2014/main" id="{99AFED72-6866-4834-973C-CBCF10BF5B58}"/>
              </a:ext>
            </a:extLst>
          </p:cNvPr>
          <p:cNvSpPr>
            <a:spLocks noGrp="1"/>
          </p:cNvSpPr>
          <p:nvPr>
            <p:ph idx="1"/>
          </p:nvPr>
        </p:nvSpPr>
        <p:spPr>
          <a:xfrm>
            <a:off x="971550" y="1885950"/>
            <a:ext cx="7200900" cy="3086100"/>
          </a:xfrm>
        </p:spPr>
        <p:txBody>
          <a:bodyPr>
            <a:noAutofit/>
          </a:bodyPr>
          <a:lstStyle/>
          <a:p>
            <a:pPr algn="just"/>
            <a:r>
              <a:rPr lang="en-US" sz="1800" dirty="0"/>
              <a:t>Carries the bit stream over a physical media.</a:t>
            </a:r>
          </a:p>
          <a:p>
            <a:pPr algn="just"/>
            <a:r>
              <a:rPr lang="en-US" sz="1800" dirty="0"/>
              <a:t>Physical Layer is concerned with:</a:t>
            </a:r>
          </a:p>
          <a:p>
            <a:pPr lvl="1" algn="just"/>
            <a:r>
              <a:rPr lang="en-US" sz="1650" dirty="0"/>
              <a:t>Interface and Medium like guided cables</a:t>
            </a:r>
          </a:p>
          <a:p>
            <a:pPr lvl="1" algn="just"/>
            <a:r>
              <a:rPr lang="en-US" sz="1650" dirty="0"/>
              <a:t>Representation of bits </a:t>
            </a:r>
          </a:p>
          <a:p>
            <a:pPr lvl="1" algn="just"/>
            <a:r>
              <a:rPr lang="en-US" sz="1650" dirty="0"/>
              <a:t>Data rate </a:t>
            </a:r>
          </a:p>
          <a:p>
            <a:pPr lvl="1" algn="just"/>
            <a:r>
              <a:rPr lang="en-US" sz="1650" dirty="0"/>
              <a:t>Synchronization of bits</a:t>
            </a:r>
          </a:p>
          <a:p>
            <a:pPr lvl="1" algn="just"/>
            <a:r>
              <a:rPr lang="en-US" sz="1650" dirty="0"/>
              <a:t>Line configuration</a:t>
            </a:r>
          </a:p>
          <a:p>
            <a:pPr lvl="1" algn="just"/>
            <a:r>
              <a:rPr lang="en-US" sz="1650" dirty="0"/>
              <a:t>Physical topology</a:t>
            </a:r>
          </a:p>
          <a:p>
            <a:pPr lvl="1" algn="just"/>
            <a:r>
              <a:rPr lang="en-US" sz="1650" dirty="0"/>
              <a:t>Transmission mode</a:t>
            </a:r>
          </a:p>
          <a:p>
            <a:pPr algn="just"/>
            <a:endParaRPr lang="en-US" sz="1800" dirty="0"/>
          </a:p>
          <a:p>
            <a:pPr algn="just"/>
            <a:endParaRPr lang="en-US" sz="1800" dirty="0"/>
          </a:p>
          <a:p>
            <a:pPr algn="just"/>
            <a:endParaRPr lang="en-US" sz="1800" dirty="0"/>
          </a:p>
        </p:txBody>
      </p:sp>
    </p:spTree>
    <p:extLst>
      <p:ext uri="{BB962C8B-B14F-4D97-AF65-F5344CB8AC3E}">
        <p14:creationId xmlns:p14="http://schemas.microsoft.com/office/powerpoint/2010/main" val="2442121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lstStyle/>
          <a:p>
            <a:r>
              <a:rPr lang="en-IN" b="1" dirty="0"/>
              <a:t>Data Link Layer</a:t>
            </a:r>
            <a:endParaRPr lang="en-IN" dirty="0"/>
          </a:p>
        </p:txBody>
      </p:sp>
      <p:sp>
        <p:nvSpPr>
          <p:cNvPr id="6" name="Content Placeholder 5">
            <a:extLst>
              <a:ext uri="{FF2B5EF4-FFF2-40B4-BE49-F238E27FC236}">
                <a16:creationId xmlns:a16="http://schemas.microsoft.com/office/drawing/2014/main" id="{99AFED72-6866-4834-973C-CBCF10BF5B58}"/>
              </a:ext>
            </a:extLst>
          </p:cNvPr>
          <p:cNvSpPr>
            <a:spLocks noGrp="1"/>
          </p:cNvSpPr>
          <p:nvPr>
            <p:ph idx="1"/>
          </p:nvPr>
        </p:nvSpPr>
        <p:spPr>
          <a:xfrm>
            <a:off x="971550" y="1885950"/>
            <a:ext cx="7200900" cy="3086100"/>
          </a:xfrm>
        </p:spPr>
        <p:txBody>
          <a:bodyPr>
            <a:noAutofit/>
          </a:bodyPr>
          <a:lstStyle/>
          <a:p>
            <a:pPr algn="just"/>
            <a:r>
              <a:rPr lang="en-US" sz="1800" dirty="0"/>
              <a:t>The data link layer is responsible for </a:t>
            </a:r>
            <a:r>
              <a:rPr lang="en-US" sz="1800" b="1" dirty="0"/>
              <a:t>moving frames </a:t>
            </a:r>
            <a:r>
              <a:rPr lang="en-US" sz="1800" dirty="0"/>
              <a:t>from one hop (node) to the next.</a:t>
            </a:r>
          </a:p>
          <a:p>
            <a:pPr algn="just"/>
            <a:endParaRPr lang="en-US" sz="1800" dirty="0"/>
          </a:p>
        </p:txBody>
      </p:sp>
      <p:pic>
        <p:nvPicPr>
          <p:cNvPr id="8" name="Picture 6">
            <a:extLst>
              <a:ext uri="{FF2B5EF4-FFF2-40B4-BE49-F238E27FC236}">
                <a16:creationId xmlns:a16="http://schemas.microsoft.com/office/drawing/2014/main" id="{D7641581-76E0-4970-BE25-2CC6108BF856}"/>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1726029" y="2953685"/>
            <a:ext cx="5691943" cy="189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3608291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lstStyle/>
          <a:p>
            <a:r>
              <a:rPr lang="en-IN" b="1" dirty="0"/>
              <a:t>Data Link Layer</a:t>
            </a:r>
            <a:endParaRPr lang="en-IN" dirty="0"/>
          </a:p>
        </p:txBody>
      </p:sp>
      <p:sp>
        <p:nvSpPr>
          <p:cNvPr id="6" name="Content Placeholder 5">
            <a:extLst>
              <a:ext uri="{FF2B5EF4-FFF2-40B4-BE49-F238E27FC236}">
                <a16:creationId xmlns:a16="http://schemas.microsoft.com/office/drawing/2014/main" id="{99AFED72-6866-4834-973C-CBCF10BF5B58}"/>
              </a:ext>
            </a:extLst>
          </p:cNvPr>
          <p:cNvSpPr>
            <a:spLocks noGrp="1"/>
          </p:cNvSpPr>
          <p:nvPr>
            <p:ph idx="1"/>
          </p:nvPr>
        </p:nvSpPr>
        <p:spPr>
          <a:xfrm>
            <a:off x="971550" y="1885950"/>
            <a:ext cx="7200900" cy="3086100"/>
          </a:xfrm>
        </p:spPr>
        <p:txBody>
          <a:bodyPr>
            <a:noAutofit/>
          </a:bodyPr>
          <a:lstStyle/>
          <a:p>
            <a:pPr algn="just"/>
            <a:r>
              <a:rPr lang="en-US" sz="1800" dirty="0"/>
              <a:t>Data link layer is concerned with:</a:t>
            </a:r>
          </a:p>
          <a:p>
            <a:pPr lvl="1" algn="just"/>
            <a:r>
              <a:rPr lang="en-US" dirty="0"/>
              <a:t>Framing – divide bits stream into data unit (frame)</a:t>
            </a:r>
          </a:p>
          <a:p>
            <a:pPr lvl="1" algn="just"/>
            <a:r>
              <a:rPr lang="en-US" dirty="0"/>
              <a:t>Physical addressing</a:t>
            </a:r>
          </a:p>
          <a:p>
            <a:pPr lvl="1" algn="just"/>
            <a:r>
              <a:rPr lang="en-US" dirty="0"/>
              <a:t>Flow control – avoid over overwhelming </a:t>
            </a:r>
          </a:p>
          <a:p>
            <a:pPr lvl="1" algn="just"/>
            <a:r>
              <a:rPr lang="en-US" dirty="0"/>
              <a:t>Error control – bit loses, retransmission</a:t>
            </a:r>
          </a:p>
          <a:p>
            <a:pPr lvl="1" algn="just"/>
            <a:r>
              <a:rPr lang="en-US" dirty="0"/>
              <a:t>Access control</a:t>
            </a:r>
          </a:p>
          <a:p>
            <a:pPr algn="just"/>
            <a:endParaRPr lang="en-US" sz="1800" dirty="0"/>
          </a:p>
          <a:p>
            <a:pPr algn="just"/>
            <a:endParaRPr lang="en-US" sz="1800" dirty="0"/>
          </a:p>
        </p:txBody>
      </p:sp>
    </p:spTree>
    <p:extLst>
      <p:ext uri="{BB962C8B-B14F-4D97-AF65-F5344CB8AC3E}">
        <p14:creationId xmlns:p14="http://schemas.microsoft.com/office/powerpoint/2010/main" val="2377782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lstStyle/>
          <a:p>
            <a:r>
              <a:rPr lang="en-IN" b="1" dirty="0"/>
              <a:t>Network Layer </a:t>
            </a:r>
            <a:endParaRPr lang="en-IN" dirty="0"/>
          </a:p>
        </p:txBody>
      </p:sp>
      <p:sp>
        <p:nvSpPr>
          <p:cNvPr id="6" name="Content Placeholder 5">
            <a:extLst>
              <a:ext uri="{FF2B5EF4-FFF2-40B4-BE49-F238E27FC236}">
                <a16:creationId xmlns:a16="http://schemas.microsoft.com/office/drawing/2014/main" id="{99AFED72-6866-4834-973C-CBCF10BF5B58}"/>
              </a:ext>
            </a:extLst>
          </p:cNvPr>
          <p:cNvSpPr>
            <a:spLocks noGrp="1"/>
          </p:cNvSpPr>
          <p:nvPr>
            <p:ph idx="1"/>
          </p:nvPr>
        </p:nvSpPr>
        <p:spPr>
          <a:xfrm>
            <a:off x="971550" y="1885950"/>
            <a:ext cx="7200900" cy="3086100"/>
          </a:xfrm>
        </p:spPr>
        <p:txBody>
          <a:bodyPr>
            <a:noAutofit/>
          </a:bodyPr>
          <a:lstStyle/>
          <a:p>
            <a:pPr algn="just"/>
            <a:r>
              <a:rPr lang="en-US" sz="1800" dirty="0"/>
              <a:t>The network layer is responsible for the </a:t>
            </a:r>
            <a:r>
              <a:rPr lang="en-US" sz="1800" b="1" dirty="0"/>
              <a:t>delivery of individual packets </a:t>
            </a:r>
            <a:r>
              <a:rPr lang="en-US" sz="1800" dirty="0"/>
              <a:t>from the source host to the destination host.</a:t>
            </a:r>
          </a:p>
        </p:txBody>
      </p:sp>
      <p:pic>
        <p:nvPicPr>
          <p:cNvPr id="7" name="Picture 6">
            <a:extLst>
              <a:ext uri="{FF2B5EF4-FFF2-40B4-BE49-F238E27FC236}">
                <a16:creationId xmlns:a16="http://schemas.microsoft.com/office/drawing/2014/main" id="{9DE56E6D-0964-42D5-935C-5016D2F63E40}"/>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1593763" y="2971800"/>
            <a:ext cx="5956474" cy="200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1258277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lstStyle/>
          <a:p>
            <a:r>
              <a:rPr lang="en-IN" b="1" dirty="0"/>
              <a:t>Network Layer </a:t>
            </a:r>
            <a:endParaRPr lang="en-IN" dirty="0"/>
          </a:p>
        </p:txBody>
      </p:sp>
      <p:sp>
        <p:nvSpPr>
          <p:cNvPr id="6" name="Content Placeholder 5">
            <a:extLst>
              <a:ext uri="{FF2B5EF4-FFF2-40B4-BE49-F238E27FC236}">
                <a16:creationId xmlns:a16="http://schemas.microsoft.com/office/drawing/2014/main" id="{99AFED72-6866-4834-973C-CBCF10BF5B58}"/>
              </a:ext>
            </a:extLst>
          </p:cNvPr>
          <p:cNvSpPr>
            <a:spLocks noGrp="1"/>
          </p:cNvSpPr>
          <p:nvPr>
            <p:ph idx="1"/>
          </p:nvPr>
        </p:nvSpPr>
        <p:spPr>
          <a:xfrm>
            <a:off x="971550" y="1885950"/>
            <a:ext cx="7200900" cy="3086100"/>
          </a:xfrm>
        </p:spPr>
        <p:txBody>
          <a:bodyPr>
            <a:noAutofit/>
          </a:bodyPr>
          <a:lstStyle/>
          <a:p>
            <a:pPr algn="just"/>
            <a:r>
              <a:rPr lang="en-US" sz="1800" dirty="0"/>
              <a:t>In this layer, packet is combined with header and data.</a:t>
            </a:r>
          </a:p>
          <a:p>
            <a:pPr algn="just"/>
            <a:r>
              <a:rPr lang="en-US" sz="1800" dirty="0"/>
              <a:t>In case of data link layer, packet delivers on the same network. </a:t>
            </a:r>
          </a:p>
          <a:p>
            <a:pPr algn="just"/>
            <a:r>
              <a:rPr lang="en-US" sz="1800" dirty="0"/>
              <a:t>If two different networks are connected then packet is concern with network layer.</a:t>
            </a:r>
          </a:p>
          <a:p>
            <a:pPr algn="just"/>
            <a:r>
              <a:rPr lang="en-US" sz="1800" dirty="0"/>
              <a:t>Network layer is concerned with:</a:t>
            </a:r>
          </a:p>
          <a:p>
            <a:pPr algn="just"/>
            <a:r>
              <a:rPr lang="en-US" sz="1800" dirty="0"/>
              <a:t>Logical addressing e.g. 192.168.1.1 (IP Address)</a:t>
            </a:r>
          </a:p>
          <a:p>
            <a:pPr algn="just"/>
            <a:r>
              <a:rPr lang="en-US" sz="1800" dirty="0"/>
              <a:t>Routing</a:t>
            </a:r>
          </a:p>
          <a:p>
            <a:pPr algn="just"/>
            <a:endParaRPr lang="en-US" sz="1800" dirty="0"/>
          </a:p>
          <a:p>
            <a:pPr algn="just"/>
            <a:endParaRPr lang="en-US" sz="1800" dirty="0"/>
          </a:p>
        </p:txBody>
      </p:sp>
    </p:spTree>
    <p:extLst>
      <p:ext uri="{BB962C8B-B14F-4D97-AF65-F5344CB8AC3E}">
        <p14:creationId xmlns:p14="http://schemas.microsoft.com/office/powerpoint/2010/main" val="1298321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lstStyle/>
          <a:p>
            <a:r>
              <a:rPr lang="en-IN" b="1" dirty="0"/>
              <a:t>Transport Layer</a:t>
            </a:r>
            <a:endParaRPr lang="en-IN" dirty="0"/>
          </a:p>
        </p:txBody>
      </p:sp>
      <p:sp>
        <p:nvSpPr>
          <p:cNvPr id="6" name="Content Placeholder 5">
            <a:extLst>
              <a:ext uri="{FF2B5EF4-FFF2-40B4-BE49-F238E27FC236}">
                <a16:creationId xmlns:a16="http://schemas.microsoft.com/office/drawing/2014/main" id="{99AFED72-6866-4834-973C-CBCF10BF5B58}"/>
              </a:ext>
            </a:extLst>
          </p:cNvPr>
          <p:cNvSpPr>
            <a:spLocks noGrp="1"/>
          </p:cNvSpPr>
          <p:nvPr>
            <p:ph idx="1"/>
          </p:nvPr>
        </p:nvSpPr>
        <p:spPr>
          <a:xfrm>
            <a:off x="971550" y="1885950"/>
            <a:ext cx="7200900" cy="3086100"/>
          </a:xfrm>
        </p:spPr>
        <p:txBody>
          <a:bodyPr>
            <a:noAutofit/>
          </a:bodyPr>
          <a:lstStyle/>
          <a:p>
            <a:pPr algn="just"/>
            <a:r>
              <a:rPr lang="en-US" sz="1800" dirty="0"/>
              <a:t>The transport layer is responsible for the delivery of a message from one process to another.</a:t>
            </a:r>
          </a:p>
        </p:txBody>
      </p:sp>
      <p:pic>
        <p:nvPicPr>
          <p:cNvPr id="8" name="Picture 6">
            <a:extLst>
              <a:ext uri="{FF2B5EF4-FFF2-40B4-BE49-F238E27FC236}">
                <a16:creationId xmlns:a16="http://schemas.microsoft.com/office/drawing/2014/main" id="{36D1FC9C-D601-4324-9641-4B1054111975}"/>
              </a:ext>
            </a:extLst>
          </p:cNvPr>
          <p:cNvPicPr>
            <a:picLocks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1667426" y="2930479"/>
            <a:ext cx="5670000" cy="189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1463044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lstStyle/>
          <a:p>
            <a:r>
              <a:rPr lang="en-IN" b="1" dirty="0"/>
              <a:t>Transport Layer</a:t>
            </a:r>
            <a:endParaRPr lang="en-IN" dirty="0"/>
          </a:p>
        </p:txBody>
      </p:sp>
      <p:sp>
        <p:nvSpPr>
          <p:cNvPr id="6" name="Content Placeholder 5">
            <a:extLst>
              <a:ext uri="{FF2B5EF4-FFF2-40B4-BE49-F238E27FC236}">
                <a16:creationId xmlns:a16="http://schemas.microsoft.com/office/drawing/2014/main" id="{99AFED72-6866-4834-973C-CBCF10BF5B58}"/>
              </a:ext>
            </a:extLst>
          </p:cNvPr>
          <p:cNvSpPr>
            <a:spLocks noGrp="1"/>
          </p:cNvSpPr>
          <p:nvPr>
            <p:ph idx="1"/>
          </p:nvPr>
        </p:nvSpPr>
        <p:spPr>
          <a:xfrm>
            <a:off x="971550" y="1885950"/>
            <a:ext cx="7200900" cy="3086100"/>
          </a:xfrm>
        </p:spPr>
        <p:txBody>
          <a:bodyPr>
            <a:noAutofit/>
          </a:bodyPr>
          <a:lstStyle/>
          <a:p>
            <a:pPr algn="just"/>
            <a:r>
              <a:rPr lang="en-US" sz="1800" dirty="0"/>
              <a:t>This layer ensures that the whole message arrives intact and in order.</a:t>
            </a:r>
          </a:p>
          <a:p>
            <a:pPr algn="just"/>
            <a:r>
              <a:rPr lang="en-US" sz="1800" dirty="0"/>
              <a:t>Transport layer is concerned with:</a:t>
            </a:r>
          </a:p>
          <a:p>
            <a:pPr lvl="1" algn="just"/>
            <a:r>
              <a:rPr lang="en-US" dirty="0"/>
              <a:t>Service-point addressing (port address)</a:t>
            </a:r>
          </a:p>
          <a:p>
            <a:pPr lvl="1" algn="just"/>
            <a:r>
              <a:rPr lang="en-US" dirty="0"/>
              <a:t>Segmentation and Reassembly </a:t>
            </a:r>
          </a:p>
          <a:p>
            <a:pPr lvl="1" algn="just"/>
            <a:r>
              <a:rPr lang="en-US" dirty="0"/>
              <a:t>Connection Control</a:t>
            </a:r>
          </a:p>
          <a:p>
            <a:pPr lvl="1" algn="just"/>
            <a:r>
              <a:rPr lang="en-US" dirty="0"/>
              <a:t>Flow and Error Control</a:t>
            </a:r>
          </a:p>
          <a:p>
            <a:pPr algn="just"/>
            <a:endParaRPr lang="en-US" sz="1800" dirty="0"/>
          </a:p>
        </p:txBody>
      </p:sp>
    </p:spTree>
    <p:extLst>
      <p:ext uri="{BB962C8B-B14F-4D97-AF65-F5344CB8AC3E}">
        <p14:creationId xmlns:p14="http://schemas.microsoft.com/office/powerpoint/2010/main" val="3456744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lstStyle/>
          <a:p>
            <a:r>
              <a:rPr lang="en-IN" b="1" dirty="0"/>
              <a:t>Session Layer</a:t>
            </a:r>
            <a:endParaRPr lang="en-IN" dirty="0"/>
          </a:p>
        </p:txBody>
      </p:sp>
      <p:sp>
        <p:nvSpPr>
          <p:cNvPr id="6" name="Content Placeholder 5">
            <a:extLst>
              <a:ext uri="{FF2B5EF4-FFF2-40B4-BE49-F238E27FC236}">
                <a16:creationId xmlns:a16="http://schemas.microsoft.com/office/drawing/2014/main" id="{99AFED72-6866-4834-973C-CBCF10BF5B58}"/>
              </a:ext>
            </a:extLst>
          </p:cNvPr>
          <p:cNvSpPr>
            <a:spLocks noGrp="1"/>
          </p:cNvSpPr>
          <p:nvPr>
            <p:ph idx="1"/>
          </p:nvPr>
        </p:nvSpPr>
        <p:spPr>
          <a:xfrm>
            <a:off x="971550" y="1885950"/>
            <a:ext cx="7200900" cy="3086100"/>
          </a:xfrm>
        </p:spPr>
        <p:txBody>
          <a:bodyPr>
            <a:noAutofit/>
          </a:bodyPr>
          <a:lstStyle/>
          <a:p>
            <a:pPr algn="just"/>
            <a:r>
              <a:rPr lang="en-US" sz="1800" dirty="0"/>
              <a:t>The session layer is responsible for dialog control and synchronization.</a:t>
            </a:r>
          </a:p>
        </p:txBody>
      </p:sp>
      <p:pic>
        <p:nvPicPr>
          <p:cNvPr id="7" name="Picture 6">
            <a:extLst>
              <a:ext uri="{FF2B5EF4-FFF2-40B4-BE49-F238E27FC236}">
                <a16:creationId xmlns:a16="http://schemas.microsoft.com/office/drawing/2014/main" id="{8A800FFE-E221-4F59-AB44-B00D88A295C6}"/>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tretch>
            <a:fillRect/>
          </a:stretch>
        </p:blipFill>
        <p:spPr bwMode="auto">
          <a:xfrm>
            <a:off x="2125683" y="2767844"/>
            <a:ext cx="4892635" cy="22767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1558541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lstStyle/>
          <a:p>
            <a:r>
              <a:rPr lang="en-IN" b="1" dirty="0"/>
              <a:t>Session Layer</a:t>
            </a:r>
            <a:endParaRPr lang="en-IN" dirty="0"/>
          </a:p>
        </p:txBody>
      </p:sp>
      <p:sp>
        <p:nvSpPr>
          <p:cNvPr id="6" name="Content Placeholder 5">
            <a:extLst>
              <a:ext uri="{FF2B5EF4-FFF2-40B4-BE49-F238E27FC236}">
                <a16:creationId xmlns:a16="http://schemas.microsoft.com/office/drawing/2014/main" id="{99AFED72-6866-4834-973C-CBCF10BF5B58}"/>
              </a:ext>
            </a:extLst>
          </p:cNvPr>
          <p:cNvSpPr>
            <a:spLocks noGrp="1"/>
          </p:cNvSpPr>
          <p:nvPr>
            <p:ph idx="1"/>
          </p:nvPr>
        </p:nvSpPr>
        <p:spPr>
          <a:xfrm>
            <a:off x="971550" y="1885950"/>
            <a:ext cx="7200900" cy="3086100"/>
          </a:xfrm>
        </p:spPr>
        <p:txBody>
          <a:bodyPr>
            <a:noAutofit/>
          </a:bodyPr>
          <a:lstStyle/>
          <a:p>
            <a:pPr algn="just"/>
            <a:r>
              <a:rPr lang="en-US" sz="1800" dirty="0"/>
              <a:t>This layer is network dialog controller – establishes, maintains, synchronizes the interaction among computers.</a:t>
            </a:r>
          </a:p>
          <a:p>
            <a:pPr algn="just"/>
            <a:r>
              <a:rPr lang="en-US" sz="1800" dirty="0"/>
              <a:t>Session layer is concerned with:</a:t>
            </a:r>
          </a:p>
          <a:p>
            <a:pPr lvl="1" algn="just"/>
            <a:r>
              <a:rPr lang="en-US" dirty="0"/>
              <a:t>Dialog control</a:t>
            </a:r>
          </a:p>
          <a:p>
            <a:pPr lvl="1" algn="just"/>
            <a:r>
              <a:rPr lang="en-US" dirty="0"/>
              <a:t>Synchronization </a:t>
            </a:r>
          </a:p>
        </p:txBody>
      </p:sp>
    </p:spTree>
    <p:extLst>
      <p:ext uri="{BB962C8B-B14F-4D97-AF65-F5344CB8AC3E}">
        <p14:creationId xmlns:p14="http://schemas.microsoft.com/office/powerpoint/2010/main" val="1936432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lstStyle/>
          <a:p>
            <a:r>
              <a:rPr lang="en-IN" b="1" dirty="0"/>
              <a:t>Presentation Layer</a:t>
            </a:r>
            <a:endParaRPr lang="en-IN" dirty="0"/>
          </a:p>
        </p:txBody>
      </p:sp>
      <p:sp>
        <p:nvSpPr>
          <p:cNvPr id="6" name="Content Placeholder 5">
            <a:extLst>
              <a:ext uri="{FF2B5EF4-FFF2-40B4-BE49-F238E27FC236}">
                <a16:creationId xmlns:a16="http://schemas.microsoft.com/office/drawing/2014/main" id="{99AFED72-6866-4834-973C-CBCF10BF5B58}"/>
              </a:ext>
            </a:extLst>
          </p:cNvPr>
          <p:cNvSpPr>
            <a:spLocks noGrp="1"/>
          </p:cNvSpPr>
          <p:nvPr>
            <p:ph idx="1"/>
          </p:nvPr>
        </p:nvSpPr>
        <p:spPr>
          <a:xfrm>
            <a:off x="971550" y="1885950"/>
            <a:ext cx="7200900" cy="3086100"/>
          </a:xfrm>
        </p:spPr>
        <p:txBody>
          <a:bodyPr>
            <a:noAutofit/>
          </a:bodyPr>
          <a:lstStyle/>
          <a:p>
            <a:pPr algn="just"/>
            <a:r>
              <a:rPr lang="en-US" sz="1800" dirty="0"/>
              <a:t>The presentation layer is responsible for translation, compression, and encryption.</a:t>
            </a:r>
          </a:p>
          <a:p>
            <a:pPr algn="just"/>
            <a:endParaRPr lang="en-US" sz="1800" dirty="0"/>
          </a:p>
        </p:txBody>
      </p:sp>
      <p:pic>
        <p:nvPicPr>
          <p:cNvPr id="5" name="Picture 6">
            <a:extLst>
              <a:ext uri="{FF2B5EF4-FFF2-40B4-BE49-F238E27FC236}">
                <a16:creationId xmlns:a16="http://schemas.microsoft.com/office/drawing/2014/main" id="{E89DEBEC-0685-40EF-9E6A-7E57CD68DC6F}"/>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1791967" y="2892525"/>
            <a:ext cx="5560067" cy="189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1618922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lstStyle/>
          <a:p>
            <a:r>
              <a:rPr lang="en-IN" b="1" dirty="0"/>
              <a:t>Presentation Layer</a:t>
            </a:r>
            <a:endParaRPr lang="en-IN" dirty="0"/>
          </a:p>
        </p:txBody>
      </p:sp>
      <p:sp>
        <p:nvSpPr>
          <p:cNvPr id="6" name="Content Placeholder 5">
            <a:extLst>
              <a:ext uri="{FF2B5EF4-FFF2-40B4-BE49-F238E27FC236}">
                <a16:creationId xmlns:a16="http://schemas.microsoft.com/office/drawing/2014/main" id="{99AFED72-6866-4834-973C-CBCF10BF5B58}"/>
              </a:ext>
            </a:extLst>
          </p:cNvPr>
          <p:cNvSpPr>
            <a:spLocks noGrp="1"/>
          </p:cNvSpPr>
          <p:nvPr>
            <p:ph idx="1"/>
          </p:nvPr>
        </p:nvSpPr>
        <p:spPr>
          <a:xfrm>
            <a:off x="971550" y="1885950"/>
            <a:ext cx="7200900" cy="3086100"/>
          </a:xfrm>
        </p:spPr>
        <p:txBody>
          <a:bodyPr>
            <a:noAutofit/>
          </a:bodyPr>
          <a:lstStyle/>
          <a:p>
            <a:pPr algn="just"/>
            <a:r>
              <a:rPr lang="en-US" sz="1800" dirty="0"/>
              <a:t>This layer is concerned with the syntax which refers to order in which data is presented and semantics helps in interpreting a particular pattern.</a:t>
            </a:r>
          </a:p>
          <a:p>
            <a:pPr algn="just"/>
            <a:r>
              <a:rPr lang="en-US" sz="1800" dirty="0"/>
              <a:t>Presentation layer is responsible for:</a:t>
            </a:r>
          </a:p>
          <a:p>
            <a:pPr lvl="1" algn="just"/>
            <a:r>
              <a:rPr lang="en-US" dirty="0"/>
              <a:t>Translation</a:t>
            </a:r>
          </a:p>
          <a:p>
            <a:pPr lvl="1" algn="just"/>
            <a:r>
              <a:rPr lang="en-US" dirty="0"/>
              <a:t>Encryption</a:t>
            </a:r>
          </a:p>
          <a:p>
            <a:pPr lvl="1" algn="just"/>
            <a:r>
              <a:rPr lang="en-US" dirty="0"/>
              <a:t>Compression</a:t>
            </a:r>
          </a:p>
          <a:p>
            <a:pPr algn="just"/>
            <a:endParaRPr lang="en-US" sz="1800" dirty="0"/>
          </a:p>
        </p:txBody>
      </p:sp>
    </p:spTree>
    <p:extLst>
      <p:ext uri="{BB962C8B-B14F-4D97-AF65-F5344CB8AC3E}">
        <p14:creationId xmlns:p14="http://schemas.microsoft.com/office/powerpoint/2010/main" val="2989316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lstStyle/>
          <a:p>
            <a:r>
              <a:rPr lang="en-IN" b="1" dirty="0"/>
              <a:t>Application Layer</a:t>
            </a:r>
            <a:endParaRPr lang="en-IN" dirty="0"/>
          </a:p>
        </p:txBody>
      </p:sp>
      <p:sp>
        <p:nvSpPr>
          <p:cNvPr id="6" name="Content Placeholder 5">
            <a:extLst>
              <a:ext uri="{FF2B5EF4-FFF2-40B4-BE49-F238E27FC236}">
                <a16:creationId xmlns:a16="http://schemas.microsoft.com/office/drawing/2014/main" id="{99AFED72-6866-4834-973C-CBCF10BF5B58}"/>
              </a:ext>
            </a:extLst>
          </p:cNvPr>
          <p:cNvSpPr>
            <a:spLocks noGrp="1"/>
          </p:cNvSpPr>
          <p:nvPr>
            <p:ph idx="1"/>
          </p:nvPr>
        </p:nvSpPr>
        <p:spPr>
          <a:xfrm>
            <a:off x="971550" y="1885950"/>
            <a:ext cx="7200900" cy="3086100"/>
          </a:xfrm>
        </p:spPr>
        <p:txBody>
          <a:bodyPr>
            <a:noAutofit/>
          </a:bodyPr>
          <a:lstStyle/>
          <a:p>
            <a:pPr algn="just"/>
            <a:r>
              <a:rPr lang="en-US" sz="1800" dirty="0"/>
              <a:t>The application layer is responsible for providing services to the user.</a:t>
            </a:r>
          </a:p>
          <a:p>
            <a:pPr algn="just"/>
            <a:endParaRPr lang="en-US" sz="1800" dirty="0"/>
          </a:p>
        </p:txBody>
      </p:sp>
      <p:pic>
        <p:nvPicPr>
          <p:cNvPr id="5" name="Picture 6">
            <a:extLst>
              <a:ext uri="{FF2B5EF4-FFF2-40B4-BE49-F238E27FC236}">
                <a16:creationId xmlns:a16="http://schemas.microsoft.com/office/drawing/2014/main" id="{70D04786-2459-432A-ACFD-4336A04F7E80}"/>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2189749" y="2565771"/>
            <a:ext cx="4903650" cy="24788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1625320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lstStyle/>
          <a:p>
            <a:r>
              <a:rPr lang="en-IN" b="1" dirty="0"/>
              <a:t>Application Layer</a:t>
            </a:r>
            <a:endParaRPr lang="en-IN" dirty="0"/>
          </a:p>
        </p:txBody>
      </p:sp>
      <p:sp>
        <p:nvSpPr>
          <p:cNvPr id="6" name="Content Placeholder 5">
            <a:extLst>
              <a:ext uri="{FF2B5EF4-FFF2-40B4-BE49-F238E27FC236}">
                <a16:creationId xmlns:a16="http://schemas.microsoft.com/office/drawing/2014/main" id="{99AFED72-6866-4834-973C-CBCF10BF5B58}"/>
              </a:ext>
            </a:extLst>
          </p:cNvPr>
          <p:cNvSpPr>
            <a:spLocks noGrp="1"/>
          </p:cNvSpPr>
          <p:nvPr>
            <p:ph idx="1"/>
          </p:nvPr>
        </p:nvSpPr>
        <p:spPr>
          <a:xfrm>
            <a:off x="971550" y="1885950"/>
            <a:ext cx="7200900" cy="3086100"/>
          </a:xfrm>
        </p:spPr>
        <p:txBody>
          <a:bodyPr>
            <a:noAutofit/>
          </a:bodyPr>
          <a:lstStyle/>
          <a:p>
            <a:pPr algn="just"/>
            <a:r>
              <a:rPr lang="en-US" sz="1800" dirty="0"/>
              <a:t>This layer provides various services like:</a:t>
            </a:r>
          </a:p>
          <a:p>
            <a:pPr lvl="1" algn="just"/>
            <a:r>
              <a:rPr lang="en-US" dirty="0"/>
              <a:t>Network virtual terminal</a:t>
            </a:r>
          </a:p>
          <a:p>
            <a:pPr lvl="1" algn="just"/>
            <a:r>
              <a:rPr lang="en-US" dirty="0"/>
              <a:t>File transfer, access and management</a:t>
            </a:r>
          </a:p>
          <a:p>
            <a:pPr lvl="1" algn="just"/>
            <a:r>
              <a:rPr lang="en-US" dirty="0"/>
              <a:t>Mail services </a:t>
            </a:r>
          </a:p>
          <a:p>
            <a:pPr lvl="1" algn="just"/>
            <a:r>
              <a:rPr lang="en-US" dirty="0"/>
              <a:t>Directory services</a:t>
            </a:r>
          </a:p>
        </p:txBody>
      </p:sp>
    </p:spTree>
    <p:extLst>
      <p:ext uri="{BB962C8B-B14F-4D97-AF65-F5344CB8AC3E}">
        <p14:creationId xmlns:p14="http://schemas.microsoft.com/office/powerpoint/2010/main" val="3770481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lstStyle/>
          <a:p>
            <a:r>
              <a:rPr lang="en-IN" b="1" dirty="0"/>
              <a:t>Summary – OSI Layer</a:t>
            </a:r>
            <a:endParaRPr lang="en-IN" dirty="0"/>
          </a:p>
        </p:txBody>
      </p:sp>
      <p:sp>
        <p:nvSpPr>
          <p:cNvPr id="21" name="Rounded Rectangle 2">
            <a:extLst>
              <a:ext uri="{FF2B5EF4-FFF2-40B4-BE49-F238E27FC236}">
                <a16:creationId xmlns:a16="http://schemas.microsoft.com/office/drawing/2014/main" id="{60081A4A-3CAE-4C8A-8133-F5FAB6F8E9ED}"/>
              </a:ext>
            </a:extLst>
          </p:cNvPr>
          <p:cNvSpPr/>
          <p:nvPr/>
        </p:nvSpPr>
        <p:spPr>
          <a:xfrm>
            <a:off x="3743325" y="2000250"/>
            <a:ext cx="1657350" cy="34290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350" dirty="0"/>
              <a:t>Application</a:t>
            </a:r>
          </a:p>
        </p:txBody>
      </p:sp>
      <p:sp>
        <p:nvSpPr>
          <p:cNvPr id="22" name="Rounded Rectangle 5">
            <a:extLst>
              <a:ext uri="{FF2B5EF4-FFF2-40B4-BE49-F238E27FC236}">
                <a16:creationId xmlns:a16="http://schemas.microsoft.com/office/drawing/2014/main" id="{E996C951-36C3-4476-BC0D-0D416685FACC}"/>
              </a:ext>
            </a:extLst>
          </p:cNvPr>
          <p:cNvSpPr/>
          <p:nvPr/>
        </p:nvSpPr>
        <p:spPr>
          <a:xfrm>
            <a:off x="3734893" y="2458387"/>
            <a:ext cx="1657350" cy="3429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350" dirty="0"/>
              <a:t>Presentation</a:t>
            </a:r>
          </a:p>
        </p:txBody>
      </p:sp>
      <p:sp>
        <p:nvSpPr>
          <p:cNvPr id="23" name="Rounded Rectangle 6">
            <a:extLst>
              <a:ext uri="{FF2B5EF4-FFF2-40B4-BE49-F238E27FC236}">
                <a16:creationId xmlns:a16="http://schemas.microsoft.com/office/drawing/2014/main" id="{577DFB5D-986E-4618-8548-11620052E194}"/>
              </a:ext>
            </a:extLst>
          </p:cNvPr>
          <p:cNvSpPr/>
          <p:nvPr/>
        </p:nvSpPr>
        <p:spPr>
          <a:xfrm>
            <a:off x="3734893" y="2916524"/>
            <a:ext cx="1657350" cy="3429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350" dirty="0"/>
              <a:t>Session</a:t>
            </a:r>
          </a:p>
        </p:txBody>
      </p:sp>
      <p:sp>
        <p:nvSpPr>
          <p:cNvPr id="24" name="Rounded Rectangle 7">
            <a:extLst>
              <a:ext uri="{FF2B5EF4-FFF2-40B4-BE49-F238E27FC236}">
                <a16:creationId xmlns:a16="http://schemas.microsoft.com/office/drawing/2014/main" id="{84D5843A-8F3C-4311-8C84-312116B43FB9}"/>
              </a:ext>
            </a:extLst>
          </p:cNvPr>
          <p:cNvSpPr/>
          <p:nvPr/>
        </p:nvSpPr>
        <p:spPr>
          <a:xfrm>
            <a:off x="3734893" y="3402767"/>
            <a:ext cx="1657350" cy="3429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350" dirty="0"/>
              <a:t>Transport</a:t>
            </a:r>
          </a:p>
        </p:txBody>
      </p:sp>
      <p:sp>
        <p:nvSpPr>
          <p:cNvPr id="25" name="Rounded Rectangle 8">
            <a:extLst>
              <a:ext uri="{FF2B5EF4-FFF2-40B4-BE49-F238E27FC236}">
                <a16:creationId xmlns:a16="http://schemas.microsoft.com/office/drawing/2014/main" id="{07B9AAA9-58D2-4115-A028-85277F4CCB61}"/>
              </a:ext>
            </a:extLst>
          </p:cNvPr>
          <p:cNvSpPr/>
          <p:nvPr/>
        </p:nvSpPr>
        <p:spPr>
          <a:xfrm>
            <a:off x="3734893" y="3889010"/>
            <a:ext cx="1657350" cy="3429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350" dirty="0"/>
              <a:t>Network </a:t>
            </a:r>
          </a:p>
        </p:txBody>
      </p:sp>
      <p:sp>
        <p:nvSpPr>
          <p:cNvPr id="26" name="Rounded Rectangle 9">
            <a:extLst>
              <a:ext uri="{FF2B5EF4-FFF2-40B4-BE49-F238E27FC236}">
                <a16:creationId xmlns:a16="http://schemas.microsoft.com/office/drawing/2014/main" id="{7D82BAA2-EE6A-414C-B9A1-7086C377D175}"/>
              </a:ext>
            </a:extLst>
          </p:cNvPr>
          <p:cNvSpPr/>
          <p:nvPr/>
        </p:nvSpPr>
        <p:spPr>
          <a:xfrm>
            <a:off x="3743325" y="4375253"/>
            <a:ext cx="1657350" cy="3429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350" dirty="0"/>
              <a:t>Data link</a:t>
            </a:r>
          </a:p>
        </p:txBody>
      </p:sp>
      <p:sp>
        <p:nvSpPr>
          <p:cNvPr id="27" name="Rounded Rectangle 10">
            <a:extLst>
              <a:ext uri="{FF2B5EF4-FFF2-40B4-BE49-F238E27FC236}">
                <a16:creationId xmlns:a16="http://schemas.microsoft.com/office/drawing/2014/main" id="{0A739F5A-6AEB-4BCE-AB61-FB7FE233635E}"/>
              </a:ext>
            </a:extLst>
          </p:cNvPr>
          <p:cNvSpPr/>
          <p:nvPr/>
        </p:nvSpPr>
        <p:spPr>
          <a:xfrm>
            <a:off x="3743325" y="4866179"/>
            <a:ext cx="1657350" cy="3429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1350" dirty="0"/>
              <a:t>Physical</a:t>
            </a:r>
          </a:p>
        </p:txBody>
      </p:sp>
      <p:sp>
        <p:nvSpPr>
          <p:cNvPr id="28" name="Rounded Rectangular Callout 4">
            <a:extLst>
              <a:ext uri="{FF2B5EF4-FFF2-40B4-BE49-F238E27FC236}">
                <a16:creationId xmlns:a16="http://schemas.microsoft.com/office/drawing/2014/main" id="{4A36B6E6-4B1A-4F59-9A69-CEF5680EF87B}"/>
              </a:ext>
            </a:extLst>
          </p:cNvPr>
          <p:cNvSpPr/>
          <p:nvPr/>
        </p:nvSpPr>
        <p:spPr>
          <a:xfrm>
            <a:off x="5548235" y="1705869"/>
            <a:ext cx="1771650" cy="679241"/>
          </a:xfrm>
          <a:prstGeom prst="wedgeRoundRectCallout">
            <a:avLst>
              <a:gd name="adj1" fmla="val -58185"/>
              <a:gd name="adj2" fmla="val 15176"/>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350" dirty="0"/>
              <a:t>To allow access to network resource</a:t>
            </a:r>
          </a:p>
        </p:txBody>
      </p:sp>
      <p:sp>
        <p:nvSpPr>
          <p:cNvPr id="29" name="Rounded Rectangular Callout 12">
            <a:extLst>
              <a:ext uri="{FF2B5EF4-FFF2-40B4-BE49-F238E27FC236}">
                <a16:creationId xmlns:a16="http://schemas.microsoft.com/office/drawing/2014/main" id="{0F207BA3-11E2-400F-A323-2AA65C0848E8}"/>
              </a:ext>
            </a:extLst>
          </p:cNvPr>
          <p:cNvSpPr/>
          <p:nvPr/>
        </p:nvSpPr>
        <p:spPr>
          <a:xfrm>
            <a:off x="1657350" y="2154403"/>
            <a:ext cx="1902814" cy="588764"/>
          </a:xfrm>
          <a:prstGeom prst="wedgeRoundRectCallout">
            <a:avLst>
              <a:gd name="adj1" fmla="val 58354"/>
              <a:gd name="adj2" fmla="val 34271"/>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350" dirty="0"/>
              <a:t>To translate, encrypt and compress data</a:t>
            </a:r>
          </a:p>
        </p:txBody>
      </p:sp>
      <p:sp>
        <p:nvSpPr>
          <p:cNvPr id="30" name="Rounded Rectangular Callout 13">
            <a:extLst>
              <a:ext uri="{FF2B5EF4-FFF2-40B4-BE49-F238E27FC236}">
                <a16:creationId xmlns:a16="http://schemas.microsoft.com/office/drawing/2014/main" id="{989F0885-F3C3-4F9C-A157-961C8BD669A0}"/>
              </a:ext>
            </a:extLst>
          </p:cNvPr>
          <p:cNvSpPr/>
          <p:nvPr/>
        </p:nvSpPr>
        <p:spPr>
          <a:xfrm>
            <a:off x="1428752" y="3016302"/>
            <a:ext cx="2131412" cy="772930"/>
          </a:xfrm>
          <a:prstGeom prst="wedgeRoundRectCallout">
            <a:avLst>
              <a:gd name="adj1" fmla="val 58354"/>
              <a:gd name="adj2" fmla="val 34271"/>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350" dirty="0"/>
              <a:t>To provide reliable process-to-process message delivery and error recovery</a:t>
            </a:r>
          </a:p>
        </p:txBody>
      </p:sp>
      <p:sp>
        <p:nvSpPr>
          <p:cNvPr id="31" name="Rounded Rectangular Callout 14">
            <a:extLst>
              <a:ext uri="{FF2B5EF4-FFF2-40B4-BE49-F238E27FC236}">
                <a16:creationId xmlns:a16="http://schemas.microsoft.com/office/drawing/2014/main" id="{E0F365F3-1B04-4FB5-879D-E98A9958E8FB}"/>
              </a:ext>
            </a:extLst>
          </p:cNvPr>
          <p:cNvSpPr/>
          <p:nvPr/>
        </p:nvSpPr>
        <p:spPr>
          <a:xfrm>
            <a:off x="5539803" y="2671229"/>
            <a:ext cx="1889698" cy="588764"/>
          </a:xfrm>
          <a:prstGeom prst="wedgeRoundRectCallout">
            <a:avLst>
              <a:gd name="adj1" fmla="val -58185"/>
              <a:gd name="adj2" fmla="val 15176"/>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350" dirty="0"/>
              <a:t>To establish, manage and terminate sessions</a:t>
            </a:r>
          </a:p>
        </p:txBody>
      </p:sp>
      <p:sp>
        <p:nvSpPr>
          <p:cNvPr id="32" name="Rounded Rectangular Callout 15">
            <a:extLst>
              <a:ext uri="{FF2B5EF4-FFF2-40B4-BE49-F238E27FC236}">
                <a16:creationId xmlns:a16="http://schemas.microsoft.com/office/drawing/2014/main" id="{44C015C6-1D3D-4B87-8D3F-F4F9C6F4FF30}"/>
              </a:ext>
            </a:extLst>
          </p:cNvPr>
          <p:cNvSpPr/>
          <p:nvPr/>
        </p:nvSpPr>
        <p:spPr>
          <a:xfrm>
            <a:off x="5539801" y="3546111"/>
            <a:ext cx="2061149" cy="784909"/>
          </a:xfrm>
          <a:prstGeom prst="wedgeRoundRectCallout">
            <a:avLst>
              <a:gd name="adj1" fmla="val -58185"/>
              <a:gd name="adj2" fmla="val 15176"/>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350" dirty="0"/>
              <a:t>To move packets from source to destination; To provide internetworking</a:t>
            </a:r>
          </a:p>
        </p:txBody>
      </p:sp>
      <p:sp>
        <p:nvSpPr>
          <p:cNvPr id="33" name="Rounded Rectangular Callout 16">
            <a:extLst>
              <a:ext uri="{FF2B5EF4-FFF2-40B4-BE49-F238E27FC236}">
                <a16:creationId xmlns:a16="http://schemas.microsoft.com/office/drawing/2014/main" id="{8497AB58-98FD-4731-A595-6139F36E90F2}"/>
              </a:ext>
            </a:extLst>
          </p:cNvPr>
          <p:cNvSpPr/>
          <p:nvPr/>
        </p:nvSpPr>
        <p:spPr>
          <a:xfrm>
            <a:off x="5562286" y="4621923"/>
            <a:ext cx="2038664" cy="864478"/>
          </a:xfrm>
          <a:prstGeom prst="wedgeRoundRectCallout">
            <a:avLst>
              <a:gd name="adj1" fmla="val -58185"/>
              <a:gd name="adj2" fmla="val -8233"/>
              <a:gd name="adj3" fmla="val 16667"/>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1350" dirty="0"/>
              <a:t>To transmit bits over a medium; To provide mechanical &amp; electrical specification</a:t>
            </a:r>
          </a:p>
        </p:txBody>
      </p:sp>
      <p:sp>
        <p:nvSpPr>
          <p:cNvPr id="34" name="Rounded Rectangular Callout 17">
            <a:extLst>
              <a:ext uri="{FF2B5EF4-FFF2-40B4-BE49-F238E27FC236}">
                <a16:creationId xmlns:a16="http://schemas.microsoft.com/office/drawing/2014/main" id="{8DD5D2B4-E642-4BE1-85FF-FAF94D53AD3C}"/>
              </a:ext>
            </a:extLst>
          </p:cNvPr>
          <p:cNvSpPr/>
          <p:nvPr/>
        </p:nvSpPr>
        <p:spPr>
          <a:xfrm>
            <a:off x="1695763" y="4129390"/>
            <a:ext cx="1902814" cy="736790"/>
          </a:xfrm>
          <a:prstGeom prst="wedgeRoundRectCallout">
            <a:avLst>
              <a:gd name="adj1" fmla="val 58354"/>
              <a:gd name="adj2" fmla="val -4286"/>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350" dirty="0"/>
              <a:t>To organize bits into frames; To provide hop-to-hop delivery</a:t>
            </a:r>
          </a:p>
        </p:txBody>
      </p:sp>
    </p:spTree>
    <p:extLst>
      <p:ext uri="{BB962C8B-B14F-4D97-AF65-F5344CB8AC3E}">
        <p14:creationId xmlns:p14="http://schemas.microsoft.com/office/powerpoint/2010/main" val="3925675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49" y="1009934"/>
            <a:ext cx="7200900" cy="369343"/>
          </a:xfrm>
        </p:spPr>
        <p:txBody>
          <a:bodyPr>
            <a:normAutofit fontScale="90000"/>
          </a:bodyPr>
          <a:lstStyle/>
          <a:p>
            <a:r>
              <a:rPr lang="en-US" dirty="0"/>
              <a:t>Example</a:t>
            </a:r>
            <a:endParaRPr lang="en-IN" dirty="0"/>
          </a:p>
        </p:txBody>
      </p:sp>
      <p:pic>
        <p:nvPicPr>
          <p:cNvPr id="4" name="Content Placeholder 3"/>
          <p:cNvPicPr>
            <a:picLocks noGrp="1" noChangeAspect="1"/>
          </p:cNvPicPr>
          <p:nvPr>
            <p:ph idx="1"/>
          </p:nvPr>
        </p:nvPicPr>
        <p:blipFill>
          <a:blip r:embed="rId2"/>
          <a:stretch>
            <a:fillRect/>
          </a:stretch>
        </p:blipFill>
        <p:spPr>
          <a:xfrm>
            <a:off x="1248771" y="1379277"/>
            <a:ext cx="6499745" cy="3935674"/>
          </a:xfrm>
          <a:prstGeom prst="rect">
            <a:avLst/>
          </a:prstGeom>
        </p:spPr>
      </p:pic>
    </p:spTree>
    <p:extLst>
      <p:ext uri="{BB962C8B-B14F-4D97-AF65-F5344CB8AC3E}">
        <p14:creationId xmlns:p14="http://schemas.microsoft.com/office/powerpoint/2010/main" val="2530840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1028700"/>
            <a:ext cx="7200900" cy="857250"/>
          </a:xfrm>
        </p:spPr>
        <p:txBody>
          <a:bodyPr>
            <a:normAutofit fontScale="90000"/>
          </a:bodyPr>
          <a:lstStyle/>
          <a:p>
            <a:r>
              <a:rPr lang="en-IN" b="1" dirty="0"/>
              <a:t>TCP/IP Reference Model </a:t>
            </a:r>
            <a:br>
              <a:rPr lang="en-IN" b="1" dirty="0"/>
            </a:br>
            <a:r>
              <a:rPr lang="en-IN" b="1" dirty="0"/>
              <a:t>(Transmission Control Protocol/Internet Protocol)</a:t>
            </a:r>
            <a:endParaRPr lang="en-IN" dirty="0"/>
          </a:p>
        </p:txBody>
      </p:sp>
      <p:sp>
        <p:nvSpPr>
          <p:cNvPr id="6" name="Content Placeholder 5">
            <a:extLst>
              <a:ext uri="{FF2B5EF4-FFF2-40B4-BE49-F238E27FC236}">
                <a16:creationId xmlns:a16="http://schemas.microsoft.com/office/drawing/2014/main" id="{99AFED72-6866-4834-973C-CBCF10BF5B58}"/>
              </a:ext>
            </a:extLst>
          </p:cNvPr>
          <p:cNvSpPr>
            <a:spLocks noGrp="1"/>
          </p:cNvSpPr>
          <p:nvPr>
            <p:ph idx="1"/>
          </p:nvPr>
        </p:nvSpPr>
        <p:spPr>
          <a:xfrm>
            <a:off x="971550" y="1885950"/>
            <a:ext cx="7200900" cy="3086100"/>
          </a:xfrm>
        </p:spPr>
        <p:txBody>
          <a:bodyPr>
            <a:noAutofit/>
          </a:bodyPr>
          <a:lstStyle/>
          <a:p>
            <a:pPr algn="just"/>
            <a:r>
              <a:rPr lang="en-US" sz="1800" dirty="0"/>
              <a:t>It was originally defined as having five layers: </a:t>
            </a:r>
          </a:p>
          <a:p>
            <a:pPr algn="just"/>
            <a:r>
              <a:rPr lang="en-US" sz="1800" dirty="0"/>
              <a:t>TCP/IP is a set of protocols developed to allow cooperating computers to share resources across the network.</a:t>
            </a:r>
          </a:p>
          <a:p>
            <a:pPr lvl="1" algn="just"/>
            <a:r>
              <a:rPr lang="en-US" dirty="0"/>
              <a:t>Application Layer</a:t>
            </a:r>
          </a:p>
          <a:p>
            <a:pPr lvl="1" algn="just"/>
            <a:r>
              <a:rPr lang="en-US" dirty="0"/>
              <a:t>Transport Layer</a:t>
            </a:r>
          </a:p>
          <a:p>
            <a:pPr lvl="1" algn="just"/>
            <a:r>
              <a:rPr lang="en-US" dirty="0"/>
              <a:t>Network Layer</a:t>
            </a:r>
          </a:p>
          <a:p>
            <a:pPr lvl="1" algn="just"/>
            <a:r>
              <a:rPr lang="en-US" dirty="0"/>
              <a:t>Data Link Layer</a:t>
            </a:r>
          </a:p>
          <a:p>
            <a:pPr lvl="1" algn="just"/>
            <a:r>
              <a:rPr lang="en-US" dirty="0"/>
              <a:t>Physical Network</a:t>
            </a:r>
          </a:p>
          <a:p>
            <a:pPr algn="just"/>
            <a:endParaRPr lang="en-US" sz="1800" dirty="0"/>
          </a:p>
          <a:p>
            <a:pPr algn="just"/>
            <a:endParaRPr lang="en-US" sz="1800" dirty="0"/>
          </a:p>
        </p:txBody>
      </p:sp>
    </p:spTree>
    <p:extLst>
      <p:ext uri="{BB962C8B-B14F-4D97-AF65-F5344CB8AC3E}">
        <p14:creationId xmlns:p14="http://schemas.microsoft.com/office/powerpoint/2010/main" val="1374709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1028700"/>
            <a:ext cx="7200900" cy="857250"/>
          </a:xfrm>
        </p:spPr>
        <p:txBody>
          <a:bodyPr>
            <a:normAutofit/>
          </a:bodyPr>
          <a:lstStyle/>
          <a:p>
            <a:r>
              <a:rPr lang="en-IN" b="1" dirty="0"/>
              <a:t>TCP/IP Reference Model </a:t>
            </a:r>
            <a:endParaRPr lang="en-IN" dirty="0"/>
          </a:p>
        </p:txBody>
      </p:sp>
      <p:sp>
        <p:nvSpPr>
          <p:cNvPr id="6" name="Content Placeholder 5">
            <a:extLst>
              <a:ext uri="{FF2B5EF4-FFF2-40B4-BE49-F238E27FC236}">
                <a16:creationId xmlns:a16="http://schemas.microsoft.com/office/drawing/2014/main" id="{99AFED72-6866-4834-973C-CBCF10BF5B58}"/>
              </a:ext>
            </a:extLst>
          </p:cNvPr>
          <p:cNvSpPr>
            <a:spLocks noGrp="1"/>
          </p:cNvSpPr>
          <p:nvPr>
            <p:ph idx="1"/>
          </p:nvPr>
        </p:nvSpPr>
        <p:spPr>
          <a:xfrm>
            <a:off x="971550" y="1885950"/>
            <a:ext cx="7200900" cy="3086100"/>
          </a:xfrm>
        </p:spPr>
        <p:txBody>
          <a:bodyPr>
            <a:noAutofit/>
          </a:bodyPr>
          <a:lstStyle/>
          <a:p>
            <a:pPr algn="just"/>
            <a:r>
              <a:rPr lang="en-US" sz="1800" dirty="0"/>
              <a:t>Like the OSI model, the TCP/IP model is layered and is used in the same fashion as the OSI model but with fewer layers. </a:t>
            </a:r>
          </a:p>
          <a:p>
            <a:pPr algn="just"/>
            <a:r>
              <a:rPr lang="en-US" sz="1800" dirty="0"/>
              <a:t>As the modern Internet and most communications use the Internet Protocol (IP), the TCP/IP model is technically more in line with modern network implementations. </a:t>
            </a:r>
          </a:p>
          <a:p>
            <a:pPr algn="just"/>
            <a:r>
              <a:rPr lang="en-US" sz="1800" dirty="0"/>
              <a:t>As stated before, the layers within the TCP/IP model are considered less rigid then that of the OSI model, which basically means that many protocols implemented can be considered in grey areas between one area and another. </a:t>
            </a:r>
          </a:p>
          <a:p>
            <a:pPr algn="just"/>
            <a:r>
              <a:rPr lang="en-US" sz="1800" dirty="0"/>
              <a:t>The TCP/IP protocol suite (often referred to as the TCP/IP protocol) contains the same protocols referenced in the earlier OSI model sections.</a:t>
            </a:r>
          </a:p>
        </p:txBody>
      </p:sp>
    </p:spTree>
    <p:extLst>
      <p:ext uri="{BB962C8B-B14F-4D97-AF65-F5344CB8AC3E}">
        <p14:creationId xmlns:p14="http://schemas.microsoft.com/office/powerpoint/2010/main" val="2134108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1028700"/>
            <a:ext cx="7200900" cy="857250"/>
          </a:xfrm>
        </p:spPr>
        <p:txBody>
          <a:bodyPr>
            <a:normAutofit/>
          </a:bodyPr>
          <a:lstStyle/>
          <a:p>
            <a:r>
              <a:rPr lang="en-IN" b="1" dirty="0"/>
              <a:t>TCP/IP Reference Model </a:t>
            </a:r>
            <a:endParaRPr lang="en-IN" dirty="0"/>
          </a:p>
        </p:txBody>
      </p:sp>
      <p:sp>
        <p:nvSpPr>
          <p:cNvPr id="6" name="Content Placeholder 5">
            <a:extLst>
              <a:ext uri="{FF2B5EF4-FFF2-40B4-BE49-F238E27FC236}">
                <a16:creationId xmlns:a16="http://schemas.microsoft.com/office/drawing/2014/main" id="{99AFED72-6866-4834-973C-CBCF10BF5B58}"/>
              </a:ext>
            </a:extLst>
          </p:cNvPr>
          <p:cNvSpPr>
            <a:spLocks noGrp="1"/>
          </p:cNvSpPr>
          <p:nvPr>
            <p:ph idx="1"/>
          </p:nvPr>
        </p:nvSpPr>
        <p:spPr>
          <a:xfrm>
            <a:off x="971550" y="1925706"/>
            <a:ext cx="7200900" cy="3086100"/>
          </a:xfrm>
        </p:spPr>
        <p:txBody>
          <a:bodyPr>
            <a:noAutofit/>
          </a:bodyPr>
          <a:lstStyle/>
          <a:p>
            <a:pPr algn="just"/>
            <a:r>
              <a:rPr lang="en-US" sz="1800" dirty="0"/>
              <a:t>What is TCP/IP?</a:t>
            </a:r>
          </a:p>
          <a:p>
            <a:pPr algn="just"/>
            <a:r>
              <a:rPr lang="en-US" sz="1800" dirty="0"/>
              <a:t>TCP/IP is a set of protocols (Protocol Suit) that enable communication between computers. </a:t>
            </a:r>
          </a:p>
          <a:p>
            <a:pPr algn="just"/>
            <a:r>
              <a:rPr lang="en-US" sz="1800" dirty="0"/>
              <a:t>Protocols are rules or standards that govern communications. </a:t>
            </a:r>
          </a:p>
          <a:p>
            <a:pPr algn="just"/>
            <a:r>
              <a:rPr lang="en-US" sz="1800" dirty="0"/>
              <a:t>If two devices in a network need to communicate, they need to use a common protocol. E.g. human communication.</a:t>
            </a:r>
          </a:p>
        </p:txBody>
      </p:sp>
    </p:spTree>
    <p:extLst>
      <p:ext uri="{BB962C8B-B14F-4D97-AF65-F5344CB8AC3E}">
        <p14:creationId xmlns:p14="http://schemas.microsoft.com/office/powerpoint/2010/main" val="559635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1028700"/>
            <a:ext cx="7200900" cy="857250"/>
          </a:xfrm>
        </p:spPr>
        <p:txBody>
          <a:bodyPr>
            <a:normAutofit/>
          </a:bodyPr>
          <a:lstStyle/>
          <a:p>
            <a:r>
              <a:rPr lang="en-IN" b="1" dirty="0"/>
              <a:t>TCP/IP Reference Model </a:t>
            </a:r>
            <a:endParaRPr lang="en-IN" dirty="0"/>
          </a:p>
        </p:txBody>
      </p:sp>
      <p:sp>
        <p:nvSpPr>
          <p:cNvPr id="6" name="Content Placeholder 5">
            <a:extLst>
              <a:ext uri="{FF2B5EF4-FFF2-40B4-BE49-F238E27FC236}">
                <a16:creationId xmlns:a16="http://schemas.microsoft.com/office/drawing/2014/main" id="{99AFED72-6866-4834-973C-CBCF10BF5B58}"/>
              </a:ext>
            </a:extLst>
          </p:cNvPr>
          <p:cNvSpPr>
            <a:spLocks noGrp="1"/>
          </p:cNvSpPr>
          <p:nvPr>
            <p:ph idx="1"/>
          </p:nvPr>
        </p:nvSpPr>
        <p:spPr>
          <a:xfrm>
            <a:off x="971550" y="1915767"/>
            <a:ext cx="7200900" cy="3086100"/>
          </a:xfrm>
        </p:spPr>
        <p:txBody>
          <a:bodyPr>
            <a:noAutofit/>
          </a:bodyPr>
          <a:lstStyle/>
          <a:p>
            <a:pPr algn="just"/>
            <a:r>
              <a:rPr lang="en-US" sz="1800" dirty="0"/>
              <a:t>You can select from different network protocols to use in your network, but TCP/IP is the industry standard. </a:t>
            </a:r>
          </a:p>
          <a:p>
            <a:pPr algn="just"/>
            <a:r>
              <a:rPr lang="en-US" sz="1800" dirty="0"/>
              <a:t>Almost all Operating Systems now support TCP/IP. Internet is working on TCP/IP. </a:t>
            </a:r>
          </a:p>
          <a:p>
            <a:pPr algn="just"/>
            <a:r>
              <a:rPr lang="en-US" sz="1800" dirty="0"/>
              <a:t>TCP/IP is known as "the language of the Internet." If you want a computer to work on the Internet, you have to use TCP/IP.</a:t>
            </a:r>
          </a:p>
        </p:txBody>
      </p:sp>
    </p:spTree>
    <p:extLst>
      <p:ext uri="{BB962C8B-B14F-4D97-AF65-F5344CB8AC3E}">
        <p14:creationId xmlns:p14="http://schemas.microsoft.com/office/powerpoint/2010/main" val="1454232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normAutofit fontScale="90000"/>
          </a:bodyPr>
          <a:lstStyle/>
          <a:p>
            <a:r>
              <a:rPr lang="en-IN" b="1" dirty="0"/>
              <a:t>TCP/IP Reference Model :History</a:t>
            </a:r>
            <a:endParaRPr lang="en-IN" dirty="0"/>
          </a:p>
        </p:txBody>
      </p:sp>
      <p:sp>
        <p:nvSpPr>
          <p:cNvPr id="6" name="Content Placeholder 5">
            <a:extLst>
              <a:ext uri="{FF2B5EF4-FFF2-40B4-BE49-F238E27FC236}">
                <a16:creationId xmlns:a16="http://schemas.microsoft.com/office/drawing/2014/main" id="{99AFED72-6866-4834-973C-CBCF10BF5B58}"/>
              </a:ext>
            </a:extLst>
          </p:cNvPr>
          <p:cNvSpPr>
            <a:spLocks noGrp="1"/>
          </p:cNvSpPr>
          <p:nvPr>
            <p:ph idx="1"/>
          </p:nvPr>
        </p:nvSpPr>
        <p:spPr>
          <a:xfrm>
            <a:off x="971550" y="1885950"/>
            <a:ext cx="7200900" cy="3086100"/>
          </a:xfrm>
        </p:spPr>
        <p:txBody>
          <a:bodyPr>
            <a:noAutofit/>
          </a:bodyPr>
          <a:lstStyle/>
          <a:p>
            <a:pPr algn="just"/>
            <a:r>
              <a:rPr lang="en-US" sz="1650" dirty="0"/>
              <a:t>The ARPANET, a research network group connected hundreds of universities and gown installations, using leased telephone lines.</a:t>
            </a:r>
          </a:p>
          <a:p>
            <a:pPr algn="just"/>
            <a:r>
              <a:rPr lang="en-US" sz="1650" dirty="0"/>
              <a:t>The predecessor of today’s Internet was ARPAnet, created by the Advanced Research Projects Agency (ARPA) and launched in 1969 during "Cold War".</a:t>
            </a:r>
          </a:p>
          <a:p>
            <a:pPr algn="just"/>
            <a:r>
              <a:rPr lang="en-US" sz="1650" dirty="0"/>
              <a:t>The protocol used on the ARPAnet was called Network Control Protocol (NCP).</a:t>
            </a:r>
          </a:p>
          <a:p>
            <a:pPr algn="just"/>
            <a:r>
              <a:rPr lang="en-US" sz="1650" dirty="0"/>
              <a:t> As the ARPAnet grew, however, a new protocol was needed because NCP was not able </a:t>
            </a:r>
          </a:p>
          <a:p>
            <a:pPr algn="just"/>
            <a:r>
              <a:rPr lang="en-US" sz="1650" dirty="0"/>
              <a:t>In 1974 </a:t>
            </a:r>
            <a:r>
              <a:rPr lang="en-US" sz="1650" dirty="0" err="1"/>
              <a:t>Vint</a:t>
            </a:r>
            <a:r>
              <a:rPr lang="en-US" sz="1650" dirty="0"/>
              <a:t> Cerf and Bob Kahn, published a paper “A Protocol for Packet Network Interconnection.” This paper describes the Transmission Control Protocol (TCP), which eventually replaced NCP. to fulfil all the needs of a larger network.</a:t>
            </a:r>
          </a:p>
        </p:txBody>
      </p:sp>
    </p:spTree>
    <p:extLst>
      <p:ext uri="{BB962C8B-B14F-4D97-AF65-F5344CB8AC3E}">
        <p14:creationId xmlns:p14="http://schemas.microsoft.com/office/powerpoint/2010/main" val="3595055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lstStyle/>
          <a:p>
            <a:r>
              <a:rPr lang="en-IN" b="1" dirty="0"/>
              <a:t>TCP/IP Reference Model </a:t>
            </a:r>
            <a:endParaRPr lang="en-IN" dirty="0"/>
          </a:p>
        </p:txBody>
      </p:sp>
      <p:sp>
        <p:nvSpPr>
          <p:cNvPr id="6" name="Content Placeholder 5">
            <a:extLst>
              <a:ext uri="{FF2B5EF4-FFF2-40B4-BE49-F238E27FC236}">
                <a16:creationId xmlns:a16="http://schemas.microsoft.com/office/drawing/2014/main" id="{99AFED72-6866-4834-973C-CBCF10BF5B58}"/>
              </a:ext>
            </a:extLst>
          </p:cNvPr>
          <p:cNvSpPr>
            <a:spLocks noGrp="1"/>
          </p:cNvSpPr>
          <p:nvPr>
            <p:ph idx="1"/>
          </p:nvPr>
        </p:nvSpPr>
        <p:spPr>
          <a:xfrm>
            <a:off x="971550" y="1885950"/>
            <a:ext cx="7200900" cy="3086100"/>
          </a:xfrm>
        </p:spPr>
        <p:txBody>
          <a:bodyPr>
            <a:noAutofit/>
          </a:bodyPr>
          <a:lstStyle/>
          <a:p>
            <a:pPr algn="just"/>
            <a:r>
              <a:rPr lang="en-US" sz="1800" dirty="0"/>
              <a:t>By 1978, testing and further development of this language led to a new suite of protocols called Transmission Control Protocol/Internet Protocol (TCP/IP).</a:t>
            </a:r>
          </a:p>
          <a:p>
            <a:pPr algn="just"/>
            <a:r>
              <a:rPr lang="en-US" sz="1800" dirty="0"/>
              <a:t>5Layers</a:t>
            </a:r>
          </a:p>
          <a:p>
            <a:pPr algn="just"/>
            <a:r>
              <a:rPr lang="en-US" sz="1800" dirty="0"/>
              <a:t>Distinction between these three concepts are explicit.</a:t>
            </a:r>
          </a:p>
          <a:p>
            <a:pPr algn="just"/>
            <a:r>
              <a:rPr lang="en-US" sz="1800" dirty="0"/>
              <a:t>Protocols in TCP/IP model are not hidden and tough to replace if technology changes.</a:t>
            </a:r>
          </a:p>
          <a:p>
            <a:pPr algn="just"/>
            <a:r>
              <a:rPr lang="en-US" sz="1800" dirty="0"/>
              <a:t>The model was not biased toward one particular set of protocols, a fact that made it quite general.</a:t>
            </a:r>
          </a:p>
          <a:p>
            <a:pPr algn="just"/>
            <a:endParaRPr lang="en-US" sz="1800" dirty="0"/>
          </a:p>
          <a:p>
            <a:pPr algn="just"/>
            <a:endParaRPr lang="en-US" sz="1800" dirty="0"/>
          </a:p>
        </p:txBody>
      </p:sp>
    </p:spTree>
    <p:extLst>
      <p:ext uri="{BB962C8B-B14F-4D97-AF65-F5344CB8AC3E}">
        <p14:creationId xmlns:p14="http://schemas.microsoft.com/office/powerpoint/2010/main" val="1704155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lstStyle/>
          <a:p>
            <a:r>
              <a:rPr lang="en-IN" b="1" dirty="0"/>
              <a:t>TCP/IP Reference Model </a:t>
            </a:r>
            <a:endParaRPr lang="en-IN" dirty="0"/>
          </a:p>
        </p:txBody>
      </p:sp>
      <p:sp>
        <p:nvSpPr>
          <p:cNvPr id="6" name="Content Placeholder 5">
            <a:extLst>
              <a:ext uri="{FF2B5EF4-FFF2-40B4-BE49-F238E27FC236}">
                <a16:creationId xmlns:a16="http://schemas.microsoft.com/office/drawing/2014/main" id="{99AFED72-6866-4834-973C-CBCF10BF5B58}"/>
              </a:ext>
            </a:extLst>
          </p:cNvPr>
          <p:cNvSpPr>
            <a:spLocks noGrp="1"/>
          </p:cNvSpPr>
          <p:nvPr>
            <p:ph idx="1"/>
          </p:nvPr>
        </p:nvSpPr>
        <p:spPr>
          <a:xfrm>
            <a:off x="971550" y="1885950"/>
            <a:ext cx="7200900" cy="3086100"/>
          </a:xfrm>
        </p:spPr>
        <p:txBody>
          <a:bodyPr>
            <a:noAutofit/>
          </a:bodyPr>
          <a:lstStyle/>
          <a:p>
            <a:pPr algn="just"/>
            <a:r>
              <a:rPr lang="en-US" sz="1800" dirty="0"/>
              <a:t>Designers have much experience with the subject and have clear idea of which functionality to put in which layer.</a:t>
            </a:r>
          </a:p>
          <a:p>
            <a:pPr algn="just"/>
            <a:r>
              <a:rPr lang="en-US" sz="1800" dirty="0"/>
              <a:t>Network Layer, supports both, connection oriented and connectionless communication.</a:t>
            </a:r>
          </a:p>
          <a:p>
            <a:pPr algn="just"/>
            <a:r>
              <a:rPr lang="en-US" sz="1800" dirty="0"/>
              <a:t>More precise.</a:t>
            </a:r>
          </a:p>
          <a:p>
            <a:pPr algn="just"/>
            <a:r>
              <a:rPr lang="en-US" sz="1800" dirty="0"/>
              <a:t>Doesn’t give emphasis on clear interface between layers. Protocol works specially for transport and network layer.</a:t>
            </a:r>
          </a:p>
          <a:p>
            <a:pPr algn="just"/>
            <a:endParaRPr lang="en-US" sz="1800" dirty="0"/>
          </a:p>
        </p:txBody>
      </p:sp>
    </p:spTree>
    <p:extLst>
      <p:ext uri="{BB962C8B-B14F-4D97-AF65-F5344CB8AC3E}">
        <p14:creationId xmlns:p14="http://schemas.microsoft.com/office/powerpoint/2010/main" val="699979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lstStyle/>
          <a:p>
            <a:r>
              <a:rPr lang="en-IN" b="1" dirty="0"/>
              <a:t>The Physical Layer</a:t>
            </a:r>
          </a:p>
        </p:txBody>
      </p:sp>
      <p:sp>
        <p:nvSpPr>
          <p:cNvPr id="6" name="Content Placeholder 5">
            <a:extLst>
              <a:ext uri="{FF2B5EF4-FFF2-40B4-BE49-F238E27FC236}">
                <a16:creationId xmlns:a16="http://schemas.microsoft.com/office/drawing/2014/main" id="{99AFED72-6866-4834-973C-CBCF10BF5B58}"/>
              </a:ext>
            </a:extLst>
          </p:cNvPr>
          <p:cNvSpPr>
            <a:spLocks noGrp="1"/>
          </p:cNvSpPr>
          <p:nvPr>
            <p:ph idx="1"/>
          </p:nvPr>
        </p:nvSpPr>
        <p:spPr>
          <a:xfrm>
            <a:off x="971550" y="1885950"/>
            <a:ext cx="7200900" cy="3086100"/>
          </a:xfrm>
        </p:spPr>
        <p:txBody>
          <a:bodyPr>
            <a:noAutofit/>
          </a:bodyPr>
          <a:lstStyle/>
          <a:p>
            <a:pPr algn="just"/>
            <a:r>
              <a:rPr lang="en-US" sz="1800" dirty="0"/>
              <a:t>Transmitting raw bits over a communication channel. </a:t>
            </a:r>
          </a:p>
          <a:p>
            <a:pPr algn="just"/>
            <a:r>
              <a:rPr lang="en-US" sz="1800" dirty="0"/>
              <a:t>Works as Transporter, to carry bits from one end to another. </a:t>
            </a:r>
          </a:p>
          <a:p>
            <a:pPr algn="just"/>
            <a:r>
              <a:rPr lang="en-US" sz="1800" dirty="0"/>
              <a:t>Converts the bits to voltage or light pulse and at the other end, converts incoming voltage or light pulse to bits. </a:t>
            </a:r>
          </a:p>
          <a:p>
            <a:pPr algn="just"/>
            <a:r>
              <a:rPr lang="en-US" sz="1800" dirty="0"/>
              <a:t>Checks whether message has to be broadcasted or unicasted. </a:t>
            </a:r>
          </a:p>
          <a:p>
            <a:pPr algn="just"/>
            <a:endParaRPr lang="en-US" sz="1800" dirty="0"/>
          </a:p>
        </p:txBody>
      </p:sp>
    </p:spTree>
    <p:extLst>
      <p:ext uri="{BB962C8B-B14F-4D97-AF65-F5344CB8AC3E}">
        <p14:creationId xmlns:p14="http://schemas.microsoft.com/office/powerpoint/2010/main" val="1409480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lstStyle/>
          <a:p>
            <a:r>
              <a:rPr lang="en-IN" b="1" dirty="0"/>
              <a:t>The Physical Layer</a:t>
            </a:r>
          </a:p>
        </p:txBody>
      </p:sp>
      <p:pic>
        <p:nvPicPr>
          <p:cNvPr id="8" name="Picture 2" descr="C:\Users\LENOVO\Desktop\Figures\Ch_1_F\Ch_1_F\F_1-4.jpg">
            <a:extLst>
              <a:ext uri="{FF2B5EF4-FFF2-40B4-BE49-F238E27FC236}">
                <a16:creationId xmlns:a16="http://schemas.microsoft.com/office/drawing/2014/main" id="{9A5AEA0B-A62F-4FEE-AFF5-FEACFA7B7472}"/>
              </a:ext>
            </a:extLst>
          </p:cNvPr>
          <p:cNvPicPr>
            <a:picLocks noChangeAspect="1" noChangeArrowheads="1"/>
          </p:cNvPicPr>
          <p:nvPr/>
        </p:nvPicPr>
        <p:blipFill>
          <a:blip r:embed="rId2"/>
          <a:srcRect/>
          <a:stretch>
            <a:fillRect/>
          </a:stretch>
        </p:blipFill>
        <p:spPr>
          <a:xfrm>
            <a:off x="1297305" y="2104611"/>
            <a:ext cx="6549390" cy="3028950"/>
          </a:xfrm>
          <a:prstGeom prst="rect">
            <a:avLst/>
          </a:prstGeom>
        </p:spPr>
      </p:pic>
    </p:spTree>
    <p:extLst>
      <p:ext uri="{BB962C8B-B14F-4D97-AF65-F5344CB8AC3E}">
        <p14:creationId xmlns:p14="http://schemas.microsoft.com/office/powerpoint/2010/main" val="2369482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lstStyle/>
          <a:p>
            <a:r>
              <a:rPr lang="en-IN" b="1" dirty="0"/>
              <a:t>The Data Link Layer</a:t>
            </a:r>
          </a:p>
        </p:txBody>
      </p:sp>
      <p:sp>
        <p:nvSpPr>
          <p:cNvPr id="6" name="Content Placeholder 5">
            <a:extLst>
              <a:ext uri="{FF2B5EF4-FFF2-40B4-BE49-F238E27FC236}">
                <a16:creationId xmlns:a16="http://schemas.microsoft.com/office/drawing/2014/main" id="{99AFED72-6866-4834-973C-CBCF10BF5B58}"/>
              </a:ext>
            </a:extLst>
          </p:cNvPr>
          <p:cNvSpPr>
            <a:spLocks noGrp="1"/>
          </p:cNvSpPr>
          <p:nvPr>
            <p:ph idx="1"/>
          </p:nvPr>
        </p:nvSpPr>
        <p:spPr>
          <a:xfrm>
            <a:off x="971550" y="1885950"/>
            <a:ext cx="7200900" cy="3086100"/>
          </a:xfrm>
        </p:spPr>
        <p:txBody>
          <a:bodyPr>
            <a:noAutofit/>
          </a:bodyPr>
          <a:lstStyle/>
          <a:p>
            <a:pPr algn="just"/>
            <a:r>
              <a:rPr lang="en-US" sz="1800" dirty="0"/>
              <a:t>Data link layer has to encapsulate the data into the body of unit called</a:t>
            </a:r>
            <a:r>
              <a:rPr lang="en-US" sz="1800" b="1" dirty="0">
                <a:solidFill>
                  <a:srgbClr val="FF0000"/>
                </a:solidFill>
              </a:rPr>
              <a:t> frame</a:t>
            </a:r>
            <a:r>
              <a:rPr lang="en-US" sz="1800" dirty="0"/>
              <a:t>.</a:t>
            </a:r>
          </a:p>
          <a:p>
            <a:pPr algn="just"/>
            <a:r>
              <a:rPr lang="en-US" sz="1800" dirty="0"/>
              <a:t>The No Monopoly idea and the framing </a:t>
            </a:r>
          </a:p>
          <a:p>
            <a:pPr algn="just"/>
            <a:r>
              <a:rPr lang="en-US" sz="1800" dirty="0"/>
              <a:t>Framing Techniques </a:t>
            </a:r>
          </a:p>
          <a:p>
            <a:pPr algn="just"/>
            <a:r>
              <a:rPr lang="en-US" sz="1800" dirty="0"/>
              <a:t>Error Control </a:t>
            </a:r>
          </a:p>
          <a:p>
            <a:pPr algn="just"/>
            <a:r>
              <a:rPr lang="en-US" sz="1800" dirty="0"/>
              <a:t>Flow Control </a:t>
            </a:r>
          </a:p>
          <a:p>
            <a:pPr algn="just"/>
            <a:endParaRPr lang="en-US" sz="1800" dirty="0"/>
          </a:p>
        </p:txBody>
      </p:sp>
    </p:spTree>
    <p:extLst>
      <p:ext uri="{BB962C8B-B14F-4D97-AF65-F5344CB8AC3E}">
        <p14:creationId xmlns:p14="http://schemas.microsoft.com/office/powerpoint/2010/main" val="44171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lstStyle/>
          <a:p>
            <a:r>
              <a:rPr lang="en-IN" b="1" dirty="0"/>
              <a:t>The Data Link Layer</a:t>
            </a:r>
          </a:p>
        </p:txBody>
      </p:sp>
      <p:pic>
        <p:nvPicPr>
          <p:cNvPr id="7" name="Picture 2" descr="C:\Users\LENOVO\Desktop\Figures\Ch_1_F\Ch_1_F\F_1-5.jpg">
            <a:extLst>
              <a:ext uri="{FF2B5EF4-FFF2-40B4-BE49-F238E27FC236}">
                <a16:creationId xmlns:a16="http://schemas.microsoft.com/office/drawing/2014/main" id="{4BEC6C7F-78E7-4C5F-BD72-623A814A93EB}"/>
              </a:ext>
            </a:extLst>
          </p:cNvPr>
          <p:cNvPicPr>
            <a:picLocks noGrp="1" noChangeAspect="1" noChangeArrowheads="1"/>
          </p:cNvPicPr>
          <p:nvPr>
            <p:ph idx="1"/>
          </p:nvPr>
        </p:nvPicPr>
        <p:blipFill>
          <a:blip r:embed="rId2"/>
          <a:stretch>
            <a:fillRect/>
          </a:stretch>
        </p:blipFill>
        <p:spPr>
          <a:xfrm>
            <a:off x="1457325" y="1813418"/>
            <a:ext cx="6229350" cy="3714750"/>
          </a:xfrm>
        </p:spPr>
      </p:pic>
    </p:spTree>
    <p:extLst>
      <p:ext uri="{BB962C8B-B14F-4D97-AF65-F5344CB8AC3E}">
        <p14:creationId xmlns:p14="http://schemas.microsoft.com/office/powerpoint/2010/main" val="3631723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lstStyle/>
          <a:p>
            <a:r>
              <a:rPr lang="en-IN" b="1" dirty="0"/>
              <a:t>The Network Layer</a:t>
            </a:r>
          </a:p>
        </p:txBody>
      </p:sp>
      <p:sp>
        <p:nvSpPr>
          <p:cNvPr id="6" name="Content Placeholder 5">
            <a:extLst>
              <a:ext uri="{FF2B5EF4-FFF2-40B4-BE49-F238E27FC236}">
                <a16:creationId xmlns:a16="http://schemas.microsoft.com/office/drawing/2014/main" id="{99AFED72-6866-4834-973C-CBCF10BF5B58}"/>
              </a:ext>
            </a:extLst>
          </p:cNvPr>
          <p:cNvSpPr>
            <a:spLocks noGrp="1"/>
          </p:cNvSpPr>
          <p:nvPr>
            <p:ph idx="1"/>
          </p:nvPr>
        </p:nvSpPr>
        <p:spPr>
          <a:xfrm>
            <a:off x="971550" y="1885950"/>
            <a:ext cx="7200900" cy="3086100"/>
          </a:xfrm>
        </p:spPr>
        <p:txBody>
          <a:bodyPr>
            <a:noAutofit/>
          </a:bodyPr>
          <a:lstStyle/>
          <a:p>
            <a:pPr algn="just"/>
            <a:r>
              <a:rPr lang="en-US" sz="1800" dirty="0"/>
              <a:t>The network layer’s job is to look at the actual destination address and decide the intermediate router through which the packet can be delivered.</a:t>
            </a:r>
          </a:p>
          <a:p>
            <a:pPr algn="just"/>
            <a:r>
              <a:rPr lang="en-US" sz="1800" dirty="0"/>
              <a:t>Handling accounting for usage of network resources </a:t>
            </a:r>
          </a:p>
          <a:p>
            <a:pPr algn="just"/>
            <a:r>
              <a:rPr lang="en-US" sz="1800" dirty="0"/>
              <a:t>Devise and implement mechanisms of identifying each machine uniquely </a:t>
            </a:r>
          </a:p>
          <a:p>
            <a:pPr algn="just"/>
            <a:r>
              <a:rPr lang="en-US" sz="1800" dirty="0"/>
              <a:t>Implement connectionless or connection-oriented forwarding </a:t>
            </a:r>
          </a:p>
          <a:p>
            <a:pPr algn="just"/>
            <a:r>
              <a:rPr lang="en-US" sz="1800" dirty="0"/>
              <a:t>Multiplexing and de-multiplexing the transport layer and the data link layer jobs</a:t>
            </a:r>
          </a:p>
          <a:p>
            <a:pPr algn="just"/>
            <a:endParaRPr lang="en-US" sz="1800" dirty="0"/>
          </a:p>
        </p:txBody>
      </p:sp>
    </p:spTree>
    <p:extLst>
      <p:ext uri="{BB962C8B-B14F-4D97-AF65-F5344CB8AC3E}">
        <p14:creationId xmlns:p14="http://schemas.microsoft.com/office/powerpoint/2010/main" val="948410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lstStyle/>
          <a:p>
            <a:r>
              <a:rPr lang="en-IN" b="1" dirty="0"/>
              <a:t>The Network Layer</a:t>
            </a:r>
          </a:p>
        </p:txBody>
      </p:sp>
      <p:pic>
        <p:nvPicPr>
          <p:cNvPr id="7" name="Picture 2" descr="C:\Users\LENOVO\Desktop\Figures\Ch_1_F\Ch_1_F\F_1-6.jpg">
            <a:extLst>
              <a:ext uri="{FF2B5EF4-FFF2-40B4-BE49-F238E27FC236}">
                <a16:creationId xmlns:a16="http://schemas.microsoft.com/office/drawing/2014/main" id="{D4ECCE85-CA2D-4C70-B815-086BB91BE501}"/>
              </a:ext>
            </a:extLst>
          </p:cNvPr>
          <p:cNvPicPr>
            <a:picLocks noGrp="1" noChangeAspect="1" noChangeArrowheads="1"/>
          </p:cNvPicPr>
          <p:nvPr>
            <p:ph idx="1"/>
          </p:nvPr>
        </p:nvPicPr>
        <p:blipFill>
          <a:blip r:embed="rId2"/>
          <a:stretch>
            <a:fillRect/>
          </a:stretch>
        </p:blipFill>
        <p:spPr>
          <a:xfrm>
            <a:off x="1685925" y="1946510"/>
            <a:ext cx="5772150" cy="3589135"/>
          </a:xfrm>
        </p:spPr>
      </p:pic>
    </p:spTree>
    <p:extLst>
      <p:ext uri="{BB962C8B-B14F-4D97-AF65-F5344CB8AC3E}">
        <p14:creationId xmlns:p14="http://schemas.microsoft.com/office/powerpoint/2010/main" val="576225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lstStyle/>
          <a:p>
            <a:r>
              <a:rPr lang="en-IN" b="1" dirty="0"/>
              <a:t>The Network Layer</a:t>
            </a:r>
          </a:p>
        </p:txBody>
      </p:sp>
      <p:pic>
        <p:nvPicPr>
          <p:cNvPr id="8" name="Picture 2" descr="C:\Users\LENOVO\Desktop\Figures\Ch_1_F\Ch_1_F\F_1-7.jpg">
            <a:extLst>
              <a:ext uri="{FF2B5EF4-FFF2-40B4-BE49-F238E27FC236}">
                <a16:creationId xmlns:a16="http://schemas.microsoft.com/office/drawing/2014/main" id="{9EEB4100-A40D-4829-891B-8A079A8F4B8A}"/>
              </a:ext>
            </a:extLst>
          </p:cNvPr>
          <p:cNvPicPr>
            <a:picLocks noChangeAspect="1" noChangeArrowheads="1"/>
          </p:cNvPicPr>
          <p:nvPr/>
        </p:nvPicPr>
        <p:blipFill>
          <a:blip r:embed="rId2"/>
          <a:stretch>
            <a:fillRect/>
          </a:stretch>
        </p:blipFill>
        <p:spPr>
          <a:xfrm>
            <a:off x="1371600" y="1813418"/>
            <a:ext cx="6400800" cy="3714750"/>
          </a:xfrm>
          <a:prstGeom prst="rect">
            <a:avLst/>
          </a:prstGeom>
        </p:spPr>
      </p:pic>
    </p:spTree>
    <p:extLst>
      <p:ext uri="{BB962C8B-B14F-4D97-AF65-F5344CB8AC3E}">
        <p14:creationId xmlns:p14="http://schemas.microsoft.com/office/powerpoint/2010/main" val="4196943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normAutofit fontScale="90000"/>
          </a:bodyPr>
          <a:lstStyle/>
          <a:p>
            <a:r>
              <a:rPr lang="en-IN" b="1" dirty="0"/>
              <a:t>The Network Layer: Routing at Network Layer</a:t>
            </a:r>
          </a:p>
        </p:txBody>
      </p:sp>
      <p:pic>
        <p:nvPicPr>
          <p:cNvPr id="5" name="Picture 2" descr="C:\Users\LENOVO\Desktop\Figures\Ch_1_F\Ch_1_F\F_1-8.jpg">
            <a:extLst>
              <a:ext uri="{FF2B5EF4-FFF2-40B4-BE49-F238E27FC236}">
                <a16:creationId xmlns:a16="http://schemas.microsoft.com/office/drawing/2014/main" id="{33766C11-2A03-4B1B-8C89-7F852F3F4F64}"/>
              </a:ext>
            </a:extLst>
          </p:cNvPr>
          <p:cNvPicPr>
            <a:picLocks noGrp="1" noChangeAspect="1" noChangeArrowheads="1"/>
          </p:cNvPicPr>
          <p:nvPr>
            <p:ph idx="1"/>
          </p:nvPr>
        </p:nvPicPr>
        <p:blipFill>
          <a:blip r:embed="rId2"/>
          <a:srcRect/>
          <a:stretch>
            <a:fillRect/>
          </a:stretch>
        </p:blipFill>
        <p:spPr>
          <a:xfrm>
            <a:off x="1294805" y="1813418"/>
            <a:ext cx="6554390" cy="3657600"/>
          </a:xfrm>
        </p:spPr>
      </p:pic>
    </p:spTree>
    <p:extLst>
      <p:ext uri="{BB962C8B-B14F-4D97-AF65-F5344CB8AC3E}">
        <p14:creationId xmlns:p14="http://schemas.microsoft.com/office/powerpoint/2010/main" val="507919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normAutofit fontScale="90000"/>
          </a:bodyPr>
          <a:lstStyle/>
          <a:p>
            <a:r>
              <a:rPr lang="en-IN" b="1" dirty="0"/>
              <a:t>The Network Layer: Extracting Prefix</a:t>
            </a:r>
          </a:p>
        </p:txBody>
      </p:sp>
      <p:pic>
        <p:nvPicPr>
          <p:cNvPr id="7" name="Picture 2" descr="C:\Users\LENOVO\Desktop\Figures\Ch_1_F\Ch_1_F\F_1-9.jpg">
            <a:extLst>
              <a:ext uri="{FF2B5EF4-FFF2-40B4-BE49-F238E27FC236}">
                <a16:creationId xmlns:a16="http://schemas.microsoft.com/office/drawing/2014/main" id="{46767AA0-B76A-4914-BAC9-AC190BAEDDC5}"/>
              </a:ext>
            </a:extLst>
          </p:cNvPr>
          <p:cNvPicPr>
            <a:picLocks noChangeAspect="1" noChangeArrowheads="1"/>
          </p:cNvPicPr>
          <p:nvPr/>
        </p:nvPicPr>
        <p:blipFill>
          <a:blip r:embed="rId2"/>
          <a:srcRect/>
          <a:stretch>
            <a:fillRect/>
          </a:stretch>
        </p:blipFill>
        <p:spPr>
          <a:xfrm>
            <a:off x="1226344" y="2167204"/>
            <a:ext cx="6691313" cy="3143250"/>
          </a:xfrm>
          <a:prstGeom prst="rect">
            <a:avLst/>
          </a:prstGeom>
        </p:spPr>
      </p:pic>
    </p:spTree>
    <p:extLst>
      <p:ext uri="{BB962C8B-B14F-4D97-AF65-F5344CB8AC3E}">
        <p14:creationId xmlns:p14="http://schemas.microsoft.com/office/powerpoint/2010/main" val="3388419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normAutofit fontScale="90000"/>
          </a:bodyPr>
          <a:lstStyle/>
          <a:p>
            <a:r>
              <a:rPr lang="en-IN" b="1" dirty="0"/>
              <a:t>The Network Layer: Routing between different networks</a:t>
            </a:r>
          </a:p>
        </p:txBody>
      </p:sp>
      <p:pic>
        <p:nvPicPr>
          <p:cNvPr id="7" name="Picture 2" descr="C:\Users\LENOVO\Desktop\Figures\Ch_1_F\Ch_1_F\F_1-10.jpg">
            <a:extLst>
              <a:ext uri="{FF2B5EF4-FFF2-40B4-BE49-F238E27FC236}">
                <a16:creationId xmlns:a16="http://schemas.microsoft.com/office/drawing/2014/main" id="{0C6137FC-EDEA-4518-9775-D4E76FCF76BA}"/>
              </a:ext>
            </a:extLst>
          </p:cNvPr>
          <p:cNvPicPr>
            <a:picLocks noGrp="1" noChangeAspect="1" noChangeArrowheads="1"/>
          </p:cNvPicPr>
          <p:nvPr>
            <p:ph idx="1"/>
          </p:nvPr>
        </p:nvPicPr>
        <p:blipFill>
          <a:blip r:embed="rId2"/>
          <a:srcRect/>
          <a:stretch>
            <a:fillRect/>
          </a:stretch>
        </p:blipFill>
        <p:spPr>
          <a:xfrm>
            <a:off x="1191221" y="1969427"/>
            <a:ext cx="6761558" cy="3543300"/>
          </a:xfrm>
        </p:spPr>
      </p:pic>
    </p:spTree>
    <p:extLst>
      <p:ext uri="{BB962C8B-B14F-4D97-AF65-F5344CB8AC3E}">
        <p14:creationId xmlns:p14="http://schemas.microsoft.com/office/powerpoint/2010/main" val="2002092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lstStyle/>
          <a:p>
            <a:r>
              <a:rPr lang="en-IN" b="1" dirty="0"/>
              <a:t>The Transport Layer</a:t>
            </a:r>
          </a:p>
        </p:txBody>
      </p:sp>
      <p:sp>
        <p:nvSpPr>
          <p:cNvPr id="6" name="Content Placeholder 5">
            <a:extLst>
              <a:ext uri="{FF2B5EF4-FFF2-40B4-BE49-F238E27FC236}">
                <a16:creationId xmlns:a16="http://schemas.microsoft.com/office/drawing/2014/main" id="{99AFED72-6866-4834-973C-CBCF10BF5B58}"/>
              </a:ext>
            </a:extLst>
          </p:cNvPr>
          <p:cNvSpPr>
            <a:spLocks noGrp="1"/>
          </p:cNvSpPr>
          <p:nvPr>
            <p:ph idx="1"/>
          </p:nvPr>
        </p:nvSpPr>
        <p:spPr>
          <a:xfrm>
            <a:off x="971550" y="1885950"/>
            <a:ext cx="7200900" cy="3086100"/>
          </a:xfrm>
        </p:spPr>
        <p:txBody>
          <a:bodyPr>
            <a:noAutofit/>
          </a:bodyPr>
          <a:lstStyle/>
          <a:p>
            <a:pPr algn="just"/>
            <a:r>
              <a:rPr lang="en-US" sz="1800" dirty="0"/>
              <a:t>This layer is the secretary of the application layer.</a:t>
            </a:r>
          </a:p>
          <a:p>
            <a:pPr algn="just"/>
            <a:r>
              <a:rPr lang="en-US" sz="1800" dirty="0"/>
              <a:t>Retransmission </a:t>
            </a:r>
          </a:p>
          <a:p>
            <a:pPr algn="just"/>
            <a:r>
              <a:rPr lang="en-US" sz="1800" dirty="0"/>
              <a:t>Adapted Retransmission Time according to Load </a:t>
            </a:r>
          </a:p>
          <a:p>
            <a:pPr algn="just"/>
            <a:r>
              <a:rPr lang="en-US" sz="1800" dirty="0"/>
              <a:t>Ordered Delivery</a:t>
            </a:r>
          </a:p>
          <a:p>
            <a:pPr algn="just"/>
            <a:r>
              <a:rPr lang="en-US" sz="1800" dirty="0"/>
              <a:t>Optimum Utilization of Bandwidth </a:t>
            </a:r>
          </a:p>
          <a:p>
            <a:pPr algn="just"/>
            <a:r>
              <a:rPr lang="en-US" sz="1800" dirty="0"/>
              <a:t>Flow Control </a:t>
            </a:r>
          </a:p>
          <a:p>
            <a:pPr algn="just"/>
            <a:r>
              <a:rPr lang="en-US" sz="1800" dirty="0"/>
              <a:t>Real Time Delivery </a:t>
            </a:r>
          </a:p>
          <a:p>
            <a:pPr algn="just"/>
            <a:r>
              <a:rPr lang="en-US" sz="1800" dirty="0"/>
              <a:t>Quality of Delivery</a:t>
            </a:r>
          </a:p>
        </p:txBody>
      </p:sp>
    </p:spTree>
    <p:extLst>
      <p:ext uri="{BB962C8B-B14F-4D97-AF65-F5344CB8AC3E}">
        <p14:creationId xmlns:p14="http://schemas.microsoft.com/office/powerpoint/2010/main" val="4103299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lstStyle/>
          <a:p>
            <a:r>
              <a:rPr lang="en-IN" b="1" dirty="0"/>
              <a:t>The Transport Layer</a:t>
            </a:r>
          </a:p>
        </p:txBody>
      </p:sp>
      <p:pic>
        <p:nvPicPr>
          <p:cNvPr id="7" name="Picture 2" descr="C:\Users\LENOVO\Desktop\Figures\Ch_1_F\Ch_1_F\F_1-11.jpg">
            <a:extLst>
              <a:ext uri="{FF2B5EF4-FFF2-40B4-BE49-F238E27FC236}">
                <a16:creationId xmlns:a16="http://schemas.microsoft.com/office/drawing/2014/main" id="{10AECB67-7C7D-4FCB-B07F-AC50B02623F4}"/>
              </a:ext>
            </a:extLst>
          </p:cNvPr>
          <p:cNvPicPr>
            <a:picLocks noChangeAspect="1" noChangeArrowheads="1"/>
          </p:cNvPicPr>
          <p:nvPr/>
        </p:nvPicPr>
        <p:blipFill>
          <a:blip r:embed="rId2"/>
          <a:stretch>
            <a:fillRect/>
          </a:stretch>
        </p:blipFill>
        <p:spPr>
          <a:xfrm>
            <a:off x="1514475" y="1813418"/>
            <a:ext cx="6115050" cy="3829050"/>
          </a:xfrm>
          <a:prstGeom prst="rect">
            <a:avLst/>
          </a:prstGeom>
        </p:spPr>
      </p:pic>
    </p:spTree>
    <p:extLst>
      <p:ext uri="{BB962C8B-B14F-4D97-AF65-F5344CB8AC3E}">
        <p14:creationId xmlns:p14="http://schemas.microsoft.com/office/powerpoint/2010/main" val="2923258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lstStyle/>
          <a:p>
            <a:r>
              <a:rPr lang="en-IN" b="1" dirty="0"/>
              <a:t>Application Layer</a:t>
            </a:r>
          </a:p>
        </p:txBody>
      </p:sp>
      <p:sp>
        <p:nvSpPr>
          <p:cNvPr id="6" name="Content Placeholder 5">
            <a:extLst>
              <a:ext uri="{FF2B5EF4-FFF2-40B4-BE49-F238E27FC236}">
                <a16:creationId xmlns:a16="http://schemas.microsoft.com/office/drawing/2014/main" id="{99AFED72-6866-4834-973C-CBCF10BF5B58}"/>
              </a:ext>
            </a:extLst>
          </p:cNvPr>
          <p:cNvSpPr>
            <a:spLocks noGrp="1"/>
          </p:cNvSpPr>
          <p:nvPr>
            <p:ph idx="1"/>
          </p:nvPr>
        </p:nvSpPr>
        <p:spPr>
          <a:xfrm>
            <a:off x="971550" y="1885950"/>
            <a:ext cx="7200900" cy="3086100"/>
          </a:xfrm>
        </p:spPr>
        <p:txBody>
          <a:bodyPr>
            <a:noAutofit/>
          </a:bodyPr>
          <a:lstStyle/>
          <a:p>
            <a:pPr algn="just"/>
            <a:r>
              <a:rPr lang="en-US" sz="1800" dirty="0"/>
              <a:t>This layer work as direct communication for client or user.</a:t>
            </a:r>
          </a:p>
          <a:p>
            <a:pPr algn="just"/>
            <a:r>
              <a:rPr lang="en-US" sz="1800" dirty="0"/>
              <a:t>Application layer contains a variety of protocols that are commonly needed by users. </a:t>
            </a:r>
          </a:p>
          <a:p>
            <a:pPr algn="just"/>
            <a:r>
              <a:rPr lang="en-US" sz="1800" dirty="0"/>
              <a:t>Widely-used application protocol is HTTP (Hyper Text Transfer Protocol), which is the basis for the World Wide Web. </a:t>
            </a:r>
          </a:p>
          <a:p>
            <a:pPr algn="just"/>
            <a:r>
              <a:rPr lang="en-US" sz="1800" dirty="0"/>
              <a:t>When a browser wants a Web page, it sends the name of the page it wants to the server using HTTP. </a:t>
            </a:r>
          </a:p>
          <a:p>
            <a:pPr algn="just"/>
            <a:r>
              <a:rPr lang="en-US" sz="1800" dirty="0"/>
              <a:t>The server then sends the page back. </a:t>
            </a:r>
          </a:p>
          <a:p>
            <a:pPr algn="just"/>
            <a:r>
              <a:rPr lang="en-US" sz="1800" dirty="0"/>
              <a:t>Other application protocols are used for file transfer, electronic mail, and network news. </a:t>
            </a:r>
          </a:p>
          <a:p>
            <a:pPr algn="just"/>
            <a:endParaRPr lang="en-US" sz="1800" dirty="0"/>
          </a:p>
        </p:txBody>
      </p:sp>
    </p:spTree>
    <p:extLst>
      <p:ext uri="{BB962C8B-B14F-4D97-AF65-F5344CB8AC3E}">
        <p14:creationId xmlns:p14="http://schemas.microsoft.com/office/powerpoint/2010/main" val="2208593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956168"/>
            <a:ext cx="7200900" cy="857250"/>
          </a:xfrm>
        </p:spPr>
        <p:txBody>
          <a:bodyPr/>
          <a:lstStyle/>
          <a:p>
            <a:r>
              <a:rPr lang="en-IN" b="1" dirty="0"/>
              <a:t>Application Layer</a:t>
            </a:r>
          </a:p>
        </p:txBody>
      </p:sp>
      <p:pic>
        <p:nvPicPr>
          <p:cNvPr id="7" name="Picture 2" descr="C:\Users\LENOVO\Desktop\Figures\Ch_1_F\Ch_1_F\F_1-12.jpg">
            <a:extLst>
              <a:ext uri="{FF2B5EF4-FFF2-40B4-BE49-F238E27FC236}">
                <a16:creationId xmlns:a16="http://schemas.microsoft.com/office/drawing/2014/main" id="{75CC2BD1-8D65-45FC-B77A-975BF1630C5B}"/>
              </a:ext>
            </a:extLst>
          </p:cNvPr>
          <p:cNvPicPr>
            <a:picLocks noGrp="1" noChangeAspect="1" noChangeArrowheads="1"/>
          </p:cNvPicPr>
          <p:nvPr>
            <p:ph idx="1"/>
          </p:nvPr>
        </p:nvPicPr>
        <p:blipFill>
          <a:blip r:embed="rId2"/>
          <a:srcRect/>
          <a:stretch>
            <a:fillRect/>
          </a:stretch>
        </p:blipFill>
        <p:spPr>
          <a:xfrm>
            <a:off x="1319213" y="1813418"/>
            <a:ext cx="6505575" cy="3743325"/>
          </a:xfrm>
        </p:spPr>
      </p:pic>
    </p:spTree>
    <p:extLst>
      <p:ext uri="{BB962C8B-B14F-4D97-AF65-F5344CB8AC3E}">
        <p14:creationId xmlns:p14="http://schemas.microsoft.com/office/powerpoint/2010/main" val="1785668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1020299"/>
            <a:ext cx="7200900" cy="624154"/>
          </a:xfrm>
        </p:spPr>
        <p:txBody>
          <a:bodyPr>
            <a:normAutofit fontScale="90000"/>
          </a:bodyPr>
          <a:lstStyle/>
          <a:p>
            <a:r>
              <a:rPr lang="en-IN" b="1" dirty="0"/>
              <a:t>OSI and TCP/IP comparison </a:t>
            </a:r>
          </a:p>
        </p:txBody>
      </p:sp>
      <p:pic>
        <p:nvPicPr>
          <p:cNvPr id="8" name="Picture 2" descr="The logical mapping between OSI basic reference model and the TCP/IP stack.  | Download Scientific Diagram">
            <a:extLst>
              <a:ext uri="{FF2B5EF4-FFF2-40B4-BE49-F238E27FC236}">
                <a16:creationId xmlns:a16="http://schemas.microsoft.com/office/drawing/2014/main" id="{506A1DFB-83B7-4D29-B963-BEA67D96E4E8}"/>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523875" y="1672160"/>
            <a:ext cx="8096250" cy="3867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8622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1020299"/>
            <a:ext cx="7200900" cy="624154"/>
          </a:xfrm>
        </p:spPr>
        <p:txBody>
          <a:bodyPr>
            <a:normAutofit fontScale="90000"/>
          </a:bodyPr>
          <a:lstStyle/>
          <a:p>
            <a:r>
              <a:rPr lang="en-US" b="1" dirty="0"/>
              <a:t>Difference - OSI Model and TCP/IP Protocol Layers</a:t>
            </a:r>
            <a:endParaRPr lang="en-IN" b="1" dirty="0"/>
          </a:p>
        </p:txBody>
      </p:sp>
      <p:graphicFrame>
        <p:nvGraphicFramePr>
          <p:cNvPr id="5" name="Content Placeholder 4">
            <a:extLst>
              <a:ext uri="{FF2B5EF4-FFF2-40B4-BE49-F238E27FC236}">
                <a16:creationId xmlns:a16="http://schemas.microsoft.com/office/drawing/2014/main" id="{E85CD7EB-4489-4719-8C32-301A3567F53D}"/>
              </a:ext>
            </a:extLst>
          </p:cNvPr>
          <p:cNvGraphicFramePr>
            <a:graphicFrameLocks noGrp="1"/>
          </p:cNvGraphicFramePr>
          <p:nvPr>
            <p:ph idx="1"/>
          </p:nvPr>
        </p:nvGraphicFramePr>
        <p:xfrm>
          <a:off x="2067182" y="1644452"/>
          <a:ext cx="6858000" cy="617220"/>
        </p:xfrm>
        <a:graphic>
          <a:graphicData uri="http://schemas.openxmlformats.org/drawingml/2006/table">
            <a:tbl>
              <a:tblPr>
                <a:tableStyleId>{638B1855-1B75-4FBE-930C-398BA8C253C6}</a:tableStyleId>
              </a:tblPr>
              <a:tblGrid>
                <a:gridCol w="3429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617220">
                <a:tc>
                  <a:txBody>
                    <a:bodyPr/>
                    <a:lstStyle/>
                    <a:p>
                      <a:pPr marL="457200" marR="0" lvl="1" indent="0" algn="ctr" defTabSz="914400" rtl="0" eaLnBrk="1" fontAlgn="auto" latinLnBrk="0" hangingPunct="1">
                        <a:lnSpc>
                          <a:spcPct val="100000"/>
                        </a:lnSpc>
                        <a:spcBef>
                          <a:spcPts val="0"/>
                        </a:spcBef>
                        <a:spcAft>
                          <a:spcPts val="0"/>
                        </a:spcAft>
                        <a:buClrTx/>
                        <a:buSzTx/>
                        <a:buFontTx/>
                        <a:buNone/>
                        <a:tabLst/>
                        <a:defRPr/>
                      </a:pPr>
                      <a:r>
                        <a:rPr lang="en-US" sz="1500" b="1" u="none" strike="noStrike" kern="1200" baseline="0" dirty="0">
                          <a:solidFill>
                            <a:schemeClr val="tx1"/>
                          </a:solidFill>
                        </a:rPr>
                        <a:t>OSI</a:t>
                      </a:r>
                    </a:p>
                    <a:p>
                      <a:pPr marL="457200" marR="0" lvl="1" indent="0" algn="ctr" defTabSz="914400" rtl="0" eaLnBrk="1" fontAlgn="auto" latinLnBrk="0" hangingPunct="1">
                        <a:lnSpc>
                          <a:spcPct val="100000"/>
                        </a:lnSpc>
                        <a:spcBef>
                          <a:spcPts val="0"/>
                        </a:spcBef>
                        <a:spcAft>
                          <a:spcPts val="0"/>
                        </a:spcAft>
                        <a:buClrTx/>
                        <a:buSzTx/>
                        <a:buFontTx/>
                        <a:buNone/>
                        <a:tabLst/>
                        <a:defRPr/>
                      </a:pPr>
                      <a:r>
                        <a:rPr lang="en-US" sz="1500" b="1" u="none" strike="noStrike" kern="1200" baseline="0" dirty="0">
                          <a:solidFill>
                            <a:schemeClr val="tx1"/>
                          </a:solidFill>
                        </a:rPr>
                        <a:t>(Open System Interconnection)</a:t>
                      </a:r>
                    </a:p>
                  </a:txBody>
                  <a:tcPr marL="32257" marR="32257" marT="16129" marB="16129" anchor="ctr">
                    <a:solidFill>
                      <a:schemeClr val="accent1">
                        <a:lumMod val="20000"/>
                        <a:lumOff val="80000"/>
                      </a:schemeClr>
                    </a:solidFill>
                  </a:tcPr>
                </a:tc>
                <a:tc>
                  <a:txBody>
                    <a:bodyPr/>
                    <a:lstStyle/>
                    <a:p>
                      <a:pPr marL="457200" marR="0" lvl="1" indent="0" algn="ctr" defTabSz="914400" rtl="0" eaLnBrk="1" fontAlgn="auto" latinLnBrk="0" hangingPunct="1">
                        <a:lnSpc>
                          <a:spcPct val="100000"/>
                        </a:lnSpc>
                        <a:spcBef>
                          <a:spcPts val="0"/>
                        </a:spcBef>
                        <a:spcAft>
                          <a:spcPts val="0"/>
                        </a:spcAft>
                        <a:buClrTx/>
                        <a:buSzTx/>
                        <a:buFontTx/>
                        <a:buNone/>
                        <a:tabLst/>
                        <a:defRPr/>
                      </a:pPr>
                      <a:r>
                        <a:rPr lang="en-US" sz="1500" b="1" u="none" strike="noStrike" kern="1200" baseline="0" dirty="0">
                          <a:solidFill>
                            <a:schemeClr val="bg1"/>
                          </a:solidFill>
                        </a:rPr>
                        <a:t>TCP/IP </a:t>
                      </a:r>
                    </a:p>
                    <a:p>
                      <a:pPr marL="457200" marR="0" lvl="1" indent="0" algn="ctr" defTabSz="914400" rtl="0" eaLnBrk="1" fontAlgn="auto" latinLnBrk="0" hangingPunct="1">
                        <a:lnSpc>
                          <a:spcPct val="100000"/>
                        </a:lnSpc>
                        <a:spcBef>
                          <a:spcPts val="0"/>
                        </a:spcBef>
                        <a:spcAft>
                          <a:spcPts val="0"/>
                        </a:spcAft>
                        <a:buClrTx/>
                        <a:buSzTx/>
                        <a:buFontTx/>
                        <a:buNone/>
                        <a:tabLst/>
                        <a:defRPr/>
                      </a:pPr>
                      <a:r>
                        <a:rPr lang="en-US" sz="1100" b="1" u="none" strike="noStrike" kern="1200" baseline="0" dirty="0">
                          <a:solidFill>
                            <a:schemeClr val="bg1"/>
                          </a:solidFill>
                        </a:rPr>
                        <a:t>(Transmission Control Protocol/ Internet Protocol)</a:t>
                      </a:r>
                    </a:p>
                  </a:txBody>
                  <a:tcPr marL="32257" marR="32257" marT="16129" marB="16129" anchor="ctr">
                    <a:solidFill>
                      <a:srgbClr val="A85229"/>
                    </a:solidFill>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9D45F4DC-FCD0-4740-B1DC-1C957F534ABC}"/>
              </a:ext>
            </a:extLst>
          </p:cNvPr>
          <p:cNvGraphicFramePr>
            <a:graphicFrameLocks noGrp="1"/>
          </p:cNvGraphicFramePr>
          <p:nvPr/>
        </p:nvGraphicFramePr>
        <p:xfrm>
          <a:off x="2067182" y="2391922"/>
          <a:ext cx="6858000" cy="385902"/>
        </p:xfrm>
        <a:graphic>
          <a:graphicData uri="http://schemas.openxmlformats.org/drawingml/2006/table">
            <a:tbl>
              <a:tblPr>
                <a:tableStyleId>{16D9F66E-5EB9-4882-86FB-DCBF35E3C3E4}</a:tableStyleId>
              </a:tblPr>
              <a:tblGrid>
                <a:gridCol w="3429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385902">
                <a:tc>
                  <a:txBody>
                    <a:bodyPr/>
                    <a:lstStyle/>
                    <a:p>
                      <a:pPr marL="285750" marR="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b="0" u="none" strike="noStrike" kern="1200" baseline="0" dirty="0">
                          <a:solidFill>
                            <a:schemeClr val="tx1"/>
                          </a:solidFill>
                          <a:latin typeface="+mn-lt"/>
                          <a:ea typeface="+mn-ea"/>
                          <a:cs typeface="+mn-cs"/>
                        </a:rPr>
                        <a:t>It has 7 layers</a:t>
                      </a:r>
                    </a:p>
                  </a:txBody>
                  <a:tcPr marL="32257" marR="32257" marT="16129" marB="16129" anchor="ctr">
                    <a:solidFill>
                      <a:schemeClr val="accent1">
                        <a:lumMod val="20000"/>
                        <a:lumOff val="80000"/>
                      </a:schemeClr>
                    </a:solidFill>
                  </a:tcPr>
                </a:tc>
                <a:tc>
                  <a:txBody>
                    <a:bodyPr/>
                    <a:lstStyle/>
                    <a:p>
                      <a:pPr marL="285750" marR="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b="0" u="none" strike="noStrike" kern="1200" baseline="0" dirty="0">
                          <a:solidFill>
                            <a:schemeClr val="bg1"/>
                          </a:solidFill>
                          <a:latin typeface="+mn-lt"/>
                          <a:ea typeface="+mn-ea"/>
                          <a:cs typeface="+mn-cs"/>
                        </a:rPr>
                        <a:t>It has 5 layers</a:t>
                      </a:r>
                    </a:p>
                  </a:txBody>
                  <a:tcPr marL="32257" marR="32257" marT="16129" marB="16129" anchor="ctr">
                    <a:solidFill>
                      <a:srgbClr val="A85229"/>
                    </a:solidFill>
                  </a:tcPr>
                </a:tc>
                <a:extLst>
                  <a:ext uri="{0D108BD9-81ED-4DB2-BD59-A6C34878D82A}">
                    <a16:rowId xmlns:a16="http://schemas.microsoft.com/office/drawing/2014/main" val="10000"/>
                  </a:ext>
                </a:extLst>
              </a:tr>
            </a:tbl>
          </a:graphicData>
        </a:graphic>
      </p:graphicFrame>
      <p:graphicFrame>
        <p:nvGraphicFramePr>
          <p:cNvPr id="7" name="Table 6">
            <a:extLst>
              <a:ext uri="{FF2B5EF4-FFF2-40B4-BE49-F238E27FC236}">
                <a16:creationId xmlns:a16="http://schemas.microsoft.com/office/drawing/2014/main" id="{D166F807-7855-4D62-AE73-8A5C075696A5}"/>
              </a:ext>
            </a:extLst>
          </p:cNvPr>
          <p:cNvGraphicFramePr>
            <a:graphicFrameLocks noGrp="1"/>
          </p:cNvGraphicFramePr>
          <p:nvPr/>
        </p:nvGraphicFramePr>
        <p:xfrm>
          <a:off x="2067182" y="2908073"/>
          <a:ext cx="6858000" cy="640080"/>
        </p:xfrm>
        <a:graphic>
          <a:graphicData uri="http://schemas.openxmlformats.org/drawingml/2006/table">
            <a:tbl>
              <a:tblPr>
                <a:tableStyleId>{16D9F66E-5EB9-4882-86FB-DCBF35E3C3E4}</a:tableStyleId>
              </a:tblPr>
              <a:tblGrid>
                <a:gridCol w="3429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617220">
                <a:tc>
                  <a:txBody>
                    <a:bodyPr/>
                    <a:lstStyle/>
                    <a:p>
                      <a:pPr marL="285750" marR="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b="0" u="none" strike="noStrike" kern="1200" baseline="0" dirty="0">
                          <a:solidFill>
                            <a:schemeClr val="tx1"/>
                          </a:solidFill>
                          <a:latin typeface="+mn-lt"/>
                          <a:ea typeface="+mn-ea"/>
                          <a:cs typeface="+mn-cs"/>
                        </a:rPr>
                        <a:t>OSI provides layer functioning and also defines functions of all the layers</a:t>
                      </a:r>
                    </a:p>
                  </a:txBody>
                  <a:tcPr marL="51435" marR="51435" marT="0" marB="0">
                    <a:solidFill>
                      <a:schemeClr val="accent1">
                        <a:lumMod val="20000"/>
                        <a:lumOff val="80000"/>
                      </a:schemeClr>
                    </a:solidFill>
                  </a:tcPr>
                </a:tc>
                <a:tc>
                  <a:txBody>
                    <a:bodyPr/>
                    <a:lstStyle/>
                    <a:p>
                      <a:pPr marL="285750" marR="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b="0" u="none" strike="noStrike" kern="1200" baseline="0" dirty="0">
                          <a:solidFill>
                            <a:schemeClr val="bg1"/>
                          </a:solidFill>
                          <a:latin typeface="+mn-lt"/>
                          <a:ea typeface="+mn-ea"/>
                          <a:cs typeface="+mn-cs"/>
                        </a:rPr>
                        <a:t>TCP/IP model is more based on protocols and protocols are not flexible with other layers</a:t>
                      </a:r>
                    </a:p>
                  </a:txBody>
                  <a:tcPr marL="51435" marR="51435" marT="0" marB="0">
                    <a:solidFill>
                      <a:srgbClr val="A85229"/>
                    </a:solidFill>
                  </a:tcPr>
                </a:tc>
                <a:extLst>
                  <a:ext uri="{0D108BD9-81ED-4DB2-BD59-A6C34878D82A}">
                    <a16:rowId xmlns:a16="http://schemas.microsoft.com/office/drawing/2014/main" val="10000"/>
                  </a:ext>
                </a:extLst>
              </a:tr>
            </a:tbl>
          </a:graphicData>
        </a:graphic>
      </p:graphicFrame>
      <p:graphicFrame>
        <p:nvGraphicFramePr>
          <p:cNvPr id="9" name="Table 8">
            <a:extLst>
              <a:ext uri="{FF2B5EF4-FFF2-40B4-BE49-F238E27FC236}">
                <a16:creationId xmlns:a16="http://schemas.microsoft.com/office/drawing/2014/main" id="{00C74FEE-2197-4786-8F39-65F3CD711DD5}"/>
              </a:ext>
            </a:extLst>
          </p:cNvPr>
          <p:cNvGraphicFramePr>
            <a:graphicFrameLocks noGrp="1"/>
          </p:cNvGraphicFramePr>
          <p:nvPr/>
        </p:nvGraphicFramePr>
        <p:xfrm>
          <a:off x="2067182" y="3655543"/>
          <a:ext cx="6858000" cy="321185"/>
        </p:xfrm>
        <a:graphic>
          <a:graphicData uri="http://schemas.openxmlformats.org/drawingml/2006/table">
            <a:tbl>
              <a:tblPr>
                <a:tableStyleId>{16D9F66E-5EB9-4882-86FB-DCBF35E3C3E4}</a:tableStyleId>
              </a:tblPr>
              <a:tblGrid>
                <a:gridCol w="3429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321185">
                <a:tc>
                  <a:txBody>
                    <a:bodyPr/>
                    <a:lstStyle/>
                    <a:p>
                      <a:pPr marL="285750" marR="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b="0" u="none" strike="noStrike" kern="1200" baseline="0" dirty="0">
                          <a:solidFill>
                            <a:schemeClr val="tx1"/>
                          </a:solidFill>
                          <a:latin typeface="+mn-lt"/>
                          <a:ea typeface="+mn-ea"/>
                          <a:cs typeface="+mn-cs"/>
                        </a:rPr>
                        <a:t>Follows horizontal approach</a:t>
                      </a:r>
                    </a:p>
                  </a:txBody>
                  <a:tcPr marL="51435" marR="51435" marT="0" marB="0">
                    <a:solidFill>
                      <a:schemeClr val="accent1">
                        <a:lumMod val="20000"/>
                        <a:lumOff val="80000"/>
                      </a:schemeClr>
                    </a:solidFill>
                  </a:tcPr>
                </a:tc>
                <a:tc>
                  <a:txBody>
                    <a:bodyPr/>
                    <a:lstStyle/>
                    <a:p>
                      <a:pPr marL="457200" indent="-457200">
                        <a:lnSpc>
                          <a:spcPct val="115000"/>
                        </a:lnSpc>
                        <a:spcAft>
                          <a:spcPts val="0"/>
                        </a:spcAft>
                        <a:buFont typeface="Wingdings" pitchFamily="2" charset="2"/>
                        <a:buChar char="ü"/>
                      </a:pPr>
                      <a:r>
                        <a:rPr lang="en-US" sz="1500" b="0" dirty="0">
                          <a:solidFill>
                            <a:schemeClr val="bg1"/>
                          </a:solidFill>
                          <a:effectLst/>
                        </a:rPr>
                        <a:t>Follows vertical approach</a:t>
                      </a:r>
                      <a:endParaRPr lang="en-US" sz="1500" b="0" dirty="0">
                        <a:solidFill>
                          <a:schemeClr val="bg1"/>
                        </a:solidFill>
                        <a:effectLst/>
                        <a:latin typeface="Calibri" charset="0"/>
                        <a:ea typeface="Times New Roman" charset="0"/>
                        <a:cs typeface="Times New Roman" charset="0"/>
                      </a:endParaRPr>
                    </a:p>
                  </a:txBody>
                  <a:tcPr marL="51435" marR="51435" marT="0" marB="0">
                    <a:solidFill>
                      <a:srgbClr val="A85229"/>
                    </a:solidFill>
                  </a:tcPr>
                </a:tc>
                <a:extLst>
                  <a:ext uri="{0D108BD9-81ED-4DB2-BD59-A6C34878D82A}">
                    <a16:rowId xmlns:a16="http://schemas.microsoft.com/office/drawing/2014/main" val="10000"/>
                  </a:ext>
                </a:extLst>
              </a:tr>
            </a:tbl>
          </a:graphicData>
        </a:graphic>
      </p:graphicFrame>
      <p:graphicFrame>
        <p:nvGraphicFramePr>
          <p:cNvPr id="10" name="Table 9">
            <a:extLst>
              <a:ext uri="{FF2B5EF4-FFF2-40B4-BE49-F238E27FC236}">
                <a16:creationId xmlns:a16="http://schemas.microsoft.com/office/drawing/2014/main" id="{3349FA41-EF73-436D-BB24-D0ABC457BBAC}"/>
              </a:ext>
            </a:extLst>
          </p:cNvPr>
          <p:cNvGraphicFramePr>
            <a:graphicFrameLocks noGrp="1"/>
          </p:cNvGraphicFramePr>
          <p:nvPr/>
        </p:nvGraphicFramePr>
        <p:xfrm>
          <a:off x="2067182" y="4106977"/>
          <a:ext cx="6858000" cy="570334"/>
        </p:xfrm>
        <a:graphic>
          <a:graphicData uri="http://schemas.openxmlformats.org/drawingml/2006/table">
            <a:tbl>
              <a:tblPr>
                <a:tableStyleId>{16D9F66E-5EB9-4882-86FB-DCBF35E3C3E4}</a:tableStyleId>
              </a:tblPr>
              <a:tblGrid>
                <a:gridCol w="3429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570334">
                <a:tc>
                  <a:txBody>
                    <a:bodyPr/>
                    <a:lstStyle/>
                    <a:p>
                      <a:pPr marL="285750" marR="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b="0" u="none" strike="noStrike" kern="1200" baseline="0" dirty="0">
                          <a:solidFill>
                            <a:schemeClr val="tx1"/>
                          </a:solidFill>
                          <a:latin typeface="+mn-lt"/>
                          <a:ea typeface="+mn-ea"/>
                          <a:cs typeface="+mn-cs"/>
                        </a:rPr>
                        <a:t>OSI model has a separate presentation layer</a:t>
                      </a:r>
                    </a:p>
                  </a:txBody>
                  <a:tcPr marL="51435" marR="51435" marT="0" marB="0">
                    <a:solidFill>
                      <a:schemeClr val="accent1">
                        <a:lumMod val="20000"/>
                        <a:lumOff val="80000"/>
                      </a:schemeClr>
                    </a:solidFill>
                  </a:tcPr>
                </a:tc>
                <a:tc>
                  <a:txBody>
                    <a:bodyPr/>
                    <a:lstStyle/>
                    <a:p>
                      <a:pPr marL="457200" indent="-457200" algn="just" defTabSz="914400" rtl="0" eaLnBrk="1" latinLnBrk="0" hangingPunct="1">
                        <a:lnSpc>
                          <a:spcPct val="115000"/>
                        </a:lnSpc>
                        <a:spcAft>
                          <a:spcPts val="0"/>
                        </a:spcAft>
                        <a:buFont typeface="Wingdings" pitchFamily="2" charset="2"/>
                        <a:buChar char="ü"/>
                      </a:pPr>
                      <a:r>
                        <a:rPr lang="en-US" sz="1500" b="0" kern="1200" dirty="0">
                          <a:solidFill>
                            <a:schemeClr val="bg1"/>
                          </a:solidFill>
                          <a:effectLst/>
                          <a:latin typeface="+mn-lt"/>
                          <a:ea typeface="+mn-ea"/>
                          <a:cs typeface="+mn-cs"/>
                        </a:rPr>
                        <a:t>TCP/IP doesn’t have a separate presentation layer</a:t>
                      </a:r>
                    </a:p>
                  </a:txBody>
                  <a:tcPr marL="51435" marR="51435" marT="0" marB="0">
                    <a:solidFill>
                      <a:srgbClr val="A85229"/>
                    </a:solidFill>
                  </a:tcPr>
                </a:tc>
                <a:extLst>
                  <a:ext uri="{0D108BD9-81ED-4DB2-BD59-A6C34878D82A}">
                    <a16:rowId xmlns:a16="http://schemas.microsoft.com/office/drawing/2014/main" val="10000"/>
                  </a:ext>
                </a:extLst>
              </a:tr>
            </a:tbl>
          </a:graphicData>
        </a:graphic>
      </p:graphicFrame>
      <p:graphicFrame>
        <p:nvGraphicFramePr>
          <p:cNvPr id="11" name="Table 10">
            <a:extLst>
              <a:ext uri="{FF2B5EF4-FFF2-40B4-BE49-F238E27FC236}">
                <a16:creationId xmlns:a16="http://schemas.microsoft.com/office/drawing/2014/main" id="{A6DC0DB7-1815-45BB-BA11-C107DAFB902E}"/>
              </a:ext>
            </a:extLst>
          </p:cNvPr>
          <p:cNvGraphicFramePr>
            <a:graphicFrameLocks noGrp="1"/>
          </p:cNvGraphicFramePr>
          <p:nvPr/>
        </p:nvGraphicFramePr>
        <p:xfrm>
          <a:off x="2067182" y="4807559"/>
          <a:ext cx="6858000" cy="510350"/>
        </p:xfrm>
        <a:graphic>
          <a:graphicData uri="http://schemas.openxmlformats.org/drawingml/2006/table">
            <a:tbl>
              <a:tblPr>
                <a:tableStyleId>{16D9F66E-5EB9-4882-86FB-DCBF35E3C3E4}</a:tableStyleId>
              </a:tblPr>
              <a:tblGrid>
                <a:gridCol w="3429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434397">
                <a:tc>
                  <a:txBody>
                    <a:bodyPr/>
                    <a:lstStyle/>
                    <a:p>
                      <a:pPr marL="285750" marR="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b="0" u="none" strike="noStrike" kern="1200" baseline="0" dirty="0">
                          <a:solidFill>
                            <a:schemeClr val="tx1"/>
                          </a:solidFill>
                          <a:latin typeface="+mn-lt"/>
                          <a:ea typeface="+mn-ea"/>
                          <a:cs typeface="+mn-cs"/>
                        </a:rPr>
                        <a:t>OSI model has a problem of fitting the protocols in the model</a:t>
                      </a:r>
                    </a:p>
                  </a:txBody>
                  <a:tcPr marL="51435" marR="51435" marT="0" marB="0">
                    <a:solidFill>
                      <a:schemeClr val="accent1">
                        <a:lumMod val="20000"/>
                        <a:lumOff val="80000"/>
                      </a:schemeClr>
                    </a:solidFill>
                  </a:tcPr>
                </a:tc>
                <a:tc>
                  <a:txBody>
                    <a:bodyPr/>
                    <a:lstStyle/>
                    <a:p>
                      <a:pPr marL="457200" indent="-457200" algn="just" defTabSz="914400" rtl="0" eaLnBrk="1" latinLnBrk="0" hangingPunct="1">
                        <a:lnSpc>
                          <a:spcPct val="115000"/>
                        </a:lnSpc>
                        <a:spcAft>
                          <a:spcPts val="0"/>
                        </a:spcAft>
                        <a:buFont typeface="Wingdings" pitchFamily="2" charset="2"/>
                        <a:buChar char="ü"/>
                      </a:pPr>
                      <a:r>
                        <a:rPr lang="en-US" sz="1500" b="0" kern="1200" dirty="0">
                          <a:solidFill>
                            <a:schemeClr val="bg1"/>
                          </a:solidFill>
                          <a:effectLst/>
                          <a:latin typeface="+mn-lt"/>
                          <a:ea typeface="+mn-ea"/>
                          <a:cs typeface="+mn-cs"/>
                        </a:rPr>
                        <a:t>TCP/IP model does not fit any protocol</a:t>
                      </a:r>
                    </a:p>
                  </a:txBody>
                  <a:tcPr marL="51435" marR="51435" marT="0" marB="0">
                    <a:solidFill>
                      <a:srgbClr val="A85229"/>
                    </a:solidFill>
                  </a:tcPr>
                </a:tc>
                <a:extLst>
                  <a:ext uri="{0D108BD9-81ED-4DB2-BD59-A6C34878D82A}">
                    <a16:rowId xmlns:a16="http://schemas.microsoft.com/office/drawing/2014/main" val="10000"/>
                  </a:ext>
                </a:extLst>
              </a:tr>
            </a:tbl>
          </a:graphicData>
        </a:graphic>
      </p:graphicFrame>
      <p:sp>
        <p:nvSpPr>
          <p:cNvPr id="12" name="TextBox 11">
            <a:extLst>
              <a:ext uri="{FF2B5EF4-FFF2-40B4-BE49-F238E27FC236}">
                <a16:creationId xmlns:a16="http://schemas.microsoft.com/office/drawing/2014/main" id="{FF42C035-3638-4112-BE18-63A396E03903}"/>
              </a:ext>
            </a:extLst>
          </p:cNvPr>
          <p:cNvSpPr txBox="1"/>
          <p:nvPr/>
        </p:nvSpPr>
        <p:spPr>
          <a:xfrm>
            <a:off x="106742" y="1644452"/>
            <a:ext cx="1857593" cy="4091505"/>
          </a:xfrm>
          <a:prstGeom prst="rect">
            <a:avLst/>
          </a:prstGeom>
          <a:noFill/>
        </p:spPr>
        <p:txBody>
          <a:bodyPr wrap="square" rtlCol="0">
            <a:spAutoFit/>
          </a:bodyPr>
          <a:lstStyle/>
          <a:p>
            <a:pPr algn="ctr"/>
            <a:endParaRPr lang="en-US" sz="1350" dirty="0"/>
          </a:p>
          <a:p>
            <a:pPr algn="ctr"/>
            <a:endParaRPr lang="en-US" sz="1350" dirty="0"/>
          </a:p>
          <a:p>
            <a:pPr algn="ctr"/>
            <a:endParaRPr lang="en-US" sz="1350" dirty="0"/>
          </a:p>
          <a:p>
            <a:pPr algn="ctr"/>
            <a:endParaRPr lang="en-US" sz="1350" dirty="0"/>
          </a:p>
          <a:p>
            <a:pPr algn="ctr">
              <a:lnSpc>
                <a:spcPct val="90000"/>
              </a:lnSpc>
              <a:spcBef>
                <a:spcPct val="0"/>
              </a:spcBef>
            </a:pPr>
            <a:r>
              <a:rPr lang="en-US" sz="2175" b="1" cap="all" dirty="0">
                <a:solidFill>
                  <a:schemeClr val="accent1"/>
                </a:solidFill>
                <a:effectLst>
                  <a:outerShdw blurRad="38100" dist="25400" dir="18900000" algn="bl" rotWithShape="0">
                    <a:schemeClr val="bg1">
                      <a:alpha val="80000"/>
                    </a:schemeClr>
                  </a:outerShdw>
                </a:effectLst>
                <a:latin typeface="+mj-lt"/>
                <a:ea typeface="+mj-ea"/>
                <a:cs typeface="+mj-cs"/>
              </a:rPr>
              <a:t>OSI Model</a:t>
            </a:r>
          </a:p>
          <a:p>
            <a:pPr algn="ctr">
              <a:lnSpc>
                <a:spcPct val="90000"/>
              </a:lnSpc>
              <a:spcBef>
                <a:spcPct val="0"/>
              </a:spcBef>
            </a:pPr>
            <a:r>
              <a:rPr lang="en-US" sz="2175" b="1" cap="all" dirty="0">
                <a:solidFill>
                  <a:schemeClr val="accent1"/>
                </a:solidFill>
                <a:effectLst>
                  <a:outerShdw blurRad="38100" dist="25400" dir="18900000" algn="bl" rotWithShape="0">
                    <a:schemeClr val="bg1">
                      <a:alpha val="80000"/>
                    </a:schemeClr>
                  </a:outerShdw>
                </a:effectLst>
                <a:latin typeface="+mj-lt"/>
                <a:ea typeface="+mj-ea"/>
                <a:cs typeface="+mj-cs"/>
              </a:rPr>
              <a:t>&amp;</a:t>
            </a:r>
          </a:p>
          <a:p>
            <a:pPr algn="ctr">
              <a:lnSpc>
                <a:spcPct val="90000"/>
              </a:lnSpc>
              <a:spcBef>
                <a:spcPct val="0"/>
              </a:spcBef>
            </a:pPr>
            <a:r>
              <a:rPr lang="en-US" sz="2175" b="1" cap="all" dirty="0">
                <a:solidFill>
                  <a:schemeClr val="accent1"/>
                </a:solidFill>
                <a:effectLst>
                  <a:outerShdw blurRad="38100" dist="25400" dir="18900000" algn="bl" rotWithShape="0">
                    <a:schemeClr val="bg1">
                      <a:alpha val="80000"/>
                    </a:schemeClr>
                  </a:outerShdw>
                </a:effectLst>
                <a:latin typeface="+mj-lt"/>
                <a:ea typeface="+mj-ea"/>
                <a:cs typeface="+mj-cs"/>
              </a:rPr>
              <a:t>TCP/IP Protocol Layer</a:t>
            </a:r>
          </a:p>
          <a:p>
            <a:pPr algn="ctr"/>
            <a:endParaRPr lang="en-US" sz="1350" dirty="0"/>
          </a:p>
          <a:p>
            <a:pPr algn="ctr"/>
            <a:endParaRPr lang="en-US" sz="1350" dirty="0"/>
          </a:p>
          <a:p>
            <a:pPr algn="ctr"/>
            <a:endParaRPr lang="en-US" sz="1350" dirty="0"/>
          </a:p>
          <a:p>
            <a:pPr algn="ctr"/>
            <a:endParaRPr lang="en-US" sz="1350" dirty="0"/>
          </a:p>
          <a:p>
            <a:pPr algn="ctr"/>
            <a:endParaRPr lang="en-US" sz="1350" dirty="0"/>
          </a:p>
          <a:p>
            <a:pPr algn="ctr"/>
            <a:endParaRPr lang="en-US" sz="1350" dirty="0"/>
          </a:p>
          <a:p>
            <a:pPr algn="ctr"/>
            <a:endParaRPr lang="en-US" sz="1350" dirty="0"/>
          </a:p>
          <a:p>
            <a:pPr algn="ctr"/>
            <a:endParaRPr lang="en-US" sz="1350" dirty="0"/>
          </a:p>
        </p:txBody>
      </p:sp>
    </p:spTree>
    <p:extLst>
      <p:ext uri="{BB962C8B-B14F-4D97-AF65-F5344CB8AC3E}">
        <p14:creationId xmlns:p14="http://schemas.microsoft.com/office/powerpoint/2010/main" val="2427746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1020299"/>
            <a:ext cx="7200900" cy="624154"/>
          </a:xfrm>
        </p:spPr>
        <p:txBody>
          <a:bodyPr>
            <a:normAutofit fontScale="90000"/>
          </a:bodyPr>
          <a:lstStyle/>
          <a:p>
            <a:r>
              <a:rPr lang="en-US" b="1" dirty="0"/>
              <a:t>Difference - OSI Model and TCP/IP Protocol Layers</a:t>
            </a:r>
            <a:endParaRPr lang="en-IN" b="1" dirty="0"/>
          </a:p>
        </p:txBody>
      </p:sp>
      <p:sp>
        <p:nvSpPr>
          <p:cNvPr id="13" name="TextBox 12">
            <a:extLst>
              <a:ext uri="{FF2B5EF4-FFF2-40B4-BE49-F238E27FC236}">
                <a16:creationId xmlns:a16="http://schemas.microsoft.com/office/drawing/2014/main" id="{88D9A4E0-0162-4A51-B074-266863889C78}"/>
              </a:ext>
            </a:extLst>
          </p:cNvPr>
          <p:cNvSpPr txBox="1"/>
          <p:nvPr/>
        </p:nvSpPr>
        <p:spPr>
          <a:xfrm>
            <a:off x="106742" y="1644452"/>
            <a:ext cx="1857593" cy="4091505"/>
          </a:xfrm>
          <a:prstGeom prst="rect">
            <a:avLst/>
          </a:prstGeom>
          <a:noFill/>
        </p:spPr>
        <p:txBody>
          <a:bodyPr wrap="square" rtlCol="0">
            <a:spAutoFit/>
          </a:bodyPr>
          <a:lstStyle/>
          <a:p>
            <a:pPr algn="ctr"/>
            <a:endParaRPr lang="en-US" sz="1350" dirty="0"/>
          </a:p>
          <a:p>
            <a:pPr algn="ctr"/>
            <a:endParaRPr lang="en-US" sz="1350" dirty="0"/>
          </a:p>
          <a:p>
            <a:pPr algn="ctr"/>
            <a:endParaRPr lang="en-US" sz="1350" dirty="0"/>
          </a:p>
          <a:p>
            <a:pPr algn="ctr"/>
            <a:endParaRPr lang="en-US" sz="1350" dirty="0"/>
          </a:p>
          <a:p>
            <a:pPr algn="ctr">
              <a:lnSpc>
                <a:spcPct val="90000"/>
              </a:lnSpc>
              <a:spcBef>
                <a:spcPct val="0"/>
              </a:spcBef>
            </a:pPr>
            <a:r>
              <a:rPr lang="en-US" sz="2175" b="1" cap="all" dirty="0">
                <a:solidFill>
                  <a:schemeClr val="accent1"/>
                </a:solidFill>
                <a:effectLst>
                  <a:outerShdw blurRad="38100" dist="25400" dir="18900000" algn="bl" rotWithShape="0">
                    <a:schemeClr val="bg1">
                      <a:alpha val="80000"/>
                    </a:schemeClr>
                  </a:outerShdw>
                </a:effectLst>
                <a:latin typeface="+mj-lt"/>
                <a:ea typeface="+mj-ea"/>
                <a:cs typeface="+mj-cs"/>
              </a:rPr>
              <a:t>OSI Model</a:t>
            </a:r>
          </a:p>
          <a:p>
            <a:pPr algn="ctr">
              <a:lnSpc>
                <a:spcPct val="90000"/>
              </a:lnSpc>
              <a:spcBef>
                <a:spcPct val="0"/>
              </a:spcBef>
            </a:pPr>
            <a:r>
              <a:rPr lang="en-US" sz="2175" b="1" cap="all" dirty="0">
                <a:solidFill>
                  <a:schemeClr val="accent1"/>
                </a:solidFill>
                <a:effectLst>
                  <a:outerShdw blurRad="38100" dist="25400" dir="18900000" algn="bl" rotWithShape="0">
                    <a:schemeClr val="bg1">
                      <a:alpha val="80000"/>
                    </a:schemeClr>
                  </a:outerShdw>
                </a:effectLst>
                <a:latin typeface="+mj-lt"/>
                <a:ea typeface="+mj-ea"/>
                <a:cs typeface="+mj-cs"/>
              </a:rPr>
              <a:t>&amp;</a:t>
            </a:r>
          </a:p>
          <a:p>
            <a:pPr algn="ctr">
              <a:lnSpc>
                <a:spcPct val="90000"/>
              </a:lnSpc>
              <a:spcBef>
                <a:spcPct val="0"/>
              </a:spcBef>
            </a:pPr>
            <a:r>
              <a:rPr lang="en-US" sz="2175" b="1" cap="all" dirty="0">
                <a:solidFill>
                  <a:schemeClr val="accent1"/>
                </a:solidFill>
                <a:effectLst>
                  <a:outerShdw blurRad="38100" dist="25400" dir="18900000" algn="bl" rotWithShape="0">
                    <a:schemeClr val="bg1">
                      <a:alpha val="80000"/>
                    </a:schemeClr>
                  </a:outerShdw>
                </a:effectLst>
                <a:latin typeface="+mj-lt"/>
                <a:ea typeface="+mj-ea"/>
                <a:cs typeface="+mj-cs"/>
              </a:rPr>
              <a:t>TCP/IP Protocol Layer</a:t>
            </a:r>
          </a:p>
          <a:p>
            <a:pPr algn="ctr"/>
            <a:endParaRPr lang="en-US" sz="1350" dirty="0"/>
          </a:p>
          <a:p>
            <a:pPr algn="ctr"/>
            <a:endParaRPr lang="en-US" sz="1350" dirty="0"/>
          </a:p>
          <a:p>
            <a:pPr algn="ctr"/>
            <a:endParaRPr lang="en-US" sz="1350" dirty="0"/>
          </a:p>
          <a:p>
            <a:pPr algn="ctr"/>
            <a:endParaRPr lang="en-US" sz="1350" dirty="0"/>
          </a:p>
          <a:p>
            <a:pPr algn="ctr"/>
            <a:endParaRPr lang="en-US" sz="1350" dirty="0"/>
          </a:p>
          <a:p>
            <a:pPr algn="ctr"/>
            <a:endParaRPr lang="en-US" sz="1350" dirty="0"/>
          </a:p>
          <a:p>
            <a:pPr algn="ctr"/>
            <a:endParaRPr lang="en-US" sz="1350" dirty="0"/>
          </a:p>
          <a:p>
            <a:pPr algn="ctr"/>
            <a:endParaRPr lang="en-US" sz="1350" dirty="0"/>
          </a:p>
        </p:txBody>
      </p:sp>
      <p:graphicFrame>
        <p:nvGraphicFramePr>
          <p:cNvPr id="14" name="Content Placeholder 4">
            <a:extLst>
              <a:ext uri="{FF2B5EF4-FFF2-40B4-BE49-F238E27FC236}">
                <a16:creationId xmlns:a16="http://schemas.microsoft.com/office/drawing/2014/main" id="{0AD71444-A7C9-4F0A-917C-66276F06DB27}"/>
              </a:ext>
            </a:extLst>
          </p:cNvPr>
          <p:cNvGraphicFramePr>
            <a:graphicFrameLocks noGrp="1"/>
          </p:cNvGraphicFramePr>
          <p:nvPr>
            <p:ph idx="1"/>
          </p:nvPr>
        </p:nvGraphicFramePr>
        <p:xfrm>
          <a:off x="2071077" y="1424897"/>
          <a:ext cx="6858000" cy="617220"/>
        </p:xfrm>
        <a:graphic>
          <a:graphicData uri="http://schemas.openxmlformats.org/drawingml/2006/table">
            <a:tbl>
              <a:tblPr>
                <a:tableStyleId>{638B1855-1B75-4FBE-930C-398BA8C253C6}</a:tableStyleId>
              </a:tblPr>
              <a:tblGrid>
                <a:gridCol w="3429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617220">
                <a:tc>
                  <a:txBody>
                    <a:bodyPr/>
                    <a:lstStyle/>
                    <a:p>
                      <a:pPr marL="457200" marR="0" lvl="1" indent="0" algn="ctr" defTabSz="914400" rtl="0" eaLnBrk="1" fontAlgn="auto" latinLnBrk="0" hangingPunct="1">
                        <a:lnSpc>
                          <a:spcPct val="100000"/>
                        </a:lnSpc>
                        <a:spcBef>
                          <a:spcPts val="0"/>
                        </a:spcBef>
                        <a:spcAft>
                          <a:spcPts val="0"/>
                        </a:spcAft>
                        <a:buClrTx/>
                        <a:buSzTx/>
                        <a:buFontTx/>
                        <a:buNone/>
                        <a:tabLst/>
                        <a:defRPr/>
                      </a:pPr>
                      <a:r>
                        <a:rPr lang="en-US" sz="1500" b="1" u="none" strike="noStrike" kern="1200" baseline="0" dirty="0">
                          <a:solidFill>
                            <a:schemeClr val="tx1"/>
                          </a:solidFill>
                        </a:rPr>
                        <a:t>OSI</a:t>
                      </a:r>
                    </a:p>
                    <a:p>
                      <a:pPr marL="457200" marR="0" lvl="1" indent="0" algn="ctr" defTabSz="914400" rtl="0" eaLnBrk="1" fontAlgn="auto" latinLnBrk="0" hangingPunct="1">
                        <a:lnSpc>
                          <a:spcPct val="100000"/>
                        </a:lnSpc>
                        <a:spcBef>
                          <a:spcPts val="0"/>
                        </a:spcBef>
                        <a:spcAft>
                          <a:spcPts val="0"/>
                        </a:spcAft>
                        <a:buClrTx/>
                        <a:buSzTx/>
                        <a:buFontTx/>
                        <a:buNone/>
                        <a:tabLst/>
                        <a:defRPr/>
                      </a:pPr>
                      <a:r>
                        <a:rPr lang="en-US" sz="1500" b="1" u="none" strike="noStrike" kern="1200" baseline="0" dirty="0">
                          <a:solidFill>
                            <a:schemeClr val="tx1"/>
                          </a:solidFill>
                        </a:rPr>
                        <a:t>(Open System Interconnection)</a:t>
                      </a:r>
                    </a:p>
                  </a:txBody>
                  <a:tcPr marL="32257" marR="32257" marT="16129" marB="16129" anchor="ctr">
                    <a:solidFill>
                      <a:schemeClr val="accent1">
                        <a:lumMod val="20000"/>
                        <a:lumOff val="80000"/>
                      </a:schemeClr>
                    </a:solidFill>
                  </a:tcPr>
                </a:tc>
                <a:tc>
                  <a:txBody>
                    <a:bodyPr/>
                    <a:lstStyle/>
                    <a:p>
                      <a:pPr marL="457200" marR="0" lvl="1" indent="0" algn="ctr" defTabSz="914400" rtl="0" eaLnBrk="1" fontAlgn="auto" latinLnBrk="0" hangingPunct="1">
                        <a:lnSpc>
                          <a:spcPct val="100000"/>
                        </a:lnSpc>
                        <a:spcBef>
                          <a:spcPts val="0"/>
                        </a:spcBef>
                        <a:spcAft>
                          <a:spcPts val="0"/>
                        </a:spcAft>
                        <a:buClrTx/>
                        <a:buSzTx/>
                        <a:buFontTx/>
                        <a:buNone/>
                        <a:tabLst/>
                        <a:defRPr/>
                      </a:pPr>
                      <a:r>
                        <a:rPr lang="en-US" sz="1500" b="1" u="none" strike="noStrike" kern="1200" baseline="0" dirty="0">
                          <a:solidFill>
                            <a:schemeClr val="bg1"/>
                          </a:solidFill>
                        </a:rPr>
                        <a:t>TCP/IP </a:t>
                      </a:r>
                    </a:p>
                    <a:p>
                      <a:pPr marL="457200" marR="0" lvl="1" indent="0" algn="ctr" defTabSz="914400" rtl="0" eaLnBrk="1" fontAlgn="auto" latinLnBrk="0" hangingPunct="1">
                        <a:lnSpc>
                          <a:spcPct val="100000"/>
                        </a:lnSpc>
                        <a:spcBef>
                          <a:spcPts val="0"/>
                        </a:spcBef>
                        <a:spcAft>
                          <a:spcPts val="0"/>
                        </a:spcAft>
                        <a:buClrTx/>
                        <a:buSzTx/>
                        <a:buFontTx/>
                        <a:buNone/>
                        <a:tabLst/>
                        <a:defRPr/>
                      </a:pPr>
                      <a:r>
                        <a:rPr lang="en-US" sz="1100" b="1" u="none" strike="noStrike" kern="1200" baseline="0" dirty="0">
                          <a:solidFill>
                            <a:schemeClr val="bg1"/>
                          </a:solidFill>
                        </a:rPr>
                        <a:t>(Transmission Control Protocol/ Internet Protocol)</a:t>
                      </a:r>
                    </a:p>
                  </a:txBody>
                  <a:tcPr marL="32257" marR="32257" marT="16129" marB="16129" anchor="ctr">
                    <a:solidFill>
                      <a:srgbClr val="B46B49"/>
                    </a:solidFill>
                  </a:tcPr>
                </a:tc>
                <a:extLst>
                  <a:ext uri="{0D108BD9-81ED-4DB2-BD59-A6C34878D82A}">
                    <a16:rowId xmlns:a16="http://schemas.microsoft.com/office/drawing/2014/main" val="10000"/>
                  </a:ext>
                </a:extLst>
              </a:tr>
            </a:tbl>
          </a:graphicData>
        </a:graphic>
      </p:graphicFrame>
      <p:graphicFrame>
        <p:nvGraphicFramePr>
          <p:cNvPr id="15" name="Table 14">
            <a:extLst>
              <a:ext uri="{FF2B5EF4-FFF2-40B4-BE49-F238E27FC236}">
                <a16:creationId xmlns:a16="http://schemas.microsoft.com/office/drawing/2014/main" id="{E1005BAC-9ABE-4513-869C-E335F1456457}"/>
              </a:ext>
            </a:extLst>
          </p:cNvPr>
          <p:cNvGraphicFramePr>
            <a:graphicFrameLocks noGrp="1"/>
          </p:cNvGraphicFramePr>
          <p:nvPr/>
        </p:nvGraphicFramePr>
        <p:xfrm>
          <a:off x="2071077" y="2161051"/>
          <a:ext cx="6858000" cy="640080"/>
        </p:xfrm>
        <a:graphic>
          <a:graphicData uri="http://schemas.openxmlformats.org/drawingml/2006/table">
            <a:tbl>
              <a:tblPr>
                <a:tableStyleId>{16D9F66E-5EB9-4882-86FB-DCBF35E3C3E4}</a:tableStyleId>
              </a:tblPr>
              <a:tblGrid>
                <a:gridCol w="3429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617220">
                <a:tc>
                  <a:txBody>
                    <a:bodyPr/>
                    <a:lstStyle/>
                    <a:p>
                      <a:pPr marL="285750" marR="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b="0" u="none" strike="noStrike" kern="1200" baseline="0" dirty="0">
                          <a:solidFill>
                            <a:schemeClr val="tx1"/>
                          </a:solidFill>
                          <a:latin typeface="+mn-lt"/>
                          <a:ea typeface="+mn-ea"/>
                          <a:cs typeface="+mn-cs"/>
                        </a:rPr>
                        <a:t>Network layer of OSI model provide both connection oriented and connectionless service</a:t>
                      </a:r>
                    </a:p>
                  </a:txBody>
                  <a:tcPr marL="51435" marR="51435" marT="0" marB="0">
                    <a:solidFill>
                      <a:schemeClr val="accent1">
                        <a:lumMod val="20000"/>
                        <a:lumOff val="80000"/>
                      </a:schemeClr>
                    </a:solidFill>
                  </a:tcPr>
                </a:tc>
                <a:tc>
                  <a:txBody>
                    <a:bodyPr/>
                    <a:lstStyle/>
                    <a:p>
                      <a:pPr marL="285750" marR="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b="0" u="none" strike="noStrike" kern="1200" baseline="0" dirty="0">
                          <a:solidFill>
                            <a:schemeClr val="bg1"/>
                          </a:solidFill>
                          <a:latin typeface="+mn-lt"/>
                          <a:ea typeface="+mn-ea"/>
                          <a:cs typeface="+mn-cs"/>
                        </a:rPr>
                        <a:t>The Network layer in TCP/IP model provides connectionless service</a:t>
                      </a:r>
                    </a:p>
                  </a:txBody>
                  <a:tcPr marL="51435" marR="51435" marT="0" marB="0">
                    <a:solidFill>
                      <a:srgbClr val="B46B49"/>
                    </a:solidFill>
                  </a:tcPr>
                </a:tc>
                <a:extLst>
                  <a:ext uri="{0D108BD9-81ED-4DB2-BD59-A6C34878D82A}">
                    <a16:rowId xmlns:a16="http://schemas.microsoft.com/office/drawing/2014/main" val="10000"/>
                  </a:ext>
                </a:extLst>
              </a:tr>
            </a:tbl>
          </a:graphicData>
        </a:graphic>
      </p:graphicFrame>
      <p:graphicFrame>
        <p:nvGraphicFramePr>
          <p:cNvPr id="16" name="Table 15">
            <a:extLst>
              <a:ext uri="{FF2B5EF4-FFF2-40B4-BE49-F238E27FC236}">
                <a16:creationId xmlns:a16="http://schemas.microsoft.com/office/drawing/2014/main" id="{5898D5A9-47A7-4C5A-86B0-BC063B16C6D0}"/>
              </a:ext>
            </a:extLst>
          </p:cNvPr>
          <p:cNvGraphicFramePr>
            <a:graphicFrameLocks noGrp="1"/>
          </p:cNvGraphicFramePr>
          <p:nvPr/>
        </p:nvGraphicFramePr>
        <p:xfrm>
          <a:off x="2071077" y="2897204"/>
          <a:ext cx="6858000" cy="640080"/>
        </p:xfrm>
        <a:graphic>
          <a:graphicData uri="http://schemas.openxmlformats.org/drawingml/2006/table">
            <a:tbl>
              <a:tblPr>
                <a:tableStyleId>{16D9F66E-5EB9-4882-86FB-DCBF35E3C3E4}</a:tableStyleId>
              </a:tblPr>
              <a:tblGrid>
                <a:gridCol w="3429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617220">
                <a:tc>
                  <a:txBody>
                    <a:bodyPr/>
                    <a:lstStyle/>
                    <a:p>
                      <a:pPr marL="285750" marR="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b="0" u="none" strike="noStrike" kern="1200" baseline="0" dirty="0">
                          <a:solidFill>
                            <a:schemeClr val="tx1"/>
                          </a:solidFill>
                          <a:latin typeface="+mn-lt"/>
                          <a:ea typeface="+mn-ea"/>
                          <a:cs typeface="+mn-cs"/>
                        </a:rPr>
                        <a:t>OSI provides layer functioning and also defines functions of all the layers</a:t>
                      </a:r>
                    </a:p>
                  </a:txBody>
                  <a:tcPr marL="51435" marR="51435" marT="0" marB="0">
                    <a:solidFill>
                      <a:schemeClr val="accent1">
                        <a:lumMod val="20000"/>
                        <a:lumOff val="80000"/>
                      </a:schemeClr>
                    </a:solidFill>
                  </a:tcPr>
                </a:tc>
                <a:tc>
                  <a:txBody>
                    <a:bodyPr/>
                    <a:lstStyle/>
                    <a:p>
                      <a:pPr marL="285750" marR="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b="0" u="none" strike="noStrike" kern="1200" baseline="0" dirty="0">
                          <a:solidFill>
                            <a:schemeClr val="bg1"/>
                          </a:solidFill>
                          <a:latin typeface="+mn-lt"/>
                          <a:ea typeface="+mn-ea"/>
                          <a:cs typeface="+mn-cs"/>
                        </a:rPr>
                        <a:t>TCP/IP model is more based on protocols and protocols are not flexible with other layers</a:t>
                      </a:r>
                    </a:p>
                  </a:txBody>
                  <a:tcPr marL="51435" marR="51435" marT="0" marB="0">
                    <a:solidFill>
                      <a:srgbClr val="B46B49"/>
                    </a:solidFill>
                  </a:tcPr>
                </a:tc>
                <a:extLst>
                  <a:ext uri="{0D108BD9-81ED-4DB2-BD59-A6C34878D82A}">
                    <a16:rowId xmlns:a16="http://schemas.microsoft.com/office/drawing/2014/main" val="10000"/>
                  </a:ext>
                </a:extLst>
              </a:tr>
            </a:tbl>
          </a:graphicData>
        </a:graphic>
      </p:graphicFrame>
      <p:graphicFrame>
        <p:nvGraphicFramePr>
          <p:cNvPr id="17" name="Table 16">
            <a:extLst>
              <a:ext uri="{FF2B5EF4-FFF2-40B4-BE49-F238E27FC236}">
                <a16:creationId xmlns:a16="http://schemas.microsoft.com/office/drawing/2014/main" id="{C3D0A998-FBF5-4DC1-BA54-E73525FC35AA}"/>
              </a:ext>
            </a:extLst>
          </p:cNvPr>
          <p:cNvGraphicFramePr>
            <a:graphicFrameLocks noGrp="1"/>
          </p:cNvGraphicFramePr>
          <p:nvPr/>
        </p:nvGraphicFramePr>
        <p:xfrm>
          <a:off x="2071077" y="3633358"/>
          <a:ext cx="6858000" cy="426720"/>
        </p:xfrm>
        <a:graphic>
          <a:graphicData uri="http://schemas.openxmlformats.org/drawingml/2006/table">
            <a:tbl>
              <a:tblPr>
                <a:tableStyleId>{16D9F66E-5EB9-4882-86FB-DCBF35E3C3E4}</a:tableStyleId>
              </a:tblPr>
              <a:tblGrid>
                <a:gridCol w="3429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411480">
                <a:tc>
                  <a:txBody>
                    <a:bodyPr/>
                    <a:lstStyle/>
                    <a:p>
                      <a:pPr marL="285750" marR="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b="0" u="none" strike="noStrike" kern="1200" baseline="0" dirty="0">
                          <a:solidFill>
                            <a:schemeClr val="tx1"/>
                          </a:solidFill>
                          <a:latin typeface="+mn-lt"/>
                          <a:ea typeface="+mn-ea"/>
                          <a:cs typeface="+mn-cs"/>
                        </a:rPr>
                        <a:t>Protocols are hidden in OSI model and are easily replaced as the technology changes</a:t>
                      </a:r>
                    </a:p>
                  </a:txBody>
                  <a:tcPr marL="51435" marR="51435" marT="0" marB="0">
                    <a:solidFill>
                      <a:schemeClr val="accent1">
                        <a:lumMod val="20000"/>
                        <a:lumOff val="80000"/>
                      </a:schemeClr>
                    </a:solidFill>
                  </a:tcPr>
                </a:tc>
                <a:tc>
                  <a:txBody>
                    <a:bodyPr/>
                    <a:lstStyle/>
                    <a:p>
                      <a:pPr marL="285750" marR="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b="0" u="none" strike="noStrike" kern="1200" baseline="0" dirty="0">
                          <a:solidFill>
                            <a:schemeClr val="bg1"/>
                          </a:solidFill>
                          <a:latin typeface="+mn-lt"/>
                          <a:ea typeface="+mn-ea"/>
                          <a:cs typeface="+mn-cs"/>
                        </a:rPr>
                        <a:t>In TCP/IP, replacing protocol is not easy</a:t>
                      </a:r>
                    </a:p>
                  </a:txBody>
                  <a:tcPr marL="51435" marR="51435" marT="0" marB="0">
                    <a:solidFill>
                      <a:srgbClr val="B46B49"/>
                    </a:solidFill>
                  </a:tcPr>
                </a:tc>
                <a:extLst>
                  <a:ext uri="{0D108BD9-81ED-4DB2-BD59-A6C34878D82A}">
                    <a16:rowId xmlns:a16="http://schemas.microsoft.com/office/drawing/2014/main" val="10000"/>
                  </a:ext>
                </a:extLst>
              </a:tr>
            </a:tbl>
          </a:graphicData>
        </a:graphic>
      </p:graphicFrame>
      <p:graphicFrame>
        <p:nvGraphicFramePr>
          <p:cNvPr id="18" name="Table 17">
            <a:extLst>
              <a:ext uri="{FF2B5EF4-FFF2-40B4-BE49-F238E27FC236}">
                <a16:creationId xmlns:a16="http://schemas.microsoft.com/office/drawing/2014/main" id="{828DEA70-2EE9-4EB8-B3D5-6562D0643D09}"/>
              </a:ext>
            </a:extLst>
          </p:cNvPr>
          <p:cNvGraphicFramePr>
            <a:graphicFrameLocks noGrp="1"/>
          </p:cNvGraphicFramePr>
          <p:nvPr/>
        </p:nvGraphicFramePr>
        <p:xfrm>
          <a:off x="2071077" y="4163771"/>
          <a:ext cx="6858000" cy="640080"/>
        </p:xfrm>
        <a:graphic>
          <a:graphicData uri="http://schemas.openxmlformats.org/drawingml/2006/table">
            <a:tbl>
              <a:tblPr>
                <a:tableStyleId>{16D9F66E-5EB9-4882-86FB-DCBF35E3C3E4}</a:tableStyleId>
              </a:tblPr>
              <a:tblGrid>
                <a:gridCol w="3429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617220">
                <a:tc>
                  <a:txBody>
                    <a:bodyPr/>
                    <a:lstStyle/>
                    <a:p>
                      <a:pPr marL="285750" marR="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b="0" u="none" strike="noStrike" kern="1200" baseline="0" dirty="0">
                          <a:solidFill>
                            <a:schemeClr val="tx1"/>
                          </a:solidFill>
                          <a:latin typeface="+mn-lt"/>
                          <a:ea typeface="+mn-ea"/>
                          <a:cs typeface="+mn-cs"/>
                        </a:rPr>
                        <a:t>OSI model defines services, interfaces and protocols very clearly and makes clear distinction between them</a:t>
                      </a:r>
                    </a:p>
                  </a:txBody>
                  <a:tcPr marL="51435" marR="51435" marT="0" marB="0">
                    <a:solidFill>
                      <a:schemeClr val="accent1">
                        <a:lumMod val="20000"/>
                        <a:lumOff val="80000"/>
                      </a:schemeClr>
                    </a:solidFill>
                  </a:tcPr>
                </a:tc>
                <a:tc>
                  <a:txBody>
                    <a:bodyPr/>
                    <a:lstStyle/>
                    <a:p>
                      <a:pPr marL="285750" marR="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b="0" u="none" strike="noStrike" kern="1200" baseline="0" dirty="0">
                          <a:solidFill>
                            <a:schemeClr val="bg1"/>
                          </a:solidFill>
                          <a:latin typeface="+mn-lt"/>
                          <a:ea typeface="+mn-ea"/>
                          <a:cs typeface="+mn-cs"/>
                        </a:rPr>
                        <a:t>In TCP/IP, it is not clearly separated its services, interfaces and protocols</a:t>
                      </a:r>
                    </a:p>
                  </a:txBody>
                  <a:tcPr marL="51435" marR="51435" marT="0" marB="0">
                    <a:solidFill>
                      <a:srgbClr val="B46B49"/>
                    </a:solidFill>
                  </a:tcPr>
                </a:tc>
                <a:extLst>
                  <a:ext uri="{0D108BD9-81ED-4DB2-BD59-A6C34878D82A}">
                    <a16:rowId xmlns:a16="http://schemas.microsoft.com/office/drawing/2014/main" val="10000"/>
                  </a:ext>
                </a:extLst>
              </a:tr>
            </a:tbl>
          </a:graphicData>
        </a:graphic>
      </p:graphicFrame>
      <p:graphicFrame>
        <p:nvGraphicFramePr>
          <p:cNvPr id="19" name="Table 18">
            <a:extLst>
              <a:ext uri="{FF2B5EF4-FFF2-40B4-BE49-F238E27FC236}">
                <a16:creationId xmlns:a16="http://schemas.microsoft.com/office/drawing/2014/main" id="{7B9DC32E-EB2C-4244-97E4-BB52638F58EB}"/>
              </a:ext>
            </a:extLst>
          </p:cNvPr>
          <p:cNvGraphicFramePr>
            <a:graphicFrameLocks noGrp="1"/>
          </p:cNvGraphicFramePr>
          <p:nvPr/>
        </p:nvGraphicFramePr>
        <p:xfrm>
          <a:off x="2071077" y="4899924"/>
          <a:ext cx="6858000" cy="617220"/>
        </p:xfrm>
        <a:graphic>
          <a:graphicData uri="http://schemas.openxmlformats.org/drawingml/2006/table">
            <a:tbl>
              <a:tblPr>
                <a:tableStyleId>{16D9F66E-5EB9-4882-86FB-DCBF35E3C3E4}</a:tableStyleId>
              </a:tblPr>
              <a:tblGrid>
                <a:gridCol w="3429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617220">
                <a:tc>
                  <a:txBody>
                    <a:bodyPr/>
                    <a:lstStyle/>
                    <a:p>
                      <a:pPr marL="285750" marR="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b="0" u="none" strike="noStrike" kern="1200" baseline="0" dirty="0">
                          <a:solidFill>
                            <a:schemeClr val="tx1"/>
                          </a:solidFill>
                          <a:latin typeface="+mn-lt"/>
                          <a:ea typeface="+mn-ea"/>
                          <a:cs typeface="+mn-cs"/>
                        </a:rPr>
                        <a:t>In OSI model the transport layer guarantees the delivery of packets</a:t>
                      </a:r>
                    </a:p>
                  </a:txBody>
                  <a:tcPr marL="51435" marR="51435" marT="0" marB="0">
                    <a:solidFill>
                      <a:schemeClr val="accent1">
                        <a:lumMod val="20000"/>
                        <a:lumOff val="80000"/>
                      </a:schemeClr>
                    </a:solidFill>
                  </a:tcPr>
                </a:tc>
                <a:tc>
                  <a:txBody>
                    <a:bodyPr/>
                    <a:lstStyle/>
                    <a:p>
                      <a:pPr marL="285750" marR="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b="0" u="none" strike="noStrike" kern="1200" baseline="0" dirty="0">
                          <a:solidFill>
                            <a:schemeClr val="bg1"/>
                          </a:solidFill>
                          <a:latin typeface="+mn-lt"/>
                          <a:ea typeface="+mn-ea"/>
                          <a:cs typeface="+mn-cs"/>
                        </a:rPr>
                        <a:t>In TCP/IP model the transport layer does not guarantees delivery of packets</a:t>
                      </a:r>
                    </a:p>
                  </a:txBody>
                  <a:tcPr marL="51435" marR="51435" marT="0" marB="0">
                    <a:solidFill>
                      <a:srgbClr val="B46B49"/>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530121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Comparison </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289727798"/>
              </p:ext>
            </p:extLst>
          </p:nvPr>
        </p:nvGraphicFramePr>
        <p:xfrm>
          <a:off x="152400" y="1759132"/>
          <a:ext cx="8458200" cy="4108267"/>
        </p:xfrm>
        <a:graphic>
          <a:graphicData uri="http://schemas.openxmlformats.org/drawingml/2006/table">
            <a:tbl>
              <a:tblPr firstRow="1" firstCol="1" bandRow="1">
                <a:tableStyleId>{5C22544A-7EE6-4342-B048-85BDC9FD1C3A}</a:tableStyleId>
              </a:tblPr>
              <a:tblGrid>
                <a:gridCol w="2819400">
                  <a:extLst>
                    <a:ext uri="{9D8B030D-6E8A-4147-A177-3AD203B41FA5}">
                      <a16:colId xmlns:a16="http://schemas.microsoft.com/office/drawing/2014/main" val="2064175784"/>
                    </a:ext>
                  </a:extLst>
                </a:gridCol>
                <a:gridCol w="2819400">
                  <a:extLst>
                    <a:ext uri="{9D8B030D-6E8A-4147-A177-3AD203B41FA5}">
                      <a16:colId xmlns:a16="http://schemas.microsoft.com/office/drawing/2014/main" val="2391155855"/>
                    </a:ext>
                  </a:extLst>
                </a:gridCol>
                <a:gridCol w="2819400">
                  <a:extLst>
                    <a:ext uri="{9D8B030D-6E8A-4147-A177-3AD203B41FA5}">
                      <a16:colId xmlns:a16="http://schemas.microsoft.com/office/drawing/2014/main" val="3618391536"/>
                    </a:ext>
                  </a:extLst>
                </a:gridCol>
              </a:tblGrid>
              <a:tr h="342322">
                <a:tc>
                  <a:txBody>
                    <a:bodyPr/>
                    <a:lstStyle/>
                    <a:p>
                      <a:pPr marL="0" marR="0" algn="ctr">
                        <a:lnSpc>
                          <a:spcPct val="107000"/>
                        </a:lnSpc>
                        <a:spcBef>
                          <a:spcPts val="0"/>
                        </a:spcBef>
                        <a:spcAft>
                          <a:spcPts val="0"/>
                        </a:spcAft>
                      </a:pPr>
                      <a:r>
                        <a:rPr lang="en-IN" sz="1600">
                          <a:effectLst/>
                        </a:rPr>
                        <a:t>Basis of Comparison</a:t>
                      </a:r>
                      <a:endParaRPr lang="en-IN" sz="160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tc>
                  <a:txBody>
                    <a:bodyPr/>
                    <a:lstStyle/>
                    <a:p>
                      <a:pPr marL="0" marR="0" algn="ctr">
                        <a:lnSpc>
                          <a:spcPct val="107000"/>
                        </a:lnSpc>
                        <a:spcBef>
                          <a:spcPts val="0"/>
                        </a:spcBef>
                        <a:spcAft>
                          <a:spcPts val="0"/>
                        </a:spcAft>
                      </a:pPr>
                      <a:r>
                        <a:rPr lang="en-IN" sz="1600">
                          <a:effectLst/>
                        </a:rPr>
                        <a:t>Connection-oriented service</a:t>
                      </a:r>
                      <a:endParaRPr lang="en-IN" sz="160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tc>
                  <a:txBody>
                    <a:bodyPr/>
                    <a:lstStyle/>
                    <a:p>
                      <a:pPr marL="0" marR="0" algn="ctr">
                        <a:lnSpc>
                          <a:spcPct val="107000"/>
                        </a:lnSpc>
                        <a:spcBef>
                          <a:spcPts val="0"/>
                        </a:spcBef>
                        <a:spcAft>
                          <a:spcPts val="0"/>
                        </a:spcAft>
                      </a:pPr>
                      <a:r>
                        <a:rPr lang="en-IN" sz="1600">
                          <a:effectLst/>
                        </a:rPr>
                        <a:t>Connection-less service</a:t>
                      </a:r>
                      <a:endParaRPr lang="en-IN" sz="160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extLst>
                  <a:ext uri="{0D108BD9-81ED-4DB2-BD59-A6C34878D82A}">
                    <a16:rowId xmlns:a16="http://schemas.microsoft.com/office/drawing/2014/main" val="1174933327"/>
                  </a:ext>
                </a:extLst>
              </a:tr>
              <a:tr h="342322">
                <a:tc>
                  <a:txBody>
                    <a:bodyPr/>
                    <a:lstStyle/>
                    <a:p>
                      <a:pPr marL="0" marR="0">
                        <a:lnSpc>
                          <a:spcPct val="107000"/>
                        </a:lnSpc>
                        <a:spcBef>
                          <a:spcPts val="0"/>
                        </a:spcBef>
                        <a:spcAft>
                          <a:spcPts val="0"/>
                        </a:spcAft>
                      </a:pPr>
                      <a:r>
                        <a:rPr lang="en-IN" sz="1600">
                          <a:effectLst/>
                        </a:rPr>
                        <a:t>Prior Connection Requirement</a:t>
                      </a:r>
                      <a:endParaRPr lang="en-IN" sz="160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tc>
                  <a:txBody>
                    <a:bodyPr/>
                    <a:lstStyle/>
                    <a:p>
                      <a:pPr marL="0" marR="0">
                        <a:lnSpc>
                          <a:spcPct val="107000"/>
                        </a:lnSpc>
                        <a:spcBef>
                          <a:spcPts val="0"/>
                        </a:spcBef>
                        <a:spcAft>
                          <a:spcPts val="0"/>
                        </a:spcAft>
                      </a:pPr>
                      <a:r>
                        <a:rPr lang="en-IN" sz="1600">
                          <a:effectLst/>
                        </a:rPr>
                        <a:t>Necessary</a:t>
                      </a:r>
                      <a:endParaRPr lang="en-IN" sz="160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tc>
                  <a:txBody>
                    <a:bodyPr/>
                    <a:lstStyle/>
                    <a:p>
                      <a:pPr marL="0" marR="0">
                        <a:lnSpc>
                          <a:spcPct val="107000"/>
                        </a:lnSpc>
                        <a:spcBef>
                          <a:spcPts val="0"/>
                        </a:spcBef>
                        <a:spcAft>
                          <a:spcPts val="0"/>
                        </a:spcAft>
                      </a:pPr>
                      <a:r>
                        <a:rPr lang="en-IN" sz="1600">
                          <a:effectLst/>
                        </a:rPr>
                        <a:t>Not required</a:t>
                      </a:r>
                      <a:endParaRPr lang="en-IN" sz="160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extLst>
                  <a:ext uri="{0D108BD9-81ED-4DB2-BD59-A6C34878D82A}">
                    <a16:rowId xmlns:a16="http://schemas.microsoft.com/office/drawing/2014/main" val="3845512888"/>
                  </a:ext>
                </a:extLst>
              </a:tr>
              <a:tr h="342322">
                <a:tc>
                  <a:txBody>
                    <a:bodyPr/>
                    <a:lstStyle/>
                    <a:p>
                      <a:pPr marL="0" marR="0">
                        <a:lnSpc>
                          <a:spcPct val="107000"/>
                        </a:lnSpc>
                        <a:spcBef>
                          <a:spcPts val="0"/>
                        </a:spcBef>
                        <a:spcAft>
                          <a:spcPts val="0"/>
                        </a:spcAft>
                      </a:pPr>
                      <a:r>
                        <a:rPr lang="en-IN" sz="1600">
                          <a:effectLst/>
                        </a:rPr>
                        <a:t>Reliability</a:t>
                      </a:r>
                      <a:endParaRPr lang="en-IN" sz="160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tc>
                  <a:txBody>
                    <a:bodyPr/>
                    <a:lstStyle/>
                    <a:p>
                      <a:pPr marL="0" marR="0">
                        <a:lnSpc>
                          <a:spcPct val="107000"/>
                        </a:lnSpc>
                        <a:spcBef>
                          <a:spcPts val="0"/>
                        </a:spcBef>
                        <a:spcAft>
                          <a:spcPts val="0"/>
                        </a:spcAft>
                      </a:pPr>
                      <a:r>
                        <a:rPr lang="en-IN" sz="1600">
                          <a:effectLst/>
                        </a:rPr>
                        <a:t>Ensures reliable transfer of data.</a:t>
                      </a:r>
                      <a:endParaRPr lang="en-IN" sz="160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tc>
                  <a:txBody>
                    <a:bodyPr/>
                    <a:lstStyle/>
                    <a:p>
                      <a:pPr marL="0" marR="0">
                        <a:lnSpc>
                          <a:spcPct val="107000"/>
                        </a:lnSpc>
                        <a:spcBef>
                          <a:spcPts val="0"/>
                        </a:spcBef>
                        <a:spcAft>
                          <a:spcPts val="0"/>
                        </a:spcAft>
                      </a:pPr>
                      <a:r>
                        <a:rPr lang="en-IN" sz="1600">
                          <a:effectLst/>
                        </a:rPr>
                        <a:t>Not guaranteed.</a:t>
                      </a:r>
                      <a:endParaRPr lang="en-IN" sz="160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extLst>
                  <a:ext uri="{0D108BD9-81ED-4DB2-BD59-A6C34878D82A}">
                    <a16:rowId xmlns:a16="http://schemas.microsoft.com/office/drawing/2014/main" val="2970458848"/>
                  </a:ext>
                </a:extLst>
              </a:tr>
              <a:tr h="342322">
                <a:tc>
                  <a:txBody>
                    <a:bodyPr/>
                    <a:lstStyle/>
                    <a:p>
                      <a:pPr marL="0" marR="0">
                        <a:lnSpc>
                          <a:spcPct val="107000"/>
                        </a:lnSpc>
                        <a:spcBef>
                          <a:spcPts val="0"/>
                        </a:spcBef>
                        <a:spcAft>
                          <a:spcPts val="0"/>
                        </a:spcAft>
                      </a:pPr>
                      <a:r>
                        <a:rPr lang="en-IN" sz="1600">
                          <a:effectLst/>
                        </a:rPr>
                        <a:t>Congestion</a:t>
                      </a:r>
                      <a:endParaRPr lang="en-IN" sz="160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tc>
                  <a:txBody>
                    <a:bodyPr/>
                    <a:lstStyle/>
                    <a:p>
                      <a:pPr marL="0" marR="0">
                        <a:lnSpc>
                          <a:spcPct val="107000"/>
                        </a:lnSpc>
                        <a:spcBef>
                          <a:spcPts val="0"/>
                        </a:spcBef>
                        <a:spcAft>
                          <a:spcPts val="0"/>
                        </a:spcAft>
                      </a:pPr>
                      <a:r>
                        <a:rPr lang="en-IN" sz="1600">
                          <a:effectLst/>
                        </a:rPr>
                        <a:t>Unlikely</a:t>
                      </a:r>
                      <a:endParaRPr lang="en-IN" sz="160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tc>
                  <a:txBody>
                    <a:bodyPr/>
                    <a:lstStyle/>
                    <a:p>
                      <a:pPr marL="0" marR="0">
                        <a:lnSpc>
                          <a:spcPct val="107000"/>
                        </a:lnSpc>
                        <a:spcBef>
                          <a:spcPts val="0"/>
                        </a:spcBef>
                        <a:spcAft>
                          <a:spcPts val="0"/>
                        </a:spcAft>
                      </a:pPr>
                      <a:r>
                        <a:rPr lang="en-IN" sz="1600">
                          <a:effectLst/>
                        </a:rPr>
                        <a:t>Occur likely.</a:t>
                      </a:r>
                      <a:endParaRPr lang="en-IN" sz="160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extLst>
                  <a:ext uri="{0D108BD9-81ED-4DB2-BD59-A6C34878D82A}">
                    <a16:rowId xmlns:a16="http://schemas.microsoft.com/office/drawing/2014/main" val="1871381990"/>
                  </a:ext>
                </a:extLst>
              </a:tr>
              <a:tr h="1020766">
                <a:tc>
                  <a:txBody>
                    <a:bodyPr/>
                    <a:lstStyle/>
                    <a:p>
                      <a:pPr marL="0" marR="0">
                        <a:lnSpc>
                          <a:spcPct val="107000"/>
                        </a:lnSpc>
                        <a:spcBef>
                          <a:spcPts val="0"/>
                        </a:spcBef>
                        <a:spcAft>
                          <a:spcPts val="0"/>
                        </a:spcAft>
                      </a:pPr>
                      <a:r>
                        <a:rPr lang="en-IN" sz="1600" dirty="0">
                          <a:effectLst/>
                        </a:rPr>
                        <a:t>Transferring mode</a:t>
                      </a:r>
                      <a:endParaRPr lang="en-IN" sz="1600" dirty="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tc>
                  <a:txBody>
                    <a:bodyPr/>
                    <a:lstStyle/>
                    <a:p>
                      <a:pPr marL="0" marR="0">
                        <a:lnSpc>
                          <a:spcPct val="107000"/>
                        </a:lnSpc>
                        <a:spcBef>
                          <a:spcPts val="0"/>
                        </a:spcBef>
                        <a:spcAft>
                          <a:spcPts val="0"/>
                        </a:spcAft>
                      </a:pPr>
                      <a:r>
                        <a:rPr lang="en-IN" sz="1600">
                          <a:effectLst/>
                        </a:rPr>
                        <a:t>It can be implemented using circuit switching and virtual circuit.</a:t>
                      </a:r>
                      <a:endParaRPr lang="en-IN" sz="160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tc>
                  <a:txBody>
                    <a:bodyPr/>
                    <a:lstStyle/>
                    <a:p>
                      <a:pPr marL="0" marR="0">
                        <a:lnSpc>
                          <a:spcPct val="107000"/>
                        </a:lnSpc>
                        <a:spcBef>
                          <a:spcPts val="0"/>
                        </a:spcBef>
                        <a:spcAft>
                          <a:spcPts val="0"/>
                        </a:spcAft>
                      </a:pPr>
                      <a:r>
                        <a:rPr lang="en-IN" sz="1600" dirty="0">
                          <a:effectLst/>
                        </a:rPr>
                        <a:t>It is implemented using packet switching.</a:t>
                      </a:r>
                      <a:endParaRPr lang="en-IN" sz="1600" dirty="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extLst>
                  <a:ext uri="{0D108BD9-81ED-4DB2-BD59-A6C34878D82A}">
                    <a16:rowId xmlns:a16="http://schemas.microsoft.com/office/drawing/2014/main" val="2116064641"/>
                  </a:ext>
                </a:extLst>
              </a:tr>
              <a:tr h="342322">
                <a:tc>
                  <a:txBody>
                    <a:bodyPr/>
                    <a:lstStyle/>
                    <a:p>
                      <a:pPr marL="0" marR="0">
                        <a:lnSpc>
                          <a:spcPct val="107000"/>
                        </a:lnSpc>
                        <a:spcBef>
                          <a:spcPts val="0"/>
                        </a:spcBef>
                        <a:spcAft>
                          <a:spcPts val="0"/>
                        </a:spcAft>
                      </a:pPr>
                      <a:r>
                        <a:rPr lang="en-IN" sz="1600">
                          <a:effectLst/>
                        </a:rPr>
                        <a:t>Lost data retransmission</a:t>
                      </a:r>
                      <a:endParaRPr lang="en-IN" sz="140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tc>
                  <a:txBody>
                    <a:bodyPr/>
                    <a:lstStyle/>
                    <a:p>
                      <a:pPr marL="0" marR="0">
                        <a:lnSpc>
                          <a:spcPct val="107000"/>
                        </a:lnSpc>
                        <a:spcBef>
                          <a:spcPts val="0"/>
                        </a:spcBef>
                        <a:spcAft>
                          <a:spcPts val="0"/>
                        </a:spcAft>
                      </a:pPr>
                      <a:r>
                        <a:rPr lang="en-IN" sz="1600">
                          <a:effectLst/>
                        </a:rPr>
                        <a:t>Feasible</a:t>
                      </a:r>
                      <a:endParaRPr lang="en-IN" sz="140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tc>
                  <a:txBody>
                    <a:bodyPr/>
                    <a:lstStyle/>
                    <a:p>
                      <a:pPr marL="0" marR="0">
                        <a:lnSpc>
                          <a:spcPct val="107000"/>
                        </a:lnSpc>
                        <a:spcBef>
                          <a:spcPts val="0"/>
                        </a:spcBef>
                        <a:spcAft>
                          <a:spcPts val="0"/>
                        </a:spcAft>
                      </a:pPr>
                      <a:r>
                        <a:rPr lang="en-IN" sz="1600">
                          <a:effectLst/>
                        </a:rPr>
                        <a:t>Practically, not possible.</a:t>
                      </a:r>
                      <a:endParaRPr lang="en-IN" sz="140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extLst>
                  <a:ext uri="{0D108BD9-81ED-4DB2-BD59-A6C34878D82A}">
                    <a16:rowId xmlns:a16="http://schemas.microsoft.com/office/drawing/2014/main" val="203005205"/>
                  </a:ext>
                </a:extLst>
              </a:tr>
              <a:tr h="700486">
                <a:tc>
                  <a:txBody>
                    <a:bodyPr/>
                    <a:lstStyle/>
                    <a:p>
                      <a:pPr marL="0" marR="0">
                        <a:lnSpc>
                          <a:spcPct val="107000"/>
                        </a:lnSpc>
                        <a:spcBef>
                          <a:spcPts val="0"/>
                        </a:spcBef>
                        <a:spcAft>
                          <a:spcPts val="0"/>
                        </a:spcAft>
                      </a:pPr>
                      <a:r>
                        <a:rPr lang="en-IN" sz="1600">
                          <a:effectLst/>
                        </a:rPr>
                        <a:t>Suitability</a:t>
                      </a:r>
                      <a:endParaRPr lang="en-IN" sz="140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tc>
                  <a:txBody>
                    <a:bodyPr/>
                    <a:lstStyle/>
                    <a:p>
                      <a:pPr marL="0" marR="0">
                        <a:lnSpc>
                          <a:spcPct val="107000"/>
                        </a:lnSpc>
                        <a:spcBef>
                          <a:spcPts val="0"/>
                        </a:spcBef>
                        <a:spcAft>
                          <a:spcPts val="0"/>
                        </a:spcAft>
                      </a:pPr>
                      <a:r>
                        <a:rPr lang="en-IN" sz="1600">
                          <a:effectLst/>
                        </a:rPr>
                        <a:t>Suitable for long and steady communication.</a:t>
                      </a:r>
                      <a:endParaRPr lang="en-IN" sz="140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tc>
                  <a:txBody>
                    <a:bodyPr/>
                    <a:lstStyle/>
                    <a:p>
                      <a:pPr marL="0" marR="0">
                        <a:lnSpc>
                          <a:spcPct val="107000"/>
                        </a:lnSpc>
                        <a:spcBef>
                          <a:spcPts val="0"/>
                        </a:spcBef>
                        <a:spcAft>
                          <a:spcPts val="0"/>
                        </a:spcAft>
                      </a:pPr>
                      <a:r>
                        <a:rPr lang="en-IN" sz="1600">
                          <a:effectLst/>
                        </a:rPr>
                        <a:t>Suitable for bursty Transmission.</a:t>
                      </a:r>
                      <a:endParaRPr lang="en-IN" sz="140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extLst>
                  <a:ext uri="{0D108BD9-81ED-4DB2-BD59-A6C34878D82A}">
                    <a16:rowId xmlns:a16="http://schemas.microsoft.com/office/drawing/2014/main" val="216782748"/>
                  </a:ext>
                </a:extLst>
              </a:tr>
              <a:tr h="675405">
                <a:tc>
                  <a:txBody>
                    <a:bodyPr/>
                    <a:lstStyle/>
                    <a:p>
                      <a:pPr marL="0" marR="0">
                        <a:lnSpc>
                          <a:spcPct val="107000"/>
                        </a:lnSpc>
                        <a:spcBef>
                          <a:spcPts val="0"/>
                        </a:spcBef>
                        <a:spcAft>
                          <a:spcPts val="0"/>
                        </a:spcAft>
                      </a:pPr>
                      <a:r>
                        <a:rPr lang="en-IN" sz="1600" dirty="0">
                          <a:effectLst/>
                        </a:rPr>
                        <a:t>Signalling </a:t>
                      </a:r>
                      <a:endParaRPr lang="en-IN" sz="1400" dirty="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tc>
                  <a:txBody>
                    <a:bodyPr/>
                    <a:lstStyle/>
                    <a:p>
                      <a:pPr marL="0" marR="0">
                        <a:lnSpc>
                          <a:spcPct val="107000"/>
                        </a:lnSpc>
                        <a:spcBef>
                          <a:spcPts val="0"/>
                        </a:spcBef>
                        <a:spcAft>
                          <a:spcPts val="0"/>
                        </a:spcAft>
                      </a:pPr>
                      <a:r>
                        <a:rPr lang="en-IN" sz="1600" dirty="0">
                          <a:effectLst/>
                        </a:rPr>
                        <a:t>Used for connection establishment.</a:t>
                      </a:r>
                      <a:endParaRPr lang="en-IN" sz="1400" dirty="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tc>
                  <a:txBody>
                    <a:bodyPr/>
                    <a:lstStyle/>
                    <a:p>
                      <a:pPr marL="0" marR="0">
                        <a:lnSpc>
                          <a:spcPct val="107000"/>
                        </a:lnSpc>
                        <a:spcBef>
                          <a:spcPts val="0"/>
                        </a:spcBef>
                        <a:spcAft>
                          <a:spcPts val="0"/>
                        </a:spcAft>
                      </a:pPr>
                      <a:r>
                        <a:rPr lang="en-IN" sz="1600" dirty="0">
                          <a:effectLst/>
                        </a:rPr>
                        <a:t>There is no concept of signalling.</a:t>
                      </a:r>
                      <a:endParaRPr lang="en-IN" sz="1400" dirty="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extLst>
                  <a:ext uri="{0D108BD9-81ED-4DB2-BD59-A6C34878D82A}">
                    <a16:rowId xmlns:a16="http://schemas.microsoft.com/office/drawing/2014/main" val="4253051148"/>
                  </a:ext>
                </a:extLst>
              </a:tr>
            </a:tbl>
          </a:graphicData>
        </a:graphic>
      </p:graphicFrame>
    </p:spTree>
    <p:extLst>
      <p:ext uri="{BB962C8B-B14F-4D97-AF65-F5344CB8AC3E}">
        <p14:creationId xmlns:p14="http://schemas.microsoft.com/office/powerpoint/2010/main" val="1304201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Comparison </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08183919"/>
              </p:ext>
            </p:extLst>
          </p:nvPr>
        </p:nvGraphicFramePr>
        <p:xfrm>
          <a:off x="228600" y="1905000"/>
          <a:ext cx="8763000" cy="4181856"/>
        </p:xfrm>
        <a:graphic>
          <a:graphicData uri="http://schemas.openxmlformats.org/drawingml/2006/table">
            <a:tbl>
              <a:tblPr firstRow="1" firstCol="1" bandRow="1">
                <a:tableStyleId>{5C22544A-7EE6-4342-B048-85BDC9FD1C3A}</a:tableStyleId>
              </a:tblPr>
              <a:tblGrid>
                <a:gridCol w="2921000">
                  <a:extLst>
                    <a:ext uri="{9D8B030D-6E8A-4147-A177-3AD203B41FA5}">
                      <a16:colId xmlns:a16="http://schemas.microsoft.com/office/drawing/2014/main" val="2064175784"/>
                    </a:ext>
                  </a:extLst>
                </a:gridCol>
                <a:gridCol w="2921000">
                  <a:extLst>
                    <a:ext uri="{9D8B030D-6E8A-4147-A177-3AD203B41FA5}">
                      <a16:colId xmlns:a16="http://schemas.microsoft.com/office/drawing/2014/main" val="2391155855"/>
                    </a:ext>
                  </a:extLst>
                </a:gridCol>
                <a:gridCol w="2921000">
                  <a:extLst>
                    <a:ext uri="{9D8B030D-6E8A-4147-A177-3AD203B41FA5}">
                      <a16:colId xmlns:a16="http://schemas.microsoft.com/office/drawing/2014/main" val="3618391536"/>
                    </a:ext>
                  </a:extLst>
                </a:gridCol>
              </a:tblGrid>
              <a:tr h="210360">
                <a:tc>
                  <a:txBody>
                    <a:bodyPr/>
                    <a:lstStyle/>
                    <a:p>
                      <a:pPr marL="0" marR="0" algn="ctr">
                        <a:lnSpc>
                          <a:spcPct val="107000"/>
                        </a:lnSpc>
                        <a:spcBef>
                          <a:spcPts val="0"/>
                        </a:spcBef>
                        <a:spcAft>
                          <a:spcPts val="0"/>
                        </a:spcAft>
                      </a:pPr>
                      <a:r>
                        <a:rPr lang="en-IN" sz="2000">
                          <a:effectLst/>
                        </a:rPr>
                        <a:t>Basis of Comparison</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tc>
                  <a:txBody>
                    <a:bodyPr/>
                    <a:lstStyle/>
                    <a:p>
                      <a:pPr marL="0" marR="0" algn="ctr">
                        <a:lnSpc>
                          <a:spcPct val="107000"/>
                        </a:lnSpc>
                        <a:spcBef>
                          <a:spcPts val="0"/>
                        </a:spcBef>
                        <a:spcAft>
                          <a:spcPts val="0"/>
                        </a:spcAft>
                      </a:pPr>
                      <a:r>
                        <a:rPr lang="en-IN" sz="2000">
                          <a:effectLst/>
                        </a:rPr>
                        <a:t>Connection-oriented service</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tc>
                  <a:txBody>
                    <a:bodyPr/>
                    <a:lstStyle/>
                    <a:p>
                      <a:pPr marL="0" marR="0" algn="ctr">
                        <a:lnSpc>
                          <a:spcPct val="107000"/>
                        </a:lnSpc>
                        <a:spcBef>
                          <a:spcPts val="0"/>
                        </a:spcBef>
                        <a:spcAft>
                          <a:spcPts val="0"/>
                        </a:spcAft>
                      </a:pPr>
                      <a:r>
                        <a:rPr lang="en-IN" sz="2000">
                          <a:effectLst/>
                        </a:rPr>
                        <a:t>Connection-less service</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extLst>
                  <a:ext uri="{0D108BD9-81ED-4DB2-BD59-A6C34878D82A}">
                    <a16:rowId xmlns:a16="http://schemas.microsoft.com/office/drawing/2014/main" val="1174933327"/>
                  </a:ext>
                </a:extLst>
              </a:tr>
              <a:tr h="650606">
                <a:tc>
                  <a:txBody>
                    <a:bodyPr/>
                    <a:lstStyle/>
                    <a:p>
                      <a:pPr marL="0" marR="0">
                        <a:lnSpc>
                          <a:spcPct val="107000"/>
                        </a:lnSpc>
                        <a:spcBef>
                          <a:spcPts val="0"/>
                        </a:spcBef>
                        <a:spcAft>
                          <a:spcPts val="0"/>
                        </a:spcAft>
                      </a:pPr>
                      <a:r>
                        <a:rPr lang="en-IN" sz="2000" dirty="0">
                          <a:effectLst/>
                        </a:rPr>
                        <a:t>Packet forwarding</a:t>
                      </a:r>
                      <a:endParaRPr lang="en-IN" sz="1800" dirty="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tc>
                  <a:txBody>
                    <a:bodyPr/>
                    <a:lstStyle/>
                    <a:p>
                      <a:pPr marL="0" marR="0">
                        <a:lnSpc>
                          <a:spcPct val="107000"/>
                        </a:lnSpc>
                        <a:spcBef>
                          <a:spcPts val="0"/>
                        </a:spcBef>
                        <a:spcAft>
                          <a:spcPts val="0"/>
                        </a:spcAft>
                      </a:pPr>
                      <a:r>
                        <a:rPr lang="en-IN" sz="2000">
                          <a:effectLst/>
                        </a:rPr>
                        <a:t>Packets sequentially travel to their destination node and follows the same route.</a:t>
                      </a:r>
                      <a:endParaRPr lang="en-IN" sz="180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tc>
                  <a:txBody>
                    <a:bodyPr/>
                    <a:lstStyle/>
                    <a:p>
                      <a:pPr marL="0" marR="0">
                        <a:lnSpc>
                          <a:spcPct val="107000"/>
                        </a:lnSpc>
                        <a:spcBef>
                          <a:spcPts val="0"/>
                        </a:spcBef>
                        <a:spcAft>
                          <a:spcPts val="0"/>
                        </a:spcAft>
                      </a:pPr>
                      <a:r>
                        <a:rPr lang="en-IN" sz="2000" dirty="0">
                          <a:effectLst/>
                        </a:rPr>
                        <a:t>Packets reach the destination randomly without following the same route.</a:t>
                      </a:r>
                      <a:endParaRPr lang="en-IN" sz="1800" dirty="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extLst>
                  <a:ext uri="{0D108BD9-81ED-4DB2-BD59-A6C34878D82A}">
                    <a16:rowId xmlns:a16="http://schemas.microsoft.com/office/drawing/2014/main" val="3845512888"/>
                  </a:ext>
                </a:extLst>
              </a:tr>
              <a:tr h="870728">
                <a:tc>
                  <a:txBody>
                    <a:bodyPr/>
                    <a:lstStyle/>
                    <a:p>
                      <a:pPr marL="0" marR="0">
                        <a:lnSpc>
                          <a:spcPct val="107000"/>
                        </a:lnSpc>
                        <a:spcBef>
                          <a:spcPts val="0"/>
                        </a:spcBef>
                        <a:spcAft>
                          <a:spcPts val="0"/>
                        </a:spcAft>
                      </a:pPr>
                      <a:r>
                        <a:rPr lang="en-IN" sz="2000">
                          <a:effectLst/>
                        </a:rPr>
                        <a:t>Delay</a:t>
                      </a:r>
                      <a:endParaRPr lang="en-IN" sz="180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tc>
                  <a:txBody>
                    <a:bodyPr/>
                    <a:lstStyle/>
                    <a:p>
                      <a:pPr marL="0" marR="0">
                        <a:lnSpc>
                          <a:spcPct val="107000"/>
                        </a:lnSpc>
                        <a:spcBef>
                          <a:spcPts val="0"/>
                        </a:spcBef>
                        <a:spcAft>
                          <a:spcPts val="0"/>
                        </a:spcAft>
                      </a:pPr>
                      <a:r>
                        <a:rPr lang="en-IN" sz="2000">
                          <a:effectLst/>
                        </a:rPr>
                        <a:t>There is a delay in transfer of information, but once the connection is established faster delivery can be achieved.</a:t>
                      </a:r>
                      <a:endParaRPr lang="en-IN" sz="180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tc>
                  <a:txBody>
                    <a:bodyPr/>
                    <a:lstStyle/>
                    <a:p>
                      <a:pPr marL="0" marR="0">
                        <a:lnSpc>
                          <a:spcPct val="107000"/>
                        </a:lnSpc>
                        <a:spcBef>
                          <a:spcPts val="0"/>
                        </a:spcBef>
                        <a:spcAft>
                          <a:spcPts val="0"/>
                        </a:spcAft>
                      </a:pPr>
                      <a:r>
                        <a:rPr lang="en-IN" sz="2000" dirty="0">
                          <a:effectLst/>
                        </a:rPr>
                        <a:t>Because to the absence of connection establishment phase, the transmission is faster.</a:t>
                      </a:r>
                      <a:endParaRPr lang="en-IN" sz="1800" dirty="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extLst>
                  <a:ext uri="{0D108BD9-81ED-4DB2-BD59-A6C34878D82A}">
                    <a16:rowId xmlns:a16="http://schemas.microsoft.com/office/drawing/2014/main" val="2970458848"/>
                  </a:ext>
                </a:extLst>
              </a:tr>
              <a:tr h="430483">
                <a:tc>
                  <a:txBody>
                    <a:bodyPr/>
                    <a:lstStyle/>
                    <a:p>
                      <a:pPr marL="0" marR="0">
                        <a:lnSpc>
                          <a:spcPct val="107000"/>
                        </a:lnSpc>
                        <a:spcBef>
                          <a:spcPts val="0"/>
                        </a:spcBef>
                        <a:spcAft>
                          <a:spcPts val="0"/>
                        </a:spcAft>
                      </a:pPr>
                      <a:r>
                        <a:rPr lang="en-IN" sz="2000" dirty="0">
                          <a:effectLst/>
                        </a:rPr>
                        <a:t>Resource Allocation</a:t>
                      </a:r>
                      <a:endParaRPr lang="en-IN" sz="1800" dirty="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tc>
                  <a:txBody>
                    <a:bodyPr/>
                    <a:lstStyle/>
                    <a:p>
                      <a:pPr marL="0" marR="0">
                        <a:lnSpc>
                          <a:spcPct val="107000"/>
                        </a:lnSpc>
                        <a:spcBef>
                          <a:spcPts val="0"/>
                        </a:spcBef>
                        <a:spcAft>
                          <a:spcPts val="0"/>
                        </a:spcAft>
                      </a:pPr>
                      <a:r>
                        <a:rPr lang="en-IN" sz="2000">
                          <a:effectLst/>
                        </a:rPr>
                        <a:t>Need to be allocated.</a:t>
                      </a:r>
                      <a:endParaRPr lang="en-IN" sz="180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tc>
                  <a:txBody>
                    <a:bodyPr/>
                    <a:lstStyle/>
                    <a:p>
                      <a:pPr marL="0" marR="0">
                        <a:lnSpc>
                          <a:spcPct val="107000"/>
                        </a:lnSpc>
                        <a:spcBef>
                          <a:spcPts val="0"/>
                        </a:spcBef>
                        <a:spcAft>
                          <a:spcPts val="0"/>
                        </a:spcAft>
                      </a:pPr>
                      <a:r>
                        <a:rPr lang="en-IN" sz="2000" dirty="0">
                          <a:effectLst/>
                        </a:rPr>
                        <a:t>No prior allocation of the resource is required.</a:t>
                      </a:r>
                      <a:endParaRPr lang="en-IN" sz="1800" dirty="0">
                        <a:effectLst/>
                        <a:latin typeface="Calibri" panose="020F0502020204030204" pitchFamily="34" charset="0"/>
                        <a:ea typeface="Calibri" panose="020F0502020204030204" pitchFamily="34" charset="0"/>
                        <a:cs typeface="Shruti" panose="020B0502040204020203" pitchFamily="34" charset="0"/>
                      </a:endParaRPr>
                    </a:p>
                  </a:txBody>
                  <a:tcPr marL="51435" marR="51435" marT="0" marB="0"/>
                </a:tc>
                <a:extLst>
                  <a:ext uri="{0D108BD9-81ED-4DB2-BD59-A6C34878D82A}">
                    <a16:rowId xmlns:a16="http://schemas.microsoft.com/office/drawing/2014/main" val="1871381990"/>
                  </a:ext>
                </a:extLst>
              </a:tr>
            </a:tbl>
          </a:graphicData>
        </a:graphic>
      </p:graphicFrame>
    </p:spTree>
    <p:extLst>
      <p:ext uri="{BB962C8B-B14F-4D97-AF65-F5344CB8AC3E}">
        <p14:creationId xmlns:p14="http://schemas.microsoft.com/office/powerpoint/2010/main" val="2658828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685800"/>
            <a:ext cx="8763000" cy="483209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200" b="1" dirty="0">
                <a:latin typeface="Calibri" pitchFamily="34" charset="0"/>
              </a:rPr>
              <a:t>DNS:-</a:t>
            </a:r>
          </a:p>
          <a:p>
            <a:r>
              <a:rPr lang="en-US" sz="2200" b="1" dirty="0">
                <a:latin typeface="Calibri" pitchFamily="34" charset="0"/>
              </a:rPr>
              <a:t>	</a:t>
            </a:r>
            <a:r>
              <a:rPr lang="en-US" sz="2200" dirty="0">
                <a:latin typeface="Calibri" pitchFamily="34" charset="0"/>
              </a:rPr>
              <a:t>The domain name system, more commonly known as "DNS" is the networking system in place that allows us to resolve human-friendly names to unique addresses.</a:t>
            </a:r>
          </a:p>
          <a:p>
            <a:endParaRPr lang="en-US" sz="2200" dirty="0">
              <a:latin typeface="Calibri" pitchFamily="34" charset="0"/>
            </a:endParaRPr>
          </a:p>
          <a:p>
            <a:r>
              <a:rPr lang="en-US" sz="2200" b="1" dirty="0">
                <a:latin typeface="Calibri" pitchFamily="34" charset="0"/>
              </a:rPr>
              <a:t>Domain Name:</a:t>
            </a:r>
          </a:p>
          <a:p>
            <a:r>
              <a:rPr lang="en-US" sz="2200" dirty="0">
                <a:latin typeface="Calibri" pitchFamily="34" charset="0"/>
              </a:rPr>
              <a:t>	A domain name is the human-friendly name that we are used to associating with an internet resource. For instance, "google.com" is a domain name.</a:t>
            </a:r>
          </a:p>
          <a:p>
            <a:endParaRPr lang="en-US" sz="2200" dirty="0">
              <a:latin typeface="Calibri" pitchFamily="34" charset="0"/>
            </a:endParaRPr>
          </a:p>
          <a:p>
            <a:r>
              <a:rPr lang="en-US" sz="2200" b="1" dirty="0">
                <a:latin typeface="Calibri" pitchFamily="34" charset="0"/>
              </a:rPr>
              <a:t>IP address:</a:t>
            </a:r>
          </a:p>
          <a:p>
            <a:r>
              <a:rPr lang="en-US" sz="2200" dirty="0">
                <a:latin typeface="Calibri" pitchFamily="34" charset="0"/>
              </a:rPr>
              <a:t>	An IP address is what we call a network addressable location. Each IP address must be unique within its network. For example, "111.222.111.222" could be a valid IPv4 IP address.</a:t>
            </a:r>
          </a:p>
        </p:txBody>
      </p:sp>
      <p:sp>
        <p:nvSpPr>
          <p:cNvPr id="7" name="Rectangle 2"/>
          <p:cNvSpPr>
            <a:spLocks noGrp="1" noChangeArrowheads="1"/>
          </p:cNvSpPr>
          <p:nvPr>
            <p:ph type="title"/>
          </p:nvPr>
        </p:nvSpPr>
        <p:spPr>
          <a:xfrm>
            <a:off x="657225" y="36513"/>
            <a:ext cx="6962775" cy="496887"/>
          </a:xfrm>
        </p:spPr>
        <p:style>
          <a:lnRef idx="2">
            <a:schemeClr val="accent1">
              <a:shade val="50000"/>
            </a:schemeClr>
          </a:lnRef>
          <a:fillRef idx="1">
            <a:schemeClr val="accent1"/>
          </a:fillRef>
          <a:effectRef idx="0">
            <a:schemeClr val="accent1"/>
          </a:effectRef>
          <a:fontRef idx="minor">
            <a:schemeClr val="lt1"/>
          </a:fontRef>
        </p:style>
        <p:txBody>
          <a:bodyPr>
            <a:normAutofit/>
          </a:bodyPr>
          <a:lstStyle/>
          <a:p>
            <a:pPr algn="ctr" eaLnBrk="1" hangingPunct="1"/>
            <a:r>
              <a:rPr lang="en-US" sz="2600" b="1" dirty="0">
                <a:latin typeface="Calibri" pitchFamily="34" charset="0"/>
              </a:rPr>
              <a:t>DNS – Basic Terminology</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6200" y="762000"/>
            <a:ext cx="8991600" cy="385951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Font typeface="Arial" pitchFamily="34" charset="0"/>
              <a:buChar char="•"/>
            </a:pPr>
            <a:r>
              <a:rPr lang="en-US" sz="2200" dirty="0">
                <a:latin typeface="Calibri" pitchFamily="34" charset="0"/>
              </a:rPr>
              <a:t> DNS technology allows hosts on TCP/IP networks (such as Internet Web </a:t>
            </a:r>
          </a:p>
          <a:p>
            <a:r>
              <a:rPr lang="en-US" sz="2200" dirty="0">
                <a:latin typeface="Calibri" pitchFamily="34" charset="0"/>
              </a:rPr>
              <a:t>  sites) to be addressed by names. </a:t>
            </a:r>
          </a:p>
          <a:p>
            <a:pPr>
              <a:buFont typeface="Arial" pitchFamily="34" charset="0"/>
              <a:buChar char="•"/>
            </a:pPr>
            <a:endParaRPr lang="en-US" sz="2200" dirty="0">
              <a:latin typeface="Calibri" pitchFamily="34" charset="0"/>
            </a:endParaRPr>
          </a:p>
          <a:p>
            <a:pPr>
              <a:buFont typeface="Arial" pitchFamily="34" charset="0"/>
              <a:buChar char="•"/>
            </a:pPr>
            <a:r>
              <a:rPr lang="en-US" sz="2200" dirty="0">
                <a:latin typeface="Calibri" pitchFamily="34" charset="0"/>
              </a:rPr>
              <a:t> DNS automatically converts the names we type in our web browser  address </a:t>
            </a:r>
          </a:p>
          <a:p>
            <a:r>
              <a:rPr lang="en-US" sz="2200" dirty="0">
                <a:latin typeface="Calibri" pitchFamily="34" charset="0"/>
              </a:rPr>
              <a:t>   bar to the IP addresses of web servers hosting those sites.</a:t>
            </a:r>
          </a:p>
          <a:p>
            <a:endParaRPr lang="en-US" sz="2200" dirty="0">
              <a:latin typeface="Calibri" pitchFamily="34" charset="0"/>
            </a:endParaRPr>
          </a:p>
          <a:p>
            <a:pPr>
              <a:buFont typeface="Arial" pitchFamily="34" charset="0"/>
              <a:buChar char="•"/>
            </a:pPr>
            <a:r>
              <a:rPr lang="en-US" sz="2200" dirty="0">
                <a:solidFill>
                  <a:schemeClr val="tx1"/>
                </a:solidFill>
                <a:latin typeface="Calibri" pitchFamily="34" charset="0"/>
              </a:rPr>
              <a:t> Each Internet address is mapped to a symbolic name, using the DNS, in the  </a:t>
            </a:r>
          </a:p>
          <a:p>
            <a:r>
              <a:rPr lang="en-US" sz="2200" dirty="0">
                <a:solidFill>
                  <a:schemeClr val="tx1"/>
                </a:solidFill>
                <a:latin typeface="Calibri" pitchFamily="34" charset="0"/>
              </a:rPr>
              <a:t>  format of:</a:t>
            </a:r>
          </a:p>
          <a:p>
            <a:pPr>
              <a:buFont typeface="Arial" pitchFamily="34" charset="0"/>
              <a:buChar char="•"/>
            </a:pPr>
            <a:r>
              <a:rPr lang="en-US" sz="2200" dirty="0">
                <a:solidFill>
                  <a:schemeClr val="tx1"/>
                </a:solidFill>
                <a:latin typeface="Calibri" pitchFamily="34" charset="0"/>
              </a:rPr>
              <a:t> &lt;computer-name&gt;.&lt;sub domain hierarchy&gt;.&lt;organization&gt;.&lt;sector name&gt; {.&lt;country code&gt;}</a:t>
            </a:r>
          </a:p>
          <a:p>
            <a:pPr marL="457200" lvl="0" indent="-457200">
              <a:lnSpc>
                <a:spcPct val="90000"/>
              </a:lnSpc>
              <a:spcBef>
                <a:spcPts val="580"/>
              </a:spcBef>
              <a:buClr>
                <a:schemeClr val="accent1"/>
              </a:buClr>
              <a:buSzPct val="85000"/>
              <a:buFont typeface="Arial" pitchFamily="34" charset="0"/>
              <a:buChar char="•"/>
              <a:defRPr/>
            </a:pPr>
            <a:r>
              <a:rPr lang="en-US" sz="2200" dirty="0">
                <a:solidFill>
                  <a:schemeClr val="tx1"/>
                </a:solidFill>
                <a:latin typeface="Calibri" pitchFamily="34" charset="0"/>
              </a:rPr>
              <a:t>        e.g.,  </a:t>
            </a:r>
            <a:r>
              <a:rPr lang="en-US" sz="2200" i="1" dirty="0">
                <a:solidFill>
                  <a:schemeClr val="tx1"/>
                </a:solidFill>
                <a:latin typeface="Calibri" pitchFamily="34" charset="0"/>
              </a:rPr>
              <a:t>www.csc.calpoly.edu.us</a:t>
            </a:r>
            <a:endParaRPr lang="en-US" sz="2200" dirty="0">
              <a:latin typeface="Calibri" pitchFamily="34" charset="0"/>
            </a:endParaRPr>
          </a:p>
        </p:txBody>
      </p:sp>
      <p:sp>
        <p:nvSpPr>
          <p:cNvPr id="7" name="Rectangle 2"/>
          <p:cNvSpPr>
            <a:spLocks noGrp="1" noChangeArrowheads="1"/>
          </p:cNvSpPr>
          <p:nvPr>
            <p:ph type="title"/>
          </p:nvPr>
        </p:nvSpPr>
        <p:spPr>
          <a:xfrm>
            <a:off x="657225" y="36513"/>
            <a:ext cx="6962775" cy="496887"/>
          </a:xfrm>
        </p:spPr>
        <p:style>
          <a:lnRef idx="2">
            <a:schemeClr val="accent1">
              <a:shade val="50000"/>
            </a:schemeClr>
          </a:lnRef>
          <a:fillRef idx="1">
            <a:schemeClr val="accent1"/>
          </a:fillRef>
          <a:effectRef idx="0">
            <a:schemeClr val="accent1"/>
          </a:effectRef>
          <a:fontRef idx="minor">
            <a:schemeClr val="lt1"/>
          </a:fontRef>
        </p:style>
        <p:txBody>
          <a:bodyPr>
            <a:normAutofit/>
          </a:bodyPr>
          <a:lstStyle/>
          <a:p>
            <a:pPr algn="ctr" eaLnBrk="1" hangingPunct="1"/>
            <a:r>
              <a:rPr lang="en-US" sz="2600" b="1" dirty="0">
                <a:latin typeface="Calibri" pitchFamily="34" charset="0"/>
              </a:rPr>
              <a:t>The Domain Name System (DNS)</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657225" y="36513"/>
            <a:ext cx="6962775" cy="496887"/>
          </a:xfrm>
        </p:spPr>
        <p:style>
          <a:lnRef idx="2">
            <a:schemeClr val="accent1">
              <a:shade val="50000"/>
            </a:schemeClr>
          </a:lnRef>
          <a:fillRef idx="1">
            <a:schemeClr val="accent1"/>
          </a:fillRef>
          <a:effectRef idx="0">
            <a:schemeClr val="accent1"/>
          </a:effectRef>
          <a:fontRef idx="minor">
            <a:schemeClr val="lt1"/>
          </a:fontRef>
        </p:style>
        <p:txBody>
          <a:bodyPr>
            <a:normAutofit/>
          </a:bodyPr>
          <a:lstStyle/>
          <a:p>
            <a:pPr algn="ctr" eaLnBrk="1" hangingPunct="1"/>
            <a:r>
              <a:rPr lang="en-US" sz="2600" b="1" dirty="0">
                <a:latin typeface="Calibri" pitchFamily="34" charset="0"/>
              </a:rPr>
              <a:t>The Domain Name System (DNS)</a:t>
            </a:r>
          </a:p>
        </p:txBody>
      </p:sp>
      <p:sp>
        <p:nvSpPr>
          <p:cNvPr id="3" name="Footer Placeholder 2"/>
          <p:cNvSpPr>
            <a:spLocks noGrp="1"/>
          </p:cNvSpPr>
          <p:nvPr>
            <p:ph type="ftr" sz="quarter" idx="11"/>
          </p:nvPr>
        </p:nvSpPr>
        <p:spPr/>
        <p:txBody>
          <a:bodyPr/>
          <a:lstStyle/>
          <a:p>
            <a:r>
              <a:rPr lang="en-US"/>
              <a:t>- Assistant  Prof. Riddhi Joshi</a:t>
            </a:r>
          </a:p>
        </p:txBody>
      </p:sp>
      <p:sp>
        <p:nvSpPr>
          <p:cNvPr id="5" name="Slide Number Placeholder 4"/>
          <p:cNvSpPr>
            <a:spLocks noGrp="1"/>
          </p:cNvSpPr>
          <p:nvPr>
            <p:ph type="sldNum" sz="quarter" idx="12"/>
          </p:nvPr>
        </p:nvSpPr>
        <p:spPr/>
        <p:txBody>
          <a:bodyPr/>
          <a:lstStyle/>
          <a:p>
            <a:fld id="{521E5947-19AD-4D38-BBE9-7D3EA973E689}" type="slidenum">
              <a:rPr lang="en-US" smtClean="0"/>
              <a:pPr/>
              <a:t>116</a:t>
            </a:fld>
            <a:endParaRPr lang="en-US"/>
          </a:p>
        </p:txBody>
      </p:sp>
      <p:graphicFrame>
        <p:nvGraphicFramePr>
          <p:cNvPr id="10" name="Object 4"/>
          <p:cNvGraphicFramePr>
            <a:graphicFrameLocks noChangeAspect="1"/>
          </p:cNvGraphicFramePr>
          <p:nvPr/>
        </p:nvGraphicFramePr>
        <p:xfrm>
          <a:off x="152400" y="685800"/>
          <a:ext cx="8763000" cy="5715000"/>
        </p:xfrm>
        <a:graphic>
          <a:graphicData uri="http://schemas.openxmlformats.org/presentationml/2006/ole">
            <mc:AlternateContent xmlns:mc="http://schemas.openxmlformats.org/markup-compatibility/2006">
              <mc:Choice xmlns:v="urn:schemas-microsoft-com:vml" Requires="v">
                <p:oleObj name="SmartDraw" r:id="rId2" imgW="6796800" imgH="3483720" progId="">
                  <p:embed/>
                </p:oleObj>
              </mc:Choice>
              <mc:Fallback>
                <p:oleObj name="SmartDraw" r:id="rId2" imgW="6796800" imgH="3483720" progId="">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685800"/>
                        <a:ext cx="8763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a:xfrm>
            <a:off x="228600" y="2819400"/>
            <a:ext cx="8763000" cy="2667000"/>
          </a:xfrm>
          <a:prstGeom prst="rect">
            <a:avLst/>
          </a:prstGeom>
        </p:spPr>
        <p:style>
          <a:lnRef idx="2">
            <a:schemeClr val="accent1"/>
          </a:lnRef>
          <a:fillRef idx="1">
            <a:schemeClr val="lt1"/>
          </a:fillRef>
          <a:effectRef idx="0">
            <a:schemeClr val="accent1"/>
          </a:effectRef>
          <a:fontRef idx="minor">
            <a:schemeClr val="dk1"/>
          </a:fontRef>
        </p:style>
        <p:txBody>
          <a:bodyPr vert="horz">
            <a:normAutofit/>
          </a:bodyPr>
          <a:lstStyle/>
          <a:p>
            <a:pPr marL="457200" marR="0" lvl="0" indent="-45720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kumimoji="0" lang="en-US" sz="2200" b="0" i="0" u="none" strike="noStrike" kern="1200" cap="none" spc="0" normalizeH="0" baseline="0" noProof="0" dirty="0">
                <a:ln>
                  <a:noFill/>
                </a:ln>
                <a:solidFill>
                  <a:schemeClr val="tx1"/>
                </a:solidFill>
                <a:effectLst/>
                <a:uLnTx/>
                <a:uFillTx/>
                <a:latin typeface="Calibri" pitchFamily="34" charset="0"/>
              </a:rPr>
              <a:t>For network applications, a domain name must be mapped to its corresponding Internet address.</a:t>
            </a:r>
          </a:p>
          <a:p>
            <a:pPr marL="457200" marR="0" lvl="0" indent="-45720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kumimoji="0" lang="en-US" sz="2200" b="0" i="0" u="none" strike="noStrike" kern="1200" cap="none" spc="0" normalizeH="0" baseline="0" noProof="0" dirty="0">
                <a:ln>
                  <a:noFill/>
                </a:ln>
                <a:solidFill>
                  <a:schemeClr val="tx1"/>
                </a:solidFill>
                <a:effectLst/>
                <a:uLnTx/>
                <a:uFillTx/>
                <a:latin typeface="Calibri" pitchFamily="34" charset="0"/>
                <a:cs typeface="Arial" charset="0"/>
              </a:rPr>
              <a:t>The mapping service is offered by thousands of DNS servers on the Internet, each responsible for a portion of the name space, called a </a:t>
            </a:r>
            <a:r>
              <a:rPr kumimoji="0" lang="en-US" sz="2200" b="0" i="1" u="none" strike="noStrike" kern="1200" cap="none" spc="0" normalizeH="0" baseline="0" noProof="0" dirty="0">
                <a:ln>
                  <a:noFill/>
                </a:ln>
                <a:solidFill>
                  <a:srgbClr val="FF0F1B"/>
                </a:solidFill>
                <a:effectLst/>
                <a:uLnTx/>
                <a:uFillTx/>
                <a:latin typeface="Calibri" pitchFamily="34" charset="0"/>
                <a:cs typeface="Arial" charset="0"/>
              </a:rPr>
              <a:t>zone</a:t>
            </a:r>
            <a:r>
              <a:rPr kumimoji="0" lang="en-US" sz="2200" b="0" i="1" u="none" strike="noStrike" kern="1200" cap="none" spc="0" normalizeH="0" baseline="0" noProof="0" dirty="0">
                <a:ln>
                  <a:noFill/>
                </a:ln>
                <a:solidFill>
                  <a:schemeClr val="tx1"/>
                </a:solidFill>
                <a:effectLst/>
                <a:uLnTx/>
                <a:uFillTx/>
                <a:latin typeface="Calibri" pitchFamily="34" charset="0"/>
                <a:cs typeface="Arial" charset="0"/>
              </a:rPr>
              <a:t>.</a:t>
            </a:r>
            <a:r>
              <a:rPr kumimoji="0" lang="en-US" sz="2200" b="0" i="0" u="none" strike="noStrike" kern="1200" cap="none" spc="0" normalizeH="0" baseline="0" noProof="0" dirty="0">
                <a:ln>
                  <a:noFill/>
                </a:ln>
                <a:solidFill>
                  <a:schemeClr val="tx1"/>
                </a:solidFill>
                <a:effectLst/>
                <a:uLnTx/>
                <a:uFillTx/>
                <a:latin typeface="Calibri" pitchFamily="34" charset="0"/>
                <a:cs typeface="Arial" charset="0"/>
              </a:rPr>
              <a:t> </a:t>
            </a:r>
            <a:endParaRPr kumimoji="0" lang="en-US" sz="2200" b="0" i="0" u="none" strike="noStrike" kern="1200" cap="none" spc="0" normalizeH="0" baseline="0" noProof="0" dirty="0">
              <a:ln>
                <a:noFill/>
              </a:ln>
              <a:solidFill>
                <a:schemeClr val="tx1"/>
              </a:solidFill>
              <a:effectLst/>
              <a:uLnTx/>
              <a:uFillTx/>
              <a:latin typeface="Calibri" pitchFamily="34" charset="0"/>
            </a:endParaRPr>
          </a:p>
        </p:txBody>
      </p:sp>
      <p:sp>
        <p:nvSpPr>
          <p:cNvPr id="7" name="Rectangle 2"/>
          <p:cNvSpPr>
            <a:spLocks noGrp="1" noChangeArrowheads="1"/>
          </p:cNvSpPr>
          <p:nvPr>
            <p:ph type="title"/>
          </p:nvPr>
        </p:nvSpPr>
        <p:spPr>
          <a:xfrm>
            <a:off x="657225" y="36513"/>
            <a:ext cx="6962775" cy="496887"/>
          </a:xfrm>
        </p:spPr>
        <p:style>
          <a:lnRef idx="2">
            <a:schemeClr val="accent1">
              <a:shade val="50000"/>
            </a:schemeClr>
          </a:lnRef>
          <a:fillRef idx="1">
            <a:schemeClr val="accent1"/>
          </a:fillRef>
          <a:effectRef idx="0">
            <a:schemeClr val="accent1"/>
          </a:effectRef>
          <a:fontRef idx="minor">
            <a:schemeClr val="lt1"/>
          </a:fontRef>
        </p:style>
        <p:txBody>
          <a:bodyPr>
            <a:normAutofit/>
          </a:bodyPr>
          <a:lstStyle/>
          <a:p>
            <a:pPr algn="ctr" eaLnBrk="1" hangingPunct="1"/>
            <a:r>
              <a:rPr lang="en-US" sz="2600" b="1" dirty="0">
                <a:latin typeface="Calibri" pitchFamily="34" charset="0"/>
              </a:rPr>
              <a:t>The Domain Name System (DNS)</a:t>
            </a:r>
          </a:p>
        </p:txBody>
      </p:sp>
      <p:sp>
        <p:nvSpPr>
          <p:cNvPr id="8" name="Rectangle 3"/>
          <p:cNvSpPr txBox="1">
            <a:spLocks noChangeArrowheads="1"/>
          </p:cNvSpPr>
          <p:nvPr/>
        </p:nvSpPr>
        <p:spPr>
          <a:xfrm>
            <a:off x="152400" y="685800"/>
            <a:ext cx="8763000" cy="1752600"/>
          </a:xfrm>
          <a:prstGeom prst="rect">
            <a:avLst/>
          </a:prstGeom>
        </p:spPr>
        <p:style>
          <a:lnRef idx="2">
            <a:schemeClr val="accent1"/>
          </a:lnRef>
          <a:fillRef idx="1">
            <a:schemeClr val="lt1"/>
          </a:fillRef>
          <a:effectRef idx="0">
            <a:schemeClr val="accent1"/>
          </a:effectRef>
          <a:fontRef idx="minor">
            <a:schemeClr val="dk1"/>
          </a:fontRef>
        </p:style>
        <p:txBody>
          <a:bodyPr vert="horz">
            <a:normAutofit/>
          </a:bodyPr>
          <a:lstStyle/>
          <a:p>
            <a:pPr marL="457200" marR="0" lvl="0" indent="-45720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kumimoji="0" lang="en-US" sz="2200" b="0" i="0" u="none" strike="noStrike" kern="1200" cap="none" spc="0" normalizeH="0" baseline="0" noProof="0" dirty="0">
                <a:ln>
                  <a:noFill/>
                </a:ln>
                <a:solidFill>
                  <a:schemeClr val="tx1"/>
                </a:solidFill>
                <a:effectLst/>
                <a:uLnTx/>
                <a:uFillTx/>
                <a:latin typeface="Calibri" pitchFamily="34" charset="0"/>
              </a:rPr>
              <a:t>E.g. acme.com – the last component i.e.</a:t>
            </a:r>
            <a:r>
              <a:rPr kumimoji="0" lang="en-US" sz="2200" b="0" i="0" u="none" strike="noStrike" kern="1200" cap="none" spc="0" normalizeH="0" noProof="0" dirty="0">
                <a:ln>
                  <a:noFill/>
                </a:ln>
                <a:solidFill>
                  <a:schemeClr val="tx1"/>
                </a:solidFill>
                <a:effectLst/>
                <a:uLnTx/>
                <a:uFillTx/>
                <a:latin typeface="Calibri" pitchFamily="34" charset="0"/>
              </a:rPr>
              <a:t> .com is top level domain.</a:t>
            </a:r>
          </a:p>
          <a:p>
            <a:pPr marL="457200" marR="0" lvl="0" indent="-45720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lang="en-US" sz="2200" baseline="0" dirty="0">
                <a:solidFill>
                  <a:schemeClr val="tx1"/>
                </a:solidFill>
                <a:latin typeface="Calibri" pitchFamily="34" charset="0"/>
              </a:rPr>
              <a:t>Acme</a:t>
            </a:r>
            <a:r>
              <a:rPr lang="en-US" sz="2200" dirty="0">
                <a:solidFill>
                  <a:schemeClr val="tx1"/>
                </a:solidFill>
                <a:latin typeface="Calibri" pitchFamily="34" charset="0"/>
              </a:rPr>
              <a:t> – is the second level domain.</a:t>
            </a:r>
          </a:p>
          <a:p>
            <a:pPr marL="457200" marR="0" lvl="0" indent="-45720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kumimoji="0" lang="en-US" sz="2200" b="0" i="0" u="none" strike="noStrike" kern="1200" cap="none" spc="0" normalizeH="0" baseline="0" noProof="0" dirty="0">
                <a:ln>
                  <a:noFill/>
                </a:ln>
                <a:solidFill>
                  <a:schemeClr val="tx1"/>
                </a:solidFill>
                <a:effectLst/>
                <a:uLnTx/>
                <a:uFillTx/>
                <a:latin typeface="Calibri" pitchFamily="34" charset="0"/>
              </a:rPr>
              <a:t>Sub domain e.g.</a:t>
            </a:r>
            <a:r>
              <a:rPr kumimoji="0" lang="en-US" sz="2200" b="0" i="0" u="none" strike="noStrike" kern="1200" cap="none" spc="0" normalizeH="0" noProof="0" dirty="0">
                <a:ln>
                  <a:noFill/>
                </a:ln>
                <a:solidFill>
                  <a:schemeClr val="tx1"/>
                </a:solidFill>
                <a:effectLst/>
                <a:uLnTx/>
                <a:uFillTx/>
                <a:latin typeface="Calibri" pitchFamily="34" charset="0"/>
              </a:rPr>
              <a:t> – marketing.acme.com</a:t>
            </a:r>
          </a:p>
          <a:p>
            <a:pPr marL="457200" marR="0" lvl="0" indent="-45720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kumimoji="0" lang="en-US" sz="2200" b="0" i="0" u="none" strike="noStrike" kern="1200" cap="none" spc="0" normalizeH="0" noProof="0" dirty="0">
                <a:ln>
                  <a:noFill/>
                </a:ln>
                <a:solidFill>
                  <a:schemeClr val="tx1"/>
                </a:solidFill>
                <a:effectLst/>
                <a:uLnTx/>
                <a:uFillTx/>
                <a:latin typeface="Calibri" pitchFamily="34" charset="0"/>
              </a:rPr>
              <a:t>Domain names are not case sensitive.</a:t>
            </a:r>
            <a:endParaRPr kumimoji="0" lang="en-US" sz="2200" b="0" i="0" u="none" strike="noStrike" kern="1200" cap="none" spc="0" normalizeH="0" baseline="0" noProof="0" dirty="0">
              <a:ln>
                <a:noFill/>
              </a:ln>
              <a:solidFill>
                <a:schemeClr val="tx1"/>
              </a:solidFill>
              <a:effectLst/>
              <a:uLnTx/>
              <a:uFillTx/>
              <a:latin typeface="Calibri" pitchFamily="34" charset="0"/>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457200" y="122238"/>
            <a:ext cx="7543800" cy="487362"/>
          </a:xfrm>
        </p:spPr>
        <p:style>
          <a:lnRef idx="2">
            <a:schemeClr val="accent1">
              <a:shade val="50000"/>
            </a:schemeClr>
          </a:lnRef>
          <a:fillRef idx="1">
            <a:schemeClr val="accent1"/>
          </a:fillRef>
          <a:effectRef idx="0">
            <a:schemeClr val="accent1"/>
          </a:effectRef>
          <a:fontRef idx="minor">
            <a:schemeClr val="lt1"/>
          </a:fontRef>
        </p:style>
        <p:txBody>
          <a:bodyPr>
            <a:normAutofit/>
          </a:bodyPr>
          <a:lstStyle/>
          <a:p>
            <a:pPr algn="ctr" eaLnBrk="1" hangingPunct="1"/>
            <a:r>
              <a:rPr lang="en-US" sz="2600" b="1" dirty="0">
                <a:latin typeface="Calibri" pitchFamily="34" charset="0"/>
                <a:cs typeface="Times New Roman" pitchFamily="18" charset="0"/>
              </a:rPr>
              <a:t>Domain name hierarchy</a:t>
            </a:r>
            <a:r>
              <a:rPr lang="en-US" sz="2600" b="1" dirty="0">
                <a:latin typeface="Calibri" pitchFamily="34" charset="0"/>
              </a:rPr>
              <a:t> </a:t>
            </a:r>
          </a:p>
        </p:txBody>
      </p:sp>
      <p:graphicFrame>
        <p:nvGraphicFramePr>
          <p:cNvPr id="7" name="Object 3"/>
          <p:cNvGraphicFramePr>
            <a:graphicFrameLocks noChangeAspect="1"/>
          </p:cNvGraphicFramePr>
          <p:nvPr/>
        </p:nvGraphicFramePr>
        <p:xfrm>
          <a:off x="609600" y="990600"/>
          <a:ext cx="8077200" cy="5410200"/>
        </p:xfrm>
        <a:graphic>
          <a:graphicData uri="http://schemas.openxmlformats.org/presentationml/2006/ole">
            <mc:AlternateContent xmlns:mc="http://schemas.openxmlformats.org/markup-compatibility/2006">
              <mc:Choice xmlns:v="urn:schemas-microsoft-com:vml" Requires="v">
                <p:oleObj name="SmartDraw" r:id="rId2" imgW="4867560" imgH="3345120" progId="">
                  <p:embed/>
                </p:oleObj>
              </mc:Choice>
              <mc:Fallback>
                <p:oleObj name="SmartDraw" r:id="rId2" imgW="4867560" imgH="3345120" progId="">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990600"/>
                        <a:ext cx="8077200" cy="541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76200"/>
            <a:ext cx="7772400" cy="457200"/>
          </a:xfrm>
        </p:spPr>
        <p:style>
          <a:lnRef idx="2">
            <a:schemeClr val="accent1">
              <a:shade val="50000"/>
            </a:schemeClr>
          </a:lnRef>
          <a:fillRef idx="1">
            <a:schemeClr val="accent1"/>
          </a:fillRef>
          <a:effectRef idx="0">
            <a:schemeClr val="accent1"/>
          </a:effectRef>
          <a:fontRef idx="minor">
            <a:schemeClr val="lt1"/>
          </a:fontRef>
        </p:style>
        <p:txBody>
          <a:bodyPr>
            <a:normAutofit/>
          </a:bodyPr>
          <a:lstStyle/>
          <a:p>
            <a:pPr algn="ctr"/>
            <a:r>
              <a:rPr lang="en-US" sz="2600" b="1" dirty="0">
                <a:latin typeface="Calibri" pitchFamily="34" charset="0"/>
              </a:rPr>
              <a:t>Email Address &amp; URL’s</a:t>
            </a:r>
          </a:p>
        </p:txBody>
      </p:sp>
      <p:sp>
        <p:nvSpPr>
          <p:cNvPr id="4" name="Content Placeholder 3"/>
          <p:cNvSpPr>
            <a:spLocks noGrp="1"/>
          </p:cNvSpPr>
          <p:nvPr>
            <p:ph idx="1"/>
          </p:nvPr>
        </p:nvSpPr>
        <p:spPr>
          <a:xfrm>
            <a:off x="76200" y="609600"/>
            <a:ext cx="8915400" cy="5181600"/>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r>
              <a:rPr lang="en-US" sz="2200" dirty="0">
                <a:latin typeface="Calibri" pitchFamily="34" charset="0"/>
              </a:rPr>
              <a:t>Email address: </a:t>
            </a:r>
            <a:r>
              <a:rPr lang="en-US" sz="2200" dirty="0" err="1">
                <a:latin typeface="Calibri" pitchFamily="34" charset="0"/>
              </a:rPr>
              <a:t>username@domainName</a:t>
            </a:r>
            <a:r>
              <a:rPr lang="en-US" sz="2200" dirty="0">
                <a:latin typeface="Calibri" pitchFamily="34" charset="0"/>
              </a:rPr>
              <a:t> </a:t>
            </a:r>
          </a:p>
          <a:p>
            <a:pPr lvl="1"/>
            <a:r>
              <a:rPr lang="en-US" sz="2200" dirty="0">
                <a:latin typeface="Calibri" pitchFamily="34" charset="0"/>
              </a:rPr>
              <a:t>For example: </a:t>
            </a:r>
            <a:r>
              <a:rPr lang="en-US" sz="2200" dirty="0">
                <a:latin typeface="Calibri" pitchFamily="34" charset="0"/>
                <a:hlinkClick r:id="rId2"/>
              </a:rPr>
              <a:t>hemen@silvertouch.com</a:t>
            </a:r>
            <a:endParaRPr lang="en-US" sz="2200" dirty="0">
              <a:latin typeface="Calibri" pitchFamily="34" charset="0"/>
            </a:endParaRPr>
          </a:p>
          <a:p>
            <a:endParaRPr lang="en-US" sz="2200" dirty="0">
              <a:latin typeface="Calibri" pitchFamily="34" charset="0"/>
            </a:endParaRPr>
          </a:p>
          <a:p>
            <a:r>
              <a:rPr lang="en-US" sz="2200" dirty="0">
                <a:latin typeface="Calibri" pitchFamily="34" charset="0"/>
              </a:rPr>
              <a:t>URLs: Stands for Uniform Resource Locator </a:t>
            </a:r>
          </a:p>
          <a:p>
            <a:pPr lvl="1"/>
            <a:r>
              <a:rPr lang="en-US" sz="2200" dirty="0">
                <a:latin typeface="Calibri" pitchFamily="34" charset="0"/>
              </a:rPr>
              <a:t>Form of URL: </a:t>
            </a:r>
          </a:p>
          <a:p>
            <a:pPr lvl="1">
              <a:buNone/>
            </a:pPr>
            <a:r>
              <a:rPr lang="en-US" sz="2200" dirty="0">
                <a:latin typeface="Calibri" pitchFamily="34" charset="0"/>
              </a:rPr>
              <a:t>&lt;protocol&gt;//&lt;user&gt;:&lt;password&gt;@&lt;host-id&gt;:&lt;port-number&gt;/&lt;directory path&gt; </a:t>
            </a:r>
          </a:p>
          <a:p>
            <a:pPr lvl="1">
              <a:buNone/>
            </a:pPr>
            <a:r>
              <a:rPr lang="en-US" sz="2200" dirty="0">
                <a:latin typeface="Calibri" pitchFamily="34" charset="0"/>
              </a:rPr>
              <a:t>Where </a:t>
            </a:r>
          </a:p>
          <a:p>
            <a:pPr lvl="1">
              <a:buNone/>
            </a:pPr>
            <a:r>
              <a:rPr lang="en-US" sz="2200" b="1" dirty="0">
                <a:latin typeface="Calibri" pitchFamily="34" charset="0"/>
              </a:rPr>
              <a:t>&lt;protocol&gt;: </a:t>
            </a:r>
            <a:r>
              <a:rPr lang="en-US" sz="2200" dirty="0">
                <a:latin typeface="Calibri" pitchFamily="34" charset="0"/>
              </a:rPr>
              <a:t>It is the name of the application  layer protocol you wish to use to access the resource.</a:t>
            </a:r>
          </a:p>
          <a:p>
            <a:pPr lvl="1">
              <a:buNone/>
            </a:pPr>
            <a:r>
              <a:rPr lang="en-US" sz="2200" b="1" dirty="0">
                <a:latin typeface="Calibri" pitchFamily="34" charset="0"/>
              </a:rPr>
              <a:t>&lt;user&gt;:&lt;password&gt;: </a:t>
            </a:r>
            <a:r>
              <a:rPr lang="en-US" sz="2200" dirty="0">
                <a:latin typeface="Calibri" pitchFamily="34" charset="0"/>
              </a:rPr>
              <a:t>is for access authorization, if required by the protocol.</a:t>
            </a:r>
          </a:p>
          <a:p>
            <a:pPr lvl="1">
              <a:buNone/>
            </a:pPr>
            <a:r>
              <a:rPr lang="en-US" sz="2200" b="1" dirty="0">
                <a:latin typeface="Calibri" pitchFamily="34" charset="0"/>
              </a:rPr>
              <a:t>&lt;host-id&gt;: </a:t>
            </a:r>
            <a:r>
              <a:rPr lang="en-US" sz="2200" dirty="0">
                <a:latin typeface="Calibri" pitchFamily="34" charset="0"/>
              </a:rPr>
              <a:t>It is the domain name or dotted-decimal IP address of the host.</a:t>
            </a:r>
          </a:p>
          <a:p>
            <a:pPr lvl="1">
              <a:buNone/>
            </a:pPr>
            <a:r>
              <a:rPr lang="en-US" sz="2200" b="1" dirty="0">
                <a:latin typeface="Calibri" pitchFamily="34" charset="0"/>
              </a:rPr>
              <a:t>&lt;port-number&gt; </a:t>
            </a:r>
            <a:r>
              <a:rPr lang="en-US" sz="2200" dirty="0">
                <a:latin typeface="Calibri" pitchFamily="34" charset="0"/>
              </a:rPr>
              <a:t>: is transport layer protocol port for the process that provides the service on the remote host.</a:t>
            </a:r>
          </a:p>
          <a:p>
            <a:pPr lvl="1">
              <a:buNone/>
            </a:pPr>
            <a:r>
              <a:rPr lang="en-US" sz="2200" b="1" dirty="0">
                <a:latin typeface="Calibri" pitchFamily="34" charset="0"/>
              </a:rPr>
              <a:t>&lt;directory path&gt;:</a:t>
            </a:r>
          </a:p>
          <a:p>
            <a:pPr lvl="1">
              <a:buNone/>
            </a:pPr>
            <a:r>
              <a:rPr lang="en-US" sz="2200" dirty="0">
                <a:latin typeface="Calibri" pitchFamily="34" charset="0"/>
              </a:rPr>
              <a:t>	Specifies where in the file system of the remote host the resource can be located.</a:t>
            </a:r>
          </a:p>
          <a:p>
            <a:pPr lvl="1">
              <a:buNone/>
            </a:pPr>
            <a:endParaRPr lang="en-US" sz="2200" dirty="0">
              <a:latin typeface="Calibri" pitchFamily="34" charset="0"/>
            </a:endParaRPr>
          </a:p>
        </p:txBody>
      </p:sp>
      <p:sp>
        <p:nvSpPr>
          <p:cNvPr id="3" name="Footer Placeholder 2"/>
          <p:cNvSpPr>
            <a:spLocks noGrp="1"/>
          </p:cNvSpPr>
          <p:nvPr>
            <p:ph type="ftr" sz="quarter" idx="11"/>
          </p:nvPr>
        </p:nvSpPr>
        <p:spPr/>
        <p:txBody>
          <a:bodyPr/>
          <a:lstStyle/>
          <a:p>
            <a:r>
              <a:rPr lang="en-US"/>
              <a:t>- Assistant  Prof. Riddhi Joshi</a:t>
            </a:r>
          </a:p>
        </p:txBody>
      </p:sp>
      <p:sp>
        <p:nvSpPr>
          <p:cNvPr id="5" name="Slide Number Placeholder 4"/>
          <p:cNvSpPr>
            <a:spLocks noGrp="1"/>
          </p:cNvSpPr>
          <p:nvPr>
            <p:ph type="sldNum" sz="quarter" idx="12"/>
          </p:nvPr>
        </p:nvSpPr>
        <p:spPr/>
        <p:txBody>
          <a:bodyPr/>
          <a:lstStyle/>
          <a:p>
            <a:fld id="{521E5947-19AD-4D38-BBE9-7D3EA973E689}" type="slidenum">
              <a:rPr lang="en-US" smtClean="0"/>
              <a:pPr/>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457200" y="1295400"/>
            <a:ext cx="7239000" cy="4191000"/>
          </a:xfrm>
          <a:prstGeom prst="rect">
            <a:avLst/>
          </a:prstGeom>
        </p:spPr>
        <p:style>
          <a:lnRef idx="2">
            <a:schemeClr val="accent1"/>
          </a:lnRef>
          <a:fillRef idx="1">
            <a:schemeClr val="lt1"/>
          </a:fillRef>
          <a:effectRef idx="0">
            <a:schemeClr val="accent1"/>
          </a:effectRef>
          <a:fontRef idx="minor">
            <a:schemeClr val="dk1"/>
          </a:fontRef>
        </p:style>
        <p:txBody>
          <a:bodyPr vert="horz">
            <a:normAutofit lnSpcReduction="10000"/>
          </a:bodyPr>
          <a:lstStyle/>
          <a:p>
            <a:pPr marL="274320" marR="0" lvl="0" indent="-274320" algn="ctr" defTabSz="914400" rtl="0" eaLnBrk="1" fontAlgn="auto" latinLnBrk="0" hangingPunct="1">
              <a:lnSpc>
                <a:spcPct val="100000"/>
              </a:lnSpc>
              <a:spcBef>
                <a:spcPts val="580"/>
              </a:spcBef>
              <a:spcAft>
                <a:spcPts val="0"/>
              </a:spcAft>
              <a:buClr>
                <a:schemeClr val="accent1"/>
              </a:buClr>
              <a:buSzPct val="85000"/>
              <a:tabLst/>
              <a:defRPr/>
            </a:pPr>
            <a:endParaRPr kumimoji="0" lang="en-US" sz="2600" b="0" i="0" u="none" strike="noStrike" kern="1200" cap="none" spc="0" normalizeH="0" baseline="0" noProof="0" dirty="0">
              <a:ln>
                <a:noFill/>
              </a:ln>
              <a:solidFill>
                <a:schemeClr val="tx1"/>
              </a:solidFill>
              <a:effectLst/>
              <a:uLnTx/>
              <a:uFillTx/>
              <a:latin typeface="Calibri" pitchFamily="34" charset="0"/>
            </a:endParaRPr>
          </a:p>
          <a:p>
            <a:pPr marL="274320" lvl="0" indent="-274320">
              <a:spcBef>
                <a:spcPts val="580"/>
              </a:spcBef>
              <a:buClr>
                <a:schemeClr val="accent1"/>
              </a:buClr>
              <a:buSzPct val="85000"/>
              <a:buFont typeface="Arial" pitchFamily="34" charset="0"/>
              <a:buChar char="•"/>
              <a:defRPr/>
            </a:pPr>
            <a:r>
              <a:rPr kumimoji="0" lang="en-US" sz="2600" i="0" u="none" strike="noStrike" kern="1200" cap="none" spc="0" normalizeH="0" baseline="0" noProof="0" dirty="0">
                <a:ln>
                  <a:noFill/>
                </a:ln>
                <a:solidFill>
                  <a:schemeClr val="tx1"/>
                </a:solidFill>
                <a:effectLst/>
                <a:uLnTx/>
                <a:uFillTx/>
                <a:latin typeface="Calibri" pitchFamily="34" charset="0"/>
              </a:rPr>
              <a:t>1.1 Definition </a:t>
            </a:r>
          </a:p>
          <a:p>
            <a:pPr marL="274320" lvl="0" indent="-274320">
              <a:spcBef>
                <a:spcPts val="580"/>
              </a:spcBef>
              <a:buClr>
                <a:schemeClr val="accent1"/>
              </a:buClr>
              <a:buSzPct val="85000"/>
              <a:buFont typeface="Arial" pitchFamily="34" charset="0"/>
              <a:buChar char="•"/>
              <a:defRPr/>
            </a:pPr>
            <a:r>
              <a:rPr kumimoji="0" lang="en-US" sz="2600" i="0" u="none" strike="noStrike" kern="1200" cap="none" spc="0" normalizeH="0" baseline="0" noProof="0" dirty="0">
                <a:ln>
                  <a:noFill/>
                </a:ln>
                <a:solidFill>
                  <a:schemeClr val="tx1"/>
                </a:solidFill>
                <a:effectLst/>
                <a:uLnTx/>
                <a:uFillTx/>
                <a:latin typeface="Calibri" pitchFamily="34" charset="0"/>
              </a:rPr>
              <a:t>1.2 History of DC</a:t>
            </a:r>
          </a:p>
          <a:p>
            <a:pPr marL="274320" lvl="0" indent="-274320">
              <a:spcBef>
                <a:spcPts val="580"/>
              </a:spcBef>
              <a:buClr>
                <a:schemeClr val="accent1"/>
              </a:buClr>
              <a:buSzPct val="85000"/>
              <a:buFont typeface="Arial" pitchFamily="34" charset="0"/>
              <a:buChar char="•"/>
              <a:defRPr/>
            </a:pPr>
            <a:r>
              <a:rPr lang="en-US" sz="2600" b="1" dirty="0">
                <a:solidFill>
                  <a:schemeClr val="accent1"/>
                </a:solidFill>
                <a:latin typeface="Calibri" pitchFamily="34" charset="0"/>
              </a:rPr>
              <a:t> </a:t>
            </a:r>
            <a:r>
              <a:rPr kumimoji="0" lang="en-US" sz="2600" i="0" u="none" strike="noStrike" kern="1200" cap="none" spc="0" normalizeH="0" baseline="0" noProof="0" dirty="0">
                <a:ln>
                  <a:noFill/>
                </a:ln>
                <a:solidFill>
                  <a:schemeClr val="tx1"/>
                </a:solidFill>
                <a:effectLst/>
                <a:uLnTx/>
                <a:uFillTx/>
                <a:latin typeface="Calibri" pitchFamily="34" charset="0"/>
              </a:rPr>
              <a:t>1.3 Different forms of Computing</a:t>
            </a:r>
          </a:p>
          <a:p>
            <a:pPr marL="274320" lvl="0" indent="-274320">
              <a:spcBef>
                <a:spcPts val="580"/>
              </a:spcBef>
              <a:buClr>
                <a:schemeClr val="accent1"/>
              </a:buClr>
              <a:buSzPct val="85000"/>
              <a:buFont typeface="Arial" pitchFamily="34" charset="0"/>
              <a:buChar char="•"/>
              <a:defRPr/>
            </a:pPr>
            <a:r>
              <a:rPr lang="en-US" sz="2600" dirty="0">
                <a:solidFill>
                  <a:schemeClr val="tx1"/>
                </a:solidFill>
                <a:latin typeface="Calibri" pitchFamily="34" charset="0"/>
              </a:rPr>
              <a:t> 1.4 Strength &amp; Weakness</a:t>
            </a:r>
          </a:p>
          <a:p>
            <a:pPr marL="274320" lvl="0" indent="-274320">
              <a:spcBef>
                <a:spcPts val="580"/>
              </a:spcBef>
              <a:buClr>
                <a:schemeClr val="accent1"/>
              </a:buClr>
              <a:buSzPct val="85000"/>
              <a:buFont typeface="Arial" pitchFamily="34" charset="0"/>
              <a:buChar char="•"/>
              <a:defRPr/>
            </a:pPr>
            <a:r>
              <a:rPr lang="en-US" sz="2600" dirty="0">
                <a:solidFill>
                  <a:schemeClr val="tx1"/>
                </a:solidFill>
                <a:latin typeface="Calibri" pitchFamily="34" charset="0"/>
              </a:rPr>
              <a:t>1.5 Basics of OS</a:t>
            </a:r>
          </a:p>
          <a:p>
            <a:pPr marL="274320" lvl="0" indent="-274320">
              <a:spcBef>
                <a:spcPts val="580"/>
              </a:spcBef>
              <a:buClr>
                <a:schemeClr val="accent1"/>
              </a:buClr>
              <a:buSzPct val="85000"/>
              <a:buFont typeface="Arial" pitchFamily="34" charset="0"/>
              <a:buChar char="•"/>
              <a:defRPr/>
            </a:pPr>
            <a:r>
              <a:rPr lang="en-US" sz="2600" dirty="0">
                <a:solidFill>
                  <a:schemeClr val="tx1"/>
                </a:solidFill>
                <a:latin typeface="Calibri" pitchFamily="34" charset="0"/>
              </a:rPr>
              <a:t>1.6 Network Basics</a:t>
            </a:r>
          </a:p>
          <a:p>
            <a:pPr marL="274320" lvl="0" indent="-274320">
              <a:spcBef>
                <a:spcPts val="580"/>
              </a:spcBef>
              <a:buClr>
                <a:schemeClr val="accent1"/>
              </a:buClr>
              <a:buSzPct val="85000"/>
              <a:defRPr/>
            </a:pPr>
            <a:r>
              <a:rPr lang="en-US" sz="2600" b="1" dirty="0">
                <a:solidFill>
                  <a:schemeClr val="accent1"/>
                </a:solidFill>
                <a:latin typeface="Calibri" pitchFamily="34" charset="0"/>
              </a:rPr>
              <a:t>→ 1.7 Software Engineering Basics </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lang="en-US" sz="2600" dirty="0">
                <a:latin typeface="Calibri" pitchFamily="34" charset="0"/>
              </a:rPr>
              <a:t>1.8 The Architecture of Distributed Application. </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n-US" sz="2600" b="0" i="0" u="none" strike="noStrike" kern="1200" cap="none" spc="0" normalizeH="0" baseline="0" noProof="0" dirty="0">
              <a:ln>
                <a:noFill/>
              </a:ln>
              <a:solidFill>
                <a:schemeClr val="tx1"/>
              </a:solidFill>
              <a:effectLst/>
              <a:uLnTx/>
              <a:uFillTx/>
              <a:latin typeface="Calibri" pitchFamily="34" charset="0"/>
            </a:endParaRPr>
          </a:p>
        </p:txBody>
      </p:sp>
      <p:sp>
        <p:nvSpPr>
          <p:cNvPr id="6" name="TextBox 5"/>
          <p:cNvSpPr txBox="1"/>
          <p:nvPr/>
        </p:nvSpPr>
        <p:spPr>
          <a:xfrm>
            <a:off x="2667000" y="457200"/>
            <a:ext cx="4267200" cy="523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lgn="ctr">
              <a:buFontTx/>
              <a:buNone/>
              <a:defRPr/>
            </a:pPr>
            <a:r>
              <a:rPr lang="en-US" sz="2800" b="1" dirty="0">
                <a:effectLst>
                  <a:outerShdw blurRad="38100" dist="38100" dir="2700000" algn="tl">
                    <a:srgbClr val="000000">
                      <a:alpha val="43137"/>
                    </a:srgbClr>
                  </a:outerShdw>
                </a:effectLst>
                <a:latin typeface="Calibri" pitchFamily="34" charset="0"/>
              </a:rPr>
              <a:t>Roadmap</a:t>
            </a:r>
          </a:p>
        </p:txBody>
      </p:sp>
      <p:sp>
        <p:nvSpPr>
          <p:cNvPr id="7" name="Footer Placeholder 6"/>
          <p:cNvSpPr>
            <a:spLocks noGrp="1"/>
          </p:cNvSpPr>
          <p:nvPr>
            <p:ph type="ftr" sz="quarter" idx="11"/>
          </p:nvPr>
        </p:nvSpPr>
        <p:spPr/>
        <p:txBody>
          <a:bodyPr/>
          <a:lstStyle/>
          <a:p>
            <a:r>
              <a:rPr lang="en-US"/>
              <a:t>- Assistant  Prof. Riddhi Joshi</a:t>
            </a:r>
          </a:p>
        </p:txBody>
      </p:sp>
      <p:sp>
        <p:nvSpPr>
          <p:cNvPr id="4" name="Slide Number Placeholder 3"/>
          <p:cNvSpPr>
            <a:spLocks noGrp="1"/>
          </p:cNvSpPr>
          <p:nvPr>
            <p:ph type="sldNum" sz="quarter" idx="12"/>
          </p:nvPr>
        </p:nvSpPr>
        <p:spPr/>
        <p:txBody>
          <a:bodyPr/>
          <a:lstStyle/>
          <a:p>
            <a:fld id="{521E5947-19AD-4D38-BBE9-7D3EA973E689}" type="slidenum">
              <a:rPr lang="en-US" smtClean="0"/>
              <a:pPr/>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81000" y="1524000"/>
            <a:ext cx="8229600" cy="163121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Font typeface="Arial" pitchFamily="34" charset="0"/>
              <a:buChar char="•"/>
            </a:pPr>
            <a:r>
              <a:rPr lang="en-US" sz="2000" dirty="0">
                <a:latin typeface="Calibri" pitchFamily="34" charset="0"/>
              </a:rPr>
              <a:t>In procedural </a:t>
            </a:r>
            <a:r>
              <a:rPr lang="en-US" sz="2000" dirty="0" err="1">
                <a:latin typeface="Calibri" pitchFamily="34" charset="0"/>
              </a:rPr>
              <a:t>programing</a:t>
            </a:r>
            <a:r>
              <a:rPr lang="en-US" sz="2000" dirty="0">
                <a:latin typeface="Calibri" pitchFamily="34" charset="0"/>
              </a:rPr>
              <a:t> our code is </a:t>
            </a:r>
            <a:r>
              <a:rPr lang="en-US" sz="2000" dirty="0" err="1">
                <a:latin typeface="Calibri" pitchFamily="34" charset="0"/>
              </a:rPr>
              <a:t>organised</a:t>
            </a:r>
            <a:r>
              <a:rPr lang="en-US" sz="2000" dirty="0">
                <a:latin typeface="Calibri" pitchFamily="34" charset="0"/>
              </a:rPr>
              <a:t> into small "procedures" that use and change our data.</a:t>
            </a:r>
          </a:p>
          <a:p>
            <a:pPr>
              <a:buFont typeface="Arial" pitchFamily="34" charset="0"/>
              <a:buChar char="•"/>
            </a:pPr>
            <a:r>
              <a:rPr lang="en-US" sz="2000" dirty="0">
                <a:latin typeface="Calibri" pitchFamily="34" charset="0"/>
              </a:rPr>
              <a:t>we write our procedures as either custom tags or functions. These functions typically take some input, do something, then produce some output. </a:t>
            </a:r>
          </a:p>
          <a:p>
            <a:pPr>
              <a:buFont typeface="Arial" pitchFamily="34" charset="0"/>
              <a:buChar char="•"/>
            </a:pPr>
            <a:r>
              <a:rPr lang="en-US" sz="2000" dirty="0">
                <a:latin typeface="Calibri" pitchFamily="34" charset="0"/>
              </a:rPr>
              <a:t>E.g. C language.</a:t>
            </a:r>
          </a:p>
        </p:txBody>
      </p:sp>
      <p:sp>
        <p:nvSpPr>
          <p:cNvPr id="7" name="Title 1"/>
          <p:cNvSpPr>
            <a:spLocks noGrp="1"/>
          </p:cNvSpPr>
          <p:nvPr>
            <p:ph type="title"/>
          </p:nvPr>
        </p:nvSpPr>
        <p:spPr>
          <a:xfrm>
            <a:off x="914400" y="0"/>
            <a:ext cx="7772400" cy="563562"/>
          </a:xfrm>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500" b="1" dirty="0">
                <a:latin typeface="Calibri" pitchFamily="34" charset="0"/>
              </a:rPr>
              <a:t>1.7 S.E.  Basics</a:t>
            </a:r>
          </a:p>
        </p:txBody>
      </p:sp>
      <p:sp>
        <p:nvSpPr>
          <p:cNvPr id="8" name="Rectangle 7"/>
          <p:cNvSpPr/>
          <p:nvPr/>
        </p:nvSpPr>
        <p:spPr>
          <a:xfrm>
            <a:off x="838200" y="838200"/>
            <a:ext cx="4391972" cy="369332"/>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fontAlgn="base"/>
            <a:r>
              <a:rPr lang="en-US" b="1" dirty="0">
                <a:latin typeface="Calibri" pitchFamily="34" charset="0"/>
              </a:rPr>
              <a:t>Procedural </a:t>
            </a:r>
            <a:r>
              <a:rPr lang="en-US" b="1" dirty="0" err="1">
                <a:latin typeface="Calibri" pitchFamily="34" charset="0"/>
              </a:rPr>
              <a:t>vs</a:t>
            </a:r>
            <a:r>
              <a:rPr lang="en-US" b="1" dirty="0">
                <a:latin typeface="Calibri" pitchFamily="34" charset="0"/>
              </a:rPr>
              <a:t> Object Oriented Programming</a:t>
            </a:r>
          </a:p>
        </p:txBody>
      </p:sp>
      <p:sp>
        <p:nvSpPr>
          <p:cNvPr id="9" name="Rectangle 8"/>
          <p:cNvSpPr/>
          <p:nvPr/>
        </p:nvSpPr>
        <p:spPr>
          <a:xfrm>
            <a:off x="381000" y="3733800"/>
            <a:ext cx="8458200" cy="178510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Font typeface="Arial" pitchFamily="34" charset="0"/>
              <a:buChar char="•"/>
            </a:pPr>
            <a:r>
              <a:rPr lang="en-US" sz="2200" dirty="0">
                <a:latin typeface="Calibri" pitchFamily="34" charset="0"/>
              </a:rPr>
              <a:t>In object oriented programming, the data and related functions are </a:t>
            </a:r>
          </a:p>
          <a:p>
            <a:r>
              <a:rPr lang="en-US" sz="2200" dirty="0">
                <a:latin typeface="Calibri" pitchFamily="34" charset="0"/>
              </a:rPr>
              <a:t>  bundled together into an "object".</a:t>
            </a:r>
          </a:p>
          <a:p>
            <a:pPr>
              <a:buFont typeface="Arial" pitchFamily="34" charset="0"/>
              <a:buChar char="•"/>
            </a:pPr>
            <a:r>
              <a:rPr lang="en-US" sz="2200" dirty="0">
                <a:latin typeface="Calibri" pitchFamily="34" charset="0"/>
              </a:rPr>
              <a:t> Ideally, the data inside an object can only be manipulated by calling the </a:t>
            </a:r>
          </a:p>
          <a:p>
            <a:r>
              <a:rPr lang="en-US" sz="2200" dirty="0">
                <a:latin typeface="Calibri" pitchFamily="34" charset="0"/>
              </a:rPr>
              <a:t>  object's functions.</a:t>
            </a:r>
          </a:p>
          <a:p>
            <a:pPr>
              <a:buFont typeface="Arial" pitchFamily="34" charset="0"/>
              <a:buChar char="•"/>
            </a:pPr>
            <a:r>
              <a:rPr lang="en-US" sz="2200" dirty="0">
                <a:latin typeface="Calibri" pitchFamily="34" charset="0"/>
              </a:rPr>
              <a:t>E.g. JAVA</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914400" y="122238"/>
            <a:ext cx="7772400" cy="487362"/>
          </a:xfrm>
        </p:spPr>
        <p:style>
          <a:lnRef idx="2">
            <a:schemeClr val="accent1">
              <a:shade val="50000"/>
            </a:schemeClr>
          </a:lnRef>
          <a:fillRef idx="1">
            <a:schemeClr val="accent1"/>
          </a:fillRef>
          <a:effectRef idx="0">
            <a:schemeClr val="accent1"/>
          </a:effectRef>
          <a:fontRef idx="minor">
            <a:schemeClr val="lt1"/>
          </a:fontRef>
        </p:style>
        <p:txBody>
          <a:bodyPr>
            <a:noAutofit/>
          </a:bodyPr>
          <a:lstStyle/>
          <a:p>
            <a:pPr algn="ctr"/>
            <a:r>
              <a:rPr lang="en-US" sz="2200" b="1" dirty="0">
                <a:latin typeface="Calibri" pitchFamily="34" charset="0"/>
              </a:rPr>
              <a:t>Unified Modeling Language</a:t>
            </a:r>
          </a:p>
        </p:txBody>
      </p:sp>
      <p:sp>
        <p:nvSpPr>
          <p:cNvPr id="7" name="Rectangle 6"/>
          <p:cNvSpPr/>
          <p:nvPr/>
        </p:nvSpPr>
        <p:spPr>
          <a:xfrm>
            <a:off x="457200" y="1295400"/>
            <a:ext cx="8001000" cy="156966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400" dirty="0">
                <a:latin typeface="Calibri" pitchFamily="34" charset="0"/>
              </a:rPr>
              <a:t>The </a:t>
            </a:r>
            <a:r>
              <a:rPr lang="en-US" sz="2400" b="1" dirty="0">
                <a:latin typeface="Calibri" pitchFamily="34" charset="0"/>
              </a:rPr>
              <a:t>Unified Modeling Language</a:t>
            </a:r>
            <a:r>
              <a:rPr lang="en-US" sz="2400" dirty="0">
                <a:latin typeface="Calibri" pitchFamily="34" charset="0"/>
              </a:rPr>
              <a:t> (</a:t>
            </a:r>
            <a:r>
              <a:rPr lang="en-US" sz="2400" b="1" dirty="0">
                <a:latin typeface="Calibri" pitchFamily="34" charset="0"/>
              </a:rPr>
              <a:t>UML</a:t>
            </a:r>
            <a:r>
              <a:rPr lang="en-US" sz="2400" dirty="0">
                <a:latin typeface="Calibri" pitchFamily="34" charset="0"/>
              </a:rPr>
              <a:t>) is a general-purpose modeling language in the field of software engineering, which is designed to provide a standard way to visualize the design of a system</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457200" y="1295400"/>
            <a:ext cx="7239000" cy="4191000"/>
          </a:xfrm>
          <a:prstGeom prst="rect">
            <a:avLst/>
          </a:prstGeom>
        </p:spPr>
        <p:style>
          <a:lnRef idx="2">
            <a:schemeClr val="accent1"/>
          </a:lnRef>
          <a:fillRef idx="1">
            <a:schemeClr val="lt1"/>
          </a:fillRef>
          <a:effectRef idx="0">
            <a:schemeClr val="accent1"/>
          </a:effectRef>
          <a:fontRef idx="minor">
            <a:schemeClr val="dk1"/>
          </a:fontRef>
        </p:style>
        <p:txBody>
          <a:bodyPr vert="horz">
            <a:normAutofit lnSpcReduction="10000"/>
          </a:bodyPr>
          <a:lstStyle/>
          <a:p>
            <a:pPr marL="274320" marR="0" lvl="0" indent="-274320" algn="ctr" defTabSz="914400" rtl="0" eaLnBrk="1" fontAlgn="auto" latinLnBrk="0" hangingPunct="1">
              <a:lnSpc>
                <a:spcPct val="100000"/>
              </a:lnSpc>
              <a:spcBef>
                <a:spcPts val="580"/>
              </a:spcBef>
              <a:spcAft>
                <a:spcPts val="0"/>
              </a:spcAft>
              <a:buClr>
                <a:schemeClr val="accent1"/>
              </a:buClr>
              <a:buSzPct val="85000"/>
              <a:tabLst/>
              <a:defRPr/>
            </a:pPr>
            <a:endParaRPr kumimoji="0" lang="en-US" sz="2600" b="0" i="0" u="none" strike="noStrike" kern="1200" cap="none" spc="0" normalizeH="0" baseline="0" noProof="0" dirty="0">
              <a:ln>
                <a:noFill/>
              </a:ln>
              <a:solidFill>
                <a:schemeClr val="tx1"/>
              </a:solidFill>
              <a:effectLst/>
              <a:uLnTx/>
              <a:uFillTx/>
              <a:latin typeface="Calibri" pitchFamily="34" charset="0"/>
            </a:endParaRPr>
          </a:p>
          <a:p>
            <a:pPr marL="274320" lvl="0" indent="-274320">
              <a:spcBef>
                <a:spcPts val="580"/>
              </a:spcBef>
              <a:buClr>
                <a:schemeClr val="accent1"/>
              </a:buClr>
              <a:buSzPct val="85000"/>
              <a:buFont typeface="Arial" pitchFamily="34" charset="0"/>
              <a:buChar char="•"/>
              <a:defRPr/>
            </a:pPr>
            <a:r>
              <a:rPr kumimoji="0" lang="en-US" sz="2600" i="0" u="none" strike="noStrike" kern="1200" cap="none" spc="0" normalizeH="0" baseline="0" noProof="0" dirty="0">
                <a:ln>
                  <a:noFill/>
                </a:ln>
                <a:solidFill>
                  <a:schemeClr val="tx1"/>
                </a:solidFill>
                <a:effectLst/>
                <a:uLnTx/>
                <a:uFillTx/>
                <a:latin typeface="Calibri" pitchFamily="34" charset="0"/>
              </a:rPr>
              <a:t>1.1 Definition </a:t>
            </a:r>
          </a:p>
          <a:p>
            <a:pPr marL="274320" lvl="0" indent="-274320">
              <a:spcBef>
                <a:spcPts val="580"/>
              </a:spcBef>
              <a:buClr>
                <a:schemeClr val="accent1"/>
              </a:buClr>
              <a:buSzPct val="85000"/>
              <a:buFont typeface="Arial" pitchFamily="34" charset="0"/>
              <a:buChar char="•"/>
              <a:defRPr/>
            </a:pPr>
            <a:r>
              <a:rPr kumimoji="0" lang="en-US" sz="2600" i="0" u="none" strike="noStrike" kern="1200" cap="none" spc="0" normalizeH="0" baseline="0" noProof="0" dirty="0">
                <a:ln>
                  <a:noFill/>
                </a:ln>
                <a:solidFill>
                  <a:schemeClr val="tx1"/>
                </a:solidFill>
                <a:effectLst/>
                <a:uLnTx/>
                <a:uFillTx/>
                <a:latin typeface="Calibri" pitchFamily="34" charset="0"/>
              </a:rPr>
              <a:t>1.2 History of DC</a:t>
            </a:r>
          </a:p>
          <a:p>
            <a:pPr marL="274320" lvl="0" indent="-274320">
              <a:spcBef>
                <a:spcPts val="580"/>
              </a:spcBef>
              <a:buClr>
                <a:schemeClr val="accent1"/>
              </a:buClr>
              <a:buSzPct val="85000"/>
              <a:buFont typeface="Arial" pitchFamily="34" charset="0"/>
              <a:buChar char="•"/>
              <a:defRPr/>
            </a:pPr>
            <a:r>
              <a:rPr lang="en-US" sz="2600" b="1" dirty="0">
                <a:solidFill>
                  <a:schemeClr val="accent1"/>
                </a:solidFill>
                <a:latin typeface="Calibri" pitchFamily="34" charset="0"/>
              </a:rPr>
              <a:t> </a:t>
            </a:r>
            <a:r>
              <a:rPr kumimoji="0" lang="en-US" sz="2600" i="0" u="none" strike="noStrike" kern="1200" cap="none" spc="0" normalizeH="0" baseline="0" noProof="0" dirty="0">
                <a:ln>
                  <a:noFill/>
                </a:ln>
                <a:solidFill>
                  <a:schemeClr val="tx1"/>
                </a:solidFill>
                <a:effectLst/>
                <a:uLnTx/>
                <a:uFillTx/>
                <a:latin typeface="Calibri" pitchFamily="34" charset="0"/>
              </a:rPr>
              <a:t>1.3 Different forms of Computing</a:t>
            </a:r>
          </a:p>
          <a:p>
            <a:pPr marL="274320" lvl="0" indent="-274320">
              <a:spcBef>
                <a:spcPts val="580"/>
              </a:spcBef>
              <a:buClr>
                <a:schemeClr val="accent1"/>
              </a:buClr>
              <a:buSzPct val="85000"/>
              <a:buFont typeface="Arial" pitchFamily="34" charset="0"/>
              <a:buChar char="•"/>
              <a:defRPr/>
            </a:pPr>
            <a:r>
              <a:rPr lang="en-US" sz="2600" dirty="0">
                <a:solidFill>
                  <a:schemeClr val="tx1"/>
                </a:solidFill>
                <a:latin typeface="Calibri" pitchFamily="34" charset="0"/>
              </a:rPr>
              <a:t> 1.4 Strength &amp; Weakness</a:t>
            </a:r>
          </a:p>
          <a:p>
            <a:pPr marL="274320" lvl="0" indent="-274320">
              <a:spcBef>
                <a:spcPts val="580"/>
              </a:spcBef>
              <a:buClr>
                <a:schemeClr val="accent1"/>
              </a:buClr>
              <a:buSzPct val="85000"/>
              <a:buFont typeface="Arial" pitchFamily="34" charset="0"/>
              <a:buChar char="•"/>
              <a:defRPr/>
            </a:pPr>
            <a:r>
              <a:rPr lang="en-US" sz="2600" dirty="0">
                <a:solidFill>
                  <a:schemeClr val="tx1"/>
                </a:solidFill>
                <a:latin typeface="Calibri" pitchFamily="34" charset="0"/>
              </a:rPr>
              <a:t>1.5 Basics of OS</a:t>
            </a:r>
          </a:p>
          <a:p>
            <a:pPr marL="274320" lvl="0" indent="-274320">
              <a:spcBef>
                <a:spcPts val="580"/>
              </a:spcBef>
              <a:buClr>
                <a:schemeClr val="accent1"/>
              </a:buClr>
              <a:buSzPct val="85000"/>
              <a:buFont typeface="Arial" pitchFamily="34" charset="0"/>
              <a:buChar char="•"/>
              <a:defRPr/>
            </a:pPr>
            <a:r>
              <a:rPr lang="en-US" sz="2600" dirty="0">
                <a:solidFill>
                  <a:schemeClr val="tx1"/>
                </a:solidFill>
                <a:latin typeface="Calibri" pitchFamily="34" charset="0"/>
              </a:rPr>
              <a:t>1.6 Network Basics</a:t>
            </a:r>
          </a:p>
          <a:p>
            <a:pPr marL="274320" lvl="0" indent="-274320">
              <a:spcBef>
                <a:spcPts val="580"/>
              </a:spcBef>
              <a:buClr>
                <a:schemeClr val="accent1"/>
              </a:buClr>
              <a:buSzPct val="85000"/>
              <a:buFont typeface="Arial" pitchFamily="34" charset="0"/>
              <a:buChar char="•"/>
              <a:defRPr/>
            </a:pPr>
            <a:r>
              <a:rPr lang="en-US" sz="2600" dirty="0">
                <a:solidFill>
                  <a:schemeClr val="tx1"/>
                </a:solidFill>
                <a:latin typeface="Calibri" pitchFamily="34" charset="0"/>
              </a:rPr>
              <a:t>1.7 Software Engineering Basics </a:t>
            </a:r>
          </a:p>
          <a:p>
            <a:pPr marL="274320" lvl="0" indent="-274320">
              <a:spcBef>
                <a:spcPts val="580"/>
              </a:spcBef>
              <a:buClr>
                <a:schemeClr val="accent1"/>
              </a:buClr>
              <a:buSzPct val="85000"/>
              <a:defRPr/>
            </a:pPr>
            <a:r>
              <a:rPr lang="en-US" sz="2600" b="1" dirty="0">
                <a:solidFill>
                  <a:schemeClr val="accent1"/>
                </a:solidFill>
                <a:latin typeface="Calibri" pitchFamily="34" charset="0"/>
              </a:rPr>
              <a:t>→ 1.8 The Architecture of Distributed Application. </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n-US" sz="2600" b="0" i="0" u="none" strike="noStrike" kern="1200" cap="none" spc="0" normalizeH="0" baseline="0" noProof="0" dirty="0">
              <a:ln>
                <a:noFill/>
              </a:ln>
              <a:solidFill>
                <a:schemeClr val="tx1"/>
              </a:solidFill>
              <a:effectLst/>
              <a:uLnTx/>
              <a:uFillTx/>
              <a:latin typeface="Calibri" pitchFamily="34" charset="0"/>
            </a:endParaRPr>
          </a:p>
        </p:txBody>
      </p:sp>
      <p:sp>
        <p:nvSpPr>
          <p:cNvPr id="6" name="TextBox 5"/>
          <p:cNvSpPr txBox="1"/>
          <p:nvPr/>
        </p:nvSpPr>
        <p:spPr>
          <a:xfrm>
            <a:off x="2667000" y="457200"/>
            <a:ext cx="4267200" cy="523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lgn="ctr">
              <a:buFontTx/>
              <a:buNone/>
              <a:defRPr/>
            </a:pPr>
            <a:r>
              <a:rPr lang="en-US" sz="2800" b="1" dirty="0">
                <a:effectLst>
                  <a:outerShdw blurRad="38100" dist="38100" dir="2700000" algn="tl">
                    <a:srgbClr val="000000">
                      <a:alpha val="43137"/>
                    </a:srgbClr>
                  </a:outerShdw>
                </a:effectLst>
                <a:latin typeface="Calibri" pitchFamily="34" charset="0"/>
              </a:rPr>
              <a:t>Roadmap</a:t>
            </a:r>
          </a:p>
        </p:txBody>
      </p:sp>
      <p:sp>
        <p:nvSpPr>
          <p:cNvPr id="7" name="Footer Placeholder 6"/>
          <p:cNvSpPr>
            <a:spLocks noGrp="1"/>
          </p:cNvSpPr>
          <p:nvPr>
            <p:ph type="ftr" sz="quarter" idx="11"/>
          </p:nvPr>
        </p:nvSpPr>
        <p:spPr/>
        <p:txBody>
          <a:bodyPr/>
          <a:lstStyle/>
          <a:p>
            <a:r>
              <a:rPr lang="en-US"/>
              <a:t>- Assistant  Prof. Riddhi Joshi</a:t>
            </a:r>
          </a:p>
        </p:txBody>
      </p:sp>
      <p:sp>
        <p:nvSpPr>
          <p:cNvPr id="4" name="Slide Number Placeholder 3"/>
          <p:cNvSpPr>
            <a:spLocks noGrp="1"/>
          </p:cNvSpPr>
          <p:nvPr>
            <p:ph type="sldNum" sz="quarter" idx="12"/>
          </p:nvPr>
        </p:nvSpPr>
        <p:spPr/>
        <p:txBody>
          <a:bodyPr/>
          <a:lstStyle/>
          <a:p>
            <a:fld id="{521E5947-19AD-4D38-BBE9-7D3EA973E689}" type="slidenum">
              <a:rPr lang="en-US" smtClean="0"/>
              <a:pPr/>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22238"/>
            <a:ext cx="7772400" cy="487362"/>
          </a:xfrm>
        </p:spPr>
        <p:style>
          <a:lnRef idx="2">
            <a:schemeClr val="accent1">
              <a:shade val="50000"/>
            </a:schemeClr>
          </a:lnRef>
          <a:fillRef idx="1">
            <a:schemeClr val="accent1"/>
          </a:fillRef>
          <a:effectRef idx="0">
            <a:schemeClr val="accent1"/>
          </a:effectRef>
          <a:fontRef idx="minor">
            <a:schemeClr val="lt1"/>
          </a:fontRef>
        </p:style>
        <p:txBody>
          <a:bodyPr>
            <a:noAutofit/>
          </a:bodyPr>
          <a:lstStyle/>
          <a:p>
            <a:pPr algn="ctr"/>
            <a:r>
              <a:rPr lang="en-US" sz="2600" b="1" dirty="0">
                <a:latin typeface="Calibri" pitchFamily="34" charset="0"/>
              </a:rPr>
              <a:t>1.8 Architecture of Distributed Application</a:t>
            </a:r>
          </a:p>
        </p:txBody>
      </p:sp>
      <p:sp>
        <p:nvSpPr>
          <p:cNvPr id="4" name="Content Placeholder 3"/>
          <p:cNvSpPr>
            <a:spLocks noGrp="1"/>
          </p:cNvSpPr>
          <p:nvPr>
            <p:ph idx="1"/>
          </p:nvPr>
        </p:nvSpPr>
        <p:spPr>
          <a:xfrm>
            <a:off x="76200" y="914400"/>
            <a:ext cx="8915400" cy="838200"/>
          </a:xfrm>
        </p:spPr>
        <p:style>
          <a:lnRef idx="2">
            <a:schemeClr val="accent1"/>
          </a:lnRef>
          <a:fillRef idx="1">
            <a:schemeClr val="lt1"/>
          </a:fillRef>
          <a:effectRef idx="0">
            <a:schemeClr val="accent1"/>
          </a:effectRef>
          <a:fontRef idx="minor">
            <a:schemeClr val="dk1"/>
          </a:fontRef>
        </p:style>
        <p:txBody>
          <a:bodyPr>
            <a:noAutofit/>
          </a:bodyPr>
          <a:lstStyle/>
          <a:p>
            <a:r>
              <a:rPr lang="en-US" sz="2300" dirty="0">
                <a:latin typeface="Calibri" pitchFamily="34" charset="0"/>
              </a:rPr>
              <a:t>The idea of using a multilayer architecture to organize the functionalities of data network can applied to distributed applications.</a:t>
            </a:r>
          </a:p>
        </p:txBody>
      </p:sp>
      <p:sp>
        <p:nvSpPr>
          <p:cNvPr id="3" name="Footer Placeholder 2"/>
          <p:cNvSpPr>
            <a:spLocks noGrp="1"/>
          </p:cNvSpPr>
          <p:nvPr>
            <p:ph type="ftr" sz="quarter" idx="11"/>
          </p:nvPr>
        </p:nvSpPr>
        <p:spPr/>
        <p:txBody>
          <a:bodyPr/>
          <a:lstStyle/>
          <a:p>
            <a:r>
              <a:rPr lang="en-US"/>
              <a:t>- Assistant  Prof. Riddhi Joshi</a:t>
            </a:r>
          </a:p>
        </p:txBody>
      </p:sp>
      <p:sp>
        <p:nvSpPr>
          <p:cNvPr id="12" name="Slide Number Placeholder 11"/>
          <p:cNvSpPr>
            <a:spLocks noGrp="1"/>
          </p:cNvSpPr>
          <p:nvPr>
            <p:ph type="sldNum" sz="quarter" idx="12"/>
          </p:nvPr>
        </p:nvSpPr>
        <p:spPr/>
        <p:txBody>
          <a:bodyPr/>
          <a:lstStyle/>
          <a:p>
            <a:fld id="{521E5947-19AD-4D38-BBE9-7D3EA973E689}" type="slidenum">
              <a:rPr lang="en-US" smtClean="0"/>
              <a:pPr/>
              <a:t>124</a:t>
            </a:fld>
            <a:endParaRPr lang="en-US"/>
          </a:p>
        </p:txBody>
      </p:sp>
      <p:sp>
        <p:nvSpPr>
          <p:cNvPr id="5" name="Rectangle 4"/>
          <p:cNvSpPr/>
          <p:nvPr/>
        </p:nvSpPr>
        <p:spPr>
          <a:xfrm>
            <a:off x="2362200" y="2971800"/>
            <a:ext cx="4343400"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p:cNvSpPr txBox="1"/>
          <p:nvPr/>
        </p:nvSpPr>
        <p:spPr>
          <a:xfrm>
            <a:off x="2819400" y="3124200"/>
            <a:ext cx="3581400" cy="381000"/>
          </a:xfrm>
          <a:prstGeom prst="rect">
            <a:avLst/>
          </a:prstGeom>
          <a:noFill/>
        </p:spPr>
        <p:txBody>
          <a:bodyPr wrap="square" rtlCol="0">
            <a:spAutoFit/>
          </a:bodyPr>
          <a:lstStyle/>
          <a:p>
            <a:pPr algn="ctr"/>
            <a:r>
              <a:rPr lang="en-US" b="1" dirty="0"/>
              <a:t>Presentation</a:t>
            </a:r>
          </a:p>
        </p:txBody>
      </p:sp>
      <p:sp>
        <p:nvSpPr>
          <p:cNvPr id="7" name="Rectangle 6"/>
          <p:cNvSpPr/>
          <p:nvPr/>
        </p:nvSpPr>
        <p:spPr>
          <a:xfrm>
            <a:off x="2362200" y="3581400"/>
            <a:ext cx="4343400" cy="6096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TextBox 7"/>
          <p:cNvSpPr txBox="1"/>
          <p:nvPr/>
        </p:nvSpPr>
        <p:spPr>
          <a:xfrm>
            <a:off x="2819400" y="3733800"/>
            <a:ext cx="3581400" cy="381000"/>
          </a:xfrm>
          <a:prstGeom prst="rect">
            <a:avLst/>
          </a:prstGeom>
          <a:noFill/>
        </p:spPr>
        <p:txBody>
          <a:bodyPr wrap="square" rtlCol="0">
            <a:spAutoFit/>
          </a:bodyPr>
          <a:lstStyle/>
          <a:p>
            <a:pPr algn="ctr"/>
            <a:r>
              <a:rPr lang="en-US" b="1" dirty="0"/>
              <a:t>Application (Business) Logic</a:t>
            </a:r>
          </a:p>
        </p:txBody>
      </p:sp>
      <p:sp>
        <p:nvSpPr>
          <p:cNvPr id="9" name="Rectangle 8"/>
          <p:cNvSpPr/>
          <p:nvPr/>
        </p:nvSpPr>
        <p:spPr>
          <a:xfrm>
            <a:off x="2362200" y="4191000"/>
            <a:ext cx="4343400" cy="6096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0" name="TextBox 9"/>
          <p:cNvSpPr txBox="1"/>
          <p:nvPr/>
        </p:nvSpPr>
        <p:spPr>
          <a:xfrm>
            <a:off x="2819400" y="4343400"/>
            <a:ext cx="3581400" cy="381000"/>
          </a:xfrm>
          <a:prstGeom prst="rect">
            <a:avLst/>
          </a:prstGeom>
          <a:noFill/>
        </p:spPr>
        <p:txBody>
          <a:bodyPr wrap="square" rtlCol="0">
            <a:spAutoFit/>
          </a:bodyPr>
          <a:lstStyle/>
          <a:p>
            <a:pPr algn="ctr"/>
            <a:r>
              <a:rPr lang="en-US" b="1" dirty="0"/>
              <a:t>Services</a:t>
            </a:r>
          </a:p>
        </p:txBody>
      </p:sp>
      <p:sp>
        <p:nvSpPr>
          <p:cNvPr id="11" name="TextBox 10"/>
          <p:cNvSpPr txBox="1"/>
          <p:nvPr/>
        </p:nvSpPr>
        <p:spPr>
          <a:xfrm>
            <a:off x="2804372" y="5036718"/>
            <a:ext cx="3825027"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Calibri" pitchFamily="34" charset="0"/>
              </a:rPr>
              <a:t>The architecture of distributed applications</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914400" y="122238"/>
            <a:ext cx="7772400" cy="487362"/>
          </a:xfrm>
        </p:spPr>
        <p:style>
          <a:lnRef idx="2">
            <a:schemeClr val="accent1">
              <a:shade val="50000"/>
            </a:schemeClr>
          </a:lnRef>
          <a:fillRef idx="1">
            <a:schemeClr val="accent1"/>
          </a:fillRef>
          <a:effectRef idx="0">
            <a:schemeClr val="accent1"/>
          </a:effectRef>
          <a:fontRef idx="minor">
            <a:schemeClr val="lt1"/>
          </a:fontRef>
        </p:style>
        <p:txBody>
          <a:bodyPr>
            <a:noAutofit/>
          </a:bodyPr>
          <a:lstStyle/>
          <a:p>
            <a:pPr algn="ctr"/>
            <a:r>
              <a:rPr lang="en-US" sz="2600" b="1" dirty="0">
                <a:latin typeface="Calibri" pitchFamily="34" charset="0"/>
              </a:rPr>
              <a:t>1.8 Architecture of Distributed Application</a:t>
            </a:r>
          </a:p>
        </p:txBody>
      </p:sp>
      <p:sp>
        <p:nvSpPr>
          <p:cNvPr id="4" name="Content Placeholder 3"/>
          <p:cNvSpPr>
            <a:spLocks noGrp="1"/>
          </p:cNvSpPr>
          <p:nvPr>
            <p:ph idx="1"/>
          </p:nvPr>
        </p:nvSpPr>
        <p:spPr>
          <a:xfrm>
            <a:off x="76200" y="762000"/>
            <a:ext cx="8915400" cy="5181600"/>
          </a:xfrm>
        </p:spPr>
        <p:style>
          <a:lnRef idx="2">
            <a:schemeClr val="accent1"/>
          </a:lnRef>
          <a:fillRef idx="1">
            <a:schemeClr val="lt1"/>
          </a:fillRef>
          <a:effectRef idx="0">
            <a:schemeClr val="accent1"/>
          </a:effectRef>
          <a:fontRef idx="minor">
            <a:schemeClr val="dk1"/>
          </a:fontRef>
        </p:style>
        <p:txBody>
          <a:bodyPr>
            <a:noAutofit/>
          </a:bodyPr>
          <a:lstStyle/>
          <a:p>
            <a:r>
              <a:rPr lang="en-US" sz="2200" dirty="0">
                <a:latin typeface="Calibri" pitchFamily="34" charset="0"/>
              </a:rPr>
              <a:t>Presentation Layer: This layer provides the user interface. For example, if the application is a shopping cart, this layer generates the set of web pages that are viewable by a shopper using a browser.</a:t>
            </a:r>
          </a:p>
          <a:p>
            <a:r>
              <a:rPr lang="en-US" sz="2200" dirty="0">
                <a:latin typeface="Calibri" pitchFamily="34" charset="0"/>
              </a:rPr>
              <a:t>Application Layer: This layer provides the computation for the application. This layer is also called the business logic layer for enterprise applications. In a shopping cart application, this layer is responsible for such tasks as credit verification and computing the dollar amounts of the orders, sales tax, and delivery cost.</a:t>
            </a:r>
          </a:p>
          <a:p>
            <a:r>
              <a:rPr lang="en-US" sz="2200">
                <a:latin typeface="Calibri" pitchFamily="34" charset="0"/>
              </a:rPr>
              <a:t>Service </a:t>
            </a:r>
            <a:r>
              <a:rPr lang="en-US" sz="2200" dirty="0">
                <a:latin typeface="Calibri" pitchFamily="34" charset="0"/>
              </a:rPr>
              <a:t>Layer: This layer provides the underlying services needed to support the functionalities of the top layers. Services may include data access facilities, directory services for name lookups, and inter process communication.</a:t>
            </a:r>
          </a:p>
          <a:p>
            <a:endParaRPr lang="en-US" sz="2200" dirty="0">
              <a:latin typeface="Calibri" pitchFamily="34" charset="0"/>
            </a:endParaRPr>
          </a:p>
        </p:txBody>
      </p:sp>
      <p:sp>
        <p:nvSpPr>
          <p:cNvPr id="3" name="Footer Placeholder 2"/>
          <p:cNvSpPr>
            <a:spLocks noGrp="1"/>
          </p:cNvSpPr>
          <p:nvPr>
            <p:ph type="ftr" sz="quarter" idx="11"/>
          </p:nvPr>
        </p:nvSpPr>
        <p:spPr/>
        <p:txBody>
          <a:bodyPr/>
          <a:lstStyle/>
          <a:p>
            <a:r>
              <a:rPr lang="en-US"/>
              <a:t>- Assistant  Prof. Riddhi Joshi</a:t>
            </a:r>
          </a:p>
        </p:txBody>
      </p:sp>
      <p:sp>
        <p:nvSpPr>
          <p:cNvPr id="5" name="Slide Number Placeholder 4"/>
          <p:cNvSpPr>
            <a:spLocks noGrp="1"/>
          </p:cNvSpPr>
          <p:nvPr>
            <p:ph type="sldNum" sz="quarter" idx="12"/>
          </p:nvPr>
        </p:nvSpPr>
        <p:spPr/>
        <p:txBody>
          <a:bodyPr/>
          <a:lstStyle/>
          <a:p>
            <a:fld id="{521E5947-19AD-4D38-BBE9-7D3EA973E689}" type="slidenum">
              <a:rPr lang="en-US" smtClean="0"/>
              <a:pPr/>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496E92B-3B6A-164F-74C9-0D2A987012D3}"/>
              </a:ext>
            </a:extLst>
          </p:cNvPr>
          <p:cNvSpPr>
            <a:spLocks noGrp="1"/>
          </p:cNvSpPr>
          <p:nvPr>
            <p:ph type="ftr" sz="quarter" idx="11"/>
          </p:nvPr>
        </p:nvSpPr>
        <p:spPr/>
        <p:txBody>
          <a:bodyPr/>
          <a:lstStyle/>
          <a:p>
            <a:r>
              <a:rPr lang="en-US"/>
              <a:t>- Assistant  Prof. Riddhi Joshi</a:t>
            </a:r>
          </a:p>
        </p:txBody>
      </p:sp>
      <p:sp>
        <p:nvSpPr>
          <p:cNvPr id="4" name="Slide Number Placeholder 3">
            <a:extLst>
              <a:ext uri="{FF2B5EF4-FFF2-40B4-BE49-F238E27FC236}">
                <a16:creationId xmlns:a16="http://schemas.microsoft.com/office/drawing/2014/main" id="{189871EE-B059-8463-7DD4-0233E3790782}"/>
              </a:ext>
            </a:extLst>
          </p:cNvPr>
          <p:cNvSpPr>
            <a:spLocks noGrp="1"/>
          </p:cNvSpPr>
          <p:nvPr>
            <p:ph type="sldNum" sz="quarter" idx="12"/>
          </p:nvPr>
        </p:nvSpPr>
        <p:spPr/>
        <p:txBody>
          <a:bodyPr/>
          <a:lstStyle/>
          <a:p>
            <a:fld id="{521E5947-19AD-4D38-BBE9-7D3EA973E689}" type="slidenum">
              <a:rPr lang="en-US" smtClean="0"/>
              <a:pPr/>
              <a:t>126</a:t>
            </a:fld>
            <a:endParaRPr lang="en-US"/>
          </a:p>
        </p:txBody>
      </p:sp>
      <p:sp>
        <p:nvSpPr>
          <p:cNvPr id="5" name="TextBox 4">
            <a:extLst>
              <a:ext uri="{FF2B5EF4-FFF2-40B4-BE49-F238E27FC236}">
                <a16:creationId xmlns:a16="http://schemas.microsoft.com/office/drawing/2014/main" id="{73813E18-E21F-6400-9134-0F9E50FC6C2A}"/>
              </a:ext>
            </a:extLst>
          </p:cNvPr>
          <p:cNvSpPr txBox="1"/>
          <p:nvPr/>
        </p:nvSpPr>
        <p:spPr>
          <a:xfrm>
            <a:off x="21770" y="0"/>
            <a:ext cx="9122229" cy="584775"/>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buFontTx/>
              <a:buNone/>
              <a:defRPr/>
            </a:pPr>
            <a:r>
              <a:rPr lang="en-US" sz="3200" b="1" dirty="0">
                <a:effectLst>
                  <a:outerShdw blurRad="38100" dist="38100" dir="2700000" algn="tl">
                    <a:srgbClr val="000000">
                      <a:alpha val="43137"/>
                    </a:srgbClr>
                  </a:outerShdw>
                </a:effectLst>
                <a:latin typeface="Calibri" pitchFamily="34" charset="0"/>
              </a:rPr>
              <a:t>Roadmap part-2</a:t>
            </a:r>
          </a:p>
        </p:txBody>
      </p:sp>
      <p:sp>
        <p:nvSpPr>
          <p:cNvPr id="6" name="Subtitle 2">
            <a:extLst>
              <a:ext uri="{FF2B5EF4-FFF2-40B4-BE49-F238E27FC236}">
                <a16:creationId xmlns:a16="http://schemas.microsoft.com/office/drawing/2014/main" id="{559D3B77-018F-86BB-CA45-50DA044389E5}"/>
              </a:ext>
            </a:extLst>
          </p:cNvPr>
          <p:cNvSpPr txBox="1">
            <a:spLocks/>
          </p:cNvSpPr>
          <p:nvPr/>
        </p:nvSpPr>
        <p:spPr>
          <a:xfrm>
            <a:off x="533400" y="1333500"/>
            <a:ext cx="7239000" cy="4191000"/>
          </a:xfrm>
          <a:prstGeom prst="rect">
            <a:avLst/>
          </a:prstGeom>
        </p:spPr>
        <p:style>
          <a:lnRef idx="2">
            <a:schemeClr val="accent1"/>
          </a:lnRef>
          <a:fillRef idx="1">
            <a:schemeClr val="lt1"/>
          </a:fillRef>
          <a:effectRef idx="0">
            <a:schemeClr val="accent1"/>
          </a:effectRef>
          <a:fontRef idx="minor">
            <a:schemeClr val="dk1"/>
          </a:fontRef>
        </p:style>
        <p:txBody>
          <a:bodyPr vert="horz">
            <a:normAutofit/>
          </a:bodyPr>
          <a:lstStyle/>
          <a:p>
            <a:pPr marL="274320" marR="0" lvl="0" indent="-274320" algn="ctr" defTabSz="914400" rtl="0" eaLnBrk="1" fontAlgn="auto" latinLnBrk="0" hangingPunct="1">
              <a:lnSpc>
                <a:spcPct val="100000"/>
              </a:lnSpc>
              <a:spcBef>
                <a:spcPts val="580"/>
              </a:spcBef>
              <a:spcAft>
                <a:spcPts val="0"/>
              </a:spcAft>
              <a:buClr>
                <a:schemeClr val="accent1"/>
              </a:buClr>
              <a:buSzPct val="85000"/>
              <a:tabLst/>
              <a:defRPr/>
            </a:pPr>
            <a:endParaRPr kumimoji="0" lang="en-US" sz="2500" b="0" i="0" u="none" strike="noStrike" kern="1200" cap="none" spc="0" normalizeH="0" baseline="0" noProof="0" dirty="0">
              <a:ln>
                <a:noFill/>
              </a:ln>
              <a:solidFill>
                <a:schemeClr val="tx1"/>
              </a:solidFill>
              <a:effectLst/>
              <a:uLnTx/>
              <a:uFillTx/>
              <a:latin typeface="Cambria" pitchFamily="18" charset="0"/>
            </a:endParaRPr>
          </a:p>
          <a:p>
            <a:pPr marL="274320" lvl="0" indent="-274320">
              <a:spcBef>
                <a:spcPts val="580"/>
              </a:spcBef>
              <a:buClr>
                <a:schemeClr val="accent1"/>
              </a:buClr>
              <a:buSzPct val="85000"/>
              <a:defRPr/>
            </a:pPr>
            <a:r>
              <a:rPr lang="en-US" sz="2500" b="1" dirty="0">
                <a:solidFill>
                  <a:schemeClr val="accent1"/>
                </a:solidFill>
                <a:latin typeface="Cambria" pitchFamily="18" charset="0"/>
              </a:rPr>
              <a:t>Paradigms and Abstraction</a:t>
            </a:r>
          </a:p>
          <a:p>
            <a:pPr lvl="0">
              <a:spcBef>
                <a:spcPts val="580"/>
              </a:spcBef>
              <a:buClr>
                <a:schemeClr val="accent1"/>
              </a:buClr>
              <a:buSzPct val="85000"/>
              <a:defRPr/>
            </a:pPr>
            <a:r>
              <a:rPr lang="en-US" sz="2500" dirty="0">
                <a:solidFill>
                  <a:schemeClr val="tx1"/>
                </a:solidFill>
                <a:latin typeface="Cambria" pitchFamily="18" charset="0"/>
              </a:rPr>
              <a:t>Paradigms for Distributed Applications</a:t>
            </a:r>
          </a:p>
        </p:txBody>
      </p:sp>
    </p:spTree>
    <p:extLst>
      <p:ext uri="{BB962C8B-B14F-4D97-AF65-F5344CB8AC3E}">
        <p14:creationId xmlns:p14="http://schemas.microsoft.com/office/powerpoint/2010/main" val="24551696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76200"/>
            <a:ext cx="7772400" cy="609600"/>
          </a:xfrm>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effectLst>
                  <a:outerShdw blurRad="38100" dist="38100" dir="2700000" algn="tl">
                    <a:srgbClr val="000000">
                      <a:alpha val="43137"/>
                    </a:srgbClr>
                  </a:outerShdw>
                </a:effectLst>
                <a:latin typeface="Calibri" pitchFamily="34" charset="0"/>
              </a:rPr>
              <a:t>Introduction</a:t>
            </a:r>
          </a:p>
        </p:txBody>
      </p:sp>
      <p:sp>
        <p:nvSpPr>
          <p:cNvPr id="3" name="Content Placeholder 2"/>
          <p:cNvSpPr>
            <a:spLocks noGrp="1"/>
          </p:cNvSpPr>
          <p:nvPr>
            <p:ph sz="quarter" idx="1"/>
          </p:nvPr>
        </p:nvSpPr>
        <p:spPr>
          <a:xfrm>
            <a:off x="304800" y="838200"/>
            <a:ext cx="8686800" cy="4495800"/>
          </a:xfrm>
        </p:spPr>
        <p:style>
          <a:lnRef idx="2">
            <a:schemeClr val="accent1"/>
          </a:lnRef>
          <a:fillRef idx="1">
            <a:schemeClr val="lt1"/>
          </a:fillRef>
          <a:effectRef idx="0">
            <a:schemeClr val="accent1"/>
          </a:effectRef>
          <a:fontRef idx="minor">
            <a:schemeClr val="dk1"/>
          </a:fontRef>
        </p:style>
        <p:txBody>
          <a:bodyPr>
            <a:noAutofit/>
          </a:bodyPr>
          <a:lstStyle/>
          <a:p>
            <a:pPr>
              <a:buFont typeface="Wingdings" panose="05000000000000000000" pitchFamily="2" charset="2"/>
              <a:buChar char="Ø"/>
            </a:pPr>
            <a:r>
              <a:rPr lang="en-US" sz="2200" dirty="0">
                <a:effectLst>
                  <a:outerShdw blurRad="38100" dist="38100" dir="2700000" algn="tl">
                    <a:srgbClr val="000000">
                      <a:alpha val="43137"/>
                    </a:srgbClr>
                  </a:outerShdw>
                </a:effectLst>
                <a:latin typeface="Calibri" pitchFamily="34" charset="0"/>
              </a:rPr>
              <a:t>A </a:t>
            </a:r>
            <a:r>
              <a:rPr lang="en-US" sz="2200" i="1" dirty="0">
                <a:effectLst>
                  <a:outerShdw blurRad="38100" dist="38100" dir="2700000" algn="tl">
                    <a:srgbClr val="000000">
                      <a:alpha val="43137"/>
                    </a:srgbClr>
                  </a:outerShdw>
                </a:effectLst>
                <a:latin typeface="Calibri" pitchFamily="34" charset="0"/>
              </a:rPr>
              <a:t>paradigm</a:t>
            </a:r>
            <a:r>
              <a:rPr lang="en-US" sz="2200" dirty="0">
                <a:effectLst>
                  <a:outerShdw blurRad="38100" dist="38100" dir="2700000" algn="tl">
                    <a:srgbClr val="000000">
                      <a:alpha val="43137"/>
                    </a:srgbClr>
                  </a:outerShdw>
                </a:effectLst>
                <a:latin typeface="Calibri" pitchFamily="34" charset="0"/>
              </a:rPr>
              <a:t> is a standard, perspective, or set of ideas. A </a:t>
            </a:r>
            <a:r>
              <a:rPr lang="en-US" sz="2200" i="1" dirty="0">
                <a:effectLst>
                  <a:outerShdw blurRad="38100" dist="38100" dir="2700000" algn="tl">
                    <a:srgbClr val="000000">
                      <a:alpha val="43137"/>
                    </a:srgbClr>
                  </a:outerShdw>
                </a:effectLst>
                <a:latin typeface="Calibri" pitchFamily="34" charset="0"/>
              </a:rPr>
              <a:t>paradigm</a:t>
            </a:r>
            <a:r>
              <a:rPr lang="en-US" sz="2200" dirty="0">
                <a:effectLst>
                  <a:outerShdw blurRad="38100" dist="38100" dir="2700000" algn="tl">
                    <a:srgbClr val="000000">
                      <a:alpha val="43137"/>
                    </a:srgbClr>
                  </a:outerShdw>
                </a:effectLst>
                <a:latin typeface="Calibri" pitchFamily="34" charset="0"/>
              </a:rPr>
              <a:t> is a way of looking at something.</a:t>
            </a:r>
          </a:p>
          <a:p>
            <a:pPr>
              <a:buFont typeface="Wingdings" panose="05000000000000000000" pitchFamily="2" charset="2"/>
              <a:buChar char="Ø"/>
            </a:pPr>
            <a:r>
              <a:rPr lang="en-US" sz="2200" dirty="0">
                <a:effectLst>
                  <a:outerShdw blurRad="38100" dist="38100" dir="2700000" algn="tl">
                    <a:srgbClr val="000000">
                      <a:alpha val="43137"/>
                    </a:srgbClr>
                  </a:outerShdw>
                </a:effectLst>
                <a:latin typeface="Calibri" pitchFamily="34" charset="0"/>
              </a:rPr>
              <a:t>A paradigm is a new way of looking or thinking about something.</a:t>
            </a:r>
          </a:p>
          <a:p>
            <a:pPr>
              <a:buFont typeface="Wingdings" panose="05000000000000000000" pitchFamily="2" charset="2"/>
              <a:buChar char="Ø"/>
            </a:pPr>
            <a:r>
              <a:rPr lang="en-US" sz="2200" dirty="0">
                <a:latin typeface="Calibri" pitchFamily="34" charset="0"/>
              </a:rPr>
              <a:t>Distributed Computing is one of the most vibrant area in computer science.</a:t>
            </a:r>
          </a:p>
          <a:p>
            <a:pPr algn="just">
              <a:buFont typeface="Wingdings" panose="05000000000000000000" pitchFamily="2" charset="2"/>
              <a:buChar char="Ø"/>
            </a:pPr>
            <a:r>
              <a:rPr lang="en-US" sz="2200" dirty="0">
                <a:latin typeface="Calibri" pitchFamily="34" charset="0"/>
              </a:rPr>
              <a:t>There is an ongoing evolution of new technologies for supporting network applications, bringing with them new conceptual models and terminologies.</a:t>
            </a:r>
          </a:p>
        </p:txBody>
      </p:sp>
      <p:sp>
        <p:nvSpPr>
          <p:cNvPr id="4" name="Footer Placeholder 3"/>
          <p:cNvSpPr>
            <a:spLocks noGrp="1"/>
          </p:cNvSpPr>
          <p:nvPr>
            <p:ph type="ftr" sz="quarter" idx="11"/>
          </p:nvPr>
        </p:nvSpPr>
        <p:spPr/>
        <p:txBody>
          <a:bodyPr/>
          <a:lstStyle/>
          <a:p>
            <a:r>
              <a:rPr lang="en-US"/>
              <a:t>Asst. Prof. Riddhi Joshi </a:t>
            </a:r>
          </a:p>
        </p:txBody>
      </p:sp>
      <p:sp>
        <p:nvSpPr>
          <p:cNvPr id="5" name="Slide Number Placeholder 4"/>
          <p:cNvSpPr>
            <a:spLocks noGrp="1"/>
          </p:cNvSpPr>
          <p:nvPr>
            <p:ph type="sldNum" sz="quarter" idx="12"/>
          </p:nvPr>
        </p:nvSpPr>
        <p:spPr/>
        <p:txBody>
          <a:bodyPr/>
          <a:lstStyle/>
          <a:p>
            <a:fld id="{B5F37722-C073-4E6C-82B2-DCE782874B35}" type="slidenum">
              <a:rPr lang="en-US" smtClean="0"/>
              <a:pPr/>
              <a:t>127</a:t>
            </a:fld>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76200"/>
            <a:ext cx="7772400" cy="639762"/>
          </a:xfrm>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effectLst>
                  <a:outerShdw blurRad="38100" dist="38100" dir="2700000" algn="tl">
                    <a:srgbClr val="000000">
                      <a:alpha val="43137"/>
                    </a:srgbClr>
                  </a:outerShdw>
                </a:effectLst>
                <a:latin typeface="Calibri" pitchFamily="34" charset="0"/>
              </a:rPr>
              <a:t>Paradigms &amp; Abstraction </a:t>
            </a:r>
          </a:p>
        </p:txBody>
      </p:sp>
      <p:sp>
        <p:nvSpPr>
          <p:cNvPr id="3" name="Content Placeholder 2"/>
          <p:cNvSpPr>
            <a:spLocks noGrp="1"/>
          </p:cNvSpPr>
          <p:nvPr>
            <p:ph sz="quarter" idx="1"/>
          </p:nvPr>
        </p:nvSpPr>
        <p:spPr>
          <a:xfrm>
            <a:off x="76200" y="990600"/>
            <a:ext cx="8763000" cy="4572000"/>
          </a:xfrm>
        </p:spPr>
        <p:style>
          <a:lnRef idx="2">
            <a:schemeClr val="accent1"/>
          </a:lnRef>
          <a:fillRef idx="1">
            <a:schemeClr val="lt1"/>
          </a:fillRef>
          <a:effectRef idx="0">
            <a:schemeClr val="accent1"/>
          </a:effectRef>
          <a:fontRef idx="minor">
            <a:schemeClr val="dk1"/>
          </a:fontRef>
        </p:style>
        <p:txBody>
          <a:bodyPr>
            <a:normAutofit/>
          </a:bodyPr>
          <a:lstStyle/>
          <a:p>
            <a:r>
              <a:rPr lang="en-US" sz="2200" dirty="0">
                <a:latin typeface="Calibri" pitchFamily="34" charset="0"/>
              </a:rPr>
              <a:t>Abstraction:</a:t>
            </a:r>
          </a:p>
          <a:p>
            <a:pPr lvl="1"/>
            <a:r>
              <a:rPr lang="en-US" sz="2200" dirty="0">
                <a:latin typeface="Calibri" pitchFamily="34" charset="0"/>
              </a:rPr>
              <a:t>Arguably the most fundamental concept in computer science, </a:t>
            </a:r>
            <a:r>
              <a:rPr lang="en-US" sz="2200" i="1" dirty="0">
                <a:latin typeface="Calibri" pitchFamily="34" charset="0"/>
              </a:rPr>
              <a:t>abstraction</a:t>
            </a:r>
            <a:r>
              <a:rPr lang="en-US" sz="2200" dirty="0">
                <a:latin typeface="Calibri" pitchFamily="34" charset="0"/>
              </a:rPr>
              <a:t>  is the idea of </a:t>
            </a:r>
            <a:r>
              <a:rPr lang="en-US" sz="2200" b="1" dirty="0">
                <a:latin typeface="Calibri" pitchFamily="34" charset="0"/>
              </a:rPr>
              <a:t>encapsulation</a:t>
            </a:r>
            <a:r>
              <a:rPr lang="en-US" sz="2200" dirty="0">
                <a:latin typeface="Calibri" pitchFamily="34" charset="0"/>
              </a:rPr>
              <a:t>, or </a:t>
            </a:r>
            <a:r>
              <a:rPr lang="en-US" sz="2200" b="1" dirty="0">
                <a:latin typeface="Calibri" pitchFamily="34" charset="0"/>
              </a:rPr>
              <a:t>detail hiding</a:t>
            </a:r>
            <a:r>
              <a:rPr lang="en-US" sz="2200" dirty="0">
                <a:latin typeface="Calibri" pitchFamily="34" charset="0"/>
              </a:rPr>
              <a:t>.</a:t>
            </a:r>
          </a:p>
          <a:p>
            <a:pPr lvl="1"/>
            <a:endParaRPr lang="en-US" sz="2200" dirty="0">
              <a:latin typeface="Calibri" pitchFamily="34" charset="0"/>
            </a:endParaRPr>
          </a:p>
          <a:p>
            <a:pPr lvl="1" algn="just"/>
            <a:r>
              <a:rPr lang="en-US" sz="2200" dirty="0">
                <a:latin typeface="Calibri" pitchFamily="34" charset="0"/>
              </a:rPr>
              <a:t>In software engineering, abstraction is realized with the provision of tools or facilities that allow software to be built without the developer having to be cognizant (having knowledge) of some of the underlying complexities.</a:t>
            </a:r>
          </a:p>
          <a:p>
            <a:pPr lvl="1"/>
            <a:endParaRPr lang="en-US" sz="2200" dirty="0">
              <a:latin typeface="Calibri" pitchFamily="34" charset="0"/>
            </a:endParaRPr>
          </a:p>
          <a:p>
            <a:pPr lvl="1" algn="just"/>
            <a:r>
              <a:rPr lang="en-US" sz="2200" dirty="0">
                <a:latin typeface="Calibri" pitchFamily="34" charset="0"/>
              </a:rPr>
              <a:t>It is not an overstatement to say that the tools for abstraction are the force behind modern-day software, and they exist in every aspect of application development.</a:t>
            </a:r>
          </a:p>
        </p:txBody>
      </p:sp>
      <p:sp>
        <p:nvSpPr>
          <p:cNvPr id="4" name="Footer Placeholder 3"/>
          <p:cNvSpPr>
            <a:spLocks noGrp="1"/>
          </p:cNvSpPr>
          <p:nvPr>
            <p:ph type="ftr" sz="quarter" idx="11"/>
          </p:nvPr>
        </p:nvSpPr>
        <p:spPr/>
        <p:txBody>
          <a:bodyPr/>
          <a:lstStyle/>
          <a:p>
            <a:r>
              <a:rPr lang="en-US"/>
              <a:t>Asst. Prof. Riddhi Joshi </a:t>
            </a:r>
          </a:p>
        </p:txBody>
      </p:sp>
      <p:sp>
        <p:nvSpPr>
          <p:cNvPr id="5" name="Slide Number Placeholder 4"/>
          <p:cNvSpPr>
            <a:spLocks noGrp="1"/>
          </p:cNvSpPr>
          <p:nvPr>
            <p:ph type="sldNum" sz="quarter" idx="12"/>
          </p:nvPr>
        </p:nvSpPr>
        <p:spPr/>
        <p:txBody>
          <a:bodyPr/>
          <a:lstStyle/>
          <a:p>
            <a:fld id="{B5F37722-C073-4E6C-82B2-DCE782874B35}" type="slidenum">
              <a:rPr lang="en-US" smtClean="0"/>
              <a:pPr/>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1371600"/>
            <a:ext cx="8686800" cy="2819400"/>
          </a:xfrm>
        </p:spPr>
        <p:style>
          <a:lnRef idx="2">
            <a:schemeClr val="accent1"/>
          </a:lnRef>
          <a:fillRef idx="1">
            <a:schemeClr val="lt1"/>
          </a:fillRef>
          <a:effectRef idx="0">
            <a:schemeClr val="accent1"/>
          </a:effectRef>
          <a:fontRef idx="minor">
            <a:schemeClr val="dk1"/>
          </a:fontRef>
        </p:style>
        <p:txBody>
          <a:bodyPr>
            <a:normAutofit/>
          </a:bodyPr>
          <a:lstStyle/>
          <a:p>
            <a:pPr marL="274320" lvl="1" indent="-274320" algn="just">
              <a:spcBef>
                <a:spcPts val="580"/>
              </a:spcBef>
              <a:buClr>
                <a:schemeClr val="accent1"/>
              </a:buClr>
            </a:pPr>
            <a:r>
              <a:rPr lang="en-US" sz="2300" dirty="0">
                <a:latin typeface="Calibri" pitchFamily="34" charset="0"/>
              </a:rPr>
              <a:t>As examples, we make use of compilers to abstract the detail of the machine languages.</a:t>
            </a:r>
          </a:p>
          <a:p>
            <a:pPr marL="274320" lvl="1" indent="-274320" algn="just">
              <a:spcBef>
                <a:spcPts val="580"/>
              </a:spcBef>
              <a:buClr>
                <a:schemeClr val="accent1"/>
              </a:buClr>
            </a:pPr>
            <a:r>
              <a:rPr lang="en-US" sz="2300" dirty="0">
                <a:latin typeface="Calibri" pitchFamily="34" charset="0"/>
              </a:rPr>
              <a:t>In the area of distributed applications, there has been an explosion of tools and facilities based on a wide variety of paradigms that offer varying degrees of abstraction.</a:t>
            </a:r>
          </a:p>
          <a:p>
            <a:endParaRPr lang="en-US" sz="2300" dirty="0">
              <a:latin typeface="Calibri" pitchFamily="34" charset="0"/>
            </a:endParaRPr>
          </a:p>
          <a:p>
            <a:endParaRPr lang="en-US" sz="2300" dirty="0">
              <a:latin typeface="Calibri" pitchFamily="34" charset="0"/>
            </a:endParaRPr>
          </a:p>
        </p:txBody>
      </p:sp>
      <p:sp>
        <p:nvSpPr>
          <p:cNvPr id="4" name="Footer Placeholder 3"/>
          <p:cNvSpPr>
            <a:spLocks noGrp="1"/>
          </p:cNvSpPr>
          <p:nvPr>
            <p:ph type="ftr" sz="quarter" idx="11"/>
          </p:nvPr>
        </p:nvSpPr>
        <p:spPr/>
        <p:txBody>
          <a:bodyPr/>
          <a:lstStyle/>
          <a:p>
            <a:r>
              <a:rPr lang="en-US"/>
              <a:t>Asst. Prof. Riddhi Joshi </a:t>
            </a:r>
          </a:p>
        </p:txBody>
      </p:sp>
      <p:sp>
        <p:nvSpPr>
          <p:cNvPr id="5" name="Slide Number Placeholder 4"/>
          <p:cNvSpPr>
            <a:spLocks noGrp="1"/>
          </p:cNvSpPr>
          <p:nvPr>
            <p:ph type="sldNum" sz="quarter" idx="12"/>
          </p:nvPr>
        </p:nvSpPr>
        <p:spPr/>
        <p:txBody>
          <a:bodyPr/>
          <a:lstStyle/>
          <a:p>
            <a:fld id="{B5F37722-C073-4E6C-82B2-DCE782874B35}" type="slidenum">
              <a:rPr lang="en-US" smtClean="0"/>
              <a:pPr/>
              <a:t>129</a:t>
            </a:fld>
            <a:endParaRPr 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0" y="381000"/>
            <a:ext cx="8991600" cy="4572000"/>
          </a:xfrm>
        </p:spPr>
        <p:style>
          <a:lnRef idx="2">
            <a:schemeClr val="accent1"/>
          </a:lnRef>
          <a:fillRef idx="1">
            <a:schemeClr val="lt1"/>
          </a:fillRef>
          <a:effectRef idx="0">
            <a:schemeClr val="accent1"/>
          </a:effectRef>
          <a:fontRef idx="minor">
            <a:schemeClr val="dk1"/>
          </a:fontRef>
        </p:style>
        <p:txBody>
          <a:bodyPr>
            <a:normAutofit/>
          </a:bodyPr>
          <a:lstStyle/>
          <a:p>
            <a:r>
              <a:rPr lang="en-US" sz="2300" dirty="0">
                <a:latin typeface="Calibri" pitchFamily="34" charset="0"/>
              </a:rPr>
              <a:t>Paradigms:</a:t>
            </a:r>
          </a:p>
          <a:p>
            <a:pPr lvl="1"/>
            <a:r>
              <a:rPr lang="en-US" sz="2400" b="0" i="0" dirty="0">
                <a:solidFill>
                  <a:srgbClr val="273239"/>
                </a:solidFill>
                <a:effectLst/>
                <a:latin typeface="Nunito" pitchFamily="2" charset="0"/>
              </a:rPr>
              <a:t>Paradigm means an idea or pattern.</a:t>
            </a:r>
            <a:endParaRPr lang="en-US" sz="2300" dirty="0">
              <a:latin typeface="Calibri" pitchFamily="34" charset="0"/>
            </a:endParaRPr>
          </a:p>
          <a:p>
            <a:pPr lvl="1"/>
            <a:endParaRPr lang="en-US" sz="2300" dirty="0">
              <a:latin typeface="Calibri" pitchFamily="34" charset="0"/>
            </a:endParaRPr>
          </a:p>
        </p:txBody>
      </p:sp>
      <p:sp>
        <p:nvSpPr>
          <p:cNvPr id="4" name="Footer Placeholder 3"/>
          <p:cNvSpPr>
            <a:spLocks noGrp="1"/>
          </p:cNvSpPr>
          <p:nvPr>
            <p:ph type="ftr" sz="quarter" idx="11"/>
          </p:nvPr>
        </p:nvSpPr>
        <p:spPr/>
        <p:txBody>
          <a:bodyPr/>
          <a:lstStyle/>
          <a:p>
            <a:r>
              <a:rPr lang="en-US"/>
              <a:t>Asst. Prof. Riddhi Joshi </a:t>
            </a:r>
          </a:p>
        </p:txBody>
      </p:sp>
      <p:sp>
        <p:nvSpPr>
          <p:cNvPr id="5" name="Slide Number Placeholder 4"/>
          <p:cNvSpPr>
            <a:spLocks noGrp="1"/>
          </p:cNvSpPr>
          <p:nvPr>
            <p:ph type="sldNum" sz="quarter" idx="12"/>
          </p:nvPr>
        </p:nvSpPr>
        <p:spPr/>
        <p:txBody>
          <a:bodyPr/>
          <a:lstStyle/>
          <a:p>
            <a:fld id="{B5F37722-C073-4E6C-82B2-DCE782874B35}" type="slidenum">
              <a:rPr lang="en-US" smtClean="0"/>
              <a:pPr/>
              <a:t>130</a:t>
            </a:fld>
            <a:endParaRPr lang="en-US"/>
          </a:p>
        </p:txBody>
      </p:sp>
      <p:pic>
        <p:nvPicPr>
          <p:cNvPr id="1026" name="Picture 2">
            <a:extLst>
              <a:ext uri="{FF2B5EF4-FFF2-40B4-BE49-F238E27FC236}">
                <a16:creationId xmlns:a16="http://schemas.microsoft.com/office/drawing/2014/main" id="{08B3D2DE-A45A-A3A0-602D-6E93BB6DF6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286" y="1419224"/>
            <a:ext cx="8920962" cy="444817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C3EACFC-67EB-B46F-3823-C1EB1D2503C8}"/>
              </a:ext>
            </a:extLst>
          </p:cNvPr>
          <p:cNvSpPr txBox="1"/>
          <p:nvPr/>
        </p:nvSpPr>
        <p:spPr>
          <a:xfrm>
            <a:off x="2057400" y="5638800"/>
            <a:ext cx="64770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b="1" dirty="0">
                <a:latin typeface="Calibri" pitchFamily="34" charset="0"/>
              </a:rPr>
              <a:t>Distributed computing paradigms and their level of abstraction.</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457200" y="1295400"/>
            <a:ext cx="7239000" cy="4191000"/>
          </a:xfrm>
          <a:prstGeom prst="rect">
            <a:avLst/>
          </a:prstGeom>
        </p:spPr>
        <p:style>
          <a:lnRef idx="2">
            <a:schemeClr val="accent1"/>
          </a:lnRef>
          <a:fillRef idx="1">
            <a:schemeClr val="lt1"/>
          </a:fillRef>
          <a:effectRef idx="0">
            <a:schemeClr val="accent1"/>
          </a:effectRef>
          <a:fontRef idx="minor">
            <a:schemeClr val="dk1"/>
          </a:fontRef>
        </p:style>
        <p:txBody>
          <a:bodyPr vert="horz">
            <a:normAutofit/>
          </a:bodyPr>
          <a:lstStyle/>
          <a:p>
            <a:pPr marL="274320" marR="0" lvl="0" indent="-274320" algn="ctr" defTabSz="914400" rtl="0" eaLnBrk="1" fontAlgn="auto" latinLnBrk="0" hangingPunct="1">
              <a:lnSpc>
                <a:spcPct val="100000"/>
              </a:lnSpc>
              <a:spcBef>
                <a:spcPts val="580"/>
              </a:spcBef>
              <a:spcAft>
                <a:spcPts val="0"/>
              </a:spcAft>
              <a:buClr>
                <a:schemeClr val="accent1"/>
              </a:buClr>
              <a:buSzPct val="85000"/>
              <a:tabLst/>
              <a:defRPr/>
            </a:pPr>
            <a:endParaRPr kumimoji="0" lang="en-US" sz="2500" b="0" i="0" u="none" strike="noStrike" kern="1200" cap="none" spc="0" normalizeH="0" baseline="0" noProof="0" dirty="0">
              <a:ln>
                <a:noFill/>
              </a:ln>
              <a:solidFill>
                <a:schemeClr val="tx1"/>
              </a:solidFill>
              <a:effectLst/>
              <a:uLnTx/>
              <a:uFillTx/>
              <a:latin typeface="Cambria" pitchFamily="18" charset="0"/>
            </a:endParaRPr>
          </a:p>
          <a:p>
            <a:pPr marL="274320" lvl="0" indent="-274320">
              <a:spcBef>
                <a:spcPts val="580"/>
              </a:spcBef>
              <a:buClr>
                <a:schemeClr val="accent1"/>
              </a:buClr>
              <a:buSzPct val="85000"/>
              <a:buFont typeface="Arial" pitchFamily="34" charset="0"/>
              <a:buChar char="•"/>
              <a:defRPr/>
            </a:pPr>
            <a:r>
              <a:rPr lang="en-US" sz="2500" dirty="0">
                <a:solidFill>
                  <a:schemeClr val="tx1"/>
                </a:solidFill>
                <a:latin typeface="Cambria" pitchFamily="18" charset="0"/>
              </a:rPr>
              <a:t>Paradigms and Abstraction</a:t>
            </a:r>
          </a:p>
          <a:p>
            <a:pPr marL="274320" lvl="0" indent="-274320">
              <a:spcBef>
                <a:spcPts val="580"/>
              </a:spcBef>
              <a:buClr>
                <a:schemeClr val="accent1"/>
              </a:buClr>
              <a:buSzPct val="85000"/>
              <a:buFont typeface="Arial" pitchFamily="34" charset="0"/>
              <a:buChar char="•"/>
              <a:defRPr/>
            </a:pPr>
            <a:r>
              <a:rPr lang="en-US" sz="2500" b="1" dirty="0">
                <a:solidFill>
                  <a:schemeClr val="accent1"/>
                </a:solidFill>
                <a:latin typeface="Cambria" pitchFamily="18" charset="0"/>
              </a:rPr>
              <a:t>Paradigms for Distributed Applications</a:t>
            </a:r>
          </a:p>
        </p:txBody>
      </p:sp>
      <p:sp>
        <p:nvSpPr>
          <p:cNvPr id="6" name="TextBox 5"/>
          <p:cNvSpPr txBox="1"/>
          <p:nvPr/>
        </p:nvSpPr>
        <p:spPr>
          <a:xfrm>
            <a:off x="2667000" y="457200"/>
            <a:ext cx="4267200" cy="523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lgn="ctr">
              <a:buFontTx/>
              <a:buNone/>
              <a:defRPr/>
            </a:pPr>
            <a:r>
              <a:rPr lang="en-US" sz="2800" b="1" dirty="0">
                <a:effectLst>
                  <a:outerShdw blurRad="38100" dist="38100" dir="2700000" algn="tl">
                    <a:srgbClr val="000000">
                      <a:alpha val="43137"/>
                    </a:srgbClr>
                  </a:outerShdw>
                </a:effectLst>
                <a:latin typeface="Calibri" pitchFamily="34" charset="0"/>
              </a:rPr>
              <a:t>Roadmap</a:t>
            </a:r>
          </a:p>
        </p:txBody>
      </p:sp>
      <p:sp>
        <p:nvSpPr>
          <p:cNvPr id="4" name="Slide Number Placeholder 3"/>
          <p:cNvSpPr>
            <a:spLocks noGrp="1"/>
          </p:cNvSpPr>
          <p:nvPr>
            <p:ph type="sldNum" sz="quarter" idx="12"/>
          </p:nvPr>
        </p:nvSpPr>
        <p:spPr/>
        <p:txBody>
          <a:bodyPr/>
          <a:lstStyle/>
          <a:p>
            <a:fld id="{521E5947-19AD-4D38-BBE9-7D3EA973E689}" type="slidenum">
              <a:rPr lang="en-US" smtClean="0"/>
              <a:pPr/>
              <a:t>131</a:t>
            </a:fld>
            <a:endParaRPr lang="en-US"/>
          </a:p>
        </p:txBody>
      </p:sp>
      <p:sp>
        <p:nvSpPr>
          <p:cNvPr id="7" name="Footer Placeholder 6"/>
          <p:cNvSpPr>
            <a:spLocks noGrp="1"/>
          </p:cNvSpPr>
          <p:nvPr>
            <p:ph type="ftr" sz="quarter" idx="11"/>
          </p:nvPr>
        </p:nvSpPr>
        <p:spPr/>
        <p:txBody>
          <a:bodyPr/>
          <a:lstStyle/>
          <a:p>
            <a:r>
              <a:rPr lang="en-US"/>
              <a:t>- Assistant  Prof. Riddhi Joshi</a:t>
            </a:r>
          </a:p>
        </p:txBody>
      </p:sp>
      <p:sp>
        <p:nvSpPr>
          <p:cNvPr id="8" name="Right Arrow 7"/>
          <p:cNvSpPr/>
          <p:nvPr/>
        </p:nvSpPr>
        <p:spPr>
          <a:xfrm>
            <a:off x="424543" y="2362200"/>
            <a:ext cx="3810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998410-4C7D-0197-9D80-A265C185E1E9}"/>
              </a:ext>
            </a:extLst>
          </p:cNvPr>
          <p:cNvSpPr>
            <a:spLocks noGrp="1"/>
          </p:cNvSpPr>
          <p:nvPr>
            <p:ph idx="1"/>
          </p:nvPr>
        </p:nvSpPr>
        <p:spPr>
          <a:ln>
            <a:solidFill>
              <a:schemeClr val="accent1">
                <a:lumMod val="75000"/>
              </a:schemeClr>
            </a:solidFill>
          </a:ln>
        </p:spPr>
        <p:txBody>
          <a:bodyPr/>
          <a:lstStyle/>
          <a:p>
            <a:pPr marL="537210" marR="137160" indent="-342900" algn="just" fontAlgn="base">
              <a:buFont typeface="Wingdings" panose="05000000000000000000" pitchFamily="2" charset="2"/>
              <a:buChar char="Ø"/>
            </a:pPr>
            <a:r>
              <a:rPr lang="en-US" b="0" i="0" dirty="0">
                <a:solidFill>
                  <a:srgbClr val="464646"/>
                </a:solidFill>
                <a:effectLst/>
                <a:latin typeface="Arial" panose="020B0604020202020204" pitchFamily="34" charset="0"/>
              </a:rPr>
              <a:t>Paradigm means “a pattern, example, or model.”  In the study of any subject of great complexity, it is useful to identify the basic patterns or models, and classify the detail according to these models. </a:t>
            </a:r>
          </a:p>
          <a:p>
            <a:pPr marL="534670" marR="137160" indent="-342900" algn="just" fontAlgn="base">
              <a:spcAft>
                <a:spcPts val="600"/>
              </a:spcAft>
              <a:buFont typeface="Wingdings" panose="05000000000000000000" pitchFamily="2" charset="2"/>
              <a:buChar char="Ø"/>
            </a:pPr>
            <a:r>
              <a:rPr lang="en-US" b="0" i="0">
                <a:solidFill>
                  <a:srgbClr val="464646"/>
                </a:solidFill>
                <a:effectLst/>
                <a:latin typeface="Arial" panose="020B0604020202020204" pitchFamily="34" charset="0"/>
              </a:rPr>
              <a:t>The </a:t>
            </a:r>
            <a:r>
              <a:rPr lang="en-US" b="0" i="0" dirty="0">
                <a:solidFill>
                  <a:srgbClr val="464646"/>
                </a:solidFill>
                <a:effectLst/>
                <a:latin typeface="Arial" panose="020B0604020202020204" pitchFamily="34" charset="0"/>
              </a:rPr>
              <a:t>paradigms will be presented in the order of their level of abstraction as shown in fig 3.1. At the lowest level of abstraction is </a:t>
            </a:r>
            <a:r>
              <a:rPr lang="en-US" b="1" i="0" dirty="0">
                <a:solidFill>
                  <a:srgbClr val="464646"/>
                </a:solidFill>
                <a:effectLst/>
                <a:latin typeface="Arial" panose="020B0604020202020204" pitchFamily="34" charset="0"/>
              </a:rPr>
              <a:t>Message passing</a:t>
            </a:r>
            <a:r>
              <a:rPr lang="en-US" b="0" i="0" dirty="0">
                <a:solidFill>
                  <a:srgbClr val="464646"/>
                </a:solidFill>
                <a:effectLst/>
                <a:latin typeface="Arial" panose="020B0604020202020204" pitchFamily="34" charset="0"/>
              </a:rPr>
              <a:t> which encapsulates the least amount of detail and the </a:t>
            </a:r>
            <a:r>
              <a:rPr lang="en-US" b="1" i="0" dirty="0">
                <a:solidFill>
                  <a:srgbClr val="464646"/>
                </a:solidFill>
                <a:effectLst/>
                <a:latin typeface="Arial" panose="020B0604020202020204" pitchFamily="34" charset="0"/>
              </a:rPr>
              <a:t>Object Space</a:t>
            </a:r>
            <a:r>
              <a:rPr lang="en-US" b="0" i="0" dirty="0">
                <a:solidFill>
                  <a:srgbClr val="464646"/>
                </a:solidFill>
                <a:effectLst/>
                <a:latin typeface="Arial" panose="020B0604020202020204" pitchFamily="34" charset="0"/>
              </a:rPr>
              <a:t> occupies the highest level of abstraction among all the paradigms.</a:t>
            </a:r>
          </a:p>
          <a:p>
            <a:pPr>
              <a:buFont typeface="Wingdings" panose="05000000000000000000" pitchFamily="2" charset="2"/>
              <a:buChar char="Ø"/>
            </a:pPr>
            <a:endParaRPr lang="en-IN" dirty="0"/>
          </a:p>
        </p:txBody>
      </p:sp>
      <p:sp>
        <p:nvSpPr>
          <p:cNvPr id="4" name="Footer Placeholder 3">
            <a:extLst>
              <a:ext uri="{FF2B5EF4-FFF2-40B4-BE49-F238E27FC236}">
                <a16:creationId xmlns:a16="http://schemas.microsoft.com/office/drawing/2014/main" id="{90FB6D2F-11C6-6EE3-7F68-AE2B2FD6877F}"/>
              </a:ext>
            </a:extLst>
          </p:cNvPr>
          <p:cNvSpPr>
            <a:spLocks noGrp="1"/>
          </p:cNvSpPr>
          <p:nvPr>
            <p:ph type="ftr" sz="quarter" idx="11"/>
          </p:nvPr>
        </p:nvSpPr>
        <p:spPr/>
        <p:txBody>
          <a:bodyPr/>
          <a:lstStyle/>
          <a:p>
            <a:r>
              <a:rPr lang="en-US"/>
              <a:t>- Assistant  Prof. Riddhi Joshi</a:t>
            </a:r>
          </a:p>
        </p:txBody>
      </p:sp>
      <p:sp>
        <p:nvSpPr>
          <p:cNvPr id="5" name="Slide Number Placeholder 4">
            <a:extLst>
              <a:ext uri="{FF2B5EF4-FFF2-40B4-BE49-F238E27FC236}">
                <a16:creationId xmlns:a16="http://schemas.microsoft.com/office/drawing/2014/main" id="{536EFD2B-BF09-B41D-46D2-8A15C35F36B0}"/>
              </a:ext>
            </a:extLst>
          </p:cNvPr>
          <p:cNvSpPr>
            <a:spLocks noGrp="1"/>
          </p:cNvSpPr>
          <p:nvPr>
            <p:ph type="sldNum" sz="quarter" idx="12"/>
          </p:nvPr>
        </p:nvSpPr>
        <p:spPr/>
        <p:txBody>
          <a:bodyPr/>
          <a:lstStyle/>
          <a:p>
            <a:fld id="{521E5947-19AD-4D38-BBE9-7D3EA973E689}" type="slidenum">
              <a:rPr lang="en-US" smtClean="0"/>
              <a:pPr/>
              <a:t>132</a:t>
            </a:fld>
            <a:endParaRPr lang="en-US"/>
          </a:p>
        </p:txBody>
      </p:sp>
      <p:sp>
        <p:nvSpPr>
          <p:cNvPr id="6" name="Title 1">
            <a:extLst>
              <a:ext uri="{FF2B5EF4-FFF2-40B4-BE49-F238E27FC236}">
                <a16:creationId xmlns:a16="http://schemas.microsoft.com/office/drawing/2014/main" id="{A0069843-4250-3BF0-9CF1-E1671E83268C}"/>
              </a:ext>
            </a:extLst>
          </p:cNvPr>
          <p:cNvSpPr>
            <a:spLocks noGrp="1"/>
          </p:cNvSpPr>
          <p:nvPr>
            <p:ph type="title"/>
          </p:nvPr>
        </p:nvSpPr>
        <p:spPr>
          <a:xfrm>
            <a:off x="914400" y="76200"/>
            <a:ext cx="7772400" cy="563562"/>
          </a:xfrm>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effectLst>
                  <a:outerShdw blurRad="38100" dist="38100" dir="2700000" algn="tl">
                    <a:srgbClr val="000000">
                      <a:alpha val="43137"/>
                    </a:srgbClr>
                  </a:outerShdw>
                </a:effectLst>
                <a:latin typeface="Calibri" pitchFamily="34" charset="0"/>
              </a:rPr>
              <a:t>Distributed Computing Paradigms</a:t>
            </a:r>
          </a:p>
        </p:txBody>
      </p:sp>
    </p:spTree>
    <p:extLst>
      <p:ext uri="{BB962C8B-B14F-4D97-AF65-F5344CB8AC3E}">
        <p14:creationId xmlns:p14="http://schemas.microsoft.com/office/powerpoint/2010/main" val="139781850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46038"/>
            <a:ext cx="7772400" cy="563562"/>
          </a:xfrm>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effectLst>
                  <a:outerShdw blurRad="38100" dist="38100" dir="2700000" algn="tl">
                    <a:srgbClr val="000000">
                      <a:alpha val="43137"/>
                    </a:srgbClr>
                  </a:outerShdw>
                </a:effectLst>
                <a:latin typeface="Calibri" pitchFamily="34" charset="0"/>
              </a:rPr>
              <a:t>Paradigms for Distributed Applications</a:t>
            </a:r>
          </a:p>
        </p:txBody>
      </p:sp>
      <p:sp>
        <p:nvSpPr>
          <p:cNvPr id="3" name="Content Placeholder 2"/>
          <p:cNvSpPr>
            <a:spLocks noGrp="1"/>
          </p:cNvSpPr>
          <p:nvPr>
            <p:ph sz="quarter" idx="1"/>
          </p:nvPr>
        </p:nvSpPr>
        <p:spPr>
          <a:xfrm>
            <a:off x="228600" y="914400"/>
            <a:ext cx="8686800" cy="4572000"/>
          </a:xfrm>
        </p:spPr>
        <p:style>
          <a:lnRef idx="2">
            <a:schemeClr val="accent1"/>
          </a:lnRef>
          <a:fillRef idx="1">
            <a:schemeClr val="lt1"/>
          </a:fillRef>
          <a:effectRef idx="0">
            <a:schemeClr val="accent1"/>
          </a:effectRef>
          <a:fontRef idx="minor">
            <a:schemeClr val="dk1"/>
          </a:fontRef>
        </p:style>
        <p:txBody>
          <a:bodyPr>
            <a:normAutofit/>
          </a:bodyPr>
          <a:lstStyle/>
          <a:p>
            <a:r>
              <a:rPr lang="en-US" sz="2300" dirty="0">
                <a:latin typeface="Calibri" pitchFamily="34" charset="0"/>
              </a:rPr>
              <a:t>There are various paradigms of distributed applications.</a:t>
            </a:r>
          </a:p>
          <a:p>
            <a:pPr lvl="1"/>
            <a:r>
              <a:rPr lang="en-US" sz="2300" dirty="0">
                <a:latin typeface="Calibri" pitchFamily="34" charset="0"/>
              </a:rPr>
              <a:t>Message Passing</a:t>
            </a:r>
          </a:p>
          <a:p>
            <a:pPr lvl="1"/>
            <a:r>
              <a:rPr lang="en-US" sz="2300" dirty="0">
                <a:latin typeface="Calibri" pitchFamily="34" charset="0"/>
              </a:rPr>
              <a:t>The Client Server Paradigm</a:t>
            </a:r>
          </a:p>
          <a:p>
            <a:pPr lvl="1"/>
            <a:r>
              <a:rPr lang="en-US" sz="2300" dirty="0">
                <a:latin typeface="Calibri" pitchFamily="34" charset="0"/>
              </a:rPr>
              <a:t>The Peer-to-Peer Paradigm</a:t>
            </a:r>
          </a:p>
          <a:p>
            <a:pPr lvl="1"/>
            <a:r>
              <a:rPr lang="en-US" sz="2300" dirty="0">
                <a:latin typeface="Calibri" pitchFamily="34" charset="0"/>
              </a:rPr>
              <a:t>The Message System Paradigm</a:t>
            </a:r>
          </a:p>
          <a:p>
            <a:pPr lvl="1"/>
            <a:r>
              <a:rPr lang="en-US" sz="2300" dirty="0">
                <a:latin typeface="Calibri" pitchFamily="34" charset="0"/>
              </a:rPr>
              <a:t>Remote Procedure Call Model</a:t>
            </a:r>
          </a:p>
          <a:p>
            <a:pPr lvl="1"/>
            <a:r>
              <a:rPr lang="en-US" sz="2300" dirty="0">
                <a:latin typeface="Calibri" pitchFamily="34" charset="0"/>
              </a:rPr>
              <a:t>The Distributed Object Paradigms</a:t>
            </a:r>
          </a:p>
          <a:p>
            <a:pPr lvl="1"/>
            <a:r>
              <a:rPr lang="en-US" sz="2300" dirty="0">
                <a:latin typeface="Calibri" pitchFamily="34" charset="0"/>
              </a:rPr>
              <a:t>The Object Request Broker Paradigm</a:t>
            </a:r>
          </a:p>
          <a:p>
            <a:pPr lvl="1"/>
            <a:r>
              <a:rPr lang="en-US" sz="2300" dirty="0">
                <a:latin typeface="Calibri" pitchFamily="34" charset="0"/>
              </a:rPr>
              <a:t>The Mobile Agent Paradigm</a:t>
            </a:r>
          </a:p>
          <a:p>
            <a:pPr lvl="1"/>
            <a:r>
              <a:rPr lang="en-US" sz="2300" dirty="0">
                <a:latin typeface="Calibri" pitchFamily="34" charset="0"/>
              </a:rPr>
              <a:t>The Network Service Paradigm</a:t>
            </a:r>
          </a:p>
          <a:p>
            <a:pPr lvl="1"/>
            <a:r>
              <a:rPr lang="en-US" sz="2300" dirty="0">
                <a:latin typeface="Calibri" pitchFamily="34" charset="0"/>
              </a:rPr>
              <a:t>The Collaborative Application (Groupware) Paradigm</a:t>
            </a:r>
          </a:p>
        </p:txBody>
      </p:sp>
      <p:sp>
        <p:nvSpPr>
          <p:cNvPr id="4" name="Footer Placeholder 3"/>
          <p:cNvSpPr>
            <a:spLocks noGrp="1"/>
          </p:cNvSpPr>
          <p:nvPr>
            <p:ph type="ftr" sz="quarter" idx="11"/>
          </p:nvPr>
        </p:nvSpPr>
        <p:spPr/>
        <p:txBody>
          <a:bodyPr/>
          <a:lstStyle/>
          <a:p>
            <a:r>
              <a:rPr lang="en-US"/>
              <a:t>Asst. Prof. Riddhi Joshi </a:t>
            </a:r>
          </a:p>
        </p:txBody>
      </p:sp>
      <p:sp>
        <p:nvSpPr>
          <p:cNvPr id="5" name="Slide Number Placeholder 4"/>
          <p:cNvSpPr>
            <a:spLocks noGrp="1"/>
          </p:cNvSpPr>
          <p:nvPr>
            <p:ph type="sldNum" sz="quarter" idx="12"/>
          </p:nvPr>
        </p:nvSpPr>
        <p:spPr/>
        <p:txBody>
          <a:bodyPr/>
          <a:lstStyle/>
          <a:p>
            <a:fld id="{B5F37722-C073-4E6C-82B2-DCE782874B35}" type="slidenum">
              <a:rPr lang="en-US" smtClean="0"/>
              <a:pPr/>
              <a:t>133</a:t>
            </a:fld>
            <a:endParaRPr 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46038"/>
            <a:ext cx="7772400" cy="563562"/>
          </a:xfrm>
          <a:solidFill>
            <a:schemeClr val="accent2"/>
          </a:solidFill>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effectLst>
                  <a:outerShdw blurRad="38100" dist="38100" dir="2700000" algn="tl">
                    <a:srgbClr val="000000">
                      <a:alpha val="43137"/>
                    </a:srgbClr>
                  </a:outerShdw>
                </a:effectLst>
                <a:latin typeface="Calibri" pitchFamily="34" charset="0"/>
              </a:rPr>
              <a:t>1 - Message Passing</a:t>
            </a:r>
          </a:p>
        </p:txBody>
      </p:sp>
      <p:sp>
        <p:nvSpPr>
          <p:cNvPr id="4" name="Footer Placeholder 3"/>
          <p:cNvSpPr>
            <a:spLocks noGrp="1"/>
          </p:cNvSpPr>
          <p:nvPr>
            <p:ph type="ftr" sz="quarter" idx="11"/>
          </p:nvPr>
        </p:nvSpPr>
        <p:spPr/>
        <p:txBody>
          <a:bodyPr/>
          <a:lstStyle/>
          <a:p>
            <a:r>
              <a:rPr lang="en-US"/>
              <a:t>Asst. Prof. Riddhi Joshi </a:t>
            </a:r>
          </a:p>
        </p:txBody>
      </p:sp>
      <p:sp>
        <p:nvSpPr>
          <p:cNvPr id="5" name="Slide Number Placeholder 4"/>
          <p:cNvSpPr>
            <a:spLocks noGrp="1"/>
          </p:cNvSpPr>
          <p:nvPr>
            <p:ph type="sldNum" sz="quarter" idx="12"/>
          </p:nvPr>
        </p:nvSpPr>
        <p:spPr/>
        <p:txBody>
          <a:bodyPr/>
          <a:lstStyle/>
          <a:p>
            <a:fld id="{B5F37722-C073-4E6C-82B2-DCE782874B35}" type="slidenum">
              <a:rPr lang="en-US" smtClean="0"/>
              <a:pPr/>
              <a:t>134</a:t>
            </a:fld>
            <a:endParaRPr lang="en-US"/>
          </a:p>
        </p:txBody>
      </p:sp>
      <p:sp>
        <p:nvSpPr>
          <p:cNvPr id="8" name="Rectangle 3">
            <a:extLst>
              <a:ext uri="{FF2B5EF4-FFF2-40B4-BE49-F238E27FC236}">
                <a16:creationId xmlns:a16="http://schemas.microsoft.com/office/drawing/2014/main" id="{AE29DE19-F995-C85A-D838-4BA357F36DED}"/>
              </a:ext>
            </a:extLst>
          </p:cNvPr>
          <p:cNvSpPr>
            <a:spLocks noChangeArrowheads="1"/>
          </p:cNvSpPr>
          <p:nvPr/>
        </p:nvSpPr>
        <p:spPr bwMode="auto">
          <a:xfrm>
            <a:off x="32657" y="687636"/>
            <a:ext cx="8915400" cy="215443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464646"/>
                </a:solidFill>
                <a:effectLst/>
                <a:latin typeface="+mn-lt"/>
                <a:cs typeface="Arial" panose="020B0604020202020204" pitchFamily="34" charset="0"/>
              </a:rPr>
              <a:t>Message passing is the most fundamental paradigm for distributed applications. </a:t>
            </a:r>
            <a:endParaRPr kumimoji="0" lang="en-US" altLang="en-US" sz="2000" b="0" i="0" u="none" strike="noStrike" cap="none" normalizeH="0" baseline="0" dirty="0">
              <a:ln>
                <a:noFill/>
              </a:ln>
              <a:solidFill>
                <a:schemeClr val="tx1"/>
              </a:solidFill>
              <a:effectLst/>
              <a:latin typeface="+mn-lt"/>
            </a:endParaRPr>
          </a:p>
          <a:p>
            <a:pPr marR="0" lvl="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rgbClr val="464646"/>
                </a:solidFill>
                <a:effectLst/>
                <a:latin typeface="+mn-lt"/>
                <a:cs typeface="Arial" panose="020B0604020202020204" pitchFamily="34" charset="0"/>
              </a:rPr>
              <a:t>•</a:t>
            </a:r>
            <a:r>
              <a:rPr kumimoji="0" lang="en-US" altLang="en-US" sz="2000" b="0" i="0" u="none" strike="noStrike" cap="none" normalizeH="0" baseline="0" dirty="0">
                <a:ln>
                  <a:noFill/>
                </a:ln>
                <a:solidFill>
                  <a:srgbClr val="464646"/>
                </a:solidFill>
                <a:effectLst/>
                <a:latin typeface="+mn-lt"/>
                <a:cs typeface="Times New Roman" panose="02020603050405020304" pitchFamily="18" charset="0"/>
              </a:rPr>
              <a:t>  </a:t>
            </a:r>
            <a:r>
              <a:rPr kumimoji="0" lang="en-US" altLang="en-US" sz="2000" b="0" i="0" u="none" strike="noStrike" cap="none" normalizeH="0" baseline="0" dirty="0">
                <a:ln>
                  <a:noFill/>
                </a:ln>
                <a:solidFill>
                  <a:srgbClr val="464646"/>
                </a:solidFill>
                <a:effectLst/>
                <a:latin typeface="+mn-lt"/>
                <a:cs typeface="Arial" panose="020B0604020202020204" pitchFamily="34" charset="0"/>
              </a:rPr>
              <a:t>A process sends a message representing a request. </a:t>
            </a:r>
            <a:endParaRPr kumimoji="0" lang="en-US" altLang="en-US" sz="2000" b="0" i="0" u="none" strike="noStrike" cap="none" normalizeH="0" baseline="0" dirty="0">
              <a:ln>
                <a:noFill/>
              </a:ln>
              <a:solidFill>
                <a:schemeClr val="tx1"/>
              </a:solidFill>
              <a:effectLst/>
              <a:latin typeface="+mn-lt"/>
            </a:endParaRPr>
          </a:p>
          <a:p>
            <a:pPr marR="0" lvl="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rgbClr val="464646"/>
                </a:solidFill>
                <a:effectLst/>
                <a:latin typeface="+mn-lt"/>
                <a:cs typeface="Arial" panose="020B0604020202020204" pitchFamily="34" charset="0"/>
              </a:rPr>
              <a:t>•</a:t>
            </a:r>
            <a:r>
              <a:rPr kumimoji="0" lang="en-US" altLang="en-US" sz="2000" b="0" i="0" u="none" strike="noStrike" cap="none" normalizeH="0" baseline="0" dirty="0">
                <a:ln>
                  <a:noFill/>
                </a:ln>
                <a:solidFill>
                  <a:srgbClr val="464646"/>
                </a:solidFill>
                <a:effectLst/>
                <a:latin typeface="+mn-lt"/>
                <a:cs typeface="Times New Roman" panose="02020603050405020304" pitchFamily="18" charset="0"/>
              </a:rPr>
              <a:t> </a:t>
            </a:r>
            <a:r>
              <a:rPr kumimoji="0" lang="en-US" altLang="en-US" sz="2000" b="0" i="0" u="none" strike="noStrike" cap="none" normalizeH="0" baseline="0" dirty="0">
                <a:ln>
                  <a:noFill/>
                </a:ln>
                <a:solidFill>
                  <a:srgbClr val="464646"/>
                </a:solidFill>
                <a:effectLst/>
                <a:latin typeface="+mn-lt"/>
                <a:cs typeface="Arial" panose="020B0604020202020204" pitchFamily="34" charset="0"/>
              </a:rPr>
              <a:t>The message is delivered to a receiver, which processes the request, and sends a  message in response.</a:t>
            </a:r>
          </a:p>
          <a:p>
            <a:pPr algn="just" defTabSz="914400"/>
            <a:r>
              <a:rPr kumimoji="0" lang="en-US" altLang="en-US" sz="2000" b="1" i="0" u="none" strike="noStrike" cap="none" normalizeH="0" baseline="0" dirty="0">
                <a:ln>
                  <a:noFill/>
                </a:ln>
                <a:solidFill>
                  <a:srgbClr val="273239"/>
                </a:solidFill>
                <a:effectLst/>
                <a:latin typeface="+mn-lt"/>
              </a:rPr>
              <a:t>Operations:</a:t>
            </a:r>
            <a:r>
              <a:rPr kumimoji="0" lang="en-US" altLang="en-US" sz="2000" b="0" i="0" u="none" strike="noStrike" cap="none" normalizeH="0" baseline="0" dirty="0">
                <a:ln>
                  <a:noFill/>
                </a:ln>
                <a:solidFill>
                  <a:srgbClr val="273239"/>
                </a:solidFill>
                <a:effectLst/>
                <a:latin typeface="+mn-lt"/>
              </a:rPr>
              <a:t> send, receive </a:t>
            </a:r>
          </a:p>
          <a:p>
            <a:pPr algn="just" defTabSz="914400"/>
            <a:r>
              <a:rPr kumimoji="0" lang="en-US" altLang="en-US" sz="2000" b="1" i="0" u="none" strike="noStrike" cap="none" normalizeH="0" baseline="0" dirty="0">
                <a:ln>
                  <a:noFill/>
                </a:ln>
                <a:solidFill>
                  <a:srgbClr val="273239"/>
                </a:solidFill>
                <a:effectLst/>
                <a:latin typeface="+mn-lt"/>
              </a:rPr>
              <a:t>Connections:</a:t>
            </a:r>
            <a:r>
              <a:rPr kumimoji="0" lang="en-US" altLang="en-US" sz="2000" b="0" i="0" u="none" strike="noStrike" cap="none" normalizeH="0" baseline="0" dirty="0">
                <a:ln>
                  <a:noFill/>
                </a:ln>
                <a:solidFill>
                  <a:srgbClr val="273239"/>
                </a:solidFill>
                <a:effectLst/>
                <a:latin typeface="+mn-lt"/>
              </a:rPr>
              <a:t> connect, disconnect </a:t>
            </a:r>
          </a:p>
          <a:p>
            <a:pPr marR="0" lvl="0" algn="just"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mn-lt"/>
            </a:endParaRPr>
          </a:p>
        </p:txBody>
      </p:sp>
      <p:pic>
        <p:nvPicPr>
          <p:cNvPr id="2052" name="Picture 4">
            <a:extLst>
              <a:ext uri="{FF2B5EF4-FFF2-40B4-BE49-F238E27FC236}">
                <a16:creationId xmlns:a16="http://schemas.microsoft.com/office/drawing/2014/main" id="{ABC41DCE-ED49-1564-5D61-25E337019A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399" y="2971800"/>
            <a:ext cx="7494963" cy="34099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4F85BAB-DBAF-9426-DBC9-5557E9AC8380}"/>
              </a:ext>
            </a:extLst>
          </p:cNvPr>
          <p:cNvSpPr>
            <a:spLocks noGrp="1"/>
          </p:cNvSpPr>
          <p:nvPr>
            <p:ph type="ftr" sz="quarter" idx="11"/>
          </p:nvPr>
        </p:nvSpPr>
        <p:spPr/>
        <p:txBody>
          <a:bodyPr/>
          <a:lstStyle/>
          <a:p>
            <a:r>
              <a:rPr lang="en-US"/>
              <a:t>- Assistant  Prof. Riddhi Joshi</a:t>
            </a:r>
          </a:p>
        </p:txBody>
      </p:sp>
      <p:sp>
        <p:nvSpPr>
          <p:cNvPr id="5" name="Slide Number Placeholder 4">
            <a:extLst>
              <a:ext uri="{FF2B5EF4-FFF2-40B4-BE49-F238E27FC236}">
                <a16:creationId xmlns:a16="http://schemas.microsoft.com/office/drawing/2014/main" id="{87456DE3-4D40-2554-8B2F-A58DDDE0E29B}"/>
              </a:ext>
            </a:extLst>
          </p:cNvPr>
          <p:cNvSpPr>
            <a:spLocks noGrp="1"/>
          </p:cNvSpPr>
          <p:nvPr>
            <p:ph type="sldNum" sz="quarter" idx="12"/>
          </p:nvPr>
        </p:nvSpPr>
        <p:spPr/>
        <p:txBody>
          <a:bodyPr/>
          <a:lstStyle/>
          <a:p>
            <a:fld id="{521E5947-19AD-4D38-BBE9-7D3EA973E689}" type="slidenum">
              <a:rPr lang="en-US" smtClean="0"/>
              <a:pPr/>
              <a:t>135</a:t>
            </a:fld>
            <a:endParaRPr lang="en-US"/>
          </a:p>
        </p:txBody>
      </p:sp>
      <p:sp>
        <p:nvSpPr>
          <p:cNvPr id="9" name="Content Placeholder 2">
            <a:extLst>
              <a:ext uri="{FF2B5EF4-FFF2-40B4-BE49-F238E27FC236}">
                <a16:creationId xmlns:a16="http://schemas.microsoft.com/office/drawing/2014/main" id="{E8788278-D290-F8CC-C8BC-9F5C42A12154}"/>
              </a:ext>
            </a:extLst>
          </p:cNvPr>
          <p:cNvSpPr txBox="1">
            <a:spLocks/>
          </p:cNvSpPr>
          <p:nvPr/>
        </p:nvSpPr>
        <p:spPr>
          <a:xfrm>
            <a:off x="152400" y="2133600"/>
            <a:ext cx="8839200" cy="2438400"/>
          </a:xfrm>
          <a:prstGeom prst="rect">
            <a:avLst/>
          </a:prstGeom>
        </p:spPr>
        <p:style>
          <a:lnRef idx="2">
            <a:schemeClr val="accent1"/>
          </a:lnRef>
          <a:fillRef idx="1">
            <a:schemeClr val="lt1"/>
          </a:fillRef>
          <a:effectRef idx="0">
            <a:schemeClr val="accent1"/>
          </a:effectRef>
          <a:fontRef idx="minor">
            <a:schemeClr val="dk1"/>
          </a:fontRef>
        </p:style>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dk1"/>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571500" marR="137160" indent="-342900" algn="just" fontAlgn="base">
              <a:buFont typeface="Wingdings" panose="05000000000000000000" pitchFamily="2" charset="2"/>
              <a:buChar char="Ø"/>
            </a:pPr>
            <a:r>
              <a:rPr lang="en-US" sz="2200" dirty="0">
                <a:solidFill>
                  <a:srgbClr val="464646"/>
                </a:solidFill>
              </a:rPr>
              <a:t>With the abstraction provided by this model, the interconnected processes perform input and output to each other, in a manner similar to file I/O.   </a:t>
            </a:r>
          </a:p>
          <a:p>
            <a:pPr marL="571500" marR="137160" indent="-342900" algn="just" fontAlgn="base">
              <a:buFont typeface="Wingdings" panose="05000000000000000000" pitchFamily="2" charset="2"/>
              <a:buChar char="Ø"/>
            </a:pPr>
            <a:r>
              <a:rPr lang="en-US" sz="2200" dirty="0">
                <a:solidFill>
                  <a:srgbClr val="464646"/>
                </a:solidFill>
              </a:rPr>
              <a:t>The I/O operations encapsulate the detail of network communication at the operating-system level.</a:t>
            </a:r>
          </a:p>
          <a:p>
            <a:pPr marL="571500" marR="137160" indent="-342900" algn="just" fontAlgn="base">
              <a:buFont typeface="Wingdings" panose="05000000000000000000" pitchFamily="2" charset="2"/>
              <a:buChar char="Ø"/>
            </a:pPr>
            <a:r>
              <a:rPr lang="en-US" sz="2200" dirty="0">
                <a:solidFill>
                  <a:srgbClr val="464646"/>
                </a:solidFill>
              </a:rPr>
              <a:t>The socket application programming interface is based on this paradigm</a:t>
            </a:r>
          </a:p>
          <a:p>
            <a:endParaRPr lang="en-US" sz="2200" dirty="0"/>
          </a:p>
        </p:txBody>
      </p:sp>
      <p:sp>
        <p:nvSpPr>
          <p:cNvPr id="6" name="Title 1">
            <a:extLst>
              <a:ext uri="{FF2B5EF4-FFF2-40B4-BE49-F238E27FC236}">
                <a16:creationId xmlns:a16="http://schemas.microsoft.com/office/drawing/2014/main" id="{EA1AA636-C3BC-555B-8658-68DA4B312888}"/>
              </a:ext>
            </a:extLst>
          </p:cNvPr>
          <p:cNvSpPr txBox="1">
            <a:spLocks/>
          </p:cNvSpPr>
          <p:nvPr/>
        </p:nvSpPr>
        <p:spPr>
          <a:xfrm>
            <a:off x="914400" y="46038"/>
            <a:ext cx="7772400" cy="563562"/>
          </a:xfrm>
          <a:prstGeom prst="rect">
            <a:avLst/>
          </a:prstGeom>
          <a:solidFill>
            <a:schemeClr val="accent2"/>
          </a:solidFill>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600" b="1">
                <a:effectLst>
                  <a:outerShdw blurRad="38100" dist="38100" dir="2700000" algn="tl">
                    <a:srgbClr val="000000">
                      <a:alpha val="43137"/>
                    </a:srgbClr>
                  </a:outerShdw>
                </a:effectLst>
                <a:latin typeface="Calibri" pitchFamily="34" charset="0"/>
              </a:rPr>
              <a:t>1 - Message Passing</a:t>
            </a:r>
            <a:endParaRPr lang="en-US" sz="2600" b="1" dirty="0">
              <a:effectLst>
                <a:outerShdw blurRad="38100" dist="38100" dir="2700000" algn="tl">
                  <a:srgbClr val="000000">
                    <a:alpha val="43137"/>
                  </a:srgbClr>
                </a:outerShdw>
              </a:effectLst>
              <a:latin typeface="Calibri" pitchFamily="34" charset="0"/>
            </a:endParaRPr>
          </a:p>
        </p:txBody>
      </p:sp>
    </p:spTree>
    <p:extLst>
      <p:ext uri="{BB962C8B-B14F-4D97-AF65-F5344CB8AC3E}">
        <p14:creationId xmlns:p14="http://schemas.microsoft.com/office/powerpoint/2010/main" val="383695189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34E6C-8454-5ED6-DE47-C527F28D0A6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2B2CED-0FD3-5EF9-DE34-63136F7E2DD3}"/>
              </a:ext>
            </a:extLst>
          </p:cNvPr>
          <p:cNvSpPr>
            <a:spLocks noGrp="1"/>
          </p:cNvSpPr>
          <p:nvPr>
            <p:ph sz="quarter" idx="1"/>
          </p:nvPr>
        </p:nvSpPr>
        <p:spPr>
          <a:xfrm>
            <a:off x="0" y="381000"/>
            <a:ext cx="8991600" cy="4572000"/>
          </a:xfrm>
        </p:spPr>
        <p:style>
          <a:lnRef idx="2">
            <a:schemeClr val="accent1"/>
          </a:lnRef>
          <a:fillRef idx="1">
            <a:schemeClr val="lt1"/>
          </a:fillRef>
          <a:effectRef idx="0">
            <a:schemeClr val="accent1"/>
          </a:effectRef>
          <a:fontRef idx="minor">
            <a:schemeClr val="dk1"/>
          </a:fontRef>
        </p:style>
        <p:txBody>
          <a:bodyPr>
            <a:normAutofit/>
          </a:bodyPr>
          <a:lstStyle/>
          <a:p>
            <a:pPr lvl="1"/>
            <a:endParaRPr lang="en-US" sz="2300" dirty="0">
              <a:latin typeface="Calibri" pitchFamily="34" charset="0"/>
            </a:endParaRPr>
          </a:p>
        </p:txBody>
      </p:sp>
      <p:sp>
        <p:nvSpPr>
          <p:cNvPr id="4" name="Footer Placeholder 3">
            <a:extLst>
              <a:ext uri="{FF2B5EF4-FFF2-40B4-BE49-F238E27FC236}">
                <a16:creationId xmlns:a16="http://schemas.microsoft.com/office/drawing/2014/main" id="{C296F1A6-BFA1-DB8E-816C-336DF7D3D152}"/>
              </a:ext>
            </a:extLst>
          </p:cNvPr>
          <p:cNvSpPr>
            <a:spLocks noGrp="1"/>
          </p:cNvSpPr>
          <p:nvPr>
            <p:ph type="ftr" sz="quarter" idx="11"/>
          </p:nvPr>
        </p:nvSpPr>
        <p:spPr/>
        <p:txBody>
          <a:bodyPr/>
          <a:lstStyle/>
          <a:p>
            <a:r>
              <a:rPr lang="en-US"/>
              <a:t>Asst. Prof. Riddhi Joshi </a:t>
            </a:r>
          </a:p>
        </p:txBody>
      </p:sp>
      <p:sp>
        <p:nvSpPr>
          <p:cNvPr id="5" name="Slide Number Placeholder 4">
            <a:extLst>
              <a:ext uri="{FF2B5EF4-FFF2-40B4-BE49-F238E27FC236}">
                <a16:creationId xmlns:a16="http://schemas.microsoft.com/office/drawing/2014/main" id="{0EA72F6A-48AD-2182-5037-C1B19D53E698}"/>
              </a:ext>
            </a:extLst>
          </p:cNvPr>
          <p:cNvSpPr>
            <a:spLocks noGrp="1"/>
          </p:cNvSpPr>
          <p:nvPr>
            <p:ph type="sldNum" sz="quarter" idx="12"/>
          </p:nvPr>
        </p:nvSpPr>
        <p:spPr/>
        <p:txBody>
          <a:bodyPr/>
          <a:lstStyle/>
          <a:p>
            <a:fld id="{B5F37722-C073-4E6C-82B2-DCE782874B35}" type="slidenum">
              <a:rPr lang="en-US" smtClean="0"/>
              <a:pPr/>
              <a:t>136</a:t>
            </a:fld>
            <a:endParaRPr lang="en-US"/>
          </a:p>
        </p:txBody>
      </p:sp>
      <p:pic>
        <p:nvPicPr>
          <p:cNvPr id="1026" name="Picture 2">
            <a:extLst>
              <a:ext uri="{FF2B5EF4-FFF2-40B4-BE49-F238E27FC236}">
                <a16:creationId xmlns:a16="http://schemas.microsoft.com/office/drawing/2014/main" id="{94E3E77D-85E6-132A-260C-340126F169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286" y="1419224"/>
            <a:ext cx="8920962" cy="444817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8921963-B40E-C3ED-D6FA-1AAA6BDCB0E6}"/>
              </a:ext>
            </a:extLst>
          </p:cNvPr>
          <p:cNvSpPr txBox="1"/>
          <p:nvPr/>
        </p:nvSpPr>
        <p:spPr>
          <a:xfrm>
            <a:off x="2057400" y="5638800"/>
            <a:ext cx="64770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b="1" dirty="0">
                <a:latin typeface="Calibri" pitchFamily="34" charset="0"/>
              </a:rPr>
              <a:t>Distributed computing paradigms and their level of abstraction.</a:t>
            </a:r>
          </a:p>
        </p:txBody>
      </p:sp>
      <p:sp>
        <p:nvSpPr>
          <p:cNvPr id="6" name="Title 1">
            <a:extLst>
              <a:ext uri="{FF2B5EF4-FFF2-40B4-BE49-F238E27FC236}">
                <a16:creationId xmlns:a16="http://schemas.microsoft.com/office/drawing/2014/main" id="{CB1E09D8-D421-FF9B-C0C5-4C7456108560}"/>
              </a:ext>
            </a:extLst>
          </p:cNvPr>
          <p:cNvSpPr>
            <a:spLocks noGrp="1"/>
          </p:cNvSpPr>
          <p:nvPr>
            <p:ph type="title"/>
          </p:nvPr>
        </p:nvSpPr>
        <p:spPr>
          <a:xfrm>
            <a:off x="914400" y="76200"/>
            <a:ext cx="7772400" cy="533400"/>
          </a:xfrm>
          <a:solidFill>
            <a:schemeClr val="accent2"/>
          </a:solidFill>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effectLst>
                  <a:outerShdw blurRad="38100" dist="38100" dir="2700000" algn="tl">
                    <a:srgbClr val="000000">
                      <a:alpha val="43137"/>
                    </a:srgbClr>
                  </a:outerShdw>
                </a:effectLst>
                <a:latin typeface="Calibri" pitchFamily="34" charset="0"/>
              </a:rPr>
              <a:t>2 - The Client Server Paradigm</a:t>
            </a:r>
          </a:p>
        </p:txBody>
      </p:sp>
    </p:spTree>
    <p:extLst>
      <p:ext uri="{BB962C8B-B14F-4D97-AF65-F5344CB8AC3E}">
        <p14:creationId xmlns:p14="http://schemas.microsoft.com/office/powerpoint/2010/main" val="1821943567"/>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14300" y="704850"/>
            <a:ext cx="8915400" cy="5448300"/>
          </a:xfrm>
        </p:spPr>
        <p:style>
          <a:lnRef idx="2">
            <a:schemeClr val="accent1"/>
          </a:lnRef>
          <a:fillRef idx="1">
            <a:schemeClr val="lt1"/>
          </a:fillRef>
          <a:effectRef idx="0">
            <a:schemeClr val="accent1"/>
          </a:effectRef>
          <a:fontRef idx="minor">
            <a:schemeClr val="dk1"/>
          </a:fontRef>
        </p:style>
        <p:txBody>
          <a:bodyPr>
            <a:noAutofit/>
          </a:bodyPr>
          <a:lstStyle/>
          <a:p>
            <a:pPr marL="571500" marR="137160" indent="-285750" algn="just" fontAlgn="base">
              <a:spcAft>
                <a:spcPts val="1000"/>
              </a:spcAft>
              <a:buFont typeface="Wingdings" panose="05000000000000000000" pitchFamily="2" charset="2"/>
              <a:buChar char="Ø"/>
            </a:pPr>
            <a:r>
              <a:rPr lang="en-US" sz="2200" b="0" i="0" dirty="0">
                <a:solidFill>
                  <a:srgbClr val="464646"/>
                </a:solidFill>
                <a:effectLst/>
              </a:rPr>
              <a:t> </a:t>
            </a:r>
            <a:r>
              <a:rPr lang="en-US" sz="2200" dirty="0">
                <a:solidFill>
                  <a:srgbClr val="464646"/>
                </a:solidFill>
              </a:rPr>
              <a:t>T</a:t>
            </a:r>
            <a:r>
              <a:rPr lang="en-US" sz="2200" b="0" i="0" dirty="0">
                <a:solidFill>
                  <a:srgbClr val="464646"/>
                </a:solidFill>
                <a:effectLst/>
              </a:rPr>
              <a:t>he best known paradigm for network applications, the client-server model assigns asymmetric roles to two collaborating processes. </a:t>
            </a:r>
          </a:p>
          <a:p>
            <a:pPr marL="571500" marR="137160" indent="-285750" algn="just" fontAlgn="base">
              <a:spcAft>
                <a:spcPts val="1000"/>
              </a:spcAft>
              <a:buFont typeface="Wingdings" panose="05000000000000000000" pitchFamily="2" charset="2"/>
              <a:buChar char="Ø"/>
            </a:pPr>
            <a:r>
              <a:rPr lang="en-US" sz="2200" b="0" i="0" dirty="0">
                <a:solidFill>
                  <a:srgbClr val="464646"/>
                </a:solidFill>
                <a:effectLst/>
              </a:rPr>
              <a:t>One process, the server, plays the role of a service provider which waits passively for the arrival of requests. The other, the client, issues specific requests to the server and awaits its response.  </a:t>
            </a:r>
          </a:p>
          <a:p>
            <a:pPr marL="628650" marR="137160" indent="-342900" algn="just" fontAlgn="base">
              <a:spcAft>
                <a:spcPts val="1000"/>
              </a:spcAft>
              <a:buFont typeface="Wingdings" panose="05000000000000000000" pitchFamily="2" charset="2"/>
              <a:buChar char="Ø"/>
            </a:pPr>
            <a:r>
              <a:rPr lang="en-US" sz="2200" b="0" i="0" dirty="0">
                <a:solidFill>
                  <a:srgbClr val="464646"/>
                </a:solidFill>
                <a:effectLst/>
              </a:rPr>
              <a:t>Simple in concept, the client-server model provides an efficient abstraction for the delivery of network services.  Operations required include those for a server process to listen and to accept requests, and for a client process to issue requests and accept responses. </a:t>
            </a:r>
          </a:p>
          <a:p>
            <a:pPr marL="628650" marR="137160" indent="-342900" algn="just" fontAlgn="base">
              <a:spcAft>
                <a:spcPts val="1000"/>
              </a:spcAft>
              <a:buFont typeface="Wingdings" panose="05000000000000000000" pitchFamily="2" charset="2"/>
              <a:buChar char="Ø"/>
            </a:pPr>
            <a:r>
              <a:rPr lang="en-US" sz="2200" b="0" i="0" dirty="0">
                <a:solidFill>
                  <a:srgbClr val="464646"/>
                </a:solidFill>
                <a:effectLst/>
              </a:rPr>
              <a:t>Many Internet services are client-server applications.  These services are often known by the protocol that the application implements. Well known Internet services include HTTP, FTP, DNS, finger, gopher, etc. </a:t>
            </a:r>
          </a:p>
          <a:p>
            <a:pPr marL="628650" marR="137160" indent="-342900" algn="just" fontAlgn="base">
              <a:spcAft>
                <a:spcPts val="1000"/>
              </a:spcAft>
              <a:buFont typeface="Wingdings" panose="05000000000000000000" pitchFamily="2" charset="2"/>
              <a:buChar char="Ø"/>
            </a:pPr>
            <a:r>
              <a:rPr kumimoji="0" lang="en-US" altLang="en-US" sz="2200" b="1" i="0" u="none" strike="noStrike" cap="none" normalizeH="0" baseline="0" dirty="0">
                <a:ln>
                  <a:noFill/>
                </a:ln>
                <a:solidFill>
                  <a:srgbClr val="273239"/>
                </a:solidFill>
                <a:effectLst/>
              </a:rPr>
              <a:t>Server Process:</a:t>
            </a:r>
            <a:r>
              <a:rPr kumimoji="0" lang="en-US" altLang="en-US" sz="2200" b="0" i="0" u="none" strike="noStrike" cap="none" normalizeH="0" baseline="0" dirty="0">
                <a:ln>
                  <a:noFill/>
                </a:ln>
                <a:solidFill>
                  <a:srgbClr val="273239"/>
                </a:solidFill>
                <a:effectLst/>
              </a:rPr>
              <a:t> listen, accept </a:t>
            </a:r>
          </a:p>
          <a:p>
            <a:pPr marL="628650" marR="137160" indent="-342900" algn="just" fontAlgn="base">
              <a:spcAft>
                <a:spcPts val="1000"/>
              </a:spcAft>
              <a:buFont typeface="Wingdings" panose="05000000000000000000" pitchFamily="2" charset="2"/>
              <a:buChar char="Ø"/>
            </a:pPr>
            <a:r>
              <a:rPr kumimoji="0" lang="en-US" altLang="en-US" sz="2200" b="1" i="0" u="none" strike="noStrike" cap="none" normalizeH="0" baseline="0" dirty="0">
                <a:ln>
                  <a:noFill/>
                </a:ln>
                <a:solidFill>
                  <a:srgbClr val="273239"/>
                </a:solidFill>
                <a:effectLst/>
              </a:rPr>
              <a:t>Client Process:</a:t>
            </a:r>
            <a:r>
              <a:rPr kumimoji="0" lang="en-US" altLang="en-US" sz="2200" b="0" i="0" u="none" strike="noStrike" cap="none" normalizeH="0" baseline="0" dirty="0">
                <a:ln>
                  <a:noFill/>
                </a:ln>
                <a:solidFill>
                  <a:srgbClr val="273239"/>
                </a:solidFill>
                <a:effectLst/>
              </a:rPr>
              <a:t> issue the request, accept the response</a:t>
            </a:r>
            <a:r>
              <a:rPr kumimoji="0" lang="en-US" altLang="en-US" sz="2200" b="0" i="0" u="none" strike="noStrike" cap="none" normalizeH="0" baseline="0" dirty="0">
                <a:ln>
                  <a:noFill/>
                </a:ln>
                <a:solidFill>
                  <a:schemeClr val="tx1"/>
                </a:solidFill>
                <a:effectLst/>
              </a:rPr>
              <a:t> </a:t>
            </a:r>
          </a:p>
          <a:p>
            <a:pPr marL="628650" marR="137160" indent="-342900" algn="just" fontAlgn="base">
              <a:spcAft>
                <a:spcPts val="1000"/>
              </a:spcAft>
              <a:buFont typeface="Wingdings" panose="05000000000000000000" pitchFamily="2" charset="2"/>
              <a:buChar char="Ø"/>
            </a:pPr>
            <a:endParaRPr lang="en-US" sz="2200" b="0" i="0" dirty="0">
              <a:solidFill>
                <a:srgbClr val="464646"/>
              </a:solidFill>
              <a:effectLst/>
            </a:endParaRPr>
          </a:p>
          <a:p>
            <a:pPr marL="628650" marR="137160" indent="-342900" algn="just" fontAlgn="base">
              <a:spcAft>
                <a:spcPts val="1000"/>
              </a:spcAft>
              <a:buFont typeface="Wingdings" panose="05000000000000000000" pitchFamily="2" charset="2"/>
              <a:buChar char="Ø"/>
            </a:pPr>
            <a:endParaRPr lang="en-US" sz="2200" b="0" i="0" dirty="0">
              <a:solidFill>
                <a:srgbClr val="464646"/>
              </a:solidFill>
              <a:effectLst/>
            </a:endParaRPr>
          </a:p>
        </p:txBody>
      </p:sp>
      <p:sp>
        <p:nvSpPr>
          <p:cNvPr id="4" name="Footer Placeholder 3"/>
          <p:cNvSpPr>
            <a:spLocks noGrp="1"/>
          </p:cNvSpPr>
          <p:nvPr>
            <p:ph type="ftr" sz="quarter" idx="11"/>
          </p:nvPr>
        </p:nvSpPr>
        <p:spPr/>
        <p:txBody>
          <a:bodyPr/>
          <a:lstStyle/>
          <a:p>
            <a:r>
              <a:rPr lang="en-US"/>
              <a:t>Asst. Prof. Riddhi Joshi </a:t>
            </a:r>
          </a:p>
        </p:txBody>
      </p:sp>
      <p:sp>
        <p:nvSpPr>
          <p:cNvPr id="5" name="Slide Number Placeholder 4"/>
          <p:cNvSpPr>
            <a:spLocks noGrp="1"/>
          </p:cNvSpPr>
          <p:nvPr>
            <p:ph type="sldNum" sz="quarter" idx="12"/>
          </p:nvPr>
        </p:nvSpPr>
        <p:spPr/>
        <p:txBody>
          <a:bodyPr/>
          <a:lstStyle/>
          <a:p>
            <a:fld id="{B5F37722-C073-4E6C-82B2-DCE782874B35}" type="slidenum">
              <a:rPr lang="en-US" smtClean="0"/>
              <a:pPr/>
              <a:t>137</a:t>
            </a:fld>
            <a:endParaRPr lang="en-US"/>
          </a:p>
        </p:txBody>
      </p:sp>
      <p:sp>
        <p:nvSpPr>
          <p:cNvPr id="8" name="Title 1">
            <a:extLst>
              <a:ext uri="{FF2B5EF4-FFF2-40B4-BE49-F238E27FC236}">
                <a16:creationId xmlns:a16="http://schemas.microsoft.com/office/drawing/2014/main" id="{6F12C2AF-4431-798E-0576-19B9C10D65EB}"/>
              </a:ext>
            </a:extLst>
          </p:cNvPr>
          <p:cNvSpPr txBox="1">
            <a:spLocks/>
          </p:cNvSpPr>
          <p:nvPr/>
        </p:nvSpPr>
        <p:spPr>
          <a:xfrm>
            <a:off x="914400" y="76200"/>
            <a:ext cx="7772400" cy="533400"/>
          </a:xfrm>
          <a:prstGeom prst="rect">
            <a:avLst/>
          </a:prstGeom>
          <a:solidFill>
            <a:schemeClr val="accent2"/>
          </a:solidFill>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600" b="1">
                <a:effectLst>
                  <a:outerShdw blurRad="38100" dist="38100" dir="2700000" algn="tl">
                    <a:srgbClr val="000000">
                      <a:alpha val="43137"/>
                    </a:srgbClr>
                  </a:outerShdw>
                </a:effectLst>
                <a:latin typeface="Calibri" pitchFamily="34" charset="0"/>
              </a:rPr>
              <a:t>2 - The Client Server Paradigm</a:t>
            </a:r>
            <a:endParaRPr lang="en-US" sz="2600" b="1" dirty="0">
              <a:effectLst>
                <a:outerShdw blurRad="38100" dist="38100" dir="2700000" algn="tl">
                  <a:srgbClr val="000000">
                    <a:alpha val="43137"/>
                  </a:srgbClr>
                </a:outerShdw>
              </a:effectLst>
              <a:latin typeface="Calibri" pitchFamily="34" charset="0"/>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A34B4-62B6-F409-16DC-762A978D0549}"/>
              </a:ext>
            </a:extLst>
          </p:cNvPr>
          <p:cNvSpPr>
            <a:spLocks noGrp="1"/>
          </p:cNvSpPr>
          <p:nvPr>
            <p:ph type="title"/>
          </p:nvPr>
        </p:nvSpPr>
        <p:spPr>
          <a:xfrm>
            <a:off x="914400" y="76200"/>
            <a:ext cx="7772400" cy="533400"/>
          </a:xfrm>
          <a:solidFill>
            <a:schemeClr val="accent2"/>
          </a:solidFill>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effectLst>
                  <a:outerShdw blurRad="38100" dist="38100" dir="2700000" algn="tl">
                    <a:srgbClr val="000000">
                      <a:alpha val="43137"/>
                    </a:srgbClr>
                  </a:outerShdw>
                </a:effectLst>
                <a:latin typeface="Calibri" pitchFamily="34" charset="0"/>
              </a:rPr>
              <a:t>2 - The Client Server Paradigm</a:t>
            </a:r>
          </a:p>
        </p:txBody>
      </p:sp>
      <p:pic>
        <p:nvPicPr>
          <p:cNvPr id="5122" name="Picture 2">
            <a:extLst>
              <a:ext uri="{FF2B5EF4-FFF2-40B4-BE49-F238E27FC236}">
                <a16:creationId xmlns:a16="http://schemas.microsoft.com/office/drawing/2014/main" id="{8AC5FD9C-771D-1DEB-9386-2490CD7451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1138238"/>
            <a:ext cx="8001000" cy="45815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p:cNvSpPr>
            <a:spLocks noGrp="1"/>
          </p:cNvSpPr>
          <p:nvPr>
            <p:ph type="title"/>
          </p:nvPr>
        </p:nvSpPr>
        <p:spPr>
          <a:xfrm>
            <a:off x="914400" y="76200"/>
            <a:ext cx="7772400" cy="533400"/>
          </a:xfrm>
          <a:solidFill>
            <a:schemeClr val="accent2"/>
          </a:solidFill>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effectLst>
                  <a:outerShdw blurRad="38100" dist="38100" dir="2700000" algn="tl">
                    <a:srgbClr val="000000">
                      <a:alpha val="43137"/>
                    </a:srgbClr>
                  </a:outerShdw>
                </a:effectLst>
                <a:latin typeface="Calibri" pitchFamily="34" charset="0"/>
              </a:rPr>
              <a:t>3 - The Peer-to-Peer Paradigm</a:t>
            </a:r>
          </a:p>
        </p:txBody>
      </p:sp>
      <p:pic>
        <p:nvPicPr>
          <p:cNvPr id="2" name="Picture 2">
            <a:extLst>
              <a:ext uri="{FF2B5EF4-FFF2-40B4-BE49-F238E27FC236}">
                <a16:creationId xmlns:a16="http://schemas.microsoft.com/office/drawing/2014/main" id="{D6634A3E-77F0-B85D-EA69-4DD312023E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286" y="1419224"/>
            <a:ext cx="8920962" cy="44481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Asst. Prof. </a:t>
            </a:r>
            <a:r>
              <a:rPr lang="en-US" dirty="0" err="1"/>
              <a:t>Riddhi</a:t>
            </a:r>
            <a:r>
              <a:rPr lang="en-US" dirty="0"/>
              <a:t> Joshi </a:t>
            </a:r>
          </a:p>
        </p:txBody>
      </p:sp>
      <p:sp>
        <p:nvSpPr>
          <p:cNvPr id="5" name="Slide Number Placeholder 4"/>
          <p:cNvSpPr>
            <a:spLocks noGrp="1"/>
          </p:cNvSpPr>
          <p:nvPr>
            <p:ph type="sldNum" sz="quarter" idx="12"/>
          </p:nvPr>
        </p:nvSpPr>
        <p:spPr/>
        <p:txBody>
          <a:bodyPr/>
          <a:lstStyle/>
          <a:p>
            <a:fld id="{B5F37722-C073-4E6C-82B2-DCE782874B35}" type="slidenum">
              <a:rPr lang="en-US" smtClean="0"/>
              <a:pPr/>
              <a:t>140</a:t>
            </a:fld>
            <a:endParaRPr lang="en-US"/>
          </a:p>
        </p:txBody>
      </p:sp>
      <p:sp>
        <p:nvSpPr>
          <p:cNvPr id="9" name="Rectangle 3">
            <a:extLst>
              <a:ext uri="{FF2B5EF4-FFF2-40B4-BE49-F238E27FC236}">
                <a16:creationId xmlns:a16="http://schemas.microsoft.com/office/drawing/2014/main" id="{4EA5C2A9-B483-9C5E-5B46-0496BF33430B}"/>
              </a:ext>
            </a:extLst>
          </p:cNvPr>
          <p:cNvSpPr>
            <a:spLocks noChangeArrowheads="1"/>
          </p:cNvSpPr>
          <p:nvPr/>
        </p:nvSpPr>
        <p:spPr bwMode="auto">
          <a:xfrm>
            <a:off x="0" y="609600"/>
            <a:ext cx="9067800" cy="491412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14188" tIns="45720" rIns="136482"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rgbClr val="464646"/>
                </a:solidFill>
                <a:effectLst/>
                <a:latin typeface="+mn-lt"/>
                <a:cs typeface="Arial" panose="020B0604020202020204" pitchFamily="34" charset="0"/>
              </a:rPr>
              <a:t>In system architecture and networks, peer-to-peer is an architecture where computer resources and services are direct exchanged between computer systems.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rgbClr val="464646"/>
                </a:solidFill>
                <a:effectLst/>
                <a:latin typeface="+mn-lt"/>
                <a:cs typeface="Arial" panose="020B0604020202020204" pitchFamily="34" charset="0"/>
              </a:rPr>
              <a:t>These resources and services include the exchange of information, processing cycles, cache storage, and disk storage for files.</a:t>
            </a:r>
            <a:endParaRPr kumimoji="0" lang="en-US" altLang="en-US" sz="2200" b="0" i="0" u="none" strike="noStrike" cap="none" normalizeH="0" baseline="0" dirty="0">
              <a:ln>
                <a:noFill/>
              </a:ln>
              <a:solidFill>
                <a:schemeClr val="tx1"/>
              </a:solidFill>
              <a:effectLst/>
              <a:latin typeface="+mn-lt"/>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rgbClr val="464646"/>
                </a:solidFill>
                <a:effectLst/>
                <a:latin typeface="+mn-lt"/>
                <a:cs typeface="Arial" panose="020B0604020202020204" pitchFamily="34" charset="0"/>
              </a:rPr>
              <a:t>In such architecture, computers that have traditionally been used solely as clients communicate directly among themselves and can act as both clients and servers, assuming whatever roles are most efficient for the network.</a:t>
            </a:r>
            <a:endParaRPr kumimoji="0" lang="en-US" altLang="en-US" sz="2200" b="0" i="0" u="none" strike="noStrike" cap="none" normalizeH="0" baseline="0" dirty="0">
              <a:ln>
                <a:noFill/>
              </a:ln>
              <a:solidFill>
                <a:schemeClr val="tx1"/>
              </a:solidFill>
              <a:effectLst/>
              <a:latin typeface="+mn-lt"/>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rgbClr val="464646"/>
                </a:solidFill>
                <a:effectLst/>
                <a:latin typeface="+mn-lt"/>
                <a:cs typeface="Arial" panose="020B0604020202020204" pitchFamily="34" charset="0"/>
              </a:rPr>
              <a:t>In the peer-to-peer paradigm, the participating processes play equal roles, with equivalent capabilities and responsibilities (hence the term “peer”).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rgbClr val="464646"/>
                </a:solidFill>
                <a:effectLst/>
                <a:latin typeface="+mn-lt"/>
                <a:cs typeface="Arial" panose="020B0604020202020204" pitchFamily="34" charset="0"/>
              </a:rPr>
              <a:t>Each participant may issue a request to another participant and receive a response.</a:t>
            </a:r>
            <a:endParaRPr kumimoji="0" lang="en-US" altLang="en-US" sz="2200" b="0" i="0" u="none" strike="noStrike" cap="none" normalizeH="0" baseline="0" dirty="0">
              <a:ln>
                <a:noFill/>
              </a:ln>
              <a:solidFill>
                <a:schemeClr val="tx1"/>
              </a:solidFill>
              <a:effectLst/>
              <a:latin typeface="+mn-lt"/>
            </a:endParaRPr>
          </a:p>
        </p:txBody>
      </p:sp>
      <p:sp>
        <p:nvSpPr>
          <p:cNvPr id="7" name="Title 1">
            <a:extLst>
              <a:ext uri="{FF2B5EF4-FFF2-40B4-BE49-F238E27FC236}">
                <a16:creationId xmlns:a16="http://schemas.microsoft.com/office/drawing/2014/main" id="{BFC3CE33-6203-E0CF-74B1-49F53DDD53FC}"/>
              </a:ext>
            </a:extLst>
          </p:cNvPr>
          <p:cNvSpPr txBox="1">
            <a:spLocks/>
          </p:cNvSpPr>
          <p:nvPr/>
        </p:nvSpPr>
        <p:spPr>
          <a:xfrm>
            <a:off x="914400" y="76200"/>
            <a:ext cx="7772400" cy="533400"/>
          </a:xfrm>
          <a:prstGeom prst="rect">
            <a:avLst/>
          </a:prstGeom>
          <a:solidFill>
            <a:schemeClr val="accent2"/>
          </a:solidFill>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600" b="1" dirty="0">
                <a:effectLst>
                  <a:outerShdw blurRad="38100" dist="38100" dir="2700000" algn="tl">
                    <a:srgbClr val="000000">
                      <a:alpha val="43137"/>
                    </a:srgbClr>
                  </a:outerShdw>
                </a:effectLst>
                <a:latin typeface="Calibri" pitchFamily="34" charset="0"/>
              </a:rPr>
              <a:t>3 - The Peer-to-Peer Paradigm</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BC606B-DBD0-ED61-F4B5-28AB8548FED0}"/>
              </a:ext>
            </a:extLst>
          </p:cNvPr>
          <p:cNvSpPr>
            <a:spLocks noGrp="1"/>
          </p:cNvSpPr>
          <p:nvPr>
            <p:ph idx="1"/>
          </p:nvPr>
        </p:nvSpPr>
        <p:spPr>
          <a:xfrm>
            <a:off x="228600" y="1752600"/>
            <a:ext cx="8534400" cy="4023360"/>
          </a:xfrm>
        </p:spPr>
        <p:txBody>
          <a:bodyPr>
            <a:normAutofit/>
          </a:bodyPr>
          <a:lstStyle/>
          <a:p>
            <a:pPr algn="just">
              <a:buFont typeface="Wingdings" panose="05000000000000000000" pitchFamily="2" charset="2"/>
              <a:buChar char="Ø"/>
            </a:pPr>
            <a:r>
              <a:rPr lang="en-US" sz="2200" b="0" i="0" dirty="0">
                <a:solidFill>
                  <a:srgbClr val="464646"/>
                </a:solidFill>
                <a:effectLst/>
              </a:rPr>
              <a:t>Where the client-server paradigm is an ideal model for centralized network service, the peer-to-peer paradigm is more appropriate for applications such as instant messaging, peer-to-peer file transfers, video conferencing, and collaborative work. </a:t>
            </a:r>
          </a:p>
          <a:p>
            <a:pPr algn="just">
              <a:buFont typeface="Wingdings" panose="05000000000000000000" pitchFamily="2" charset="2"/>
              <a:buChar char="Ø"/>
            </a:pPr>
            <a:r>
              <a:rPr lang="en-US" sz="2200" b="0" i="0" dirty="0">
                <a:solidFill>
                  <a:srgbClr val="464646"/>
                </a:solidFill>
                <a:effectLst/>
              </a:rPr>
              <a:t>It is also possible for an application to be based on both the client-server model and the peer-to-peer model. </a:t>
            </a:r>
          </a:p>
          <a:p>
            <a:pPr algn="just">
              <a:buFont typeface="Wingdings" panose="05000000000000000000" pitchFamily="2" charset="2"/>
              <a:buChar char="Ø"/>
            </a:pPr>
            <a:r>
              <a:rPr lang="en-US" sz="2000" b="1" i="0" dirty="0">
                <a:solidFill>
                  <a:srgbClr val="273239"/>
                </a:solidFill>
                <a:effectLst/>
                <a:latin typeface="Nunito" pitchFamily="2" charset="0"/>
              </a:rPr>
              <a:t>Example:</a:t>
            </a:r>
            <a:r>
              <a:rPr lang="en-US" sz="2000" b="0" i="0" dirty="0">
                <a:solidFill>
                  <a:srgbClr val="273239"/>
                </a:solidFill>
                <a:effectLst/>
                <a:latin typeface="Nunito" pitchFamily="2" charset="0"/>
              </a:rPr>
              <a:t> A well-known example of a peer-to-peer file transfer.</a:t>
            </a:r>
            <a:endParaRPr lang="en-IN" sz="2200" dirty="0"/>
          </a:p>
        </p:txBody>
      </p:sp>
      <p:sp>
        <p:nvSpPr>
          <p:cNvPr id="4" name="Footer Placeholder 3">
            <a:extLst>
              <a:ext uri="{FF2B5EF4-FFF2-40B4-BE49-F238E27FC236}">
                <a16:creationId xmlns:a16="http://schemas.microsoft.com/office/drawing/2014/main" id="{6824A6FB-EBEC-A480-47B6-D34F462308A2}"/>
              </a:ext>
            </a:extLst>
          </p:cNvPr>
          <p:cNvSpPr>
            <a:spLocks noGrp="1"/>
          </p:cNvSpPr>
          <p:nvPr>
            <p:ph type="ftr" sz="quarter" idx="11"/>
          </p:nvPr>
        </p:nvSpPr>
        <p:spPr/>
        <p:txBody>
          <a:bodyPr/>
          <a:lstStyle/>
          <a:p>
            <a:r>
              <a:rPr lang="en-US"/>
              <a:t>- Assistant  Prof. Riddhi Joshi</a:t>
            </a:r>
          </a:p>
        </p:txBody>
      </p:sp>
      <p:sp>
        <p:nvSpPr>
          <p:cNvPr id="5" name="Slide Number Placeholder 4">
            <a:extLst>
              <a:ext uri="{FF2B5EF4-FFF2-40B4-BE49-F238E27FC236}">
                <a16:creationId xmlns:a16="http://schemas.microsoft.com/office/drawing/2014/main" id="{74655959-0D59-9FFA-56E3-4A0523413EF9}"/>
              </a:ext>
            </a:extLst>
          </p:cNvPr>
          <p:cNvSpPr>
            <a:spLocks noGrp="1"/>
          </p:cNvSpPr>
          <p:nvPr>
            <p:ph type="sldNum" sz="quarter" idx="12"/>
          </p:nvPr>
        </p:nvSpPr>
        <p:spPr/>
        <p:txBody>
          <a:bodyPr/>
          <a:lstStyle/>
          <a:p>
            <a:fld id="{521E5947-19AD-4D38-BBE9-7D3EA973E689}" type="slidenum">
              <a:rPr lang="en-US" smtClean="0"/>
              <a:pPr/>
              <a:t>141</a:t>
            </a:fld>
            <a:endParaRPr lang="en-US"/>
          </a:p>
        </p:txBody>
      </p:sp>
      <p:sp>
        <p:nvSpPr>
          <p:cNvPr id="2" name="Title 1">
            <a:extLst>
              <a:ext uri="{FF2B5EF4-FFF2-40B4-BE49-F238E27FC236}">
                <a16:creationId xmlns:a16="http://schemas.microsoft.com/office/drawing/2014/main" id="{03ADD7F7-E5DA-FA49-0346-F32BF564334E}"/>
              </a:ext>
            </a:extLst>
          </p:cNvPr>
          <p:cNvSpPr>
            <a:spLocks noGrp="1"/>
          </p:cNvSpPr>
          <p:nvPr>
            <p:ph type="title"/>
          </p:nvPr>
        </p:nvSpPr>
        <p:spPr>
          <a:xfrm>
            <a:off x="914400" y="76200"/>
            <a:ext cx="7772400" cy="533400"/>
          </a:xfrm>
          <a:solidFill>
            <a:schemeClr val="accent2"/>
          </a:solidFill>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effectLst>
                  <a:outerShdw blurRad="38100" dist="38100" dir="2700000" algn="tl">
                    <a:srgbClr val="000000">
                      <a:alpha val="43137"/>
                    </a:srgbClr>
                  </a:outerShdw>
                </a:effectLst>
                <a:latin typeface="Calibri" pitchFamily="34" charset="0"/>
              </a:rPr>
              <a:t>3 - The Peer-to-Peer Paradigm</a:t>
            </a:r>
          </a:p>
        </p:txBody>
      </p:sp>
    </p:spTree>
    <p:extLst>
      <p:ext uri="{BB962C8B-B14F-4D97-AF65-F5344CB8AC3E}">
        <p14:creationId xmlns:p14="http://schemas.microsoft.com/office/powerpoint/2010/main" val="187866471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D722A-45AB-9761-11F5-03B667A40606}"/>
              </a:ext>
            </a:extLst>
          </p:cNvPr>
          <p:cNvSpPr>
            <a:spLocks noGrp="1"/>
          </p:cNvSpPr>
          <p:nvPr>
            <p:ph type="title"/>
          </p:nvPr>
        </p:nvSpPr>
        <p:spPr>
          <a:xfrm>
            <a:off x="914400" y="76200"/>
            <a:ext cx="7772400" cy="533400"/>
          </a:xfrm>
          <a:solidFill>
            <a:schemeClr val="accent2"/>
          </a:solidFill>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effectLst>
                  <a:outerShdw blurRad="38100" dist="38100" dir="2700000" algn="tl">
                    <a:srgbClr val="000000">
                      <a:alpha val="43137"/>
                    </a:srgbClr>
                  </a:outerShdw>
                </a:effectLst>
                <a:latin typeface="Calibri" pitchFamily="34" charset="0"/>
              </a:rPr>
              <a:t>3 - The Peer-to-Peer Paradigm</a:t>
            </a:r>
          </a:p>
        </p:txBody>
      </p:sp>
      <p:pic>
        <p:nvPicPr>
          <p:cNvPr id="6146" name="Picture 2">
            <a:extLst>
              <a:ext uri="{FF2B5EF4-FFF2-40B4-BE49-F238E27FC236}">
                <a16:creationId xmlns:a16="http://schemas.microsoft.com/office/drawing/2014/main" id="{03B70618-C61B-35B0-40C1-BEE8E50ED7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485900"/>
            <a:ext cx="4572000" cy="3886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DBF40-F01E-FCA4-71C0-255A92B8A0C6}"/>
            </a:ext>
          </a:extLst>
        </p:cNvPr>
        <p:cNvGrpSpPr/>
        <p:nvPr/>
      </p:nvGrpSpPr>
      <p:grpSpPr>
        <a:xfrm>
          <a:off x="0" y="0"/>
          <a:ext cx="0" cy="0"/>
          <a:chOff x="0" y="0"/>
          <a:chExt cx="0" cy="0"/>
        </a:xfrm>
      </p:grpSpPr>
      <p:sp>
        <p:nvSpPr>
          <p:cNvPr id="23" name="Title 1">
            <a:extLst>
              <a:ext uri="{FF2B5EF4-FFF2-40B4-BE49-F238E27FC236}">
                <a16:creationId xmlns:a16="http://schemas.microsoft.com/office/drawing/2014/main" id="{AC63EED1-3A2B-75A4-B70E-42E8959A8EE9}"/>
              </a:ext>
            </a:extLst>
          </p:cNvPr>
          <p:cNvSpPr>
            <a:spLocks noGrp="1"/>
          </p:cNvSpPr>
          <p:nvPr>
            <p:ph type="title"/>
          </p:nvPr>
        </p:nvSpPr>
        <p:spPr>
          <a:xfrm>
            <a:off x="914400" y="76200"/>
            <a:ext cx="7772400" cy="533400"/>
          </a:xfrm>
          <a:solidFill>
            <a:schemeClr val="accent2"/>
          </a:solidFill>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effectLst>
                  <a:outerShdw blurRad="38100" dist="38100" dir="2700000" algn="tl">
                    <a:srgbClr val="000000">
                      <a:alpha val="43137"/>
                    </a:srgbClr>
                  </a:outerShdw>
                </a:effectLst>
                <a:latin typeface="Calibri" pitchFamily="34" charset="0"/>
              </a:rPr>
              <a:t>4. Message System Paradigm</a:t>
            </a:r>
          </a:p>
        </p:txBody>
      </p:sp>
      <p:pic>
        <p:nvPicPr>
          <p:cNvPr id="2" name="Picture 2">
            <a:extLst>
              <a:ext uri="{FF2B5EF4-FFF2-40B4-BE49-F238E27FC236}">
                <a16:creationId xmlns:a16="http://schemas.microsoft.com/office/drawing/2014/main" id="{C931FF54-1FD9-CC1D-B552-F33E4B88C8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286" y="1419224"/>
            <a:ext cx="8920962" cy="4448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75503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47FEB83-A799-4F8D-9CF2-C3101979C324}"/>
              </a:ext>
            </a:extLst>
          </p:cNvPr>
          <p:cNvSpPr>
            <a:spLocks noGrp="1"/>
          </p:cNvSpPr>
          <p:nvPr>
            <p:ph type="ftr" sz="quarter" idx="11"/>
          </p:nvPr>
        </p:nvSpPr>
        <p:spPr/>
        <p:txBody>
          <a:bodyPr/>
          <a:lstStyle/>
          <a:p>
            <a:r>
              <a:rPr lang="en-US"/>
              <a:t>- Assistant  Prof. Riddhi Joshi</a:t>
            </a:r>
          </a:p>
        </p:txBody>
      </p:sp>
      <p:sp>
        <p:nvSpPr>
          <p:cNvPr id="5" name="Slide Number Placeholder 4">
            <a:extLst>
              <a:ext uri="{FF2B5EF4-FFF2-40B4-BE49-F238E27FC236}">
                <a16:creationId xmlns:a16="http://schemas.microsoft.com/office/drawing/2014/main" id="{83E17D75-437C-C7D0-C9C6-C8F90A974EC4}"/>
              </a:ext>
            </a:extLst>
          </p:cNvPr>
          <p:cNvSpPr>
            <a:spLocks noGrp="1"/>
          </p:cNvSpPr>
          <p:nvPr>
            <p:ph type="sldNum" sz="quarter" idx="12"/>
          </p:nvPr>
        </p:nvSpPr>
        <p:spPr/>
        <p:txBody>
          <a:bodyPr/>
          <a:lstStyle/>
          <a:p>
            <a:fld id="{521E5947-19AD-4D38-BBE9-7D3EA973E689}" type="slidenum">
              <a:rPr lang="en-US" smtClean="0"/>
              <a:pPr/>
              <a:t>144</a:t>
            </a:fld>
            <a:endParaRPr lang="en-US"/>
          </a:p>
        </p:txBody>
      </p:sp>
      <p:sp>
        <p:nvSpPr>
          <p:cNvPr id="6" name="Title 1">
            <a:extLst>
              <a:ext uri="{FF2B5EF4-FFF2-40B4-BE49-F238E27FC236}">
                <a16:creationId xmlns:a16="http://schemas.microsoft.com/office/drawing/2014/main" id="{8A16C134-3FAC-C39A-DB4A-03D6A40E32FB}"/>
              </a:ext>
            </a:extLst>
          </p:cNvPr>
          <p:cNvSpPr txBox="1">
            <a:spLocks/>
          </p:cNvSpPr>
          <p:nvPr/>
        </p:nvSpPr>
        <p:spPr>
          <a:xfrm>
            <a:off x="914400" y="76200"/>
            <a:ext cx="7772400" cy="533400"/>
          </a:xfrm>
          <a:prstGeom prst="rect">
            <a:avLst/>
          </a:prstGeom>
          <a:solidFill>
            <a:schemeClr val="accent2"/>
          </a:solidFill>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600" b="1" dirty="0">
                <a:effectLst>
                  <a:outerShdw blurRad="38100" dist="38100" dir="2700000" algn="tl">
                    <a:srgbClr val="000000">
                      <a:alpha val="43137"/>
                    </a:srgbClr>
                  </a:outerShdw>
                </a:effectLst>
                <a:latin typeface="Calibri" pitchFamily="34" charset="0"/>
              </a:rPr>
              <a:t>4 - Message System Paradigm</a:t>
            </a:r>
          </a:p>
        </p:txBody>
      </p:sp>
      <p:sp>
        <p:nvSpPr>
          <p:cNvPr id="10" name="TextBox 9">
            <a:extLst>
              <a:ext uri="{FF2B5EF4-FFF2-40B4-BE49-F238E27FC236}">
                <a16:creationId xmlns:a16="http://schemas.microsoft.com/office/drawing/2014/main" id="{A31202D3-A641-765E-BCA2-7E207B301A8F}"/>
              </a:ext>
            </a:extLst>
          </p:cNvPr>
          <p:cNvSpPr txBox="1"/>
          <p:nvPr/>
        </p:nvSpPr>
        <p:spPr>
          <a:xfrm>
            <a:off x="304800" y="1749589"/>
            <a:ext cx="8534400" cy="2579039"/>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US" sz="2200" b="0" i="0" dirty="0">
                <a:solidFill>
                  <a:srgbClr val="273239"/>
                </a:solidFill>
                <a:effectLst/>
              </a:rPr>
              <a:t>Message system act as intermediate among independent processes. </a:t>
            </a:r>
          </a:p>
          <a:p>
            <a:pPr marL="342900" indent="-342900" algn="just">
              <a:lnSpc>
                <a:spcPct val="150000"/>
              </a:lnSpc>
              <a:buFont typeface="Wingdings" panose="05000000000000000000" pitchFamily="2" charset="2"/>
              <a:buChar char="Ø"/>
            </a:pPr>
            <a:r>
              <a:rPr lang="en-US" sz="2200" b="0" i="0" dirty="0">
                <a:solidFill>
                  <a:srgbClr val="273239"/>
                </a:solidFill>
                <a:effectLst/>
              </a:rPr>
              <a:t>It is also act as switch through which process exchange messages asynchronously in decoupled manner. </a:t>
            </a:r>
          </a:p>
          <a:p>
            <a:pPr marL="342900" indent="-342900" algn="just">
              <a:lnSpc>
                <a:spcPct val="150000"/>
              </a:lnSpc>
              <a:buFont typeface="Wingdings" panose="05000000000000000000" pitchFamily="2" charset="2"/>
              <a:buChar char="Ø"/>
            </a:pPr>
            <a:r>
              <a:rPr lang="en-US" sz="2200" b="0" i="0" dirty="0">
                <a:solidFill>
                  <a:srgbClr val="273239"/>
                </a:solidFill>
                <a:effectLst/>
              </a:rPr>
              <a:t>sender sends message which drop at first in message system then forward to message queue which is associated with the receiver</a:t>
            </a:r>
            <a:endParaRPr lang="en-IN" sz="2200" dirty="0"/>
          </a:p>
        </p:txBody>
      </p:sp>
    </p:spTree>
    <p:extLst>
      <p:ext uri="{BB962C8B-B14F-4D97-AF65-F5344CB8AC3E}">
        <p14:creationId xmlns:p14="http://schemas.microsoft.com/office/powerpoint/2010/main" val="3708830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76B7B-AEB9-97C6-550E-6B2C73DD823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9407DD5-5A8E-411A-B523-BBB7D4B14D57}"/>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44F6B9D5-CBDD-A35B-C405-07E1EA053E10}"/>
              </a:ext>
            </a:extLst>
          </p:cNvPr>
          <p:cNvSpPr>
            <a:spLocks noGrp="1"/>
          </p:cNvSpPr>
          <p:nvPr>
            <p:ph type="ftr" sz="quarter" idx="11"/>
          </p:nvPr>
        </p:nvSpPr>
        <p:spPr/>
        <p:txBody>
          <a:bodyPr/>
          <a:lstStyle/>
          <a:p>
            <a:r>
              <a:rPr lang="en-US"/>
              <a:t>- Assistant  Prof. Riddhi Joshi</a:t>
            </a:r>
          </a:p>
        </p:txBody>
      </p:sp>
      <p:sp>
        <p:nvSpPr>
          <p:cNvPr id="5" name="Slide Number Placeholder 4">
            <a:extLst>
              <a:ext uri="{FF2B5EF4-FFF2-40B4-BE49-F238E27FC236}">
                <a16:creationId xmlns:a16="http://schemas.microsoft.com/office/drawing/2014/main" id="{A29051D5-F05D-849A-55AD-6C7F77CBD40D}"/>
              </a:ext>
            </a:extLst>
          </p:cNvPr>
          <p:cNvSpPr>
            <a:spLocks noGrp="1"/>
          </p:cNvSpPr>
          <p:nvPr>
            <p:ph type="sldNum" sz="quarter" idx="12"/>
          </p:nvPr>
        </p:nvSpPr>
        <p:spPr/>
        <p:txBody>
          <a:bodyPr/>
          <a:lstStyle/>
          <a:p>
            <a:fld id="{521E5947-19AD-4D38-BBE9-7D3EA973E689}" type="slidenum">
              <a:rPr lang="en-US" smtClean="0"/>
              <a:pPr/>
              <a:t>145</a:t>
            </a:fld>
            <a:endParaRPr lang="en-US"/>
          </a:p>
        </p:txBody>
      </p:sp>
      <p:pic>
        <p:nvPicPr>
          <p:cNvPr id="1026" name="Picture 2">
            <a:extLst>
              <a:ext uri="{FF2B5EF4-FFF2-40B4-BE49-F238E27FC236}">
                <a16:creationId xmlns:a16="http://schemas.microsoft.com/office/drawing/2014/main" id="{9D1564FC-25A9-4CF0-07D0-5A9B5CA1C6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988" y="1009650"/>
            <a:ext cx="8582025" cy="483870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0646D938-626B-6BDF-F074-EF3E54040164}"/>
              </a:ext>
            </a:extLst>
          </p:cNvPr>
          <p:cNvSpPr txBox="1">
            <a:spLocks/>
          </p:cNvSpPr>
          <p:nvPr/>
        </p:nvSpPr>
        <p:spPr>
          <a:xfrm>
            <a:off x="914400" y="76200"/>
            <a:ext cx="7772400" cy="533400"/>
          </a:xfrm>
          <a:prstGeom prst="rect">
            <a:avLst/>
          </a:prstGeom>
          <a:solidFill>
            <a:schemeClr val="accent2"/>
          </a:solidFill>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600" b="1" dirty="0">
                <a:effectLst>
                  <a:outerShdw blurRad="38100" dist="38100" dir="2700000" algn="tl">
                    <a:srgbClr val="000000">
                      <a:alpha val="43137"/>
                    </a:srgbClr>
                  </a:outerShdw>
                </a:effectLst>
                <a:latin typeface="Calibri" pitchFamily="34" charset="0"/>
              </a:rPr>
              <a:t>4 - Message System Paradigm</a:t>
            </a:r>
          </a:p>
        </p:txBody>
      </p:sp>
    </p:spTree>
    <p:extLst>
      <p:ext uri="{BB962C8B-B14F-4D97-AF65-F5344CB8AC3E}">
        <p14:creationId xmlns:p14="http://schemas.microsoft.com/office/powerpoint/2010/main" val="219471958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BE6B147-68A6-8AC7-F8B6-EDE0A1DDF72B}"/>
              </a:ext>
            </a:extLst>
          </p:cNvPr>
          <p:cNvSpPr>
            <a:spLocks noGrp="1"/>
          </p:cNvSpPr>
          <p:nvPr>
            <p:ph type="ftr" sz="quarter" idx="11"/>
          </p:nvPr>
        </p:nvSpPr>
        <p:spPr/>
        <p:txBody>
          <a:bodyPr/>
          <a:lstStyle/>
          <a:p>
            <a:r>
              <a:rPr lang="en-US"/>
              <a:t>- Assistant  Prof. Riddhi Joshi</a:t>
            </a:r>
          </a:p>
        </p:txBody>
      </p:sp>
      <p:sp>
        <p:nvSpPr>
          <p:cNvPr id="5" name="Slide Number Placeholder 4">
            <a:extLst>
              <a:ext uri="{FF2B5EF4-FFF2-40B4-BE49-F238E27FC236}">
                <a16:creationId xmlns:a16="http://schemas.microsoft.com/office/drawing/2014/main" id="{EE340A31-9F39-6FF9-CD78-85203A68A634}"/>
              </a:ext>
            </a:extLst>
          </p:cNvPr>
          <p:cNvSpPr>
            <a:spLocks noGrp="1"/>
          </p:cNvSpPr>
          <p:nvPr>
            <p:ph type="sldNum" sz="quarter" idx="12"/>
          </p:nvPr>
        </p:nvSpPr>
        <p:spPr/>
        <p:txBody>
          <a:bodyPr/>
          <a:lstStyle/>
          <a:p>
            <a:fld id="{521E5947-19AD-4D38-BBE9-7D3EA973E689}" type="slidenum">
              <a:rPr lang="en-US" smtClean="0"/>
              <a:pPr/>
              <a:t>146</a:t>
            </a:fld>
            <a:endParaRPr lang="en-US"/>
          </a:p>
        </p:txBody>
      </p:sp>
      <p:sp>
        <p:nvSpPr>
          <p:cNvPr id="9" name="TextBox 8">
            <a:extLst>
              <a:ext uri="{FF2B5EF4-FFF2-40B4-BE49-F238E27FC236}">
                <a16:creationId xmlns:a16="http://schemas.microsoft.com/office/drawing/2014/main" id="{79489FB1-3D42-85B2-4754-58269A6436F1}"/>
              </a:ext>
            </a:extLst>
          </p:cNvPr>
          <p:cNvSpPr txBox="1"/>
          <p:nvPr/>
        </p:nvSpPr>
        <p:spPr>
          <a:xfrm>
            <a:off x="152400" y="990600"/>
            <a:ext cx="8686800" cy="4815549"/>
          </a:xfrm>
          <a:prstGeom prst="rect">
            <a:avLst/>
          </a:prstGeom>
          <a:noFill/>
        </p:spPr>
        <p:txBody>
          <a:bodyPr wrap="square">
            <a:spAutoFit/>
          </a:bodyPr>
          <a:lstStyle/>
          <a:p>
            <a:pPr marL="628650" marR="137160" indent="-342900" algn="just" fontAlgn="base">
              <a:lnSpc>
                <a:spcPct val="150000"/>
              </a:lnSpc>
              <a:spcAft>
                <a:spcPts val="1000"/>
              </a:spcAft>
              <a:buFont typeface="Wingdings" panose="05000000000000000000" pitchFamily="2" charset="2"/>
              <a:buChar char="Ø"/>
            </a:pPr>
            <a:r>
              <a:rPr lang="en-US" sz="2200" b="0" i="0" dirty="0">
                <a:solidFill>
                  <a:srgbClr val="464646"/>
                </a:solidFill>
                <a:effectLst/>
              </a:rPr>
              <a:t>There are two main subtypes of message system models</a:t>
            </a:r>
          </a:p>
          <a:p>
            <a:pPr marL="283210" marR="137160" algn="just" fontAlgn="base">
              <a:lnSpc>
                <a:spcPct val="150000"/>
              </a:lnSpc>
              <a:spcAft>
                <a:spcPts val="600"/>
              </a:spcAft>
            </a:pPr>
            <a:r>
              <a:rPr lang="en-US" sz="2200" b="0" i="0" dirty="0">
                <a:solidFill>
                  <a:srgbClr val="464646"/>
                </a:solidFill>
                <a:effectLst/>
              </a:rPr>
              <a:t>1)      The Point-To-Point Message Model</a:t>
            </a:r>
          </a:p>
          <a:p>
            <a:pPr marL="283210" marR="137160" algn="just" fontAlgn="base">
              <a:lnSpc>
                <a:spcPct val="150000"/>
              </a:lnSpc>
            </a:pPr>
            <a:r>
              <a:rPr lang="en-US" sz="2200" b="0" i="0" dirty="0">
                <a:solidFill>
                  <a:srgbClr val="464646"/>
                </a:solidFill>
                <a:effectLst/>
              </a:rPr>
              <a:t>2)      The Publish/Subscribe Message Model</a:t>
            </a:r>
          </a:p>
          <a:p>
            <a:pPr marL="740410" marR="137160" indent="-457200" algn="just" fontAlgn="base">
              <a:lnSpc>
                <a:spcPct val="150000"/>
              </a:lnSpc>
              <a:buAutoNum type="arabicParenR"/>
            </a:pPr>
            <a:r>
              <a:rPr lang="en-US" sz="2200" b="1" i="0" dirty="0">
                <a:solidFill>
                  <a:srgbClr val="273239"/>
                </a:solidFill>
                <a:effectLst/>
              </a:rPr>
              <a:t>Point to Point message model:</a:t>
            </a:r>
            <a:r>
              <a:rPr lang="en-US" sz="2200" b="0" i="0" dirty="0">
                <a:solidFill>
                  <a:srgbClr val="273239"/>
                </a:solidFill>
                <a:effectLst/>
              </a:rPr>
              <a:t> </a:t>
            </a:r>
          </a:p>
          <a:p>
            <a:pPr marL="626110" marR="137160" indent="-342900" algn="just" fontAlgn="base">
              <a:lnSpc>
                <a:spcPct val="150000"/>
              </a:lnSpc>
              <a:buFont typeface="Wingdings" panose="05000000000000000000" pitchFamily="2" charset="2"/>
              <a:buChar char="Ø"/>
            </a:pPr>
            <a:r>
              <a:rPr lang="en-US" sz="2200" b="0" i="0" dirty="0">
                <a:solidFill>
                  <a:srgbClr val="273239"/>
                </a:solidFill>
                <a:effectLst/>
              </a:rPr>
              <a:t>Forward message from sender to receiver via message system. </a:t>
            </a:r>
          </a:p>
          <a:p>
            <a:pPr marL="626110" marR="137160" indent="-342900" algn="just" fontAlgn="base">
              <a:lnSpc>
                <a:spcPct val="150000"/>
              </a:lnSpc>
              <a:buFont typeface="Wingdings" panose="05000000000000000000" pitchFamily="2" charset="2"/>
              <a:buChar char="Ø"/>
            </a:pPr>
            <a:r>
              <a:rPr lang="en-US" sz="2200" b="0" i="0" dirty="0">
                <a:solidFill>
                  <a:srgbClr val="273239"/>
                </a:solidFill>
                <a:effectLst/>
              </a:rPr>
              <a:t>The message system keeps repository of messages and directly forward messages to the receiver’s message queue. </a:t>
            </a:r>
          </a:p>
          <a:p>
            <a:pPr marL="626110" marR="137160" indent="-342900" algn="just" fontAlgn="base">
              <a:lnSpc>
                <a:spcPct val="150000"/>
              </a:lnSpc>
              <a:buFont typeface="Wingdings" panose="05000000000000000000" pitchFamily="2" charset="2"/>
              <a:buChar char="Ø"/>
            </a:pPr>
            <a:r>
              <a:rPr lang="en-US" sz="2200" b="0" i="0" dirty="0">
                <a:solidFill>
                  <a:srgbClr val="273239"/>
                </a:solidFill>
                <a:effectLst/>
              </a:rPr>
              <a:t>Unlike the basic message-passing model, it provides asynchronous message passing. </a:t>
            </a:r>
            <a:endParaRPr lang="en-US" sz="2200" b="0" i="0" dirty="0">
              <a:solidFill>
                <a:srgbClr val="464646"/>
              </a:solidFill>
              <a:effectLst/>
            </a:endParaRPr>
          </a:p>
        </p:txBody>
      </p:sp>
      <p:sp>
        <p:nvSpPr>
          <p:cNvPr id="3" name="Title 1">
            <a:extLst>
              <a:ext uri="{FF2B5EF4-FFF2-40B4-BE49-F238E27FC236}">
                <a16:creationId xmlns:a16="http://schemas.microsoft.com/office/drawing/2014/main" id="{3D4E8128-9D28-F21F-26B1-88C75B37757A}"/>
              </a:ext>
            </a:extLst>
          </p:cNvPr>
          <p:cNvSpPr txBox="1">
            <a:spLocks/>
          </p:cNvSpPr>
          <p:nvPr/>
        </p:nvSpPr>
        <p:spPr>
          <a:xfrm>
            <a:off x="914400" y="76200"/>
            <a:ext cx="7772400" cy="533400"/>
          </a:xfrm>
          <a:prstGeom prst="rect">
            <a:avLst/>
          </a:prstGeom>
          <a:solidFill>
            <a:schemeClr val="accent2"/>
          </a:solidFill>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600" b="1" dirty="0">
                <a:effectLst>
                  <a:outerShdw blurRad="38100" dist="38100" dir="2700000" algn="tl">
                    <a:srgbClr val="000000">
                      <a:alpha val="43137"/>
                    </a:srgbClr>
                  </a:outerShdw>
                </a:effectLst>
                <a:latin typeface="Calibri" pitchFamily="34" charset="0"/>
              </a:rPr>
              <a:t>4 - Message System Paradigm</a:t>
            </a:r>
          </a:p>
        </p:txBody>
      </p:sp>
    </p:spTree>
    <p:extLst>
      <p:ext uri="{BB962C8B-B14F-4D97-AF65-F5344CB8AC3E}">
        <p14:creationId xmlns:p14="http://schemas.microsoft.com/office/powerpoint/2010/main" val="363514849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DE22F2-8107-604D-99D1-862C98ECE857}"/>
              </a:ext>
            </a:extLst>
          </p:cNvPr>
          <p:cNvSpPr>
            <a:spLocks noGrp="1"/>
          </p:cNvSpPr>
          <p:nvPr>
            <p:ph idx="1"/>
          </p:nvPr>
        </p:nvSpPr>
        <p:spPr>
          <a:xfrm>
            <a:off x="533400" y="1828800"/>
            <a:ext cx="8382000" cy="4419600"/>
          </a:xfrm>
        </p:spPr>
        <p:txBody>
          <a:bodyPr>
            <a:noAutofit/>
          </a:bodyPr>
          <a:lstStyle/>
          <a:p>
            <a:pPr marL="0" indent="0">
              <a:lnSpc>
                <a:spcPct val="150000"/>
              </a:lnSpc>
              <a:buNone/>
            </a:pPr>
            <a:r>
              <a:rPr lang="en-US" sz="2200" b="1" i="0" dirty="0">
                <a:solidFill>
                  <a:srgbClr val="273239"/>
                </a:solidFill>
                <a:effectLst/>
              </a:rPr>
              <a:t>2) Public/Subscribe Model:</a:t>
            </a:r>
            <a:r>
              <a:rPr lang="en-US" sz="2200" b="0" i="0" dirty="0">
                <a:solidFill>
                  <a:srgbClr val="273239"/>
                </a:solidFill>
                <a:effectLst/>
              </a:rPr>
              <a:t> </a:t>
            </a:r>
          </a:p>
          <a:p>
            <a:pPr>
              <a:lnSpc>
                <a:spcPct val="150000"/>
              </a:lnSpc>
              <a:buFont typeface="Wingdings" panose="05000000000000000000" pitchFamily="2" charset="2"/>
              <a:buChar char="Ø"/>
            </a:pPr>
            <a:r>
              <a:rPr lang="en-US" sz="2200" dirty="0"/>
              <a:t> In </a:t>
            </a:r>
            <a:r>
              <a:rPr lang="en-US" sz="2200" b="0" i="0" dirty="0">
                <a:solidFill>
                  <a:srgbClr val="273239"/>
                </a:solidFill>
                <a:effectLst/>
              </a:rPr>
              <a:t>this model, each message is associated with a specific topic or event. whoever interest in the messages can subscribe to the event before it occurs. </a:t>
            </a:r>
          </a:p>
          <a:p>
            <a:pPr algn="just">
              <a:lnSpc>
                <a:spcPct val="150000"/>
              </a:lnSpc>
              <a:buFont typeface="Wingdings" panose="05000000000000000000" pitchFamily="2" charset="2"/>
              <a:buChar char="Ø"/>
            </a:pPr>
            <a:r>
              <a:rPr lang="en-US" sz="2200" b="0" i="0" dirty="0">
                <a:solidFill>
                  <a:srgbClr val="273239"/>
                </a:solidFill>
                <a:effectLst/>
              </a:rPr>
              <a:t>When the waited event occurs, the process publishes the message with an event or topic. Then the message system distributes messages to all the subscribers. </a:t>
            </a:r>
            <a:br>
              <a:rPr lang="en-US" sz="2200" dirty="0"/>
            </a:br>
            <a:r>
              <a:rPr lang="en-US" sz="2200" b="1" i="0" dirty="0">
                <a:solidFill>
                  <a:srgbClr val="273239"/>
                </a:solidFill>
                <a:effectLst/>
              </a:rPr>
              <a:t>Example:</a:t>
            </a:r>
            <a:r>
              <a:rPr lang="en-US" sz="2200" b="0" i="0" dirty="0">
                <a:solidFill>
                  <a:srgbClr val="273239"/>
                </a:solidFill>
                <a:effectLst/>
              </a:rPr>
              <a:t> IBM MQ service, Microsoft Message Queuing</a:t>
            </a:r>
            <a:endParaRPr lang="en-IN" sz="2200" dirty="0"/>
          </a:p>
        </p:txBody>
      </p:sp>
      <p:sp>
        <p:nvSpPr>
          <p:cNvPr id="4" name="Footer Placeholder 3">
            <a:extLst>
              <a:ext uri="{FF2B5EF4-FFF2-40B4-BE49-F238E27FC236}">
                <a16:creationId xmlns:a16="http://schemas.microsoft.com/office/drawing/2014/main" id="{86867285-17B3-1897-CD57-633B2960873D}"/>
              </a:ext>
            </a:extLst>
          </p:cNvPr>
          <p:cNvSpPr>
            <a:spLocks noGrp="1"/>
          </p:cNvSpPr>
          <p:nvPr>
            <p:ph type="ftr" sz="quarter" idx="11"/>
          </p:nvPr>
        </p:nvSpPr>
        <p:spPr/>
        <p:txBody>
          <a:bodyPr/>
          <a:lstStyle/>
          <a:p>
            <a:r>
              <a:rPr lang="en-US"/>
              <a:t>- Assistant  Prof. Riddhi Joshi</a:t>
            </a:r>
          </a:p>
        </p:txBody>
      </p:sp>
      <p:sp>
        <p:nvSpPr>
          <p:cNvPr id="5" name="Slide Number Placeholder 4">
            <a:extLst>
              <a:ext uri="{FF2B5EF4-FFF2-40B4-BE49-F238E27FC236}">
                <a16:creationId xmlns:a16="http://schemas.microsoft.com/office/drawing/2014/main" id="{2701F5B5-166F-143B-F373-586E4A90A8F6}"/>
              </a:ext>
            </a:extLst>
          </p:cNvPr>
          <p:cNvSpPr>
            <a:spLocks noGrp="1"/>
          </p:cNvSpPr>
          <p:nvPr>
            <p:ph type="sldNum" sz="quarter" idx="12"/>
          </p:nvPr>
        </p:nvSpPr>
        <p:spPr/>
        <p:txBody>
          <a:bodyPr/>
          <a:lstStyle/>
          <a:p>
            <a:fld id="{521E5947-19AD-4D38-BBE9-7D3EA973E689}" type="slidenum">
              <a:rPr lang="en-US" smtClean="0"/>
              <a:pPr/>
              <a:t>147</a:t>
            </a:fld>
            <a:endParaRPr lang="en-US"/>
          </a:p>
        </p:txBody>
      </p:sp>
      <p:sp>
        <p:nvSpPr>
          <p:cNvPr id="6" name="Title 1">
            <a:extLst>
              <a:ext uri="{FF2B5EF4-FFF2-40B4-BE49-F238E27FC236}">
                <a16:creationId xmlns:a16="http://schemas.microsoft.com/office/drawing/2014/main" id="{BB6DDD36-CC29-5E1D-DFD7-5A7D164E1C69}"/>
              </a:ext>
            </a:extLst>
          </p:cNvPr>
          <p:cNvSpPr txBox="1">
            <a:spLocks/>
          </p:cNvSpPr>
          <p:nvPr/>
        </p:nvSpPr>
        <p:spPr>
          <a:xfrm>
            <a:off x="914400" y="76200"/>
            <a:ext cx="7772400" cy="533400"/>
          </a:xfrm>
          <a:prstGeom prst="rect">
            <a:avLst/>
          </a:prstGeom>
          <a:solidFill>
            <a:schemeClr val="accent2"/>
          </a:solidFill>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600" b="1" dirty="0">
                <a:effectLst>
                  <a:outerShdw blurRad="38100" dist="38100" dir="2700000" algn="tl">
                    <a:srgbClr val="000000">
                      <a:alpha val="43137"/>
                    </a:srgbClr>
                  </a:outerShdw>
                </a:effectLst>
                <a:latin typeface="Calibri" pitchFamily="34" charset="0"/>
              </a:rPr>
              <a:t>4 - Message System Paradigm</a:t>
            </a:r>
          </a:p>
        </p:txBody>
      </p:sp>
    </p:spTree>
    <p:extLst>
      <p:ext uri="{BB962C8B-B14F-4D97-AF65-F5344CB8AC3E}">
        <p14:creationId xmlns:p14="http://schemas.microsoft.com/office/powerpoint/2010/main" val="1441737820"/>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p:cNvSpPr txBox="1">
            <a:spLocks/>
          </p:cNvSpPr>
          <p:nvPr/>
        </p:nvSpPr>
        <p:spPr>
          <a:xfrm>
            <a:off x="914400" y="76200"/>
            <a:ext cx="7772400" cy="457200"/>
          </a:xfrm>
          <a:prstGeom prst="rect">
            <a:avLst/>
          </a:prstGeom>
          <a:solidFill>
            <a:schemeClr val="accent2"/>
          </a:solidFill>
        </p:spPr>
        <p:style>
          <a:lnRef idx="3">
            <a:schemeClr val="lt1"/>
          </a:lnRef>
          <a:fillRef idx="1">
            <a:schemeClr val="accent1"/>
          </a:fillRef>
          <a:effectRef idx="1">
            <a:schemeClr val="accent1"/>
          </a:effectRef>
          <a:fontRef idx="minor">
            <a:schemeClr val="lt1"/>
          </a:fontRef>
        </p:style>
        <p:txBody>
          <a:bodyPr bIns="91440" anchor="b" anchorCtr="0">
            <a:normAutofit fontScale="90000" lnSpcReduction="1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dirty="0">
                <a:ln>
                  <a:noFill/>
                </a:ln>
                <a:solidFill>
                  <a:schemeClr val="lt1"/>
                </a:solidFill>
                <a:effectLst/>
                <a:uLnTx/>
                <a:uFillTx/>
                <a:latin typeface="Calibri" pitchFamily="34" charset="0"/>
                <a:ea typeface="+mn-ea"/>
                <a:cs typeface="+mn-cs"/>
              </a:rPr>
              <a:t>5 - Remote Procedure Call Model</a:t>
            </a:r>
          </a:p>
        </p:txBody>
      </p:sp>
      <p:pic>
        <p:nvPicPr>
          <p:cNvPr id="2" name="Picture 2">
            <a:extLst>
              <a:ext uri="{FF2B5EF4-FFF2-40B4-BE49-F238E27FC236}">
                <a16:creationId xmlns:a16="http://schemas.microsoft.com/office/drawing/2014/main" id="{2F4D096A-2940-7933-AC25-9C3C143BB1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286" y="1419224"/>
            <a:ext cx="8920962" cy="44481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Asst. Prof. Riddhi Joshi </a:t>
            </a:r>
          </a:p>
        </p:txBody>
      </p:sp>
      <p:sp>
        <p:nvSpPr>
          <p:cNvPr id="5" name="Slide Number Placeholder 4"/>
          <p:cNvSpPr>
            <a:spLocks noGrp="1"/>
          </p:cNvSpPr>
          <p:nvPr>
            <p:ph type="sldNum" sz="quarter" idx="12"/>
          </p:nvPr>
        </p:nvSpPr>
        <p:spPr/>
        <p:txBody>
          <a:bodyPr/>
          <a:lstStyle/>
          <a:p>
            <a:fld id="{B5F37722-C073-4E6C-82B2-DCE782874B35}" type="slidenum">
              <a:rPr lang="en-US" smtClean="0"/>
              <a:pPr/>
              <a:t>149</a:t>
            </a:fld>
            <a:endParaRPr lang="en-US"/>
          </a:p>
        </p:txBody>
      </p:sp>
      <p:sp>
        <p:nvSpPr>
          <p:cNvPr id="8" name="Title 1">
            <a:extLst>
              <a:ext uri="{FF2B5EF4-FFF2-40B4-BE49-F238E27FC236}">
                <a16:creationId xmlns:a16="http://schemas.microsoft.com/office/drawing/2014/main" id="{F26413DA-A1FA-4BC2-4652-DED533C124B8}"/>
              </a:ext>
            </a:extLst>
          </p:cNvPr>
          <p:cNvSpPr txBox="1">
            <a:spLocks/>
          </p:cNvSpPr>
          <p:nvPr/>
        </p:nvSpPr>
        <p:spPr>
          <a:xfrm>
            <a:off x="914400" y="76200"/>
            <a:ext cx="7772400" cy="457200"/>
          </a:xfrm>
          <a:prstGeom prst="rect">
            <a:avLst/>
          </a:prstGeom>
          <a:solidFill>
            <a:schemeClr val="accent2"/>
          </a:solidFill>
        </p:spPr>
        <p:style>
          <a:lnRef idx="3">
            <a:schemeClr val="lt1"/>
          </a:lnRef>
          <a:fillRef idx="1">
            <a:schemeClr val="accent1"/>
          </a:fillRef>
          <a:effectRef idx="1">
            <a:schemeClr val="accent1"/>
          </a:effectRef>
          <a:fontRef idx="minor">
            <a:schemeClr val="lt1"/>
          </a:fontRef>
        </p:style>
        <p:txBody>
          <a:bodyPr bIns="91440" anchor="b" anchorCtr="0">
            <a:normAutofit fontScale="90000" lnSpcReduction="1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dirty="0">
                <a:ln>
                  <a:noFill/>
                </a:ln>
                <a:solidFill>
                  <a:schemeClr val="lt1"/>
                </a:solidFill>
                <a:effectLst/>
                <a:uLnTx/>
                <a:uFillTx/>
                <a:latin typeface="Calibri" pitchFamily="34" charset="0"/>
                <a:ea typeface="+mn-ea"/>
                <a:cs typeface="+mn-cs"/>
              </a:rPr>
              <a:t>5 - Remote Procedure Call Model</a:t>
            </a:r>
          </a:p>
        </p:txBody>
      </p:sp>
      <p:pic>
        <p:nvPicPr>
          <p:cNvPr id="2050" name="Picture 2">
            <a:extLst>
              <a:ext uri="{FF2B5EF4-FFF2-40B4-BE49-F238E27FC236}">
                <a16:creationId xmlns:a16="http://schemas.microsoft.com/office/drawing/2014/main" id="{91ED90EE-602F-ED89-CCF0-67E2720EA5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71" y="696914"/>
            <a:ext cx="8969829" cy="433228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B0724B81-4803-77AC-1CDA-43DEE0B5C6BA}"/>
              </a:ext>
            </a:extLst>
          </p:cNvPr>
          <p:cNvSpPr txBox="1"/>
          <p:nvPr/>
        </p:nvSpPr>
        <p:spPr>
          <a:xfrm>
            <a:off x="-32657" y="5410200"/>
            <a:ext cx="9024257" cy="769441"/>
          </a:xfrm>
          <a:prstGeom prst="rect">
            <a:avLst/>
          </a:prstGeom>
          <a:noFill/>
        </p:spPr>
        <p:txBody>
          <a:bodyPr wrap="square">
            <a:spAutoFit/>
          </a:bodyPr>
          <a:lstStyle/>
          <a:p>
            <a:pPr marL="342900" indent="-342900">
              <a:buFont typeface="Wingdings" panose="05000000000000000000" pitchFamily="2" charset="2"/>
              <a:buChar char="Ø"/>
            </a:pPr>
            <a:r>
              <a:rPr lang="en-US" sz="2200" b="0" i="0" dirty="0">
                <a:solidFill>
                  <a:srgbClr val="273239"/>
                </a:solidFill>
                <a:effectLst/>
                <a:latin typeface="Calibri" panose="020F0502020204030204" pitchFamily="34" charset="0"/>
                <a:cs typeface="Calibri" panose="020F0502020204030204" pitchFamily="34" charset="0"/>
              </a:rPr>
              <a:t>Local procedure call happens only within a local machine. </a:t>
            </a:r>
          </a:p>
          <a:p>
            <a:pPr marL="342900" indent="-342900">
              <a:buFont typeface="Wingdings" panose="05000000000000000000" pitchFamily="2" charset="2"/>
              <a:buChar char="Ø"/>
            </a:pPr>
            <a:r>
              <a:rPr lang="en-US" sz="2200" b="0" i="0" dirty="0">
                <a:solidFill>
                  <a:srgbClr val="273239"/>
                </a:solidFill>
                <a:effectLst/>
                <a:latin typeface="Calibri" panose="020F0502020204030204" pitchFamily="34" charset="0"/>
                <a:cs typeface="Calibri" panose="020F0502020204030204" pitchFamily="34" charset="0"/>
              </a:rPr>
              <a:t>Remote Procedure call(RPC) happens between two remote machines.</a:t>
            </a:r>
            <a:endParaRPr lang="en-IN" sz="2200" dirty="0">
              <a:latin typeface="Calibri" panose="020F0502020204030204" pitchFamily="34" charset="0"/>
              <a:cs typeface="Calibri" panose="020F0502020204030204" pitchFamily="34" charset="0"/>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EF435-406B-74E7-2D5D-CD8B9C12EC61}"/>
              </a:ext>
            </a:extLst>
          </p:cNvPr>
          <p:cNvSpPr txBox="1">
            <a:spLocks/>
          </p:cNvSpPr>
          <p:nvPr/>
        </p:nvSpPr>
        <p:spPr>
          <a:xfrm>
            <a:off x="914400" y="76200"/>
            <a:ext cx="7772400" cy="457200"/>
          </a:xfrm>
          <a:prstGeom prst="rect">
            <a:avLst/>
          </a:prstGeom>
          <a:solidFill>
            <a:schemeClr val="accent2"/>
          </a:solidFill>
        </p:spPr>
        <p:style>
          <a:lnRef idx="3">
            <a:schemeClr val="lt1"/>
          </a:lnRef>
          <a:fillRef idx="1">
            <a:schemeClr val="accent1"/>
          </a:fillRef>
          <a:effectRef idx="1">
            <a:schemeClr val="accent1"/>
          </a:effectRef>
          <a:fontRef idx="minor">
            <a:schemeClr val="lt1"/>
          </a:fontRef>
        </p:style>
        <p:txBody>
          <a:bodyPr bIns="91440" anchor="b" anchorCtr="0">
            <a:normAutofit fontScale="90000" lnSpcReduction="1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dirty="0">
                <a:ln>
                  <a:noFill/>
                </a:ln>
                <a:solidFill>
                  <a:schemeClr val="lt1"/>
                </a:solidFill>
                <a:effectLst/>
                <a:uLnTx/>
                <a:uFillTx/>
                <a:latin typeface="Calibri" pitchFamily="34" charset="0"/>
                <a:ea typeface="+mn-ea"/>
                <a:cs typeface="+mn-cs"/>
              </a:rPr>
              <a:t>5 - Remote Procedure Call Model</a:t>
            </a:r>
          </a:p>
        </p:txBody>
      </p:sp>
      <p:pic>
        <p:nvPicPr>
          <p:cNvPr id="3074" name="Picture 2">
            <a:extLst>
              <a:ext uri="{FF2B5EF4-FFF2-40B4-BE49-F238E27FC236}">
                <a16:creationId xmlns:a16="http://schemas.microsoft.com/office/drawing/2014/main" id="{8AB1793A-E526-0FEF-52FA-B0A10F3AB6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914400"/>
            <a:ext cx="8077200" cy="36957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914400"/>
            <a:ext cx="8610600" cy="4572000"/>
          </a:xfrm>
        </p:spPr>
        <p:style>
          <a:lnRef idx="2">
            <a:schemeClr val="accent1"/>
          </a:lnRef>
          <a:fillRef idx="1">
            <a:schemeClr val="lt1"/>
          </a:fillRef>
          <a:effectRef idx="0">
            <a:schemeClr val="accent1"/>
          </a:effectRef>
          <a:fontRef idx="minor">
            <a:schemeClr val="dk1"/>
          </a:fontRef>
        </p:style>
        <p:txBody>
          <a:bodyPr>
            <a:normAutofit/>
          </a:bodyPr>
          <a:lstStyle/>
          <a:p>
            <a:pPr algn="just">
              <a:lnSpc>
                <a:spcPct val="150000"/>
              </a:lnSpc>
              <a:buFont typeface="Wingdings" panose="05000000000000000000" pitchFamily="2" charset="2"/>
              <a:buChar char="Ø"/>
            </a:pPr>
            <a:r>
              <a:rPr lang="en-US" sz="2200" b="0" i="0" dirty="0">
                <a:solidFill>
                  <a:srgbClr val="273239"/>
                </a:solidFill>
                <a:effectLst/>
                <a:latin typeface="Calibri" panose="020F0502020204030204" pitchFamily="34" charset="0"/>
                <a:cs typeface="Calibri" panose="020F0502020204030204" pitchFamily="34" charset="0"/>
              </a:rPr>
              <a:t>RPC involves two independent processes that may reside on a separate machine. </a:t>
            </a:r>
          </a:p>
          <a:p>
            <a:pPr algn="just">
              <a:lnSpc>
                <a:spcPct val="150000"/>
              </a:lnSpc>
              <a:buFont typeface="Wingdings" panose="05000000000000000000" pitchFamily="2" charset="2"/>
              <a:buChar char="Ø"/>
            </a:pPr>
            <a:r>
              <a:rPr lang="en-US" sz="2200" b="0" i="0" dirty="0">
                <a:solidFill>
                  <a:srgbClr val="273239"/>
                </a:solidFill>
                <a:effectLst/>
                <a:latin typeface="Calibri" panose="020F0502020204030204" pitchFamily="34" charset="0"/>
                <a:cs typeface="Calibri" panose="020F0502020204030204" pitchFamily="34" charset="0"/>
              </a:rPr>
              <a:t>Process A wishing to make a request process B for procedure call with a list of arguments. </a:t>
            </a:r>
          </a:p>
          <a:p>
            <a:pPr algn="just">
              <a:lnSpc>
                <a:spcPct val="150000"/>
              </a:lnSpc>
              <a:buFont typeface="Wingdings" panose="05000000000000000000" pitchFamily="2" charset="2"/>
              <a:buChar char="Ø"/>
            </a:pPr>
            <a:r>
              <a:rPr lang="en-US" sz="2200" b="0" i="0" dirty="0">
                <a:solidFill>
                  <a:srgbClr val="273239"/>
                </a:solidFill>
                <a:effectLst/>
                <a:latin typeface="Calibri" panose="020F0502020204030204" pitchFamily="34" charset="0"/>
                <a:cs typeface="Calibri" panose="020F0502020204030204" pitchFamily="34" charset="0"/>
              </a:rPr>
              <a:t>Process B operates the procedure and return values to Process A.</a:t>
            </a:r>
            <a:endParaRPr lang="en-US" sz="2200" dirty="0">
              <a:latin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p:txBody>
          <a:bodyPr/>
          <a:lstStyle/>
          <a:p>
            <a:r>
              <a:rPr lang="en-US"/>
              <a:t>Asst. Prof. Riddhi Joshi </a:t>
            </a:r>
          </a:p>
        </p:txBody>
      </p:sp>
      <p:sp>
        <p:nvSpPr>
          <p:cNvPr id="5" name="Slide Number Placeholder 4"/>
          <p:cNvSpPr>
            <a:spLocks noGrp="1"/>
          </p:cNvSpPr>
          <p:nvPr>
            <p:ph type="sldNum" sz="quarter" idx="12"/>
          </p:nvPr>
        </p:nvSpPr>
        <p:spPr/>
        <p:txBody>
          <a:bodyPr/>
          <a:lstStyle/>
          <a:p>
            <a:fld id="{B5F37722-C073-4E6C-82B2-DCE782874B35}" type="slidenum">
              <a:rPr lang="en-US" smtClean="0"/>
              <a:pPr/>
              <a:t>151</a:t>
            </a:fld>
            <a:endParaRPr lang="en-US"/>
          </a:p>
        </p:txBody>
      </p:sp>
      <p:sp>
        <p:nvSpPr>
          <p:cNvPr id="2" name="Title 1">
            <a:extLst>
              <a:ext uri="{FF2B5EF4-FFF2-40B4-BE49-F238E27FC236}">
                <a16:creationId xmlns:a16="http://schemas.microsoft.com/office/drawing/2014/main" id="{B157ADFD-D41D-72E0-8E0F-AAD0256A9D36}"/>
              </a:ext>
            </a:extLst>
          </p:cNvPr>
          <p:cNvSpPr txBox="1">
            <a:spLocks/>
          </p:cNvSpPr>
          <p:nvPr/>
        </p:nvSpPr>
        <p:spPr>
          <a:xfrm>
            <a:off x="914400" y="76200"/>
            <a:ext cx="7772400" cy="457200"/>
          </a:xfrm>
          <a:prstGeom prst="rect">
            <a:avLst/>
          </a:prstGeom>
          <a:solidFill>
            <a:schemeClr val="accent2"/>
          </a:solidFill>
        </p:spPr>
        <p:style>
          <a:lnRef idx="3">
            <a:schemeClr val="lt1"/>
          </a:lnRef>
          <a:fillRef idx="1">
            <a:schemeClr val="accent1"/>
          </a:fillRef>
          <a:effectRef idx="1">
            <a:schemeClr val="accent1"/>
          </a:effectRef>
          <a:fontRef idx="minor">
            <a:schemeClr val="lt1"/>
          </a:fontRef>
        </p:style>
        <p:txBody>
          <a:bodyPr bIns="91440" anchor="b" anchorCtr="0">
            <a:normAutofit fontScale="90000" lnSpcReduction="1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dirty="0">
                <a:ln>
                  <a:noFill/>
                </a:ln>
                <a:solidFill>
                  <a:schemeClr val="lt1"/>
                </a:solidFill>
                <a:effectLst/>
                <a:uLnTx/>
                <a:uFillTx/>
                <a:latin typeface="Calibri" pitchFamily="34" charset="0"/>
                <a:ea typeface="+mn-ea"/>
                <a:cs typeface="+mn-cs"/>
              </a:rPr>
              <a:t>5 - Remote Procedure Call Model</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A95B3-9EE9-DF4A-B3FB-7B1ACE56EA47}"/>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80EFF9D4-80F1-13A6-2FB3-0187C831B9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286" y="1419224"/>
            <a:ext cx="8920962" cy="4448176"/>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D83C889F-65D0-E65B-559C-7588A954B995}"/>
              </a:ext>
            </a:extLst>
          </p:cNvPr>
          <p:cNvSpPr>
            <a:spLocks noGrp="1"/>
          </p:cNvSpPr>
          <p:nvPr>
            <p:ph type="title"/>
          </p:nvPr>
        </p:nvSpPr>
        <p:spPr>
          <a:xfrm>
            <a:off x="914400" y="152400"/>
            <a:ext cx="7772400" cy="563562"/>
          </a:xfrm>
          <a:solidFill>
            <a:schemeClr val="accent2"/>
          </a:solidFill>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effectLst>
                  <a:outerShdw blurRad="38100" dist="38100" dir="2700000" algn="tl">
                    <a:srgbClr val="000000">
                      <a:alpha val="43137"/>
                    </a:srgbClr>
                  </a:outerShdw>
                </a:effectLst>
                <a:latin typeface="Calibri" pitchFamily="34" charset="0"/>
              </a:rPr>
              <a:t>The Distributed Object Paradigm</a:t>
            </a:r>
          </a:p>
        </p:txBody>
      </p:sp>
    </p:spTree>
    <p:extLst>
      <p:ext uri="{BB962C8B-B14F-4D97-AF65-F5344CB8AC3E}">
        <p14:creationId xmlns:p14="http://schemas.microsoft.com/office/powerpoint/2010/main" val="107202022"/>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563562"/>
          </a:xfrm>
          <a:solidFill>
            <a:schemeClr val="accent2"/>
          </a:solidFill>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effectLst>
                  <a:outerShdw blurRad="38100" dist="38100" dir="2700000" algn="tl">
                    <a:srgbClr val="000000">
                      <a:alpha val="43137"/>
                    </a:srgbClr>
                  </a:outerShdw>
                </a:effectLst>
                <a:latin typeface="Calibri" pitchFamily="34" charset="0"/>
              </a:rPr>
              <a:t>The Distributed Object Paradigm</a:t>
            </a:r>
          </a:p>
        </p:txBody>
      </p:sp>
      <p:sp>
        <p:nvSpPr>
          <p:cNvPr id="3" name="Content Placeholder 2"/>
          <p:cNvSpPr>
            <a:spLocks noGrp="1"/>
          </p:cNvSpPr>
          <p:nvPr>
            <p:ph sz="quarter" idx="1"/>
          </p:nvPr>
        </p:nvSpPr>
        <p:spPr>
          <a:xfrm>
            <a:off x="304800" y="990600"/>
            <a:ext cx="8534400" cy="4572000"/>
          </a:xfrm>
        </p:spPr>
        <p:style>
          <a:lnRef idx="2">
            <a:schemeClr val="accent1"/>
          </a:lnRef>
          <a:fillRef idx="1">
            <a:schemeClr val="lt1"/>
          </a:fillRef>
          <a:effectRef idx="0">
            <a:schemeClr val="accent1"/>
          </a:effectRef>
          <a:fontRef idx="minor">
            <a:schemeClr val="dk1"/>
          </a:fontRef>
        </p:style>
        <p:txBody>
          <a:bodyPr>
            <a:normAutofit/>
          </a:bodyPr>
          <a:lstStyle/>
          <a:p>
            <a:pPr marL="628650" marR="137160" indent="-342900" algn="just" fontAlgn="base">
              <a:spcAft>
                <a:spcPts val="1000"/>
              </a:spcAft>
              <a:buFont typeface="Wingdings" panose="05000000000000000000" pitchFamily="2" charset="2"/>
              <a:buChar char="Ø"/>
            </a:pPr>
            <a:r>
              <a:rPr lang="en-US" sz="2200" b="0" i="0" dirty="0">
                <a:solidFill>
                  <a:srgbClr val="273239"/>
                </a:solidFill>
                <a:effectLst/>
                <a:latin typeface="Calibri" panose="020F0502020204030204" pitchFamily="34" charset="0"/>
                <a:cs typeface="Calibri" panose="020F0502020204030204" pitchFamily="34" charset="0"/>
              </a:rPr>
              <a:t>Application access the objects distributed over the network. </a:t>
            </a:r>
          </a:p>
          <a:p>
            <a:pPr marL="628650" marR="137160" indent="-342900" algn="just" fontAlgn="base">
              <a:spcAft>
                <a:spcPts val="1000"/>
              </a:spcAft>
              <a:buFont typeface="Wingdings" panose="05000000000000000000" pitchFamily="2" charset="2"/>
              <a:buChar char="Ø"/>
            </a:pPr>
            <a:r>
              <a:rPr lang="en-US" sz="2200" b="0" i="0" dirty="0">
                <a:solidFill>
                  <a:srgbClr val="273239"/>
                </a:solidFill>
                <a:effectLst/>
                <a:latin typeface="Calibri" panose="020F0502020204030204" pitchFamily="34" charset="0"/>
                <a:cs typeface="Calibri" panose="020F0502020204030204" pitchFamily="34" charset="0"/>
              </a:rPr>
              <a:t>Objects provide methods, through the invocation of which an application obtains access to services. </a:t>
            </a:r>
            <a:endParaRPr lang="en-US" sz="2200" dirty="0">
              <a:solidFill>
                <a:srgbClr val="464646"/>
              </a:solidFill>
              <a:latin typeface="Calibri" panose="020F0502020204030204" pitchFamily="34" charset="0"/>
              <a:cs typeface="Calibri" panose="020F0502020204030204" pitchFamily="34" charset="0"/>
            </a:endParaRPr>
          </a:p>
          <a:p>
            <a:pPr marL="628650" marR="137160" indent="-342900" algn="just" fontAlgn="base">
              <a:spcAft>
                <a:spcPts val="1000"/>
              </a:spcAft>
              <a:buFont typeface="Wingdings" panose="05000000000000000000" pitchFamily="2" charset="2"/>
              <a:buChar char="Ø"/>
            </a:pPr>
            <a:r>
              <a:rPr lang="en-US" sz="2200" b="0" i="0" dirty="0">
                <a:solidFill>
                  <a:srgbClr val="464646"/>
                </a:solidFill>
                <a:effectLst/>
                <a:latin typeface="Calibri" panose="020F0502020204030204" pitchFamily="34" charset="0"/>
                <a:cs typeface="Calibri" panose="020F0502020204030204" pitchFamily="34" charset="0"/>
              </a:rPr>
              <a:t>Object-oriented paradigms include:</a:t>
            </a:r>
          </a:p>
          <a:p>
            <a:pPr marL="857250" marR="137160" indent="-342900" algn="just" fontAlgn="base">
              <a:spcAft>
                <a:spcPts val="600"/>
              </a:spcAft>
              <a:buFont typeface="Wingdings" panose="05000000000000000000" pitchFamily="2" charset="2"/>
              <a:buChar char="Ø"/>
            </a:pPr>
            <a:r>
              <a:rPr lang="en-US" sz="2200" b="0" i="0" dirty="0">
                <a:solidFill>
                  <a:srgbClr val="464646"/>
                </a:solidFill>
                <a:effectLst/>
                <a:latin typeface="Calibri" panose="020F0502020204030204" pitchFamily="34" charset="0"/>
                <a:cs typeface="Calibri" panose="020F0502020204030204" pitchFamily="34" charset="0"/>
              </a:rPr>
              <a:t>Remote method invocation (RMI)</a:t>
            </a:r>
          </a:p>
          <a:p>
            <a:pPr marL="857250" marR="137160" indent="-342900" algn="just" fontAlgn="base">
              <a:spcAft>
                <a:spcPts val="600"/>
              </a:spcAft>
              <a:buFont typeface="Wingdings" panose="05000000000000000000" pitchFamily="2" charset="2"/>
              <a:buChar char="Ø"/>
            </a:pPr>
            <a:r>
              <a:rPr lang="en-US" sz="2200" b="0" i="0" dirty="0">
                <a:solidFill>
                  <a:srgbClr val="464646"/>
                </a:solidFill>
                <a:effectLst/>
                <a:latin typeface="Calibri" panose="020F0502020204030204" pitchFamily="34" charset="0"/>
                <a:cs typeface="Calibri" panose="020F0502020204030204" pitchFamily="34" charset="0"/>
              </a:rPr>
              <a:t>Network services</a:t>
            </a:r>
          </a:p>
          <a:p>
            <a:pPr marL="857250" marR="137160" indent="-342900" algn="just" fontAlgn="base">
              <a:spcAft>
                <a:spcPts val="600"/>
              </a:spcAft>
              <a:buFont typeface="Wingdings" panose="05000000000000000000" pitchFamily="2" charset="2"/>
              <a:buChar char="Ø"/>
            </a:pPr>
            <a:r>
              <a:rPr lang="en-US" sz="2200" b="0" i="0" dirty="0">
                <a:solidFill>
                  <a:srgbClr val="464646"/>
                </a:solidFill>
                <a:effectLst/>
                <a:latin typeface="Calibri" panose="020F0502020204030204" pitchFamily="34" charset="0"/>
                <a:cs typeface="Calibri" panose="020F0502020204030204" pitchFamily="34" charset="0"/>
              </a:rPr>
              <a:t>Object request broker (ORB)</a:t>
            </a:r>
          </a:p>
          <a:p>
            <a:pPr marL="854710" marR="137160" indent="-342900" algn="just" fontAlgn="base">
              <a:spcAft>
                <a:spcPts val="600"/>
              </a:spcAft>
              <a:buFont typeface="Wingdings" panose="05000000000000000000" pitchFamily="2" charset="2"/>
              <a:buChar char="Ø"/>
            </a:pPr>
            <a:r>
              <a:rPr lang="en-US" sz="2200" b="0" i="0" dirty="0">
                <a:solidFill>
                  <a:srgbClr val="464646"/>
                </a:solidFill>
                <a:effectLst/>
                <a:latin typeface="Calibri" panose="020F0502020204030204" pitchFamily="34" charset="0"/>
                <a:cs typeface="Calibri" panose="020F0502020204030204" pitchFamily="34" charset="0"/>
              </a:rPr>
              <a:t>Object spaces</a:t>
            </a:r>
          </a:p>
        </p:txBody>
      </p:sp>
      <p:sp>
        <p:nvSpPr>
          <p:cNvPr id="4" name="Footer Placeholder 3"/>
          <p:cNvSpPr>
            <a:spLocks noGrp="1"/>
          </p:cNvSpPr>
          <p:nvPr>
            <p:ph type="ftr" sz="quarter" idx="11"/>
          </p:nvPr>
        </p:nvSpPr>
        <p:spPr/>
        <p:txBody>
          <a:bodyPr/>
          <a:lstStyle/>
          <a:p>
            <a:r>
              <a:rPr lang="en-US"/>
              <a:t>Asst. Prof. Riddhi Joshi </a:t>
            </a:r>
          </a:p>
        </p:txBody>
      </p:sp>
      <p:sp>
        <p:nvSpPr>
          <p:cNvPr id="5" name="Slide Number Placeholder 4"/>
          <p:cNvSpPr>
            <a:spLocks noGrp="1"/>
          </p:cNvSpPr>
          <p:nvPr>
            <p:ph type="sldNum" sz="quarter" idx="12"/>
          </p:nvPr>
        </p:nvSpPr>
        <p:spPr/>
        <p:txBody>
          <a:bodyPr/>
          <a:lstStyle/>
          <a:p>
            <a:fld id="{B5F37722-C073-4E6C-82B2-DCE782874B35}" type="slidenum">
              <a:rPr lang="en-US" smtClean="0"/>
              <a:pPr/>
              <a:t>153</a:t>
            </a:fld>
            <a:endParaRPr lang="en-US"/>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487362"/>
          </a:xfrm>
          <a:solidFill>
            <a:schemeClr val="accent2"/>
          </a:solidFill>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effectLst>
                  <a:outerShdw blurRad="38100" dist="38100" dir="2700000" algn="tl">
                    <a:srgbClr val="000000">
                      <a:alpha val="43137"/>
                    </a:srgbClr>
                  </a:outerShdw>
                </a:effectLst>
                <a:latin typeface="Calibri" pitchFamily="34" charset="0"/>
              </a:rPr>
              <a:t>6 - Remote Method Invocation</a:t>
            </a:r>
          </a:p>
        </p:txBody>
      </p:sp>
      <p:sp>
        <p:nvSpPr>
          <p:cNvPr id="4" name="Footer Placeholder 3"/>
          <p:cNvSpPr>
            <a:spLocks noGrp="1"/>
          </p:cNvSpPr>
          <p:nvPr>
            <p:ph type="ftr" sz="quarter" idx="11"/>
          </p:nvPr>
        </p:nvSpPr>
        <p:spPr/>
        <p:txBody>
          <a:bodyPr/>
          <a:lstStyle/>
          <a:p>
            <a:r>
              <a:rPr lang="en-US"/>
              <a:t>Asst. Prof. Riddhi Joshi </a:t>
            </a:r>
          </a:p>
        </p:txBody>
      </p:sp>
      <p:sp>
        <p:nvSpPr>
          <p:cNvPr id="5" name="Slide Number Placeholder 4"/>
          <p:cNvSpPr>
            <a:spLocks noGrp="1"/>
          </p:cNvSpPr>
          <p:nvPr>
            <p:ph type="sldNum" sz="quarter" idx="12"/>
          </p:nvPr>
        </p:nvSpPr>
        <p:spPr/>
        <p:txBody>
          <a:bodyPr/>
          <a:lstStyle/>
          <a:p>
            <a:fld id="{B5F37722-C073-4E6C-82B2-DCE782874B35}" type="slidenum">
              <a:rPr lang="en-US" smtClean="0"/>
              <a:pPr/>
              <a:t>154</a:t>
            </a:fld>
            <a:endParaRPr lang="en-US"/>
          </a:p>
        </p:txBody>
      </p:sp>
      <p:sp>
        <p:nvSpPr>
          <p:cNvPr id="7" name="Rectangle 2">
            <a:extLst>
              <a:ext uri="{FF2B5EF4-FFF2-40B4-BE49-F238E27FC236}">
                <a16:creationId xmlns:a16="http://schemas.microsoft.com/office/drawing/2014/main" id="{40B6D392-F00F-8E21-9E1F-34454A5673E3}"/>
              </a:ext>
            </a:extLst>
          </p:cNvPr>
          <p:cNvSpPr>
            <a:spLocks noGrp="1" noChangeArrowheads="1"/>
          </p:cNvSpPr>
          <p:nvPr>
            <p:ph sz="quarter" idx="1"/>
          </p:nvPr>
        </p:nvSpPr>
        <p:spPr bwMode="auto">
          <a:xfrm>
            <a:off x="176617" y="1277200"/>
            <a:ext cx="8790766" cy="2635433"/>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056" tIns="45720" rIns="136482" bIns="10156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sz="2200" b="0" i="0" dirty="0">
                <a:solidFill>
                  <a:srgbClr val="273239"/>
                </a:solidFill>
                <a:effectLst/>
                <a:latin typeface="Calibri" panose="020F0502020204030204" pitchFamily="34" charset="0"/>
                <a:cs typeface="Calibri" panose="020F0502020204030204" pitchFamily="34" charset="0"/>
              </a:rPr>
              <a:t>RMI is more like RPC but major difference is, it is object-oriented approach. </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sz="2200" b="0" i="0" dirty="0">
                <a:solidFill>
                  <a:srgbClr val="273239"/>
                </a:solidFill>
                <a:effectLst/>
                <a:latin typeface="Calibri" panose="020F0502020204030204" pitchFamily="34" charset="0"/>
                <a:cs typeface="Calibri" panose="020F0502020204030204" pitchFamily="34" charset="0"/>
              </a:rPr>
              <a:t>A process invokes the methods in an object, which may reside in a remote host. </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sz="2200" b="0" i="0" dirty="0">
                <a:solidFill>
                  <a:srgbClr val="273239"/>
                </a:solidFill>
                <a:effectLst/>
                <a:latin typeface="Calibri" panose="020F0502020204030204" pitchFamily="34" charset="0"/>
                <a:cs typeface="Calibri" panose="020F0502020204030204" pitchFamily="34" charset="0"/>
              </a:rPr>
              <a:t>Arguments may be passed with the invocation. </a:t>
            </a:r>
            <a:endParaRPr kumimoji="0" lang="en-US" altLang="en-US" sz="2200" b="0" i="0" u="none" strike="noStrike" cap="none" normalizeH="0" baseline="0" dirty="0">
              <a:ln>
                <a:noFill/>
              </a:ln>
              <a:solidFill>
                <a:srgbClr val="464646"/>
              </a:solidFill>
              <a:effectLst/>
              <a:latin typeface="Calibri" panose="020F0502020204030204" pitchFamily="34" charset="0"/>
              <a:cs typeface="Calibri" panose="020F0502020204030204" pitchFamily="34" charset="0"/>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B6F55-25B9-3F0C-5A66-75CE31095C05}"/>
              </a:ext>
            </a:extLst>
          </p:cNvPr>
          <p:cNvSpPr>
            <a:spLocks noGrp="1"/>
          </p:cNvSpPr>
          <p:nvPr>
            <p:ph type="title"/>
          </p:nvPr>
        </p:nvSpPr>
        <p:spPr>
          <a:xfrm>
            <a:off x="914400" y="152400"/>
            <a:ext cx="7772400" cy="487362"/>
          </a:xfrm>
          <a:solidFill>
            <a:schemeClr val="accent2"/>
          </a:solidFill>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effectLst>
                  <a:outerShdw blurRad="38100" dist="38100" dir="2700000" algn="tl">
                    <a:srgbClr val="000000">
                      <a:alpha val="43137"/>
                    </a:srgbClr>
                  </a:outerShdw>
                </a:effectLst>
                <a:latin typeface="Calibri" pitchFamily="34" charset="0"/>
              </a:rPr>
              <a:t>6 - Remote Method Invocation</a:t>
            </a:r>
          </a:p>
        </p:txBody>
      </p:sp>
      <p:pic>
        <p:nvPicPr>
          <p:cNvPr id="4098" name="Picture 2">
            <a:extLst>
              <a:ext uri="{FF2B5EF4-FFF2-40B4-BE49-F238E27FC236}">
                <a16:creationId xmlns:a16="http://schemas.microsoft.com/office/drawing/2014/main" id="{FF4770E4-A4E9-3083-8B8A-760B9F8AFD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375" y="1547813"/>
            <a:ext cx="7715250" cy="37623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p:cNvSpPr txBox="1">
            <a:spLocks/>
          </p:cNvSpPr>
          <p:nvPr/>
        </p:nvSpPr>
        <p:spPr>
          <a:xfrm>
            <a:off x="914400" y="274638"/>
            <a:ext cx="7772400" cy="639762"/>
          </a:xfrm>
          <a:prstGeom prst="rect">
            <a:avLst/>
          </a:prstGeom>
          <a:solidFill>
            <a:schemeClr val="accent2"/>
          </a:solidFill>
        </p:spPr>
        <p:style>
          <a:lnRef idx="3">
            <a:schemeClr val="lt1"/>
          </a:lnRef>
          <a:fillRef idx="1">
            <a:schemeClr val="accent1"/>
          </a:fillRef>
          <a:effectRef idx="1">
            <a:schemeClr val="accent1"/>
          </a:effectRef>
          <a:fontRef idx="minor">
            <a:schemeClr val="lt1"/>
          </a:fontRef>
        </p:style>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dirty="0">
                <a:ln>
                  <a:noFill/>
                </a:ln>
                <a:solidFill>
                  <a:schemeClr val="lt1"/>
                </a:solidFill>
                <a:effectLst>
                  <a:outerShdw blurRad="38100" dist="38100" dir="2700000" algn="tl">
                    <a:srgbClr val="000000">
                      <a:alpha val="43137"/>
                    </a:srgbClr>
                  </a:outerShdw>
                </a:effectLst>
                <a:uLnTx/>
                <a:uFillTx/>
                <a:latin typeface="Calibri" pitchFamily="34" charset="0"/>
                <a:ea typeface="+mn-ea"/>
                <a:cs typeface="+mn-cs"/>
              </a:rPr>
              <a:t>7 - The Object Request Broker Paradigm</a:t>
            </a:r>
          </a:p>
        </p:txBody>
      </p:sp>
      <p:pic>
        <p:nvPicPr>
          <p:cNvPr id="2" name="Picture 2">
            <a:extLst>
              <a:ext uri="{FF2B5EF4-FFF2-40B4-BE49-F238E27FC236}">
                <a16:creationId xmlns:a16="http://schemas.microsoft.com/office/drawing/2014/main" id="{2C89D645-9474-0EEE-EADC-C6DB515551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286" y="1419224"/>
            <a:ext cx="8920962" cy="44481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1219200"/>
            <a:ext cx="8458200" cy="4953000"/>
          </a:xfrm>
        </p:spPr>
        <p:style>
          <a:lnRef idx="2">
            <a:schemeClr val="accent1"/>
          </a:lnRef>
          <a:fillRef idx="1">
            <a:schemeClr val="lt1"/>
          </a:fillRef>
          <a:effectRef idx="0">
            <a:schemeClr val="accent1"/>
          </a:effectRef>
          <a:fontRef idx="minor">
            <a:schemeClr val="dk1"/>
          </a:fontRef>
        </p:style>
        <p:txBody>
          <a:bodyPr>
            <a:noAutofit/>
          </a:bodyPr>
          <a:lstStyle/>
          <a:p>
            <a:pPr algn="just">
              <a:lnSpc>
                <a:spcPct val="150000"/>
              </a:lnSpc>
              <a:buFont typeface="Wingdings" panose="05000000000000000000" pitchFamily="2" charset="2"/>
              <a:buChar char="Ø"/>
            </a:pPr>
            <a:r>
              <a:rPr lang="en-US" sz="2200" dirty="0">
                <a:latin typeface="Calibri" pitchFamily="34" charset="0"/>
              </a:rPr>
              <a:t>In the object broker paradigm, a program issues requests to an object request broker (ORB), which directs the request to an appropriate object that provides the desired service.</a:t>
            </a:r>
          </a:p>
          <a:p>
            <a:pPr algn="just">
              <a:lnSpc>
                <a:spcPct val="150000"/>
              </a:lnSpc>
              <a:buFont typeface="Wingdings" panose="05000000000000000000" pitchFamily="2" charset="2"/>
              <a:buChar char="Ø"/>
            </a:pPr>
            <a:r>
              <a:rPr lang="en-US" sz="2200" dirty="0">
                <a:latin typeface="Calibri" pitchFamily="34" charset="0"/>
              </a:rPr>
              <a:t>The paradigm closely resembles the Remote Method Invocation model in its support for remote object access.</a:t>
            </a:r>
          </a:p>
          <a:p>
            <a:pPr algn="just">
              <a:lnSpc>
                <a:spcPct val="150000"/>
              </a:lnSpc>
              <a:buFont typeface="Wingdings" panose="05000000000000000000" pitchFamily="2" charset="2"/>
              <a:buChar char="Ø"/>
            </a:pPr>
            <a:r>
              <a:rPr lang="en-US" sz="2200" dirty="0">
                <a:latin typeface="Calibri" pitchFamily="34" charset="0"/>
              </a:rPr>
              <a:t>The difference is that the object request broker in this paradigm functions as middleware allowing an applications, as an object requester to potentially access multiple remote objects.</a:t>
            </a:r>
          </a:p>
        </p:txBody>
      </p:sp>
      <p:sp>
        <p:nvSpPr>
          <p:cNvPr id="4" name="Footer Placeholder 3"/>
          <p:cNvSpPr>
            <a:spLocks noGrp="1"/>
          </p:cNvSpPr>
          <p:nvPr>
            <p:ph type="ftr" sz="quarter" idx="11"/>
          </p:nvPr>
        </p:nvSpPr>
        <p:spPr/>
        <p:txBody>
          <a:bodyPr/>
          <a:lstStyle/>
          <a:p>
            <a:r>
              <a:rPr lang="en-US"/>
              <a:t>Asst. Prof. Riddhi Joshi </a:t>
            </a:r>
          </a:p>
        </p:txBody>
      </p:sp>
      <p:sp>
        <p:nvSpPr>
          <p:cNvPr id="5" name="Slide Number Placeholder 4"/>
          <p:cNvSpPr>
            <a:spLocks noGrp="1"/>
          </p:cNvSpPr>
          <p:nvPr>
            <p:ph type="sldNum" sz="quarter" idx="12"/>
          </p:nvPr>
        </p:nvSpPr>
        <p:spPr/>
        <p:txBody>
          <a:bodyPr/>
          <a:lstStyle/>
          <a:p>
            <a:fld id="{B5F37722-C073-4E6C-82B2-DCE782874B35}" type="slidenum">
              <a:rPr lang="en-US" smtClean="0"/>
              <a:pPr/>
              <a:t>157</a:t>
            </a:fld>
            <a:endParaRPr lang="en-US"/>
          </a:p>
        </p:txBody>
      </p:sp>
      <p:sp>
        <p:nvSpPr>
          <p:cNvPr id="2" name="Title 1">
            <a:extLst>
              <a:ext uri="{FF2B5EF4-FFF2-40B4-BE49-F238E27FC236}">
                <a16:creationId xmlns:a16="http://schemas.microsoft.com/office/drawing/2014/main" id="{FC95DA1F-1223-54B8-7C5E-6D20AFA2052E}"/>
              </a:ext>
            </a:extLst>
          </p:cNvPr>
          <p:cNvSpPr txBox="1">
            <a:spLocks/>
          </p:cNvSpPr>
          <p:nvPr/>
        </p:nvSpPr>
        <p:spPr>
          <a:xfrm>
            <a:off x="914400" y="274638"/>
            <a:ext cx="7772400" cy="639762"/>
          </a:xfrm>
          <a:prstGeom prst="rect">
            <a:avLst/>
          </a:prstGeom>
          <a:solidFill>
            <a:schemeClr val="accent2"/>
          </a:solidFill>
        </p:spPr>
        <p:style>
          <a:lnRef idx="3">
            <a:schemeClr val="lt1"/>
          </a:lnRef>
          <a:fillRef idx="1">
            <a:schemeClr val="accent1"/>
          </a:fillRef>
          <a:effectRef idx="1">
            <a:schemeClr val="accent1"/>
          </a:effectRef>
          <a:fontRef idx="minor">
            <a:schemeClr val="lt1"/>
          </a:fontRef>
        </p:style>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dirty="0">
                <a:ln>
                  <a:noFill/>
                </a:ln>
                <a:solidFill>
                  <a:schemeClr val="lt1"/>
                </a:solidFill>
                <a:effectLst>
                  <a:outerShdw blurRad="38100" dist="38100" dir="2700000" algn="tl">
                    <a:srgbClr val="000000">
                      <a:alpha val="43137"/>
                    </a:srgbClr>
                  </a:outerShdw>
                </a:effectLst>
                <a:uLnTx/>
                <a:uFillTx/>
                <a:latin typeface="Calibri" pitchFamily="34" charset="0"/>
                <a:ea typeface="+mn-ea"/>
                <a:cs typeface="+mn-cs"/>
              </a:rPr>
              <a:t>7 - The Object Request Broker Paradigm</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4A004-2658-3626-0C7B-0CF17D7A2FF0}"/>
              </a:ext>
            </a:extLst>
          </p:cNvPr>
          <p:cNvSpPr txBox="1">
            <a:spLocks/>
          </p:cNvSpPr>
          <p:nvPr/>
        </p:nvSpPr>
        <p:spPr>
          <a:xfrm>
            <a:off x="914400" y="274638"/>
            <a:ext cx="7772400" cy="639762"/>
          </a:xfrm>
          <a:prstGeom prst="rect">
            <a:avLst/>
          </a:prstGeom>
          <a:solidFill>
            <a:schemeClr val="accent2"/>
          </a:solidFill>
        </p:spPr>
        <p:style>
          <a:lnRef idx="3">
            <a:schemeClr val="lt1"/>
          </a:lnRef>
          <a:fillRef idx="1">
            <a:schemeClr val="accent1"/>
          </a:fillRef>
          <a:effectRef idx="1">
            <a:schemeClr val="accent1"/>
          </a:effectRef>
          <a:fontRef idx="minor">
            <a:schemeClr val="lt1"/>
          </a:fontRef>
        </p:style>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dirty="0">
                <a:ln>
                  <a:noFill/>
                </a:ln>
                <a:solidFill>
                  <a:schemeClr val="lt1"/>
                </a:solidFill>
                <a:effectLst>
                  <a:outerShdw blurRad="38100" dist="38100" dir="2700000" algn="tl">
                    <a:srgbClr val="000000">
                      <a:alpha val="43137"/>
                    </a:srgbClr>
                  </a:outerShdw>
                </a:effectLst>
                <a:uLnTx/>
                <a:uFillTx/>
                <a:latin typeface="Calibri" pitchFamily="34" charset="0"/>
                <a:ea typeface="+mn-ea"/>
                <a:cs typeface="+mn-cs"/>
              </a:rPr>
              <a:t>7 - The Object Request Broker Paradigm</a:t>
            </a:r>
          </a:p>
        </p:txBody>
      </p:sp>
      <p:pic>
        <p:nvPicPr>
          <p:cNvPr id="6146" name="Picture 2">
            <a:extLst>
              <a:ext uri="{FF2B5EF4-FFF2-40B4-BE49-F238E27FC236}">
                <a16:creationId xmlns:a16="http://schemas.microsoft.com/office/drawing/2014/main" id="{0DA37775-0D1E-472E-7F9A-5191D94A4C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3963" y="2128838"/>
            <a:ext cx="6696075" cy="31289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p:cNvSpPr>
            <a:spLocks noGrp="1"/>
          </p:cNvSpPr>
          <p:nvPr>
            <p:ph type="title"/>
          </p:nvPr>
        </p:nvSpPr>
        <p:spPr>
          <a:xfrm>
            <a:off x="914400" y="274638"/>
            <a:ext cx="7772400" cy="563562"/>
          </a:xfrm>
          <a:solidFill>
            <a:schemeClr val="accent2"/>
          </a:solidFill>
        </p:spPr>
        <p:style>
          <a:lnRef idx="3">
            <a:schemeClr val="lt1"/>
          </a:lnRef>
          <a:fillRef idx="1">
            <a:schemeClr val="accent1"/>
          </a:fillRef>
          <a:effectRef idx="1">
            <a:schemeClr val="accent1"/>
          </a:effectRef>
          <a:fontRef idx="minor">
            <a:schemeClr val="lt1"/>
          </a:fontRef>
        </p:style>
        <p:txBody>
          <a:bodyPr>
            <a:normAutofit/>
          </a:bodyPr>
          <a:lstStyle/>
          <a:p>
            <a:pPr algn="ctr"/>
            <a:r>
              <a:rPr lang="en-US" sz="2600" b="1" dirty="0">
                <a:effectLst>
                  <a:outerShdw blurRad="38100" dist="38100" dir="2700000" algn="tl">
                    <a:srgbClr val="000000">
                      <a:alpha val="43137"/>
                    </a:srgbClr>
                  </a:outerShdw>
                </a:effectLst>
                <a:latin typeface="Calibri" pitchFamily="34" charset="0"/>
              </a:rPr>
              <a:t>8 - The Mobile Agent Paradigm</a:t>
            </a:r>
          </a:p>
        </p:txBody>
      </p:sp>
      <p:pic>
        <p:nvPicPr>
          <p:cNvPr id="2" name="Picture 2">
            <a:extLst>
              <a:ext uri="{FF2B5EF4-FFF2-40B4-BE49-F238E27FC236}">
                <a16:creationId xmlns:a16="http://schemas.microsoft.com/office/drawing/2014/main" id="{AC30B1F5-C316-F097-F7E0-B8236EFD2E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286" y="1419224"/>
            <a:ext cx="8920962" cy="44481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143000"/>
            <a:ext cx="8534400" cy="4572000"/>
          </a:xfrm>
        </p:spPr>
        <p:style>
          <a:lnRef idx="2">
            <a:schemeClr val="accent1"/>
          </a:lnRef>
          <a:fillRef idx="1">
            <a:schemeClr val="lt1"/>
          </a:fillRef>
          <a:effectRef idx="0">
            <a:schemeClr val="accent1"/>
          </a:effectRef>
          <a:fontRef idx="minor">
            <a:schemeClr val="dk1"/>
          </a:fontRef>
        </p:style>
        <p:txBody>
          <a:bodyPr>
            <a:noAutofit/>
          </a:bodyPr>
          <a:lstStyle/>
          <a:p>
            <a:pPr>
              <a:lnSpc>
                <a:spcPct val="150000"/>
              </a:lnSpc>
              <a:buFont typeface="Wingdings" panose="05000000000000000000" pitchFamily="2" charset="2"/>
              <a:buChar char="Ø"/>
            </a:pPr>
            <a:r>
              <a:rPr lang="en-US" sz="2200" dirty="0"/>
              <a:t>A mobile agent is a transportable program or object. </a:t>
            </a:r>
          </a:p>
          <a:p>
            <a:pPr>
              <a:lnSpc>
                <a:spcPct val="150000"/>
              </a:lnSpc>
              <a:buFont typeface="Wingdings" panose="05000000000000000000" pitchFamily="2" charset="2"/>
              <a:buChar char="Ø"/>
            </a:pPr>
            <a:r>
              <a:rPr lang="en-US" sz="2200" dirty="0"/>
              <a:t>In this paradigm, an agent is launched from an originating host.</a:t>
            </a:r>
          </a:p>
          <a:p>
            <a:pPr>
              <a:lnSpc>
                <a:spcPct val="150000"/>
              </a:lnSpc>
              <a:buFont typeface="Wingdings" panose="05000000000000000000" pitchFamily="2" charset="2"/>
              <a:buChar char="Ø"/>
            </a:pPr>
            <a:r>
              <a:rPr lang="en-US" sz="2200" dirty="0"/>
              <a:t>The agent then travel autonomously from host to host accordingly to itinerary that it carries. </a:t>
            </a:r>
          </a:p>
          <a:p>
            <a:pPr>
              <a:lnSpc>
                <a:spcPct val="150000"/>
              </a:lnSpc>
              <a:buFont typeface="Wingdings" panose="05000000000000000000" pitchFamily="2" charset="2"/>
              <a:buChar char="Ø"/>
            </a:pPr>
            <a:r>
              <a:rPr lang="en-US" sz="2200" dirty="0"/>
              <a:t>At each stop, the agent accesses the necessary resources or services and performs the necessary tasks to accomplish it mission.</a:t>
            </a:r>
          </a:p>
          <a:p>
            <a:pPr>
              <a:lnSpc>
                <a:spcPct val="150000"/>
              </a:lnSpc>
              <a:buFont typeface="Wingdings" panose="05000000000000000000" pitchFamily="2" charset="2"/>
              <a:buChar char="Ø"/>
            </a:pPr>
            <a:r>
              <a:rPr lang="en-US" sz="2200" dirty="0"/>
              <a:t>The paradigm offers the abstraction for a transportable program or object.</a:t>
            </a:r>
          </a:p>
        </p:txBody>
      </p:sp>
      <p:sp>
        <p:nvSpPr>
          <p:cNvPr id="4" name="Footer Placeholder 3"/>
          <p:cNvSpPr>
            <a:spLocks noGrp="1"/>
          </p:cNvSpPr>
          <p:nvPr>
            <p:ph type="ftr" sz="quarter" idx="11"/>
          </p:nvPr>
        </p:nvSpPr>
        <p:spPr/>
        <p:txBody>
          <a:bodyPr/>
          <a:lstStyle/>
          <a:p>
            <a:r>
              <a:rPr lang="en-US"/>
              <a:t>Asst. Prof. Riddhi Joshi </a:t>
            </a:r>
          </a:p>
        </p:txBody>
      </p:sp>
      <p:sp>
        <p:nvSpPr>
          <p:cNvPr id="5" name="Slide Number Placeholder 4"/>
          <p:cNvSpPr>
            <a:spLocks noGrp="1"/>
          </p:cNvSpPr>
          <p:nvPr>
            <p:ph type="sldNum" sz="quarter" idx="12"/>
          </p:nvPr>
        </p:nvSpPr>
        <p:spPr/>
        <p:txBody>
          <a:bodyPr/>
          <a:lstStyle/>
          <a:p>
            <a:fld id="{B5F37722-C073-4E6C-82B2-DCE782874B35}" type="slidenum">
              <a:rPr lang="en-US" smtClean="0"/>
              <a:pPr/>
              <a:t>160</a:t>
            </a:fld>
            <a:endParaRPr lang="en-US"/>
          </a:p>
        </p:txBody>
      </p:sp>
      <p:sp>
        <p:nvSpPr>
          <p:cNvPr id="8" name="Title 1">
            <a:extLst>
              <a:ext uri="{FF2B5EF4-FFF2-40B4-BE49-F238E27FC236}">
                <a16:creationId xmlns:a16="http://schemas.microsoft.com/office/drawing/2014/main" id="{C1FD6872-FE8F-2BA4-8A1D-70ED3DA0169C}"/>
              </a:ext>
            </a:extLst>
          </p:cNvPr>
          <p:cNvSpPr txBox="1">
            <a:spLocks/>
          </p:cNvSpPr>
          <p:nvPr/>
        </p:nvSpPr>
        <p:spPr>
          <a:xfrm>
            <a:off x="914400" y="274638"/>
            <a:ext cx="7772400" cy="563562"/>
          </a:xfrm>
          <a:prstGeom prst="rect">
            <a:avLst/>
          </a:prstGeom>
          <a:solidFill>
            <a:schemeClr val="accent2"/>
          </a:solidFill>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600" b="1">
                <a:effectLst>
                  <a:outerShdw blurRad="38100" dist="38100" dir="2700000" algn="tl">
                    <a:srgbClr val="000000">
                      <a:alpha val="43137"/>
                    </a:srgbClr>
                  </a:outerShdw>
                </a:effectLst>
                <a:latin typeface="Calibri" pitchFamily="34" charset="0"/>
              </a:rPr>
              <a:t>8 - The Mobile Agent Paradigm</a:t>
            </a:r>
            <a:endParaRPr lang="en-US" sz="2600" b="1" dirty="0">
              <a:effectLst>
                <a:outerShdw blurRad="38100" dist="38100" dir="2700000" algn="tl">
                  <a:srgbClr val="000000">
                    <a:alpha val="43137"/>
                  </a:srgbClr>
                </a:outerShdw>
              </a:effectLst>
              <a:latin typeface="Calibri" pitchFamily="34" charset="0"/>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C759B45-A316-3253-B166-4C062A4BA93D}"/>
              </a:ext>
            </a:extLst>
          </p:cNvPr>
          <p:cNvSpPr>
            <a:spLocks noGrp="1"/>
          </p:cNvSpPr>
          <p:nvPr>
            <p:ph type="title"/>
          </p:nvPr>
        </p:nvSpPr>
        <p:spPr/>
        <p:txBody>
          <a:bodyPr/>
          <a:lstStyle/>
          <a:p>
            <a:endParaRPr lang="en-IN"/>
          </a:p>
        </p:txBody>
      </p:sp>
      <p:sp>
        <p:nvSpPr>
          <p:cNvPr id="14" name="Title 1">
            <a:extLst>
              <a:ext uri="{FF2B5EF4-FFF2-40B4-BE49-F238E27FC236}">
                <a16:creationId xmlns:a16="http://schemas.microsoft.com/office/drawing/2014/main" id="{2CC1BC26-D57B-40B2-3EB5-05152BD519BF}"/>
              </a:ext>
            </a:extLst>
          </p:cNvPr>
          <p:cNvSpPr txBox="1">
            <a:spLocks/>
          </p:cNvSpPr>
          <p:nvPr/>
        </p:nvSpPr>
        <p:spPr>
          <a:xfrm>
            <a:off x="914400" y="274638"/>
            <a:ext cx="7772400" cy="563562"/>
          </a:xfrm>
          <a:prstGeom prst="rect">
            <a:avLst/>
          </a:prstGeom>
          <a:solidFill>
            <a:schemeClr val="accent2"/>
          </a:solidFill>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600" b="1">
                <a:effectLst>
                  <a:outerShdw blurRad="38100" dist="38100" dir="2700000" algn="tl">
                    <a:srgbClr val="000000">
                      <a:alpha val="43137"/>
                    </a:srgbClr>
                  </a:outerShdw>
                </a:effectLst>
                <a:latin typeface="Calibri" pitchFamily="34" charset="0"/>
              </a:rPr>
              <a:t>8 - The Mobile Agent Paradigm</a:t>
            </a:r>
            <a:endParaRPr lang="en-US" sz="2600" b="1" dirty="0">
              <a:effectLst>
                <a:outerShdw blurRad="38100" dist="38100" dir="2700000" algn="tl">
                  <a:srgbClr val="000000">
                    <a:alpha val="43137"/>
                  </a:srgbClr>
                </a:outerShdw>
              </a:effectLst>
              <a:latin typeface="Calibri" pitchFamily="34" charset="0"/>
            </a:endParaRPr>
          </a:p>
        </p:txBody>
      </p:sp>
      <p:pic>
        <p:nvPicPr>
          <p:cNvPr id="7170" name="Picture 2">
            <a:extLst>
              <a:ext uri="{FF2B5EF4-FFF2-40B4-BE49-F238E27FC236}">
                <a16:creationId xmlns:a16="http://schemas.microsoft.com/office/drawing/2014/main" id="{BA5B5E70-BEEB-38AB-CE81-26E8C9C59C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850" y="1033463"/>
            <a:ext cx="7734300" cy="47910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14B52-7338-4573-E779-D1FA030ACD7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BBF6595-F381-4992-7732-B94A72DED812}"/>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63E93596-69EC-9296-ACD2-0B1A0E0EDB03}"/>
              </a:ext>
            </a:extLst>
          </p:cNvPr>
          <p:cNvSpPr>
            <a:spLocks noGrp="1"/>
          </p:cNvSpPr>
          <p:nvPr>
            <p:ph type="ftr" sz="quarter" idx="11"/>
          </p:nvPr>
        </p:nvSpPr>
        <p:spPr/>
        <p:txBody>
          <a:bodyPr/>
          <a:lstStyle/>
          <a:p>
            <a:r>
              <a:rPr lang="en-US"/>
              <a:t>- Assistant  Prof. Riddhi Joshi</a:t>
            </a:r>
          </a:p>
        </p:txBody>
      </p:sp>
      <p:sp>
        <p:nvSpPr>
          <p:cNvPr id="5" name="Slide Number Placeholder 4">
            <a:extLst>
              <a:ext uri="{FF2B5EF4-FFF2-40B4-BE49-F238E27FC236}">
                <a16:creationId xmlns:a16="http://schemas.microsoft.com/office/drawing/2014/main" id="{3496D5AF-82C3-1594-B951-ECB070A6CBCF}"/>
              </a:ext>
            </a:extLst>
          </p:cNvPr>
          <p:cNvSpPr>
            <a:spLocks noGrp="1"/>
          </p:cNvSpPr>
          <p:nvPr>
            <p:ph type="sldNum" sz="quarter" idx="12"/>
          </p:nvPr>
        </p:nvSpPr>
        <p:spPr/>
        <p:txBody>
          <a:bodyPr/>
          <a:lstStyle/>
          <a:p>
            <a:fld id="{521E5947-19AD-4D38-BBE9-7D3EA973E689}" type="slidenum">
              <a:rPr lang="en-US" smtClean="0"/>
              <a:pPr/>
              <a:t>162</a:t>
            </a:fld>
            <a:endParaRPr lang="en-US"/>
          </a:p>
        </p:txBody>
      </p:sp>
      <p:sp>
        <p:nvSpPr>
          <p:cNvPr id="6" name="Title 1">
            <a:extLst>
              <a:ext uri="{FF2B5EF4-FFF2-40B4-BE49-F238E27FC236}">
                <a16:creationId xmlns:a16="http://schemas.microsoft.com/office/drawing/2014/main" id="{3C4381EA-EEE5-1A9B-A1D2-CF3A254FFA8E}"/>
              </a:ext>
            </a:extLst>
          </p:cNvPr>
          <p:cNvSpPr txBox="1">
            <a:spLocks/>
          </p:cNvSpPr>
          <p:nvPr/>
        </p:nvSpPr>
        <p:spPr>
          <a:xfrm>
            <a:off x="914400" y="76200"/>
            <a:ext cx="7772400" cy="533400"/>
          </a:xfrm>
          <a:prstGeom prst="rect">
            <a:avLst/>
          </a:prstGeom>
          <a:solidFill>
            <a:schemeClr val="accent2"/>
          </a:solidFill>
        </p:spPr>
        <p:style>
          <a:lnRef idx="3">
            <a:schemeClr val="lt1"/>
          </a:lnRef>
          <a:fillRef idx="1">
            <a:schemeClr val="accent1"/>
          </a:fillRef>
          <a:effectRef idx="1">
            <a:schemeClr val="accent1"/>
          </a:effectRef>
          <a:fontRef idx="minor">
            <a:schemeClr val="lt1"/>
          </a:fontRef>
        </p:style>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dirty="0">
                <a:ln>
                  <a:noFill/>
                </a:ln>
                <a:solidFill>
                  <a:schemeClr val="lt1"/>
                </a:solidFill>
                <a:effectLst>
                  <a:outerShdw blurRad="38100" dist="38100" dir="2700000" algn="tl">
                    <a:srgbClr val="000000">
                      <a:alpha val="43137"/>
                    </a:srgbClr>
                  </a:outerShdw>
                </a:effectLst>
                <a:uLnTx/>
                <a:uFillTx/>
                <a:latin typeface="Calibri" pitchFamily="34" charset="0"/>
                <a:ea typeface="+mn-ea"/>
                <a:cs typeface="+mn-cs"/>
              </a:rPr>
              <a:t>9 - The Network Service Paradigm</a:t>
            </a:r>
          </a:p>
        </p:txBody>
      </p:sp>
      <p:pic>
        <p:nvPicPr>
          <p:cNvPr id="7" name="Picture 2">
            <a:extLst>
              <a:ext uri="{FF2B5EF4-FFF2-40B4-BE49-F238E27FC236}">
                <a16:creationId xmlns:a16="http://schemas.microsoft.com/office/drawing/2014/main" id="{C0A79853-E8D7-19A7-B7F1-B05FC39996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286" y="1419224"/>
            <a:ext cx="8920962" cy="4448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6901575"/>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A9E3C-11E2-BB2D-8B8D-5DF7F2693511}"/>
              </a:ext>
            </a:extLst>
          </p:cNvPr>
          <p:cNvSpPr txBox="1">
            <a:spLocks/>
          </p:cNvSpPr>
          <p:nvPr/>
        </p:nvSpPr>
        <p:spPr>
          <a:xfrm>
            <a:off x="914400" y="76200"/>
            <a:ext cx="7772400" cy="533400"/>
          </a:xfrm>
          <a:prstGeom prst="rect">
            <a:avLst/>
          </a:prstGeom>
          <a:solidFill>
            <a:schemeClr val="accent2"/>
          </a:solidFill>
        </p:spPr>
        <p:style>
          <a:lnRef idx="3">
            <a:schemeClr val="lt1"/>
          </a:lnRef>
          <a:fillRef idx="1">
            <a:schemeClr val="accent1"/>
          </a:fillRef>
          <a:effectRef idx="1">
            <a:schemeClr val="accent1"/>
          </a:effectRef>
          <a:fontRef idx="minor">
            <a:schemeClr val="lt1"/>
          </a:fontRef>
        </p:style>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dirty="0">
                <a:ln>
                  <a:noFill/>
                </a:ln>
                <a:solidFill>
                  <a:schemeClr val="lt1"/>
                </a:solidFill>
                <a:effectLst>
                  <a:outerShdw blurRad="38100" dist="38100" dir="2700000" algn="tl">
                    <a:srgbClr val="000000">
                      <a:alpha val="43137"/>
                    </a:srgbClr>
                  </a:outerShdw>
                </a:effectLst>
                <a:uLnTx/>
                <a:uFillTx/>
                <a:latin typeface="Calibri" pitchFamily="34" charset="0"/>
                <a:ea typeface="+mn-ea"/>
                <a:cs typeface="+mn-cs"/>
              </a:rPr>
              <a:t>9 - The Network Service Paradigm</a:t>
            </a:r>
          </a:p>
        </p:txBody>
      </p:sp>
      <p:sp>
        <p:nvSpPr>
          <p:cNvPr id="3" name="Content Placeholder 2">
            <a:extLst>
              <a:ext uri="{FF2B5EF4-FFF2-40B4-BE49-F238E27FC236}">
                <a16:creationId xmlns:a16="http://schemas.microsoft.com/office/drawing/2014/main" id="{201F7392-3615-BBDC-2F20-F30458FD5DD1}"/>
              </a:ext>
            </a:extLst>
          </p:cNvPr>
          <p:cNvSpPr>
            <a:spLocks noGrp="1"/>
          </p:cNvSpPr>
          <p:nvPr>
            <p:ph sz="quarter" idx="1"/>
          </p:nvPr>
        </p:nvSpPr>
        <p:spPr>
          <a:xfrm>
            <a:off x="76200" y="838200"/>
            <a:ext cx="8915400" cy="4572000"/>
          </a:xfrm>
        </p:spPr>
        <p:style>
          <a:lnRef idx="2">
            <a:schemeClr val="accent1"/>
          </a:lnRef>
          <a:fillRef idx="1">
            <a:schemeClr val="lt1"/>
          </a:fillRef>
          <a:effectRef idx="0">
            <a:schemeClr val="accent1"/>
          </a:effectRef>
          <a:fontRef idx="minor">
            <a:schemeClr val="dk1"/>
          </a:fontRef>
        </p:style>
        <p:txBody>
          <a:bodyPr>
            <a:noAutofit/>
          </a:bodyPr>
          <a:lstStyle/>
          <a:p>
            <a:pPr algn="just">
              <a:lnSpc>
                <a:spcPct val="100000"/>
              </a:lnSpc>
              <a:buFont typeface="Wingdings" panose="05000000000000000000" pitchFamily="2" charset="2"/>
              <a:buChar char="Ø"/>
            </a:pPr>
            <a:r>
              <a:rPr lang="en-US" sz="2200" dirty="0">
                <a:latin typeface="Calibri" pitchFamily="34" charset="0"/>
              </a:rPr>
              <a:t>In this paradigm service providers register themselves with directory servers on a network.</a:t>
            </a:r>
          </a:p>
          <a:p>
            <a:pPr algn="just">
              <a:lnSpc>
                <a:spcPct val="100000"/>
              </a:lnSpc>
              <a:buFont typeface="Wingdings" panose="05000000000000000000" pitchFamily="2" charset="2"/>
              <a:buChar char="Ø"/>
            </a:pPr>
            <a:r>
              <a:rPr lang="en-US" sz="2200" dirty="0">
                <a:latin typeface="Calibri" pitchFamily="34" charset="0"/>
              </a:rPr>
              <a:t>A process desiring a particular service contacts the directory server at run time, and, if the service is available, the process will be provided a reference to the service.</a:t>
            </a:r>
          </a:p>
          <a:p>
            <a:pPr algn="just">
              <a:lnSpc>
                <a:spcPct val="100000"/>
              </a:lnSpc>
              <a:buFont typeface="Wingdings" panose="05000000000000000000" pitchFamily="2" charset="2"/>
              <a:buChar char="Ø"/>
            </a:pPr>
            <a:r>
              <a:rPr lang="en-US" sz="2200" dirty="0">
                <a:latin typeface="Calibri" pitchFamily="34" charset="0"/>
              </a:rPr>
              <a:t>Using the reference, the process interacts with the service.</a:t>
            </a:r>
          </a:p>
          <a:p>
            <a:pPr algn="just">
              <a:lnSpc>
                <a:spcPct val="100000"/>
              </a:lnSpc>
              <a:buFont typeface="Wingdings" panose="05000000000000000000" pitchFamily="2" charset="2"/>
              <a:buChar char="Ø"/>
            </a:pPr>
            <a:r>
              <a:rPr lang="en-US" sz="2200" dirty="0">
                <a:latin typeface="Calibri" pitchFamily="34" charset="0"/>
              </a:rPr>
              <a:t>This paradigm is essentially an extension of the Remote Method Invocation paradigm.</a:t>
            </a:r>
          </a:p>
          <a:p>
            <a:pPr algn="just">
              <a:lnSpc>
                <a:spcPct val="100000"/>
              </a:lnSpc>
              <a:buFont typeface="Wingdings" panose="05000000000000000000" pitchFamily="2" charset="2"/>
              <a:buChar char="Ø"/>
            </a:pPr>
            <a:r>
              <a:rPr lang="en-US" sz="2200" dirty="0">
                <a:latin typeface="Calibri" pitchFamily="34" charset="0"/>
              </a:rPr>
              <a:t>The difference is that service objects are registered with a global directory service, allowing them to be looked up and accessed by service requesters on a federated network.</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Asst. Prof. Riddhi Joshi </a:t>
            </a:r>
          </a:p>
        </p:txBody>
      </p:sp>
      <p:sp>
        <p:nvSpPr>
          <p:cNvPr id="5" name="Slide Number Placeholder 4"/>
          <p:cNvSpPr>
            <a:spLocks noGrp="1"/>
          </p:cNvSpPr>
          <p:nvPr>
            <p:ph type="sldNum" sz="quarter" idx="12"/>
          </p:nvPr>
        </p:nvSpPr>
        <p:spPr/>
        <p:txBody>
          <a:bodyPr/>
          <a:lstStyle/>
          <a:p>
            <a:fld id="{B5F37722-C073-4E6C-82B2-DCE782874B35}" type="slidenum">
              <a:rPr lang="en-US" smtClean="0"/>
              <a:pPr/>
              <a:t>164</a:t>
            </a:fld>
            <a:endParaRPr lang="en-US"/>
          </a:p>
        </p:txBody>
      </p:sp>
      <p:sp>
        <p:nvSpPr>
          <p:cNvPr id="6" name="Rectangle 5"/>
          <p:cNvSpPr/>
          <p:nvPr/>
        </p:nvSpPr>
        <p:spPr>
          <a:xfrm>
            <a:off x="76200" y="762000"/>
            <a:ext cx="9067800" cy="178510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342900" indent="-342900" algn="just">
              <a:buFont typeface="Wingdings" panose="05000000000000000000" pitchFamily="2" charset="2"/>
              <a:buChar char="Ø"/>
            </a:pPr>
            <a:r>
              <a:rPr lang="en-US" sz="2200" dirty="0">
                <a:latin typeface="Calibri" pitchFamily="34" charset="0"/>
              </a:rPr>
              <a:t>A </a:t>
            </a:r>
            <a:r>
              <a:rPr lang="en-US" sz="2200" b="1" dirty="0">
                <a:latin typeface="Calibri" pitchFamily="34" charset="0"/>
              </a:rPr>
              <a:t>federation</a:t>
            </a:r>
            <a:r>
              <a:rPr lang="en-US" sz="2200" dirty="0">
                <a:latin typeface="Calibri" pitchFamily="34" charset="0"/>
              </a:rPr>
              <a:t> is a group of computing or network providers agreeing upon standards of operation in a collective fashion. </a:t>
            </a:r>
          </a:p>
          <a:p>
            <a:pPr marL="342900" indent="-342900" algn="just">
              <a:buFont typeface="Wingdings" panose="05000000000000000000" pitchFamily="2" charset="2"/>
              <a:buChar char="Ø"/>
            </a:pPr>
            <a:r>
              <a:rPr lang="en-US" sz="2200" dirty="0">
                <a:latin typeface="Calibri" pitchFamily="34" charset="0"/>
              </a:rPr>
              <a:t>The term may be used when describing the inter-operation of two distinct, formally disconnected, telecommunications networks that may have different internal structures</a:t>
            </a:r>
          </a:p>
        </p:txBody>
      </p:sp>
      <p:sp>
        <p:nvSpPr>
          <p:cNvPr id="8" name="Title 1">
            <a:extLst>
              <a:ext uri="{FF2B5EF4-FFF2-40B4-BE49-F238E27FC236}">
                <a16:creationId xmlns:a16="http://schemas.microsoft.com/office/drawing/2014/main" id="{4CD7B796-D776-87BF-58E4-44093FF6D930}"/>
              </a:ext>
            </a:extLst>
          </p:cNvPr>
          <p:cNvSpPr txBox="1">
            <a:spLocks/>
          </p:cNvSpPr>
          <p:nvPr/>
        </p:nvSpPr>
        <p:spPr>
          <a:xfrm>
            <a:off x="914400" y="76200"/>
            <a:ext cx="7772400" cy="533400"/>
          </a:xfrm>
          <a:prstGeom prst="rect">
            <a:avLst/>
          </a:prstGeom>
          <a:solidFill>
            <a:schemeClr val="accent2"/>
          </a:solidFill>
        </p:spPr>
        <p:style>
          <a:lnRef idx="3">
            <a:schemeClr val="lt1"/>
          </a:lnRef>
          <a:fillRef idx="1">
            <a:schemeClr val="accent1"/>
          </a:fillRef>
          <a:effectRef idx="1">
            <a:schemeClr val="accent1"/>
          </a:effectRef>
          <a:fontRef idx="minor">
            <a:schemeClr val="lt1"/>
          </a:fontRef>
        </p:style>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dirty="0">
                <a:ln>
                  <a:noFill/>
                </a:ln>
                <a:solidFill>
                  <a:schemeClr val="lt1"/>
                </a:solidFill>
                <a:effectLst>
                  <a:outerShdw blurRad="38100" dist="38100" dir="2700000" algn="tl">
                    <a:srgbClr val="000000">
                      <a:alpha val="43137"/>
                    </a:srgbClr>
                  </a:outerShdw>
                </a:effectLst>
                <a:uLnTx/>
                <a:uFillTx/>
                <a:latin typeface="Calibri" pitchFamily="34" charset="0"/>
                <a:ea typeface="+mn-ea"/>
                <a:cs typeface="+mn-cs"/>
              </a:rPr>
              <a:t>9 - The Network Service Paradigm</a:t>
            </a:r>
          </a:p>
        </p:txBody>
      </p:sp>
      <p:pic>
        <p:nvPicPr>
          <p:cNvPr id="8194" name="Picture 2">
            <a:extLst>
              <a:ext uri="{FF2B5EF4-FFF2-40B4-BE49-F238E27FC236}">
                <a16:creationId xmlns:a16="http://schemas.microsoft.com/office/drawing/2014/main" id="{5199D481-0C0C-3CFA-E557-97D7F81BEF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926486"/>
            <a:ext cx="7391400" cy="319159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838200"/>
            <a:ext cx="8839200" cy="5105400"/>
          </a:xfrm>
        </p:spPr>
        <p:style>
          <a:lnRef idx="2">
            <a:schemeClr val="accent1"/>
          </a:lnRef>
          <a:fillRef idx="1">
            <a:schemeClr val="lt1"/>
          </a:fillRef>
          <a:effectRef idx="0">
            <a:schemeClr val="accent1"/>
          </a:effectRef>
          <a:fontRef idx="minor">
            <a:schemeClr val="dk1"/>
          </a:fontRef>
        </p:style>
        <p:txBody>
          <a:bodyPr>
            <a:noAutofit/>
          </a:bodyPr>
          <a:lstStyle/>
          <a:p>
            <a:pPr algn="just">
              <a:lnSpc>
                <a:spcPct val="150000"/>
              </a:lnSpc>
              <a:buFont typeface="Wingdings" panose="05000000000000000000" pitchFamily="2" charset="2"/>
              <a:buChar char="Ø"/>
            </a:pPr>
            <a:r>
              <a:rPr lang="en-US" sz="2200" dirty="0">
                <a:latin typeface="Calibri" pitchFamily="34" charset="0"/>
              </a:rPr>
              <a:t>Ideally, services may be registered and located using a globally unique identifier, in which case, the paradigm offers an extra abstraction: </a:t>
            </a:r>
            <a:r>
              <a:rPr lang="en-US" sz="2200" b="1" dirty="0">
                <a:latin typeface="Calibri" pitchFamily="34" charset="0"/>
              </a:rPr>
              <a:t>location transparency</a:t>
            </a:r>
            <a:r>
              <a:rPr lang="en-US" sz="2200" dirty="0">
                <a:latin typeface="Calibri" pitchFamily="34" charset="0"/>
              </a:rPr>
              <a:t>. </a:t>
            </a:r>
          </a:p>
          <a:p>
            <a:pPr algn="just">
              <a:lnSpc>
                <a:spcPct val="150000"/>
              </a:lnSpc>
              <a:buFont typeface="Wingdings" panose="05000000000000000000" pitchFamily="2" charset="2"/>
              <a:buChar char="Ø"/>
            </a:pPr>
            <a:r>
              <a:rPr lang="en-US" sz="2200" dirty="0">
                <a:latin typeface="Calibri" pitchFamily="34" charset="0"/>
              </a:rPr>
              <a:t>Location transparency allows a software development to access an object or a service without having to be cognizant (aware) of the location of the object or service.</a:t>
            </a:r>
          </a:p>
        </p:txBody>
      </p:sp>
      <p:sp>
        <p:nvSpPr>
          <p:cNvPr id="4" name="Footer Placeholder 3"/>
          <p:cNvSpPr>
            <a:spLocks noGrp="1"/>
          </p:cNvSpPr>
          <p:nvPr>
            <p:ph type="ftr" sz="quarter" idx="11"/>
          </p:nvPr>
        </p:nvSpPr>
        <p:spPr/>
        <p:txBody>
          <a:bodyPr/>
          <a:lstStyle/>
          <a:p>
            <a:r>
              <a:rPr lang="en-US"/>
              <a:t>Asst. Prof. Riddhi Joshi </a:t>
            </a:r>
          </a:p>
        </p:txBody>
      </p:sp>
      <p:sp>
        <p:nvSpPr>
          <p:cNvPr id="5" name="Slide Number Placeholder 4"/>
          <p:cNvSpPr>
            <a:spLocks noGrp="1"/>
          </p:cNvSpPr>
          <p:nvPr>
            <p:ph type="sldNum" sz="quarter" idx="12"/>
          </p:nvPr>
        </p:nvSpPr>
        <p:spPr/>
        <p:txBody>
          <a:bodyPr/>
          <a:lstStyle/>
          <a:p>
            <a:fld id="{B5F37722-C073-4E6C-82B2-DCE782874B35}" type="slidenum">
              <a:rPr lang="en-US" smtClean="0"/>
              <a:pPr/>
              <a:t>165</a:t>
            </a:fld>
            <a:endParaRPr lang="en-US"/>
          </a:p>
        </p:txBody>
      </p:sp>
      <p:sp>
        <p:nvSpPr>
          <p:cNvPr id="6" name="Title 1">
            <a:extLst>
              <a:ext uri="{FF2B5EF4-FFF2-40B4-BE49-F238E27FC236}">
                <a16:creationId xmlns:a16="http://schemas.microsoft.com/office/drawing/2014/main" id="{C90AE29E-54AC-BA4E-C11B-DB94CF77F903}"/>
              </a:ext>
            </a:extLst>
          </p:cNvPr>
          <p:cNvSpPr txBox="1">
            <a:spLocks/>
          </p:cNvSpPr>
          <p:nvPr/>
        </p:nvSpPr>
        <p:spPr>
          <a:xfrm>
            <a:off x="914400" y="76200"/>
            <a:ext cx="7772400" cy="533400"/>
          </a:xfrm>
          <a:prstGeom prst="rect">
            <a:avLst/>
          </a:prstGeom>
          <a:solidFill>
            <a:schemeClr val="accent2"/>
          </a:solidFill>
        </p:spPr>
        <p:style>
          <a:lnRef idx="3">
            <a:schemeClr val="lt1"/>
          </a:lnRef>
          <a:fillRef idx="1">
            <a:schemeClr val="accent1"/>
          </a:fillRef>
          <a:effectRef idx="1">
            <a:schemeClr val="accent1"/>
          </a:effectRef>
          <a:fontRef idx="minor">
            <a:schemeClr val="lt1"/>
          </a:fontRef>
        </p:style>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dirty="0">
                <a:ln>
                  <a:noFill/>
                </a:ln>
                <a:solidFill>
                  <a:schemeClr val="lt1"/>
                </a:solidFill>
                <a:effectLst>
                  <a:outerShdw blurRad="38100" dist="38100" dir="2700000" algn="tl">
                    <a:srgbClr val="000000">
                      <a:alpha val="43137"/>
                    </a:srgbClr>
                  </a:outerShdw>
                </a:effectLst>
                <a:uLnTx/>
                <a:uFillTx/>
                <a:latin typeface="Calibri" pitchFamily="34" charset="0"/>
                <a:ea typeface="+mn-ea"/>
                <a:cs typeface="+mn-cs"/>
              </a:rPr>
              <a:t>9 - The Network Service Paradigm</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89BA98-0FA9-410E-F933-E3FDC6EFFE46}"/>
              </a:ext>
            </a:extLst>
          </p:cNvPr>
          <p:cNvSpPr>
            <a:spLocks noGrp="1"/>
          </p:cNvSpPr>
          <p:nvPr>
            <p:ph type="title"/>
          </p:nvPr>
        </p:nvSpPr>
        <p:spPr/>
        <p:txBody>
          <a:bodyPr/>
          <a:lstStyle/>
          <a:p>
            <a:endParaRPr lang="en-IN"/>
          </a:p>
        </p:txBody>
      </p:sp>
      <p:sp>
        <p:nvSpPr>
          <p:cNvPr id="4" name="Title 1">
            <a:extLst>
              <a:ext uri="{FF2B5EF4-FFF2-40B4-BE49-F238E27FC236}">
                <a16:creationId xmlns:a16="http://schemas.microsoft.com/office/drawing/2014/main" id="{EDC9691F-8F64-EA81-A81A-2546A2702909}"/>
              </a:ext>
            </a:extLst>
          </p:cNvPr>
          <p:cNvSpPr txBox="1">
            <a:spLocks/>
          </p:cNvSpPr>
          <p:nvPr/>
        </p:nvSpPr>
        <p:spPr>
          <a:xfrm>
            <a:off x="533400" y="76200"/>
            <a:ext cx="8229600" cy="563562"/>
          </a:xfrm>
          <a:prstGeom prst="rect">
            <a:avLst/>
          </a:prstGeom>
          <a:solidFill>
            <a:schemeClr val="accent2"/>
          </a:solidFill>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600" b="1" dirty="0">
                <a:latin typeface="Calibri" pitchFamily="34" charset="0"/>
              </a:rPr>
              <a:t>10 -  The Collaborative Application(Groupware) Paradigm</a:t>
            </a:r>
          </a:p>
        </p:txBody>
      </p:sp>
      <p:pic>
        <p:nvPicPr>
          <p:cNvPr id="5" name="Picture 2">
            <a:extLst>
              <a:ext uri="{FF2B5EF4-FFF2-40B4-BE49-F238E27FC236}">
                <a16:creationId xmlns:a16="http://schemas.microsoft.com/office/drawing/2014/main" id="{959B7078-DB79-9ECA-7518-85EBA844E5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286" y="1419224"/>
            <a:ext cx="8920962" cy="44481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0" y="685800"/>
            <a:ext cx="9067800" cy="5410200"/>
          </a:xfrm>
        </p:spPr>
        <p:style>
          <a:lnRef idx="2">
            <a:schemeClr val="accent1"/>
          </a:lnRef>
          <a:fillRef idx="1">
            <a:schemeClr val="lt1"/>
          </a:fillRef>
          <a:effectRef idx="0">
            <a:schemeClr val="accent1"/>
          </a:effectRef>
          <a:fontRef idx="minor">
            <a:schemeClr val="dk1"/>
          </a:fontRef>
        </p:style>
        <p:txBody>
          <a:bodyPr>
            <a:noAutofit/>
          </a:bodyPr>
          <a:lstStyle/>
          <a:p>
            <a:pPr>
              <a:lnSpc>
                <a:spcPct val="110000"/>
              </a:lnSpc>
              <a:buFont typeface="Wingdings" panose="05000000000000000000" pitchFamily="2" charset="2"/>
              <a:buChar char="Ø"/>
            </a:pPr>
            <a:r>
              <a:rPr lang="en-US" sz="2200" b="0" i="0" dirty="0">
                <a:solidFill>
                  <a:srgbClr val="273239"/>
                </a:solidFill>
                <a:effectLst/>
                <a:latin typeface="Calibri" panose="020F0502020204030204" pitchFamily="34" charset="0"/>
                <a:cs typeface="Calibri" panose="020F0502020204030204" pitchFamily="34" charset="0"/>
              </a:rPr>
              <a:t>processes participate in a collaborative session as a group. </a:t>
            </a:r>
          </a:p>
          <a:p>
            <a:pPr>
              <a:lnSpc>
                <a:spcPct val="110000"/>
              </a:lnSpc>
              <a:buFont typeface="Wingdings" panose="05000000000000000000" pitchFamily="2" charset="2"/>
              <a:buChar char="Ø"/>
            </a:pPr>
            <a:r>
              <a:rPr lang="en-US" sz="2200" b="0" i="0" dirty="0">
                <a:solidFill>
                  <a:srgbClr val="273239"/>
                </a:solidFill>
                <a:effectLst/>
                <a:latin typeface="Calibri" panose="020F0502020204030204" pitchFamily="34" charset="0"/>
                <a:cs typeface="Calibri" panose="020F0502020204030204" pitchFamily="34" charset="0"/>
              </a:rPr>
              <a:t>Each participating process may contribute input to part or all of the group. </a:t>
            </a:r>
          </a:p>
          <a:p>
            <a:pPr fontAlgn="base">
              <a:lnSpc>
                <a:spcPct val="110000"/>
              </a:lnSpc>
              <a:buFont typeface="Wingdings" panose="05000000000000000000" pitchFamily="2" charset="2"/>
              <a:buChar char="Ø"/>
            </a:pPr>
            <a:r>
              <a:rPr lang="en-US" sz="2200" b="1" i="0" dirty="0">
                <a:solidFill>
                  <a:srgbClr val="273239"/>
                </a:solidFill>
                <a:effectLst/>
                <a:latin typeface="Calibri" panose="020F0502020204030204" pitchFamily="34" charset="0"/>
                <a:cs typeface="Calibri" panose="020F0502020204030204" pitchFamily="34" charset="0"/>
              </a:rPr>
              <a:t>Types:</a:t>
            </a:r>
            <a:r>
              <a:rPr lang="en-US" sz="2200" b="0" i="0" dirty="0">
                <a:solidFill>
                  <a:srgbClr val="273239"/>
                </a:solidFill>
                <a:effectLst/>
                <a:latin typeface="Calibri" panose="020F0502020204030204" pitchFamily="34" charset="0"/>
                <a:cs typeface="Calibri" panose="020F0502020204030204" pitchFamily="34" charset="0"/>
              </a:rPr>
              <a:t>  </a:t>
            </a:r>
          </a:p>
          <a:p>
            <a:pPr fontAlgn="base">
              <a:lnSpc>
                <a:spcPct val="110000"/>
              </a:lnSpc>
              <a:buFont typeface="Wingdings" panose="05000000000000000000" pitchFamily="2" charset="2"/>
              <a:buChar char="Ø"/>
            </a:pPr>
            <a:r>
              <a:rPr lang="en-US" sz="2200" b="0" i="0" dirty="0">
                <a:solidFill>
                  <a:srgbClr val="273239"/>
                </a:solidFill>
                <a:effectLst/>
                <a:latin typeface="Calibri" panose="020F0502020204030204" pitchFamily="34" charset="0"/>
                <a:cs typeface="Calibri" panose="020F0502020204030204" pitchFamily="34" charset="0"/>
              </a:rPr>
              <a:t>Message based groupware paradigm</a:t>
            </a:r>
          </a:p>
          <a:p>
            <a:pPr fontAlgn="base">
              <a:lnSpc>
                <a:spcPct val="110000"/>
              </a:lnSpc>
              <a:buFont typeface="Wingdings" panose="05000000000000000000" pitchFamily="2" charset="2"/>
              <a:buChar char="Ø"/>
            </a:pPr>
            <a:r>
              <a:rPr lang="en-US" sz="2200" b="0" i="0" dirty="0">
                <a:solidFill>
                  <a:srgbClr val="273239"/>
                </a:solidFill>
                <a:effectLst/>
                <a:latin typeface="Calibri" panose="020F0502020204030204" pitchFamily="34" charset="0"/>
                <a:cs typeface="Calibri" panose="020F0502020204030204" pitchFamily="34" charset="0"/>
              </a:rPr>
              <a:t>Whiteboard based groupware paradigm</a:t>
            </a:r>
          </a:p>
          <a:p>
            <a:pPr fontAlgn="base">
              <a:lnSpc>
                <a:spcPct val="110000"/>
              </a:lnSpc>
              <a:buFont typeface="Wingdings" panose="05000000000000000000" pitchFamily="2" charset="2"/>
              <a:buChar char="Ø"/>
            </a:pPr>
            <a:r>
              <a:rPr lang="en-US" sz="2200" b="1" i="0" dirty="0">
                <a:solidFill>
                  <a:srgbClr val="273239"/>
                </a:solidFill>
                <a:effectLst/>
                <a:latin typeface="Calibri" panose="020F0502020204030204" pitchFamily="34" charset="0"/>
                <a:cs typeface="Calibri" panose="020F0502020204030204" pitchFamily="34" charset="0"/>
              </a:rPr>
              <a:t>Message based groupware paradigm:</a:t>
            </a:r>
            <a:r>
              <a:rPr lang="en-US" sz="2200" b="0" i="0" dirty="0">
                <a:solidFill>
                  <a:srgbClr val="273239"/>
                </a:solidFill>
                <a:effectLst/>
                <a:latin typeface="Calibri" panose="020F0502020204030204" pitchFamily="34" charset="0"/>
                <a:cs typeface="Calibri" panose="020F0502020204030204" pitchFamily="34" charset="0"/>
              </a:rPr>
              <a:t> </a:t>
            </a:r>
            <a:br>
              <a:rPr lang="en-US" sz="2200" b="0" i="0" dirty="0">
                <a:solidFill>
                  <a:srgbClr val="273239"/>
                </a:solidFill>
                <a:effectLst/>
                <a:latin typeface="Calibri" panose="020F0502020204030204" pitchFamily="34" charset="0"/>
                <a:cs typeface="Calibri" panose="020F0502020204030204" pitchFamily="34" charset="0"/>
              </a:rPr>
            </a:br>
            <a:r>
              <a:rPr lang="en-US" sz="2200" b="0" i="0" dirty="0">
                <a:solidFill>
                  <a:srgbClr val="273239"/>
                </a:solidFill>
                <a:effectLst/>
                <a:latin typeface="Calibri" panose="020F0502020204030204" pitchFamily="34" charset="0"/>
                <a:cs typeface="Calibri" panose="020F0502020204030204" pitchFamily="34" charset="0"/>
              </a:rPr>
              <a:t>A host can multicast to send data to all hosts in the group or part of the hosts in the group. </a:t>
            </a:r>
            <a:br>
              <a:rPr lang="en-US" sz="2200" b="0" i="0" dirty="0">
                <a:solidFill>
                  <a:srgbClr val="273239"/>
                </a:solidFill>
                <a:effectLst/>
                <a:latin typeface="Calibri" panose="020F0502020204030204" pitchFamily="34" charset="0"/>
                <a:cs typeface="Calibri" panose="020F0502020204030204" pitchFamily="34" charset="0"/>
              </a:rPr>
            </a:br>
            <a:r>
              <a:rPr lang="en-US" sz="2200" b="1" i="0" dirty="0">
                <a:solidFill>
                  <a:srgbClr val="273239"/>
                </a:solidFill>
                <a:effectLst/>
                <a:latin typeface="Calibri" panose="020F0502020204030204" pitchFamily="34" charset="0"/>
                <a:cs typeface="Calibri" panose="020F0502020204030204" pitchFamily="34" charset="0"/>
              </a:rPr>
              <a:t>Whiteboard based groupware paradigm:</a:t>
            </a:r>
            <a:r>
              <a:rPr lang="en-US" sz="2200" b="0" i="0" dirty="0">
                <a:solidFill>
                  <a:srgbClr val="273239"/>
                </a:solidFill>
                <a:effectLst/>
                <a:latin typeface="Calibri" panose="020F0502020204030204" pitchFamily="34" charset="0"/>
                <a:cs typeface="Calibri" panose="020F0502020204030204" pitchFamily="34" charset="0"/>
              </a:rPr>
              <a:t> </a:t>
            </a:r>
            <a:br>
              <a:rPr lang="en-US" sz="2200" b="0" i="0" dirty="0">
                <a:solidFill>
                  <a:srgbClr val="273239"/>
                </a:solidFill>
                <a:effectLst/>
                <a:latin typeface="Calibri" panose="020F0502020204030204" pitchFamily="34" charset="0"/>
                <a:cs typeface="Calibri" panose="020F0502020204030204" pitchFamily="34" charset="0"/>
              </a:rPr>
            </a:br>
            <a:r>
              <a:rPr lang="en-US" sz="2200" b="0" i="0" dirty="0">
                <a:solidFill>
                  <a:srgbClr val="273239"/>
                </a:solidFill>
                <a:effectLst/>
                <a:latin typeface="Calibri" panose="020F0502020204030204" pitchFamily="34" charset="0"/>
                <a:cs typeface="Calibri" panose="020F0502020204030204" pitchFamily="34" charset="0"/>
              </a:rPr>
              <a:t>The information is available on the public board in the group whoever in the group can access it. </a:t>
            </a:r>
          </a:p>
          <a:p>
            <a:pPr fontAlgn="base">
              <a:lnSpc>
                <a:spcPct val="110000"/>
              </a:lnSpc>
              <a:buFont typeface="Wingdings" panose="05000000000000000000" pitchFamily="2" charset="2"/>
              <a:buChar char="Ø"/>
            </a:pPr>
            <a:r>
              <a:rPr lang="en-US" sz="2200" b="0" i="0" dirty="0">
                <a:solidFill>
                  <a:srgbClr val="273239"/>
                </a:solidFill>
                <a:effectLst/>
                <a:latin typeface="Calibri" panose="020F0502020204030204" pitchFamily="34" charset="0"/>
                <a:cs typeface="Calibri" panose="020F0502020204030204" pitchFamily="34" charset="0"/>
              </a:rPr>
              <a:t>Anyone can read or write data to a shared display </a:t>
            </a:r>
          </a:p>
          <a:p>
            <a:pPr>
              <a:lnSpc>
                <a:spcPct val="110000"/>
              </a:lnSpc>
              <a:buFont typeface="Wingdings" panose="05000000000000000000" pitchFamily="2" charset="2"/>
              <a:buChar char="Ø"/>
            </a:pPr>
            <a:endParaRPr lang="en-US" sz="2200" dirty="0">
              <a:latin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p:txBody>
          <a:bodyPr/>
          <a:lstStyle/>
          <a:p>
            <a:r>
              <a:rPr lang="en-US"/>
              <a:t>Asst. Prof. Riddhi Joshi </a:t>
            </a:r>
          </a:p>
        </p:txBody>
      </p:sp>
      <p:sp>
        <p:nvSpPr>
          <p:cNvPr id="5" name="Slide Number Placeholder 4"/>
          <p:cNvSpPr>
            <a:spLocks noGrp="1"/>
          </p:cNvSpPr>
          <p:nvPr>
            <p:ph type="sldNum" sz="quarter" idx="12"/>
          </p:nvPr>
        </p:nvSpPr>
        <p:spPr/>
        <p:txBody>
          <a:bodyPr/>
          <a:lstStyle/>
          <a:p>
            <a:fld id="{B5F37722-C073-4E6C-82B2-DCE782874B35}" type="slidenum">
              <a:rPr lang="en-US" smtClean="0"/>
              <a:pPr/>
              <a:t>167</a:t>
            </a:fld>
            <a:endParaRPr lang="en-US"/>
          </a:p>
        </p:txBody>
      </p:sp>
      <p:sp>
        <p:nvSpPr>
          <p:cNvPr id="8" name="Title 1">
            <a:extLst>
              <a:ext uri="{FF2B5EF4-FFF2-40B4-BE49-F238E27FC236}">
                <a16:creationId xmlns:a16="http://schemas.microsoft.com/office/drawing/2014/main" id="{3DA63328-08B3-FC5F-1C14-347D6689E026}"/>
              </a:ext>
            </a:extLst>
          </p:cNvPr>
          <p:cNvSpPr txBox="1">
            <a:spLocks/>
          </p:cNvSpPr>
          <p:nvPr/>
        </p:nvSpPr>
        <p:spPr>
          <a:xfrm>
            <a:off x="533400" y="76200"/>
            <a:ext cx="8229600" cy="563562"/>
          </a:xfrm>
          <a:prstGeom prst="rect">
            <a:avLst/>
          </a:prstGeom>
          <a:solidFill>
            <a:schemeClr val="accent2"/>
          </a:solidFill>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600" b="1" dirty="0">
                <a:latin typeface="Calibri" pitchFamily="34" charset="0"/>
              </a:rPr>
              <a:t>10 -  The Collaborative Application(Groupware) Paradigm</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EDFC407-C33D-AD36-2332-CE469B1D9EE7}"/>
              </a:ext>
            </a:extLst>
          </p:cNvPr>
          <p:cNvSpPr>
            <a:spLocks noGrp="1"/>
          </p:cNvSpPr>
          <p:nvPr>
            <p:ph type="title"/>
          </p:nvPr>
        </p:nvSpPr>
        <p:spPr/>
        <p:txBody>
          <a:bodyPr/>
          <a:lstStyle/>
          <a:p>
            <a:endParaRPr lang="en-IN"/>
          </a:p>
        </p:txBody>
      </p:sp>
      <p:pic>
        <p:nvPicPr>
          <p:cNvPr id="9218" name="Picture 2">
            <a:extLst>
              <a:ext uri="{FF2B5EF4-FFF2-40B4-BE49-F238E27FC236}">
                <a16:creationId xmlns:a16="http://schemas.microsoft.com/office/drawing/2014/main" id="{78EA7E5C-9D89-1342-EF93-3FEBA715CF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075" y="1333500"/>
            <a:ext cx="8705850" cy="419100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47DD900B-D640-38EE-47BE-FBA93D1F0702}"/>
              </a:ext>
            </a:extLst>
          </p:cNvPr>
          <p:cNvSpPr txBox="1">
            <a:spLocks/>
          </p:cNvSpPr>
          <p:nvPr/>
        </p:nvSpPr>
        <p:spPr>
          <a:xfrm>
            <a:off x="533400" y="76200"/>
            <a:ext cx="8229600" cy="563562"/>
          </a:xfrm>
          <a:prstGeom prst="rect">
            <a:avLst/>
          </a:prstGeom>
          <a:solidFill>
            <a:schemeClr val="accent2"/>
          </a:solidFill>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600" b="1" dirty="0">
                <a:latin typeface="Calibri" pitchFamily="34" charset="0"/>
              </a:rPr>
              <a:t>10 -  The Collaborative Application(Groupware) Paradigm</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7F459BE-5042-BE2B-8DAA-9E547A894EFF}"/>
              </a:ext>
            </a:extLst>
          </p:cNvPr>
          <p:cNvSpPr>
            <a:spLocks noGrp="1"/>
          </p:cNvSpPr>
          <p:nvPr>
            <p:ph type="title"/>
          </p:nvPr>
        </p:nvSpPr>
        <p:spPr/>
        <p:txBody>
          <a:bodyPr/>
          <a:lstStyle/>
          <a:p>
            <a:endParaRPr lang="en-IN"/>
          </a:p>
        </p:txBody>
      </p:sp>
      <p:sp>
        <p:nvSpPr>
          <p:cNvPr id="4" name="Title 1">
            <a:extLst>
              <a:ext uri="{FF2B5EF4-FFF2-40B4-BE49-F238E27FC236}">
                <a16:creationId xmlns:a16="http://schemas.microsoft.com/office/drawing/2014/main" id="{107CF078-1732-BA95-6CA1-ADCFA3B050D7}"/>
              </a:ext>
            </a:extLst>
          </p:cNvPr>
          <p:cNvSpPr txBox="1">
            <a:spLocks/>
          </p:cNvSpPr>
          <p:nvPr/>
        </p:nvSpPr>
        <p:spPr>
          <a:xfrm>
            <a:off x="533400" y="76200"/>
            <a:ext cx="8229600" cy="563562"/>
          </a:xfrm>
          <a:prstGeom prst="rect">
            <a:avLst/>
          </a:prstGeom>
          <a:solidFill>
            <a:schemeClr val="accent2"/>
          </a:solidFill>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600" b="1">
                <a:latin typeface="Calibri" pitchFamily="34" charset="0"/>
              </a:rPr>
              <a:t>11 -  The Object Space</a:t>
            </a:r>
            <a:endParaRPr lang="en-US" sz="2600" b="1" dirty="0">
              <a:latin typeface="Calibri" pitchFamily="34" charset="0"/>
            </a:endParaRPr>
          </a:p>
        </p:txBody>
      </p:sp>
      <p:sp>
        <p:nvSpPr>
          <p:cNvPr id="5" name="Content Placeholder 4">
            <a:extLst>
              <a:ext uri="{FF2B5EF4-FFF2-40B4-BE49-F238E27FC236}">
                <a16:creationId xmlns:a16="http://schemas.microsoft.com/office/drawing/2014/main" id="{0E291780-107E-79C5-94BA-577974B57728}"/>
              </a:ext>
            </a:extLst>
          </p:cNvPr>
          <p:cNvSpPr>
            <a:spLocks noGrp="1"/>
          </p:cNvSpPr>
          <p:nvPr>
            <p:ph sz="quarter" idx="1"/>
          </p:nvPr>
        </p:nvSpPr>
        <p:spPr>
          <a:xfrm>
            <a:off x="304800" y="838200"/>
            <a:ext cx="8686800" cy="5257800"/>
          </a:xfrm>
        </p:spPr>
        <p:style>
          <a:lnRef idx="2">
            <a:schemeClr val="accent1"/>
          </a:lnRef>
          <a:fillRef idx="1">
            <a:schemeClr val="lt1"/>
          </a:fillRef>
          <a:effectRef idx="0">
            <a:schemeClr val="accent1"/>
          </a:effectRef>
          <a:fontRef idx="minor">
            <a:schemeClr val="dk1"/>
          </a:fontRef>
        </p:style>
        <p:txBody>
          <a:bodyPr>
            <a:normAutofit lnSpcReduction="10000"/>
          </a:bodyPr>
          <a:lstStyle/>
          <a:p>
            <a:pPr>
              <a:lnSpc>
                <a:spcPct val="150000"/>
              </a:lnSpc>
              <a:buFont typeface="Wingdings" panose="05000000000000000000" pitchFamily="2" charset="2"/>
              <a:buChar char="Ø"/>
            </a:pPr>
            <a:r>
              <a:rPr lang="en-IN" sz="2200" dirty="0">
                <a:latin typeface="Calibri" pitchFamily="34" charset="0"/>
                <a:cs typeface="Calibri" pitchFamily="34" charset="0"/>
              </a:rPr>
              <a:t>The object space paradigm assumes the existence of logical entities known as object spaces.</a:t>
            </a:r>
          </a:p>
          <a:p>
            <a:pPr>
              <a:lnSpc>
                <a:spcPct val="150000"/>
              </a:lnSpc>
              <a:buFont typeface="Wingdings" panose="05000000000000000000" pitchFamily="2" charset="2"/>
              <a:buChar char="Ø"/>
            </a:pPr>
            <a:r>
              <a:rPr lang="en-IN" sz="2200" dirty="0">
                <a:latin typeface="Calibri" pitchFamily="34" charset="0"/>
                <a:cs typeface="Calibri" pitchFamily="34" charset="0"/>
              </a:rPr>
              <a:t>The participants of an application converge in a common object space.</a:t>
            </a:r>
          </a:p>
          <a:p>
            <a:pPr>
              <a:lnSpc>
                <a:spcPct val="150000"/>
              </a:lnSpc>
              <a:buFont typeface="Wingdings" panose="05000000000000000000" pitchFamily="2" charset="2"/>
              <a:buChar char="Ø"/>
            </a:pPr>
            <a:r>
              <a:rPr lang="en-IN" sz="2200" dirty="0">
                <a:latin typeface="Calibri" pitchFamily="34" charset="0"/>
                <a:cs typeface="Calibri" pitchFamily="34" charset="0"/>
              </a:rPr>
              <a:t>A provider places objects as entries into an object space, and requestors who subscribe to the space may access the entries.</a:t>
            </a:r>
          </a:p>
          <a:p>
            <a:pPr>
              <a:lnSpc>
                <a:spcPct val="150000"/>
              </a:lnSpc>
              <a:buFont typeface="Wingdings" panose="05000000000000000000" pitchFamily="2" charset="2"/>
              <a:buChar char="Ø"/>
            </a:pPr>
            <a:r>
              <a:rPr lang="en-IN" sz="2200" dirty="0">
                <a:latin typeface="Calibri" pitchFamily="34" charset="0"/>
                <a:cs typeface="Calibri" pitchFamily="34" charset="0"/>
              </a:rPr>
              <a:t>The object space paradigm provides a virtual space or meeting room among providers and requestors of network resources as objects.</a:t>
            </a:r>
          </a:p>
          <a:p>
            <a:pPr>
              <a:lnSpc>
                <a:spcPct val="150000"/>
              </a:lnSpc>
              <a:buFont typeface="Wingdings" panose="05000000000000000000" pitchFamily="2" charset="2"/>
              <a:buChar char="Ø"/>
            </a:pPr>
            <a:r>
              <a:rPr lang="en-IN" sz="2200" dirty="0">
                <a:latin typeface="Calibri" pitchFamily="34" charset="0"/>
                <a:cs typeface="Calibri" pitchFamily="34" charset="0"/>
              </a:rPr>
              <a:t>Mutual exclusion is inherit in the paradigm, as an object in a space can be retrieved by only one participant at a time.</a:t>
            </a:r>
            <a:endParaRPr lang="en-GB" sz="2200" dirty="0">
              <a:latin typeface="Calibri" pitchFamily="34" charset="0"/>
              <a:cs typeface="Calibri" pitchFamily="34" charset="0"/>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443127F-E785-EECA-40A6-FAD396171049}"/>
              </a:ext>
            </a:extLst>
          </p:cNvPr>
          <p:cNvSpPr>
            <a:spLocks noGrp="1"/>
          </p:cNvSpPr>
          <p:nvPr>
            <p:ph type="title"/>
          </p:nvPr>
        </p:nvSpPr>
        <p:spPr/>
        <p:txBody>
          <a:bodyPr/>
          <a:lstStyle/>
          <a:p>
            <a:endParaRPr lang="en-IN"/>
          </a:p>
        </p:txBody>
      </p:sp>
      <p:sp>
        <p:nvSpPr>
          <p:cNvPr id="12" name="Title 1">
            <a:extLst>
              <a:ext uri="{FF2B5EF4-FFF2-40B4-BE49-F238E27FC236}">
                <a16:creationId xmlns:a16="http://schemas.microsoft.com/office/drawing/2014/main" id="{3416C457-4987-9555-A2A4-E209A2A365D7}"/>
              </a:ext>
            </a:extLst>
          </p:cNvPr>
          <p:cNvSpPr txBox="1">
            <a:spLocks/>
          </p:cNvSpPr>
          <p:nvPr/>
        </p:nvSpPr>
        <p:spPr>
          <a:xfrm>
            <a:off x="533400" y="76200"/>
            <a:ext cx="8229600" cy="563562"/>
          </a:xfrm>
          <a:prstGeom prst="rect">
            <a:avLst/>
          </a:prstGeom>
          <a:solidFill>
            <a:schemeClr val="accent2"/>
          </a:solidFill>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600" b="1">
                <a:latin typeface="Calibri" pitchFamily="34" charset="0"/>
              </a:rPr>
              <a:t>11 -  The Object Space</a:t>
            </a:r>
            <a:endParaRPr lang="en-US" sz="2600" b="1" dirty="0">
              <a:latin typeface="Calibri" pitchFamily="34" charset="0"/>
            </a:endParaRPr>
          </a:p>
        </p:txBody>
      </p:sp>
      <p:pic>
        <p:nvPicPr>
          <p:cNvPr id="11266" name="Picture 2">
            <a:extLst>
              <a:ext uri="{FF2B5EF4-FFF2-40B4-BE49-F238E27FC236}">
                <a16:creationId xmlns:a16="http://schemas.microsoft.com/office/drawing/2014/main" id="{FEA2F92C-A362-977E-81AB-D58090E14C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138" y="1066800"/>
            <a:ext cx="8467725" cy="39100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E0A9E-B8E5-1105-A9F0-6CCAC87C6164}"/>
              </a:ext>
            </a:extLst>
          </p:cNvPr>
          <p:cNvSpPr>
            <a:spLocks noGrp="1"/>
          </p:cNvSpPr>
          <p:nvPr>
            <p:ph type="title"/>
          </p:nvPr>
        </p:nvSpPr>
        <p:spPr/>
        <p:txBody>
          <a:bodyPr>
            <a:normAutofit fontScale="90000"/>
          </a:bodyPr>
          <a:lstStyle/>
          <a:p>
            <a:r>
              <a:rPr lang="en-US" dirty="0"/>
              <a:t>QUESTIONS FOR PARADIGMS (DIFFERENCE)</a:t>
            </a:r>
            <a:br>
              <a:rPr lang="en-US" dirty="0"/>
            </a:br>
            <a:endParaRPr lang="en-IN" dirty="0"/>
          </a:p>
        </p:txBody>
      </p:sp>
      <p:sp>
        <p:nvSpPr>
          <p:cNvPr id="3" name="Content Placeholder 2">
            <a:extLst>
              <a:ext uri="{FF2B5EF4-FFF2-40B4-BE49-F238E27FC236}">
                <a16:creationId xmlns:a16="http://schemas.microsoft.com/office/drawing/2014/main" id="{F04D5AE4-8D69-E0BA-6A1B-D0C6D08EBFE3}"/>
              </a:ext>
            </a:extLst>
          </p:cNvPr>
          <p:cNvSpPr>
            <a:spLocks noGrp="1"/>
          </p:cNvSpPr>
          <p:nvPr>
            <p:ph idx="1"/>
          </p:nvPr>
        </p:nvSpPr>
        <p:spPr>
          <a:xfrm>
            <a:off x="6848" y="1828800"/>
            <a:ext cx="9137151" cy="4023360"/>
          </a:xfrm>
        </p:spPr>
        <p:txBody>
          <a:bodyPr>
            <a:normAutofit fontScale="92500" lnSpcReduction="10000"/>
          </a:bodyPr>
          <a:lstStyle/>
          <a:p>
            <a:pPr algn="just"/>
            <a:r>
              <a:rPr lang="en-US" sz="1800" b="1" dirty="0"/>
              <a:t>1. Apply:</a:t>
            </a:r>
            <a:r>
              <a:rPr lang="en-US" sz="1800" dirty="0"/>
              <a:t> In an online shopping application, compare the </a:t>
            </a:r>
            <a:r>
              <a:rPr lang="en-US" sz="1800" b="1" dirty="0"/>
              <a:t>Client–Server Paradigm</a:t>
            </a:r>
            <a:r>
              <a:rPr lang="en-US" sz="1800" dirty="0"/>
              <a:t> and </a:t>
            </a:r>
            <a:r>
              <a:rPr lang="en-US" sz="1800" b="1" dirty="0"/>
              <a:t>Peer-to-Peer Paradigm</a:t>
            </a:r>
            <a:r>
              <a:rPr lang="en-US" sz="1800" dirty="0"/>
              <a:t> for sharing product information among users. Which paradigm would be more suitable and why?</a:t>
            </a:r>
          </a:p>
          <a:p>
            <a:pPr algn="just"/>
            <a:r>
              <a:rPr lang="en-US" sz="1800" b="1" dirty="0"/>
              <a:t>2. </a:t>
            </a:r>
            <a:r>
              <a:rPr lang="en-US" sz="1800" b="1" dirty="0" err="1"/>
              <a:t>Analyse</a:t>
            </a:r>
            <a:r>
              <a:rPr lang="en-US" sz="1800" b="1" dirty="0"/>
              <a:t>:</a:t>
            </a:r>
            <a:r>
              <a:rPr lang="en-US" sz="1800" dirty="0"/>
              <a:t> </a:t>
            </a:r>
            <a:r>
              <a:rPr lang="en-US" sz="1800" dirty="0" err="1"/>
              <a:t>Analyse</a:t>
            </a:r>
            <a:r>
              <a:rPr lang="en-US" sz="1800" dirty="0"/>
              <a:t> the differences between the </a:t>
            </a:r>
            <a:r>
              <a:rPr lang="en-US" sz="1800" b="1" dirty="0"/>
              <a:t>Remote Procedure Call (RPC) Model</a:t>
            </a:r>
            <a:r>
              <a:rPr lang="en-US" sz="1800" dirty="0"/>
              <a:t> and the </a:t>
            </a:r>
            <a:r>
              <a:rPr lang="en-US" sz="1800" b="1" dirty="0"/>
              <a:t>Message Passing Paradigm</a:t>
            </a:r>
            <a:r>
              <a:rPr lang="en-US" sz="1800" dirty="0"/>
              <a:t> with respect to communication method, transparency, and system complexity. </a:t>
            </a:r>
          </a:p>
          <a:p>
            <a:pPr algn="just"/>
            <a:r>
              <a:rPr lang="en-US" sz="1800" b="1" dirty="0"/>
              <a:t>3. Evaluate:</a:t>
            </a:r>
            <a:r>
              <a:rPr lang="en-US" sz="1800" dirty="0"/>
              <a:t> Evaluate the suitability of the </a:t>
            </a:r>
            <a:r>
              <a:rPr lang="en-US" sz="1800" b="1" dirty="0"/>
              <a:t>Distributed Object Paradigm</a:t>
            </a:r>
            <a:r>
              <a:rPr lang="en-US" sz="1800" dirty="0"/>
              <a:t> and the </a:t>
            </a:r>
            <a:r>
              <a:rPr lang="en-US" sz="1800" b="1" dirty="0"/>
              <a:t>Object Request Broker (ORB) Paradigm</a:t>
            </a:r>
            <a:r>
              <a:rPr lang="en-US" sz="1800" dirty="0"/>
              <a:t> for developing a large-scale enterprise application. Justify your choice. </a:t>
            </a:r>
          </a:p>
          <a:p>
            <a:pPr algn="just"/>
            <a:r>
              <a:rPr lang="en-US" sz="1800" b="1" dirty="0"/>
              <a:t>4. Apply:</a:t>
            </a:r>
            <a:r>
              <a:rPr lang="en-US" sz="1800" dirty="0"/>
              <a:t> A university wants to develop a collaborative online platform for students to share documents, communicate, and work on group projects. Compare the </a:t>
            </a:r>
            <a:r>
              <a:rPr lang="en-US" sz="1800" b="1" dirty="0"/>
              <a:t>Collaborative Application (Groupware) Paradigm</a:t>
            </a:r>
            <a:r>
              <a:rPr lang="en-US" sz="1800" dirty="0"/>
              <a:t> and the </a:t>
            </a:r>
            <a:r>
              <a:rPr lang="en-US" sz="1800" b="1" dirty="0"/>
              <a:t>Network Service Paradigm</a:t>
            </a:r>
            <a:r>
              <a:rPr lang="en-US" sz="1800" dirty="0"/>
              <a:t> and recommend the most appropriate paradigm. </a:t>
            </a:r>
          </a:p>
          <a:p>
            <a:pPr algn="just"/>
            <a:r>
              <a:rPr lang="en-US" sz="1800" b="1" dirty="0"/>
              <a:t>5. </a:t>
            </a:r>
            <a:r>
              <a:rPr lang="en-US" sz="1800" b="1" dirty="0" err="1"/>
              <a:t>Analyse</a:t>
            </a:r>
            <a:r>
              <a:rPr lang="en-US" sz="1800" b="1" dirty="0"/>
              <a:t> and Evaluate:</a:t>
            </a:r>
            <a:r>
              <a:rPr lang="en-US" sz="1800" dirty="0"/>
              <a:t> Compare the </a:t>
            </a:r>
            <a:r>
              <a:rPr lang="en-US" sz="1800" b="1" dirty="0"/>
              <a:t>Mobile Agent Paradigm</a:t>
            </a:r>
            <a:r>
              <a:rPr lang="en-US" sz="1800" dirty="0"/>
              <a:t> and the </a:t>
            </a:r>
            <a:r>
              <a:rPr lang="en-US" sz="1800" b="1" dirty="0"/>
              <a:t>Message System Paradigm</a:t>
            </a:r>
            <a:r>
              <a:rPr lang="en-US" sz="1800" dirty="0"/>
              <a:t> in terms of mobility, communication overhead, fault tolerance, and security. Evaluate which paradigm is more appropriate for a distributed network monitoring application. </a:t>
            </a:r>
          </a:p>
          <a:p>
            <a:pPr algn="just"/>
            <a:endParaRPr lang="en-IN" sz="1800" dirty="0"/>
          </a:p>
        </p:txBody>
      </p:sp>
      <p:sp>
        <p:nvSpPr>
          <p:cNvPr id="4" name="Footer Placeholder 3">
            <a:extLst>
              <a:ext uri="{FF2B5EF4-FFF2-40B4-BE49-F238E27FC236}">
                <a16:creationId xmlns:a16="http://schemas.microsoft.com/office/drawing/2014/main" id="{38338118-630E-9FB0-2BFE-8812B5578C56}"/>
              </a:ext>
            </a:extLst>
          </p:cNvPr>
          <p:cNvSpPr>
            <a:spLocks noGrp="1"/>
          </p:cNvSpPr>
          <p:nvPr>
            <p:ph type="ftr" sz="quarter" idx="11"/>
          </p:nvPr>
        </p:nvSpPr>
        <p:spPr/>
        <p:txBody>
          <a:bodyPr/>
          <a:lstStyle/>
          <a:p>
            <a:r>
              <a:rPr lang="en-US"/>
              <a:t>- Assistant  Prof. Riddhi Joshi</a:t>
            </a:r>
          </a:p>
        </p:txBody>
      </p:sp>
      <p:sp>
        <p:nvSpPr>
          <p:cNvPr id="5" name="Slide Number Placeholder 4">
            <a:extLst>
              <a:ext uri="{FF2B5EF4-FFF2-40B4-BE49-F238E27FC236}">
                <a16:creationId xmlns:a16="http://schemas.microsoft.com/office/drawing/2014/main" id="{3A852BDC-2777-A6C4-03B6-1E51D314CF97}"/>
              </a:ext>
            </a:extLst>
          </p:cNvPr>
          <p:cNvSpPr>
            <a:spLocks noGrp="1"/>
          </p:cNvSpPr>
          <p:nvPr>
            <p:ph type="sldNum" sz="quarter" idx="12"/>
          </p:nvPr>
        </p:nvSpPr>
        <p:spPr/>
        <p:txBody>
          <a:bodyPr/>
          <a:lstStyle/>
          <a:p>
            <a:fld id="{521E5947-19AD-4D38-BBE9-7D3EA973E689}" type="slidenum">
              <a:rPr lang="en-US" smtClean="0"/>
              <a:pPr/>
              <a:t>171</a:t>
            </a:fld>
            <a:endParaRPr lang="en-US"/>
          </a:p>
        </p:txBody>
      </p:sp>
    </p:spTree>
    <p:extLst>
      <p:ext uri="{BB962C8B-B14F-4D97-AF65-F5344CB8AC3E}">
        <p14:creationId xmlns:p14="http://schemas.microsoft.com/office/powerpoint/2010/main" val="406945840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4391</TotalTime>
  <Words>9968</Words>
  <Application>Microsoft Office PowerPoint</Application>
  <PresentationFormat>On-screen Show (4:3)</PresentationFormat>
  <Paragraphs>1191</Paragraphs>
  <Slides>171</Slides>
  <Notes>2</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171</vt:i4>
      </vt:variant>
    </vt:vector>
  </HeadingPairs>
  <TitlesOfParts>
    <vt:vector size="181" baseType="lpstr">
      <vt:lpstr>Arial</vt:lpstr>
      <vt:lpstr>Calibri</vt:lpstr>
      <vt:lpstr>Calibri Light</vt:lpstr>
      <vt:lpstr>Cambria</vt:lpstr>
      <vt:lpstr>Nunito</vt:lpstr>
      <vt:lpstr>Times New Roman</vt:lpstr>
      <vt:lpstr>Wingdings</vt:lpstr>
      <vt:lpstr>Wingdings 2</vt:lpstr>
      <vt:lpstr>Retrospect</vt:lpstr>
      <vt:lpstr>SmartDraw</vt:lpstr>
      <vt:lpstr>PowerPoint Presentation</vt:lpstr>
      <vt:lpstr>PowerPoint Presentation</vt:lpstr>
      <vt:lpstr>1.1 What is Distributed Computing?</vt:lpstr>
      <vt:lpstr>What is Distributed Computing?</vt:lpstr>
      <vt:lpstr>What is Distributed systems ?</vt:lpstr>
      <vt:lpstr>Distributed Computing</vt:lpstr>
      <vt:lpstr>Distributed Computing</vt:lpstr>
      <vt:lpstr>What is Distributed systems ?</vt:lpstr>
      <vt:lpstr>Why Distributed systems ?</vt:lpstr>
      <vt:lpstr>Few Other Definitions</vt:lpstr>
      <vt:lpstr>Cont…</vt:lpstr>
      <vt:lpstr>Fig. Shows Distributed Computing</vt:lpstr>
      <vt:lpstr>PowerPoint Presentation</vt:lpstr>
      <vt:lpstr>Comp. in Distributed Computing</vt:lpstr>
      <vt:lpstr>DC mainly for…</vt:lpstr>
      <vt:lpstr>Ex. of Distributed Computing</vt:lpstr>
      <vt:lpstr>Internet Vs. Intranet</vt:lpstr>
      <vt:lpstr>PowerPoint Presentation</vt:lpstr>
      <vt:lpstr>1.2 History of Distributed Computing</vt:lpstr>
      <vt:lpstr>Cont…</vt:lpstr>
      <vt:lpstr>Cont…</vt:lpstr>
      <vt:lpstr>PowerPoint Presentation</vt:lpstr>
      <vt:lpstr>1.3 Different Form of Computing</vt:lpstr>
      <vt:lpstr>1. Monolithic Computing</vt:lpstr>
      <vt:lpstr>1. Monolithic Computing</vt:lpstr>
      <vt:lpstr>2. Distributed Computing</vt:lpstr>
      <vt:lpstr>PowerPoint Presentation</vt:lpstr>
      <vt:lpstr>3. Parallel Computing</vt:lpstr>
      <vt:lpstr>PowerPoint Presentation</vt:lpstr>
      <vt:lpstr>4. Cooperative Computing</vt:lpstr>
      <vt:lpstr>PowerPoint Presentation</vt:lpstr>
      <vt:lpstr>1.4 Strength &amp; Weakness of DC</vt:lpstr>
      <vt:lpstr>Strength</vt:lpstr>
      <vt:lpstr>PowerPoint Presentation</vt:lpstr>
      <vt:lpstr>PowerPoint Presentation</vt:lpstr>
      <vt:lpstr>Operating System</vt:lpstr>
      <vt:lpstr>Computer Program &amp; Processes</vt:lpstr>
      <vt:lpstr>Basics of OS</vt:lpstr>
      <vt:lpstr>KEY TERMS</vt:lpstr>
      <vt:lpstr>PowerPoint Presentation</vt:lpstr>
      <vt:lpstr>PowerPoint Presentation</vt:lpstr>
      <vt:lpstr>Five State process model</vt:lpstr>
      <vt:lpstr>Example: Java processes</vt:lpstr>
      <vt:lpstr>Three types of Java programs</vt:lpstr>
      <vt:lpstr>A stand alone java application is run on a local machine</vt:lpstr>
      <vt:lpstr>An Applet is an object downloaded from remote machine and then run on a local machine….</vt:lpstr>
      <vt:lpstr>A servlet is an object that runs on a remote machine and interact with a local process using a request-response protocol</vt:lpstr>
      <vt:lpstr>Concurrent Programming</vt:lpstr>
      <vt:lpstr>PowerPoint Presentation</vt:lpstr>
      <vt:lpstr>PowerPoint Presentation</vt:lpstr>
      <vt:lpstr>PowerPoint Presentation</vt:lpstr>
      <vt:lpstr>PowerPoint Presentation</vt:lpstr>
      <vt:lpstr>Concurrent processing within a prcess.</vt:lpstr>
      <vt:lpstr>Threads</vt:lpstr>
      <vt:lpstr>Thread-safe programming</vt:lpstr>
      <vt:lpstr>PowerPoint Presentation</vt:lpstr>
      <vt:lpstr>What is Computer Network?</vt:lpstr>
      <vt:lpstr>Cont..</vt:lpstr>
      <vt:lpstr>Cont..</vt:lpstr>
      <vt:lpstr>Data Communication fundamentals</vt:lpstr>
      <vt:lpstr>Bandwidth and data rate</vt:lpstr>
      <vt:lpstr>Bandwidth and data rate</vt:lpstr>
      <vt:lpstr>Bandwidth and data rate</vt:lpstr>
      <vt:lpstr>Bandwidth and data rate</vt:lpstr>
      <vt:lpstr> Frequency &amp; Band: </vt:lpstr>
      <vt:lpstr>Reference model</vt:lpstr>
      <vt:lpstr>Cont.. ISO -OSI</vt:lpstr>
      <vt:lpstr>The OSI Reference Model</vt:lpstr>
      <vt:lpstr> OSI model </vt:lpstr>
      <vt:lpstr>Example – Air Plane Travel</vt:lpstr>
      <vt:lpstr>How osi layers works?</vt:lpstr>
      <vt:lpstr>Physical Layer </vt:lpstr>
      <vt:lpstr>Physical Layer </vt:lpstr>
      <vt:lpstr>Data Link Layer</vt:lpstr>
      <vt:lpstr>Data Link Layer</vt:lpstr>
      <vt:lpstr>Network Layer </vt:lpstr>
      <vt:lpstr>Network Layer </vt:lpstr>
      <vt:lpstr>Transport Layer</vt:lpstr>
      <vt:lpstr>Transport Layer</vt:lpstr>
      <vt:lpstr>Session Layer</vt:lpstr>
      <vt:lpstr>Session Layer</vt:lpstr>
      <vt:lpstr>Presentation Layer</vt:lpstr>
      <vt:lpstr>Presentation Layer</vt:lpstr>
      <vt:lpstr>Application Layer</vt:lpstr>
      <vt:lpstr>Application Layer</vt:lpstr>
      <vt:lpstr>Summary – OSI Layer</vt:lpstr>
      <vt:lpstr>Example</vt:lpstr>
      <vt:lpstr>TCP/IP Reference Model  (Transmission Control Protocol/Internet Protocol)</vt:lpstr>
      <vt:lpstr>TCP/IP Reference Model </vt:lpstr>
      <vt:lpstr>TCP/IP Reference Model </vt:lpstr>
      <vt:lpstr>TCP/IP Reference Model </vt:lpstr>
      <vt:lpstr>TCP/IP Reference Model :History</vt:lpstr>
      <vt:lpstr>TCP/IP Reference Model </vt:lpstr>
      <vt:lpstr>TCP/IP Reference Model </vt:lpstr>
      <vt:lpstr>The Physical Layer</vt:lpstr>
      <vt:lpstr>The Physical Layer</vt:lpstr>
      <vt:lpstr>The Data Link Layer</vt:lpstr>
      <vt:lpstr>The Data Link Layer</vt:lpstr>
      <vt:lpstr>The Network Layer</vt:lpstr>
      <vt:lpstr>The Network Layer</vt:lpstr>
      <vt:lpstr>The Network Layer</vt:lpstr>
      <vt:lpstr>The Network Layer: Routing at Network Layer</vt:lpstr>
      <vt:lpstr>The Network Layer: Extracting Prefix</vt:lpstr>
      <vt:lpstr>The Network Layer: Routing between different networks</vt:lpstr>
      <vt:lpstr>The Transport Layer</vt:lpstr>
      <vt:lpstr>The Transport Layer</vt:lpstr>
      <vt:lpstr>Application Layer</vt:lpstr>
      <vt:lpstr>Application Layer</vt:lpstr>
      <vt:lpstr>OSI and TCP/IP comparison </vt:lpstr>
      <vt:lpstr>Difference - OSI Model and TCP/IP Protocol Layers</vt:lpstr>
      <vt:lpstr>Difference - OSI Model and TCP/IP Protocol Layers</vt:lpstr>
      <vt:lpstr>Comparison </vt:lpstr>
      <vt:lpstr>Comparison </vt:lpstr>
      <vt:lpstr>DNS – Basic Terminology</vt:lpstr>
      <vt:lpstr>The Domain Name System (DNS)</vt:lpstr>
      <vt:lpstr>The Domain Name System (DNS)</vt:lpstr>
      <vt:lpstr>The Domain Name System (DNS)</vt:lpstr>
      <vt:lpstr>Domain name hierarchy </vt:lpstr>
      <vt:lpstr>Email Address &amp; URL’s</vt:lpstr>
      <vt:lpstr>PowerPoint Presentation</vt:lpstr>
      <vt:lpstr>1.7 S.E.  Basics</vt:lpstr>
      <vt:lpstr>Unified Modeling Language</vt:lpstr>
      <vt:lpstr>PowerPoint Presentation</vt:lpstr>
      <vt:lpstr>1.8 Architecture of Distributed Application</vt:lpstr>
      <vt:lpstr>1.8 Architecture of Distributed Application</vt:lpstr>
      <vt:lpstr>PowerPoint Presentation</vt:lpstr>
      <vt:lpstr>Introduction</vt:lpstr>
      <vt:lpstr>Paradigms &amp; Abstraction </vt:lpstr>
      <vt:lpstr>PowerPoint Presentation</vt:lpstr>
      <vt:lpstr>PowerPoint Presentation</vt:lpstr>
      <vt:lpstr>PowerPoint Presentation</vt:lpstr>
      <vt:lpstr>Distributed Computing Paradigms</vt:lpstr>
      <vt:lpstr>Paradigms for Distributed Applications</vt:lpstr>
      <vt:lpstr>1 - Message Passing</vt:lpstr>
      <vt:lpstr>PowerPoint Presentation</vt:lpstr>
      <vt:lpstr>2 - The Client Server Paradigm</vt:lpstr>
      <vt:lpstr>PowerPoint Presentation</vt:lpstr>
      <vt:lpstr>2 - The Client Server Paradigm</vt:lpstr>
      <vt:lpstr>3 - The Peer-to-Peer Paradigm</vt:lpstr>
      <vt:lpstr>PowerPoint Presentation</vt:lpstr>
      <vt:lpstr>3 - The Peer-to-Peer Paradigm</vt:lpstr>
      <vt:lpstr>3 - The Peer-to-Peer Paradigm</vt:lpstr>
      <vt:lpstr>4. Message System Paradigm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Distributed Object Paradigm</vt:lpstr>
      <vt:lpstr>The Distributed Object Paradigm</vt:lpstr>
      <vt:lpstr>6 - Remote Method Invocation</vt:lpstr>
      <vt:lpstr>6 - Remote Method Invocation</vt:lpstr>
      <vt:lpstr>PowerPoint Presentation</vt:lpstr>
      <vt:lpstr>PowerPoint Presentation</vt:lpstr>
      <vt:lpstr>PowerPoint Presentation</vt:lpstr>
      <vt:lpstr>8 - The Mobile Agent Paradigm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QUESTIONS FOR PARADIGMS (DIFFERENCE)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Computing</dc:title>
  <dc:creator>Parth</dc:creator>
  <cp:lastModifiedBy>Riddhi Joshi</cp:lastModifiedBy>
  <cp:revision>659</cp:revision>
  <dcterms:created xsi:type="dcterms:W3CDTF">2012-01-09T18:12:48Z</dcterms:created>
  <dcterms:modified xsi:type="dcterms:W3CDTF">2026-06-25T17:43:09Z</dcterms:modified>
</cp:coreProperties>
</file>