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62"/>
  </p:notesMasterIdLst>
  <p:sldIdLst>
    <p:sldId id="256" r:id="rId2"/>
    <p:sldId id="258" r:id="rId3"/>
    <p:sldId id="259" r:id="rId4"/>
    <p:sldId id="260" r:id="rId5"/>
    <p:sldId id="261" r:id="rId6"/>
    <p:sldId id="308" r:id="rId7"/>
    <p:sldId id="257" r:id="rId8"/>
    <p:sldId id="262" r:id="rId9"/>
    <p:sldId id="263" r:id="rId10"/>
    <p:sldId id="264" r:id="rId11"/>
    <p:sldId id="265" r:id="rId12"/>
    <p:sldId id="266" r:id="rId13"/>
    <p:sldId id="309" r:id="rId14"/>
    <p:sldId id="267" r:id="rId15"/>
    <p:sldId id="268" r:id="rId16"/>
    <p:sldId id="269" r:id="rId17"/>
    <p:sldId id="270" r:id="rId18"/>
    <p:sldId id="271" r:id="rId19"/>
    <p:sldId id="272" r:id="rId20"/>
    <p:sldId id="273" r:id="rId21"/>
    <p:sldId id="274" r:id="rId22"/>
    <p:sldId id="275" r:id="rId23"/>
    <p:sldId id="282" r:id="rId24"/>
    <p:sldId id="277" r:id="rId25"/>
    <p:sldId id="280" r:id="rId26"/>
    <p:sldId id="279" r:id="rId27"/>
    <p:sldId id="281" r:id="rId28"/>
    <p:sldId id="310" r:id="rId29"/>
    <p:sldId id="283" r:id="rId30"/>
    <p:sldId id="285" r:id="rId31"/>
    <p:sldId id="286" r:id="rId32"/>
    <p:sldId id="287" r:id="rId33"/>
    <p:sldId id="311" r:id="rId34"/>
    <p:sldId id="284" r:id="rId35"/>
    <p:sldId id="288" r:id="rId36"/>
    <p:sldId id="312" r:id="rId37"/>
    <p:sldId id="289" r:id="rId38"/>
    <p:sldId id="290" r:id="rId39"/>
    <p:sldId id="291" r:id="rId40"/>
    <p:sldId id="313" r:id="rId41"/>
    <p:sldId id="293" r:id="rId42"/>
    <p:sldId id="294" r:id="rId43"/>
    <p:sldId id="295" r:id="rId44"/>
    <p:sldId id="314" r:id="rId45"/>
    <p:sldId id="296" r:id="rId46"/>
    <p:sldId id="315" r:id="rId47"/>
    <p:sldId id="297" r:id="rId48"/>
    <p:sldId id="316" r:id="rId49"/>
    <p:sldId id="298" r:id="rId50"/>
    <p:sldId id="299" r:id="rId51"/>
    <p:sldId id="300" r:id="rId52"/>
    <p:sldId id="301" r:id="rId53"/>
    <p:sldId id="302" r:id="rId54"/>
    <p:sldId id="303" r:id="rId55"/>
    <p:sldId id="304" r:id="rId56"/>
    <p:sldId id="305" r:id="rId57"/>
    <p:sldId id="317" r:id="rId58"/>
    <p:sldId id="306" r:id="rId59"/>
    <p:sldId id="318" r:id="rId60"/>
    <p:sldId id="319"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D898318-DC03-49CF-BCC2-51CB5E50B15A}" type="datetimeFigureOut">
              <a:rPr lang="en-US" smtClean="0"/>
              <a:pPr/>
              <a:t>8/4/2024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251583-48D2-4874-BE62-FF89C3AB994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3251583-48D2-4874-BE62-FF89C3AB994A}"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F06D50D-B704-4485-AE12-CE394E7A515A}" type="datetime1">
              <a:rPr lang="en-US" smtClean="0"/>
              <a:pPr/>
              <a:t>8/4/2024</a:t>
            </a:fld>
            <a:endParaRPr lang="en-US"/>
          </a:p>
        </p:txBody>
      </p:sp>
      <p:sp>
        <p:nvSpPr>
          <p:cNvPr id="5" name="Footer Placeholder 4"/>
          <p:cNvSpPr>
            <a:spLocks noGrp="1"/>
          </p:cNvSpPr>
          <p:nvPr>
            <p:ph type="ftr" sz="quarter" idx="11"/>
          </p:nvPr>
        </p:nvSpPr>
        <p:spPr/>
        <p:txBody>
          <a:bodyPr/>
          <a:lstStyle/>
          <a:p>
            <a:r>
              <a:rPr lang="en-US"/>
              <a:t>Asst. Professor Riddhi Joshi</a:t>
            </a:r>
          </a:p>
        </p:txBody>
      </p:sp>
      <p:sp>
        <p:nvSpPr>
          <p:cNvPr id="6" name="Slide Number Placeholder 5"/>
          <p:cNvSpPr>
            <a:spLocks noGrp="1"/>
          </p:cNvSpPr>
          <p:nvPr>
            <p:ph type="sldNum" sz="quarter" idx="12"/>
          </p:nvPr>
        </p:nvSpPr>
        <p:spPr/>
        <p:txBody>
          <a:bodyPr/>
          <a:lstStyle/>
          <a:p>
            <a:fld id="{7040D16D-0600-4D21-96E6-588F007D1AD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97983D-BC5D-4CCE-95EA-F070B80E8B9F}" type="datetime1">
              <a:rPr lang="en-US" smtClean="0"/>
              <a:pPr/>
              <a:t>8/4/2024</a:t>
            </a:fld>
            <a:endParaRPr lang="en-US"/>
          </a:p>
        </p:txBody>
      </p:sp>
      <p:sp>
        <p:nvSpPr>
          <p:cNvPr id="5" name="Footer Placeholder 4"/>
          <p:cNvSpPr>
            <a:spLocks noGrp="1"/>
          </p:cNvSpPr>
          <p:nvPr>
            <p:ph type="ftr" sz="quarter" idx="11"/>
          </p:nvPr>
        </p:nvSpPr>
        <p:spPr/>
        <p:txBody>
          <a:bodyPr/>
          <a:lstStyle/>
          <a:p>
            <a:r>
              <a:rPr lang="en-US"/>
              <a:t>Asst. Professor Riddhi Joshi</a:t>
            </a:r>
          </a:p>
        </p:txBody>
      </p:sp>
      <p:sp>
        <p:nvSpPr>
          <p:cNvPr id="6" name="Slide Number Placeholder 5"/>
          <p:cNvSpPr>
            <a:spLocks noGrp="1"/>
          </p:cNvSpPr>
          <p:nvPr>
            <p:ph type="sldNum" sz="quarter" idx="12"/>
          </p:nvPr>
        </p:nvSpPr>
        <p:spPr/>
        <p:txBody>
          <a:bodyPr/>
          <a:lstStyle/>
          <a:p>
            <a:fld id="{7040D16D-0600-4D21-96E6-588F007D1AD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02ABE4-CF33-4E43-AF3A-B3959BD5BFF7}" type="datetime1">
              <a:rPr lang="en-US" smtClean="0"/>
              <a:pPr/>
              <a:t>8/4/2024</a:t>
            </a:fld>
            <a:endParaRPr lang="en-US"/>
          </a:p>
        </p:txBody>
      </p:sp>
      <p:sp>
        <p:nvSpPr>
          <p:cNvPr id="5" name="Footer Placeholder 4"/>
          <p:cNvSpPr>
            <a:spLocks noGrp="1"/>
          </p:cNvSpPr>
          <p:nvPr>
            <p:ph type="ftr" sz="quarter" idx="11"/>
          </p:nvPr>
        </p:nvSpPr>
        <p:spPr/>
        <p:txBody>
          <a:bodyPr/>
          <a:lstStyle/>
          <a:p>
            <a:r>
              <a:rPr lang="en-US"/>
              <a:t>Asst. Professor Riddhi Joshi</a:t>
            </a:r>
          </a:p>
        </p:txBody>
      </p:sp>
      <p:sp>
        <p:nvSpPr>
          <p:cNvPr id="6" name="Slide Number Placeholder 5"/>
          <p:cNvSpPr>
            <a:spLocks noGrp="1"/>
          </p:cNvSpPr>
          <p:nvPr>
            <p:ph type="sldNum" sz="quarter" idx="12"/>
          </p:nvPr>
        </p:nvSpPr>
        <p:spPr/>
        <p:txBody>
          <a:bodyPr/>
          <a:lstStyle/>
          <a:p>
            <a:fld id="{7040D16D-0600-4D21-96E6-588F007D1AD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19AE331-F207-4C5B-8AB5-A0D4FE40E683}" type="datetime1">
              <a:rPr lang="en-US" smtClean="0"/>
              <a:pPr/>
              <a:t>8/4/2024</a:t>
            </a:fld>
            <a:endParaRPr lang="en-US"/>
          </a:p>
        </p:txBody>
      </p:sp>
      <p:sp>
        <p:nvSpPr>
          <p:cNvPr id="6" name="Footer Placeholder 5"/>
          <p:cNvSpPr>
            <a:spLocks noGrp="1"/>
          </p:cNvSpPr>
          <p:nvPr>
            <p:ph type="ftr" sz="quarter" idx="11"/>
          </p:nvPr>
        </p:nvSpPr>
        <p:spPr/>
        <p:txBody>
          <a:bodyPr/>
          <a:lstStyle/>
          <a:p>
            <a:r>
              <a:rPr lang="en-US"/>
              <a:t>Asst. Professor Riddhi Joshi</a:t>
            </a:r>
          </a:p>
        </p:txBody>
      </p:sp>
      <p:sp>
        <p:nvSpPr>
          <p:cNvPr id="7" name="Slide Number Placeholder 6"/>
          <p:cNvSpPr>
            <a:spLocks noGrp="1"/>
          </p:cNvSpPr>
          <p:nvPr>
            <p:ph type="sldNum" sz="quarter" idx="12"/>
          </p:nvPr>
        </p:nvSpPr>
        <p:spPr/>
        <p:txBody>
          <a:bodyPr/>
          <a:lstStyle/>
          <a:p>
            <a:fld id="{7040D16D-0600-4D21-96E6-588F007D1AD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F39B81-977C-4CB3-A3EB-0B8F4DF3136B}" type="datetime1">
              <a:rPr lang="en-US" smtClean="0"/>
              <a:pPr/>
              <a:t>8/4/2024</a:t>
            </a:fld>
            <a:endParaRPr lang="en-US"/>
          </a:p>
        </p:txBody>
      </p:sp>
      <p:sp>
        <p:nvSpPr>
          <p:cNvPr id="8" name="Footer Placeholder 7"/>
          <p:cNvSpPr>
            <a:spLocks noGrp="1"/>
          </p:cNvSpPr>
          <p:nvPr>
            <p:ph type="ftr" sz="quarter" idx="11"/>
          </p:nvPr>
        </p:nvSpPr>
        <p:spPr/>
        <p:txBody>
          <a:bodyPr/>
          <a:lstStyle/>
          <a:p>
            <a:r>
              <a:rPr lang="en-US"/>
              <a:t>Asst. Professor Riddhi Joshi</a:t>
            </a:r>
          </a:p>
        </p:txBody>
      </p:sp>
      <p:sp>
        <p:nvSpPr>
          <p:cNvPr id="9" name="Slide Number Placeholder 8"/>
          <p:cNvSpPr>
            <a:spLocks noGrp="1"/>
          </p:cNvSpPr>
          <p:nvPr>
            <p:ph type="sldNum" sz="quarter" idx="12"/>
          </p:nvPr>
        </p:nvSpPr>
        <p:spPr/>
        <p:txBody>
          <a:bodyPr/>
          <a:lstStyle/>
          <a:p>
            <a:fld id="{7040D16D-0600-4D21-96E6-588F007D1AD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9112ACF-56A7-4024-80F6-67230A8164D0}" type="datetime1">
              <a:rPr lang="en-US" smtClean="0"/>
              <a:pPr/>
              <a:t>8/4/2024</a:t>
            </a:fld>
            <a:endParaRPr lang="en-US"/>
          </a:p>
        </p:txBody>
      </p:sp>
      <p:sp>
        <p:nvSpPr>
          <p:cNvPr id="4" name="Footer Placeholder 3"/>
          <p:cNvSpPr>
            <a:spLocks noGrp="1"/>
          </p:cNvSpPr>
          <p:nvPr>
            <p:ph type="ftr" sz="quarter" idx="11"/>
          </p:nvPr>
        </p:nvSpPr>
        <p:spPr/>
        <p:txBody>
          <a:bodyPr/>
          <a:lstStyle/>
          <a:p>
            <a:r>
              <a:rPr lang="en-US"/>
              <a:t>Asst. Professor Riddhi Joshi</a:t>
            </a:r>
          </a:p>
        </p:txBody>
      </p:sp>
      <p:sp>
        <p:nvSpPr>
          <p:cNvPr id="5" name="Slide Number Placeholder 4"/>
          <p:cNvSpPr>
            <a:spLocks noGrp="1"/>
          </p:cNvSpPr>
          <p:nvPr>
            <p:ph type="sldNum" sz="quarter" idx="12"/>
          </p:nvPr>
        </p:nvSpPr>
        <p:spPr/>
        <p:txBody>
          <a:bodyPr/>
          <a:lstStyle/>
          <a:p>
            <a:fld id="{7040D16D-0600-4D21-96E6-588F007D1AD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21E926-3429-4AFB-9BCC-FB2409F59EBD}" type="datetime1">
              <a:rPr lang="en-US" smtClean="0"/>
              <a:pPr/>
              <a:t>8/4/2024</a:t>
            </a:fld>
            <a:endParaRPr lang="en-US"/>
          </a:p>
        </p:txBody>
      </p:sp>
      <p:sp>
        <p:nvSpPr>
          <p:cNvPr id="3" name="Footer Placeholder 2"/>
          <p:cNvSpPr>
            <a:spLocks noGrp="1"/>
          </p:cNvSpPr>
          <p:nvPr>
            <p:ph type="ftr" sz="quarter" idx="11"/>
          </p:nvPr>
        </p:nvSpPr>
        <p:spPr/>
        <p:txBody>
          <a:bodyPr/>
          <a:lstStyle/>
          <a:p>
            <a:r>
              <a:rPr lang="en-US"/>
              <a:t>Asst. Professor Riddhi Joshi</a:t>
            </a:r>
          </a:p>
        </p:txBody>
      </p:sp>
      <p:sp>
        <p:nvSpPr>
          <p:cNvPr id="4" name="Slide Number Placeholder 3"/>
          <p:cNvSpPr>
            <a:spLocks noGrp="1"/>
          </p:cNvSpPr>
          <p:nvPr>
            <p:ph type="sldNum" sz="quarter" idx="12"/>
          </p:nvPr>
        </p:nvSpPr>
        <p:spPr/>
        <p:txBody>
          <a:bodyPr/>
          <a:lstStyle/>
          <a:p>
            <a:fld id="{7040D16D-0600-4D21-96E6-588F007D1AD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A58BE0-8EAC-4A78-BA6D-9C2D086D956D}" type="datetime1">
              <a:rPr lang="en-US" smtClean="0"/>
              <a:pPr/>
              <a:t>8/4/2024</a:t>
            </a:fld>
            <a:endParaRPr lang="en-US"/>
          </a:p>
        </p:txBody>
      </p:sp>
      <p:sp>
        <p:nvSpPr>
          <p:cNvPr id="6" name="Footer Placeholder 5"/>
          <p:cNvSpPr>
            <a:spLocks noGrp="1"/>
          </p:cNvSpPr>
          <p:nvPr>
            <p:ph type="ftr" sz="quarter" idx="11"/>
          </p:nvPr>
        </p:nvSpPr>
        <p:spPr/>
        <p:txBody>
          <a:bodyPr/>
          <a:lstStyle/>
          <a:p>
            <a:r>
              <a:rPr lang="en-US"/>
              <a:t>Asst. Professor Riddhi Joshi</a:t>
            </a:r>
          </a:p>
        </p:txBody>
      </p:sp>
      <p:sp>
        <p:nvSpPr>
          <p:cNvPr id="7" name="Slide Number Placeholder 6"/>
          <p:cNvSpPr>
            <a:spLocks noGrp="1"/>
          </p:cNvSpPr>
          <p:nvPr>
            <p:ph type="sldNum" sz="quarter" idx="12"/>
          </p:nvPr>
        </p:nvSpPr>
        <p:spPr/>
        <p:txBody>
          <a:bodyPr/>
          <a:lstStyle/>
          <a:p>
            <a:fld id="{7040D16D-0600-4D21-96E6-588F007D1AD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2325B3-D416-43D8-9ABD-114B77B6C96A}" type="datetime1">
              <a:rPr lang="en-US" smtClean="0"/>
              <a:pPr/>
              <a:t>8/4/2024</a:t>
            </a:fld>
            <a:endParaRPr lang="en-US"/>
          </a:p>
        </p:txBody>
      </p:sp>
      <p:sp>
        <p:nvSpPr>
          <p:cNvPr id="6" name="Footer Placeholder 5"/>
          <p:cNvSpPr>
            <a:spLocks noGrp="1"/>
          </p:cNvSpPr>
          <p:nvPr>
            <p:ph type="ftr" sz="quarter" idx="11"/>
          </p:nvPr>
        </p:nvSpPr>
        <p:spPr/>
        <p:txBody>
          <a:bodyPr/>
          <a:lstStyle/>
          <a:p>
            <a:r>
              <a:rPr lang="en-US"/>
              <a:t>Asst. Professor Riddhi Joshi</a:t>
            </a:r>
          </a:p>
        </p:txBody>
      </p:sp>
      <p:sp>
        <p:nvSpPr>
          <p:cNvPr id="7" name="Slide Number Placeholder 6"/>
          <p:cNvSpPr>
            <a:spLocks noGrp="1"/>
          </p:cNvSpPr>
          <p:nvPr>
            <p:ph type="sldNum" sz="quarter" idx="12"/>
          </p:nvPr>
        </p:nvSpPr>
        <p:spPr/>
        <p:txBody>
          <a:bodyPr/>
          <a:lstStyle/>
          <a:p>
            <a:fld id="{7040D16D-0600-4D21-96E6-588F007D1AD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4CA393-D8C3-4049-9BB3-22741C6BA6F3}" type="datetime1">
              <a:rPr lang="en-US" smtClean="0"/>
              <a:pPr/>
              <a:t>8/4/2024</a:t>
            </a:fld>
            <a:endParaRPr lang="en-US"/>
          </a:p>
        </p:txBody>
      </p:sp>
      <p:sp>
        <p:nvSpPr>
          <p:cNvPr id="5" name="Footer Placeholder 4"/>
          <p:cNvSpPr>
            <a:spLocks noGrp="1"/>
          </p:cNvSpPr>
          <p:nvPr>
            <p:ph type="ftr" sz="quarter" idx="11"/>
          </p:nvPr>
        </p:nvSpPr>
        <p:spPr/>
        <p:txBody>
          <a:bodyPr/>
          <a:lstStyle/>
          <a:p>
            <a:r>
              <a:rPr lang="en-US"/>
              <a:t>Asst. Professor Riddhi Joshi</a:t>
            </a:r>
          </a:p>
        </p:txBody>
      </p:sp>
      <p:sp>
        <p:nvSpPr>
          <p:cNvPr id="6" name="Slide Number Placeholder 5"/>
          <p:cNvSpPr>
            <a:spLocks noGrp="1"/>
          </p:cNvSpPr>
          <p:nvPr>
            <p:ph type="sldNum" sz="quarter" idx="12"/>
          </p:nvPr>
        </p:nvSpPr>
        <p:spPr/>
        <p:txBody>
          <a:bodyPr/>
          <a:lstStyle/>
          <a:p>
            <a:fld id="{7040D16D-0600-4D21-96E6-588F007D1AD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F8B059-CF6A-4038-BA43-19F44397798D}" type="datetime1">
              <a:rPr lang="en-US" smtClean="0"/>
              <a:pPr/>
              <a:t>8/4/2024</a:t>
            </a:fld>
            <a:endParaRPr lang="en-US"/>
          </a:p>
        </p:txBody>
      </p:sp>
      <p:sp>
        <p:nvSpPr>
          <p:cNvPr id="5" name="Footer Placeholder 4"/>
          <p:cNvSpPr>
            <a:spLocks noGrp="1"/>
          </p:cNvSpPr>
          <p:nvPr>
            <p:ph type="ftr" sz="quarter" idx="11"/>
          </p:nvPr>
        </p:nvSpPr>
        <p:spPr/>
        <p:txBody>
          <a:bodyPr/>
          <a:lstStyle/>
          <a:p>
            <a:r>
              <a:rPr lang="en-US"/>
              <a:t>Asst. Professor Riddhi Joshi</a:t>
            </a:r>
          </a:p>
        </p:txBody>
      </p:sp>
      <p:sp>
        <p:nvSpPr>
          <p:cNvPr id="6" name="Slide Number Placeholder 5"/>
          <p:cNvSpPr>
            <a:spLocks noGrp="1"/>
          </p:cNvSpPr>
          <p:nvPr>
            <p:ph type="sldNum" sz="quarter" idx="12"/>
          </p:nvPr>
        </p:nvSpPr>
        <p:spPr/>
        <p:txBody>
          <a:bodyPr/>
          <a:lstStyle/>
          <a:p>
            <a:fld id="{7040D16D-0600-4D21-96E6-588F007D1AD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B94A89-8D6E-487D-B4F2-757F84D9021D}" type="datetime1">
              <a:rPr lang="en-US" smtClean="0"/>
              <a:pPr/>
              <a:t>8/4/2024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Asst. Professor Riddhi Joshi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40D16D-0600-4D21-96E6-588F007D1AD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63575"/>
            <a:ext cx="9144000" cy="1698625"/>
          </a:xfrm>
        </p:spPr>
        <p:style>
          <a:lnRef idx="3">
            <a:schemeClr val="lt1"/>
          </a:lnRef>
          <a:fillRef idx="1">
            <a:schemeClr val="accent1"/>
          </a:fillRef>
          <a:effectRef idx="1">
            <a:schemeClr val="accent1"/>
          </a:effectRef>
          <a:fontRef idx="minor">
            <a:schemeClr val="lt1"/>
          </a:fontRef>
        </p:style>
        <p:txBody>
          <a:bodyPr/>
          <a:lstStyle/>
          <a:p>
            <a:r>
              <a:rPr lang="en-US" b="1" dirty="0">
                <a:effectLst>
                  <a:outerShdw blurRad="38100" dist="38100" dir="2700000" algn="tl">
                    <a:srgbClr val="000000">
                      <a:alpha val="43137"/>
                    </a:srgbClr>
                  </a:outerShdw>
                </a:effectLst>
              </a:rPr>
              <a:t>Ch-2</a:t>
            </a:r>
            <a:r>
              <a:rPr lang="en-US" dirty="0"/>
              <a:t> </a:t>
            </a:r>
            <a:r>
              <a:rPr lang="en-US" b="1" dirty="0"/>
              <a:t>Inter Process Communication</a:t>
            </a:r>
          </a:p>
        </p:txBody>
      </p:sp>
      <p:sp>
        <p:nvSpPr>
          <p:cNvPr id="4" name="Slide Number Placeholder 3"/>
          <p:cNvSpPr>
            <a:spLocks noGrp="1"/>
          </p:cNvSpPr>
          <p:nvPr>
            <p:ph type="sldNum" sz="quarter" idx="12"/>
          </p:nvPr>
        </p:nvSpPr>
        <p:spPr/>
        <p:txBody>
          <a:bodyPr/>
          <a:lstStyle/>
          <a:p>
            <a:fld id="{7040D16D-0600-4D21-96E6-588F007D1AD6}" type="slidenum">
              <a:rPr lang="en-US" smtClean="0"/>
              <a:pPr/>
              <a:t>1</a:t>
            </a:fld>
            <a:endParaRPr lang="en-US"/>
          </a:p>
        </p:txBody>
      </p:sp>
      <p:sp>
        <p:nvSpPr>
          <p:cNvPr id="5" name="Footer Placeholder 4"/>
          <p:cNvSpPr>
            <a:spLocks noGrp="1"/>
          </p:cNvSpPr>
          <p:nvPr>
            <p:ph type="ftr" sz="quarter" idx="11"/>
          </p:nvPr>
        </p:nvSpPr>
        <p:spPr/>
        <p:txBody>
          <a:bodyPr/>
          <a:lstStyle/>
          <a:p>
            <a:r>
              <a:rPr lang="en-US" dirty="0"/>
              <a:t>Asst. Professor </a:t>
            </a:r>
            <a:r>
              <a:rPr lang="en-US" dirty="0" err="1"/>
              <a:t>Riddhi</a:t>
            </a:r>
            <a:r>
              <a:rPr lang="en-US" dirty="0"/>
              <a:t> Joshi</a:t>
            </a:r>
          </a:p>
        </p:txBody>
      </p:sp>
      <p:pic>
        <p:nvPicPr>
          <p:cNvPr id="1026" name="Picture 2" descr="F:\General Data\general sub data\animated images\gp image\5027341-blue-crystal-earth-showing-north-and-south-america.jpg"/>
          <p:cNvPicPr>
            <a:picLocks noChangeAspect="1" noChangeArrowheads="1"/>
          </p:cNvPicPr>
          <p:nvPr/>
        </p:nvPicPr>
        <p:blipFill>
          <a:blip r:embed="rId3"/>
          <a:srcRect/>
          <a:stretch>
            <a:fillRect/>
          </a:stretch>
        </p:blipFill>
        <p:spPr bwMode="auto">
          <a:xfrm>
            <a:off x="7467600" y="5410200"/>
            <a:ext cx="1371600" cy="1371600"/>
          </a:xfrm>
          <a:prstGeom prst="ellipse">
            <a:avLst/>
          </a:prstGeom>
          <a:ln>
            <a:noFill/>
          </a:ln>
          <a:effectLst>
            <a:softEdge rad="112500"/>
          </a:effectLst>
        </p:spPr>
      </p:pic>
      <p:pic>
        <p:nvPicPr>
          <p:cNvPr id="1027" name="Picture 3" descr="F:\General Data\general sub data\animated images\New Folder\teamwork_rotate_earth_pa_sm_wm.gif"/>
          <p:cNvPicPr>
            <a:picLocks noChangeAspect="1" noChangeArrowheads="1" noCrop="1"/>
          </p:cNvPicPr>
          <p:nvPr/>
        </p:nvPicPr>
        <p:blipFill>
          <a:blip r:embed="rId4"/>
          <a:srcRect/>
          <a:stretch>
            <a:fillRect/>
          </a:stretch>
        </p:blipFill>
        <p:spPr bwMode="auto">
          <a:xfrm>
            <a:off x="304800" y="2971800"/>
            <a:ext cx="2743200" cy="27432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22238"/>
            <a:ext cx="6705600" cy="563562"/>
          </a:xfrm>
        </p:spPr>
        <p:style>
          <a:lnRef idx="3">
            <a:schemeClr val="lt1"/>
          </a:lnRef>
          <a:fillRef idx="1">
            <a:schemeClr val="accent1"/>
          </a:fillRef>
          <a:effectRef idx="1">
            <a:schemeClr val="accent1"/>
          </a:effectRef>
          <a:fontRef idx="minor">
            <a:schemeClr val="lt1"/>
          </a:fontRef>
        </p:style>
        <p:txBody>
          <a:bodyPr>
            <a:normAutofit/>
          </a:bodyPr>
          <a:lstStyle/>
          <a:p>
            <a:r>
              <a:rPr lang="en-US" sz="2600" b="1" dirty="0"/>
              <a:t>Introduction</a:t>
            </a:r>
          </a:p>
        </p:txBody>
      </p:sp>
      <p:sp>
        <p:nvSpPr>
          <p:cNvPr id="3" name="Content Placeholder 2"/>
          <p:cNvSpPr>
            <a:spLocks noGrp="1"/>
          </p:cNvSpPr>
          <p:nvPr>
            <p:ph idx="1"/>
          </p:nvPr>
        </p:nvSpPr>
        <p:spPr>
          <a:xfrm>
            <a:off x="228600" y="1066800"/>
            <a:ext cx="8534400" cy="2057400"/>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t>The backbone of distributed computing is INTERPROCESS COMMUNICATION (IPC)</a:t>
            </a:r>
          </a:p>
          <a:p>
            <a:r>
              <a:rPr lang="en-US" sz="2300" dirty="0"/>
              <a:t>The ability for separate, independent process (as you will recall, processes are run time representation of a program) to communicate among themselves to collaborate on a task.</a:t>
            </a:r>
          </a:p>
          <a:p>
            <a:pPr>
              <a:buNone/>
            </a:pPr>
            <a:endParaRPr lang="en-US" sz="2300" dirty="0"/>
          </a:p>
        </p:txBody>
      </p:sp>
      <p:sp>
        <p:nvSpPr>
          <p:cNvPr id="4" name="Rectangle 3"/>
          <p:cNvSpPr/>
          <p:nvPr/>
        </p:nvSpPr>
        <p:spPr>
          <a:xfrm>
            <a:off x="3048000" y="4267200"/>
            <a:ext cx="8382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867400" y="4267200"/>
            <a:ext cx="838200" cy="1219200"/>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cxnSp>
        <p:nvCxnSpPr>
          <p:cNvPr id="8" name="Straight Arrow Connector 7"/>
          <p:cNvCxnSpPr>
            <a:stCxn id="4" idx="3"/>
            <a:endCxn id="6" idx="1"/>
          </p:cNvCxnSpPr>
          <p:nvPr/>
        </p:nvCxnSpPr>
        <p:spPr>
          <a:xfrm>
            <a:off x="3886200" y="4876800"/>
            <a:ext cx="1981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971800" y="3733800"/>
            <a:ext cx="1066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Process 1</a:t>
            </a:r>
          </a:p>
        </p:txBody>
      </p:sp>
      <p:sp>
        <p:nvSpPr>
          <p:cNvPr id="11" name="TextBox 10"/>
          <p:cNvSpPr txBox="1"/>
          <p:nvPr/>
        </p:nvSpPr>
        <p:spPr>
          <a:xfrm>
            <a:off x="5791200" y="3810000"/>
            <a:ext cx="10668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Process 2</a:t>
            </a:r>
          </a:p>
        </p:txBody>
      </p:sp>
      <p:sp>
        <p:nvSpPr>
          <p:cNvPr id="12" name="TextBox 11"/>
          <p:cNvSpPr txBox="1"/>
          <p:nvPr/>
        </p:nvSpPr>
        <p:spPr>
          <a:xfrm>
            <a:off x="4343400" y="4419600"/>
            <a:ext cx="1066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Data</a:t>
            </a:r>
          </a:p>
        </p:txBody>
      </p:sp>
      <p:sp>
        <p:nvSpPr>
          <p:cNvPr id="13" name="TextBox 12"/>
          <p:cNvSpPr txBox="1"/>
          <p:nvPr/>
        </p:nvSpPr>
        <p:spPr>
          <a:xfrm>
            <a:off x="2971800" y="5562600"/>
            <a:ext cx="1066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Sender</a:t>
            </a:r>
          </a:p>
        </p:txBody>
      </p:sp>
      <p:sp>
        <p:nvSpPr>
          <p:cNvPr id="14" name="TextBox 13"/>
          <p:cNvSpPr txBox="1"/>
          <p:nvPr/>
        </p:nvSpPr>
        <p:spPr>
          <a:xfrm>
            <a:off x="5791200" y="5562600"/>
            <a:ext cx="10668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Receiver</a:t>
            </a:r>
          </a:p>
        </p:txBody>
      </p:sp>
      <p:sp>
        <p:nvSpPr>
          <p:cNvPr id="15" name="TextBox 14"/>
          <p:cNvSpPr txBox="1"/>
          <p:nvPr/>
        </p:nvSpPr>
        <p:spPr>
          <a:xfrm>
            <a:off x="3048000" y="6031468"/>
            <a:ext cx="3810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dirty="0"/>
              <a:t>Interprocess Communication</a:t>
            </a:r>
          </a:p>
        </p:txBody>
      </p:sp>
      <p:sp>
        <p:nvSpPr>
          <p:cNvPr id="16" name="Slide Number Placeholder 15"/>
          <p:cNvSpPr>
            <a:spLocks noGrp="1"/>
          </p:cNvSpPr>
          <p:nvPr>
            <p:ph type="sldNum" sz="quarter" idx="12"/>
          </p:nvPr>
        </p:nvSpPr>
        <p:spPr/>
        <p:txBody>
          <a:bodyPr/>
          <a:lstStyle/>
          <a:p>
            <a:fld id="{7040D16D-0600-4D21-96E6-588F007D1AD6}" type="slidenum">
              <a:rPr lang="en-US" smtClean="0"/>
              <a:pPr/>
              <a:t>2</a:t>
            </a:fld>
            <a:endParaRPr lang="en-US"/>
          </a:p>
        </p:txBody>
      </p:sp>
      <p:sp>
        <p:nvSpPr>
          <p:cNvPr id="17" name="Footer Placeholder 16"/>
          <p:cNvSpPr>
            <a:spLocks noGrp="1"/>
          </p:cNvSpPr>
          <p:nvPr>
            <p:ph type="ftr" sz="quarter" idx="11"/>
          </p:nvPr>
        </p:nvSpPr>
        <p:spPr/>
        <p:txBody>
          <a:bodyPr/>
          <a:lstStyle/>
          <a:p>
            <a:r>
              <a:rPr lang="en-US"/>
              <a:t>Asst. Professor Riddhi Joshi</a:t>
            </a:r>
          </a:p>
        </p:txBody>
      </p:sp>
      <p:pic>
        <p:nvPicPr>
          <p:cNvPr id="19"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pic>
        <p:nvPicPr>
          <p:cNvPr id="20" name="Picture 2" descr="F:\General Data\general sub data\animated images\New Folder\bouncing_exclaimation_point_sm_wm.gif"/>
          <p:cNvPicPr>
            <a:picLocks noChangeAspect="1" noChangeArrowheads="1" noCrop="1"/>
          </p:cNvPicPr>
          <p:nvPr/>
        </p:nvPicPr>
        <p:blipFill>
          <a:blip r:embed="rId3"/>
          <a:srcRect/>
          <a:stretch>
            <a:fillRect/>
          </a:stretch>
        </p:blipFill>
        <p:spPr bwMode="auto">
          <a:xfrm>
            <a:off x="0" y="0"/>
            <a:ext cx="1143000" cy="91440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66801"/>
            <a:ext cx="8839200" cy="3886200"/>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300" dirty="0"/>
              <a:t>In distributed computing, two or more process engage in IPC in a protocol - a set of rules that must be observed by the participants in data communication agreed upon by the processes. </a:t>
            </a:r>
          </a:p>
          <a:p>
            <a:pPr algn="just"/>
            <a:r>
              <a:rPr lang="en-US" sz="2300" dirty="0"/>
              <a:t>A process may be a sender at some points during a protocol, a receiver at other points.</a:t>
            </a:r>
          </a:p>
          <a:p>
            <a:pPr algn="just"/>
            <a:r>
              <a:rPr lang="en-US" sz="2300" dirty="0"/>
              <a:t>When communication is from one process to a single other process, the IPC is said to be a unicast.</a:t>
            </a:r>
          </a:p>
          <a:p>
            <a:pPr algn="just"/>
            <a:r>
              <a:rPr lang="en-US" sz="2300" dirty="0"/>
              <a:t>When communication is from one process to a group of process, The IPC is said to be multicast.</a:t>
            </a:r>
          </a:p>
        </p:txBody>
      </p:sp>
      <p:sp>
        <p:nvSpPr>
          <p:cNvPr id="4" name="Slide Number Placeholder 3"/>
          <p:cNvSpPr>
            <a:spLocks noGrp="1"/>
          </p:cNvSpPr>
          <p:nvPr>
            <p:ph type="sldNum" sz="quarter" idx="12"/>
          </p:nvPr>
        </p:nvSpPr>
        <p:spPr/>
        <p:txBody>
          <a:bodyPr/>
          <a:lstStyle/>
          <a:p>
            <a:fld id="{7040D16D-0600-4D21-96E6-588F007D1AD6}" type="slidenum">
              <a:rPr lang="en-US" smtClean="0"/>
              <a:pPr/>
              <a:t>3</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7"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8" name="Title 1"/>
          <p:cNvSpPr>
            <a:spLocks noGrp="1"/>
          </p:cNvSpPr>
          <p:nvPr>
            <p:ph type="title"/>
          </p:nvPr>
        </p:nvSpPr>
        <p:spPr>
          <a:xfrm>
            <a:off x="1295400" y="122238"/>
            <a:ext cx="6705600" cy="563562"/>
          </a:xfrm>
        </p:spPr>
        <p:style>
          <a:lnRef idx="3">
            <a:schemeClr val="lt1"/>
          </a:lnRef>
          <a:fillRef idx="1">
            <a:schemeClr val="accent1"/>
          </a:fillRef>
          <a:effectRef idx="1">
            <a:schemeClr val="accent1"/>
          </a:effectRef>
          <a:fontRef idx="minor">
            <a:schemeClr val="lt1"/>
          </a:fontRef>
        </p:style>
        <p:txBody>
          <a:bodyPr>
            <a:normAutofit/>
          </a:bodyPr>
          <a:lstStyle/>
          <a:p>
            <a:r>
              <a:rPr lang="en-US" sz="2600" b="1" dirty="0"/>
              <a:t>Introduction</a:t>
            </a:r>
          </a:p>
        </p:txBody>
      </p:sp>
      <p:pic>
        <p:nvPicPr>
          <p:cNvPr id="9" name="Picture 2" descr="F:\General Data\general sub data\animated images\New Folder\bouncing_exclaimation_point_sm_wm.gif"/>
          <p:cNvPicPr>
            <a:picLocks noChangeAspect="1" noChangeArrowheads="1" noCrop="1"/>
          </p:cNvPicPr>
          <p:nvPr/>
        </p:nvPicPr>
        <p:blipFill>
          <a:blip r:embed="rId3"/>
          <a:srcRect/>
          <a:stretch>
            <a:fillRect/>
          </a:stretch>
        </p:blipFill>
        <p:spPr bwMode="auto">
          <a:xfrm>
            <a:off x="0" y="0"/>
            <a:ext cx="1143000" cy="91440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828800" y="2057400"/>
            <a:ext cx="914400"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p:cNvSpPr/>
          <p:nvPr/>
        </p:nvSpPr>
        <p:spPr>
          <a:xfrm>
            <a:off x="1828800" y="3962400"/>
            <a:ext cx="914400"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1" name="Straight Arrow Connector 10"/>
          <p:cNvCxnSpPr>
            <a:stCxn id="9" idx="0"/>
            <a:endCxn id="8" idx="2"/>
          </p:cNvCxnSpPr>
          <p:nvPr/>
        </p:nvCxnSpPr>
        <p:spPr>
          <a:xfrm rot="5400000" flipH="1" flipV="1">
            <a:off x="1600200" y="3276600"/>
            <a:ext cx="13716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1981200" y="2133600"/>
            <a:ext cx="609600" cy="369332"/>
          </a:xfrm>
          <a:prstGeom prst="rect">
            <a:avLst/>
          </a:prstGeom>
          <a:noFill/>
        </p:spPr>
        <p:txBody>
          <a:bodyPr wrap="square" rtlCol="0">
            <a:spAutoFit/>
          </a:bodyPr>
          <a:lstStyle/>
          <a:p>
            <a:pPr algn="ctr"/>
            <a:r>
              <a:rPr lang="en-US" dirty="0"/>
              <a:t>P2</a:t>
            </a:r>
          </a:p>
        </p:txBody>
      </p:sp>
      <p:sp>
        <p:nvSpPr>
          <p:cNvPr id="13" name="TextBox 12"/>
          <p:cNvSpPr txBox="1"/>
          <p:nvPr/>
        </p:nvSpPr>
        <p:spPr>
          <a:xfrm>
            <a:off x="1981200" y="4038600"/>
            <a:ext cx="609600" cy="369332"/>
          </a:xfrm>
          <a:prstGeom prst="rect">
            <a:avLst/>
          </a:prstGeom>
          <a:noFill/>
        </p:spPr>
        <p:txBody>
          <a:bodyPr wrap="square" rtlCol="0">
            <a:spAutoFit/>
          </a:bodyPr>
          <a:lstStyle/>
          <a:p>
            <a:pPr algn="ctr"/>
            <a:r>
              <a:rPr lang="en-US" dirty="0"/>
              <a:t>P1</a:t>
            </a:r>
          </a:p>
        </p:txBody>
      </p:sp>
      <p:sp>
        <p:nvSpPr>
          <p:cNvPr id="14" name="TextBox 13"/>
          <p:cNvSpPr txBox="1"/>
          <p:nvPr/>
        </p:nvSpPr>
        <p:spPr>
          <a:xfrm>
            <a:off x="2362200" y="3200400"/>
            <a:ext cx="304800" cy="369332"/>
          </a:xfrm>
          <a:prstGeom prst="rect">
            <a:avLst/>
          </a:prstGeom>
          <a:noFill/>
        </p:spPr>
        <p:txBody>
          <a:bodyPr wrap="square" rtlCol="0">
            <a:spAutoFit/>
          </a:bodyPr>
          <a:lstStyle/>
          <a:p>
            <a:r>
              <a:rPr lang="en-US" dirty="0"/>
              <a:t>m</a:t>
            </a:r>
          </a:p>
        </p:txBody>
      </p:sp>
      <p:sp>
        <p:nvSpPr>
          <p:cNvPr id="15" name="Rectangle 14"/>
          <p:cNvSpPr/>
          <p:nvPr/>
        </p:nvSpPr>
        <p:spPr>
          <a:xfrm>
            <a:off x="4876800" y="4102995"/>
            <a:ext cx="914400"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TextBox 15"/>
          <p:cNvSpPr txBox="1"/>
          <p:nvPr/>
        </p:nvSpPr>
        <p:spPr>
          <a:xfrm>
            <a:off x="5096808" y="4179195"/>
            <a:ext cx="609600" cy="369332"/>
          </a:xfrm>
          <a:prstGeom prst="rect">
            <a:avLst/>
          </a:prstGeom>
          <a:noFill/>
        </p:spPr>
        <p:txBody>
          <a:bodyPr wrap="square" rtlCol="0">
            <a:spAutoFit/>
          </a:bodyPr>
          <a:lstStyle/>
          <a:p>
            <a:pPr algn="ctr"/>
            <a:r>
              <a:rPr lang="en-US" dirty="0"/>
              <a:t>P1</a:t>
            </a:r>
          </a:p>
        </p:txBody>
      </p:sp>
      <p:sp>
        <p:nvSpPr>
          <p:cNvPr id="17" name="Rectangle 16"/>
          <p:cNvSpPr/>
          <p:nvPr/>
        </p:nvSpPr>
        <p:spPr>
          <a:xfrm>
            <a:off x="3732744" y="2055252"/>
            <a:ext cx="914400"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TextBox 17"/>
          <p:cNvSpPr txBox="1"/>
          <p:nvPr/>
        </p:nvSpPr>
        <p:spPr>
          <a:xfrm>
            <a:off x="3885144" y="2131452"/>
            <a:ext cx="609600" cy="369332"/>
          </a:xfrm>
          <a:prstGeom prst="rect">
            <a:avLst/>
          </a:prstGeom>
          <a:noFill/>
        </p:spPr>
        <p:txBody>
          <a:bodyPr wrap="square" rtlCol="0">
            <a:spAutoFit/>
          </a:bodyPr>
          <a:lstStyle/>
          <a:p>
            <a:pPr algn="ctr"/>
            <a:r>
              <a:rPr lang="en-US" dirty="0"/>
              <a:t>P2</a:t>
            </a:r>
          </a:p>
        </p:txBody>
      </p:sp>
      <p:sp>
        <p:nvSpPr>
          <p:cNvPr id="19" name="Rectangle 18"/>
          <p:cNvSpPr/>
          <p:nvPr/>
        </p:nvSpPr>
        <p:spPr>
          <a:xfrm>
            <a:off x="4876800" y="2057400"/>
            <a:ext cx="914400"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TextBox 19"/>
          <p:cNvSpPr txBox="1"/>
          <p:nvPr/>
        </p:nvSpPr>
        <p:spPr>
          <a:xfrm>
            <a:off x="5029200" y="2133600"/>
            <a:ext cx="609600" cy="369332"/>
          </a:xfrm>
          <a:prstGeom prst="rect">
            <a:avLst/>
          </a:prstGeom>
          <a:noFill/>
        </p:spPr>
        <p:txBody>
          <a:bodyPr wrap="square" rtlCol="0">
            <a:spAutoFit/>
          </a:bodyPr>
          <a:lstStyle/>
          <a:p>
            <a:pPr algn="ctr"/>
            <a:r>
              <a:rPr lang="en-US" dirty="0"/>
              <a:t>P2</a:t>
            </a:r>
          </a:p>
        </p:txBody>
      </p:sp>
      <p:sp>
        <p:nvSpPr>
          <p:cNvPr id="21" name="Rectangle 20"/>
          <p:cNvSpPr/>
          <p:nvPr/>
        </p:nvSpPr>
        <p:spPr>
          <a:xfrm>
            <a:off x="6019800" y="2057400"/>
            <a:ext cx="914400"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TextBox 21"/>
          <p:cNvSpPr txBox="1"/>
          <p:nvPr/>
        </p:nvSpPr>
        <p:spPr>
          <a:xfrm>
            <a:off x="6172200" y="2133600"/>
            <a:ext cx="609600" cy="369332"/>
          </a:xfrm>
          <a:prstGeom prst="rect">
            <a:avLst/>
          </a:prstGeom>
          <a:noFill/>
        </p:spPr>
        <p:txBody>
          <a:bodyPr wrap="square" rtlCol="0">
            <a:spAutoFit/>
          </a:bodyPr>
          <a:lstStyle/>
          <a:p>
            <a:pPr algn="ctr"/>
            <a:r>
              <a:rPr lang="en-US" dirty="0"/>
              <a:t>P2</a:t>
            </a:r>
          </a:p>
        </p:txBody>
      </p:sp>
      <p:cxnSp>
        <p:nvCxnSpPr>
          <p:cNvPr id="26" name="Straight Arrow Connector 25"/>
          <p:cNvCxnSpPr>
            <a:endCxn id="17" idx="2"/>
          </p:cNvCxnSpPr>
          <p:nvPr/>
        </p:nvCxnSpPr>
        <p:spPr>
          <a:xfrm rot="16200000" flipV="1">
            <a:off x="3846498" y="2932098"/>
            <a:ext cx="1526148" cy="83925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4" name="Straight Arrow Connector 33"/>
          <p:cNvCxnSpPr/>
          <p:nvPr/>
        </p:nvCxnSpPr>
        <p:spPr>
          <a:xfrm rot="5400000" flipH="1" flipV="1">
            <a:off x="4495800" y="3352800"/>
            <a:ext cx="15240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6" name="Straight Arrow Connector 35"/>
          <p:cNvCxnSpPr/>
          <p:nvPr/>
        </p:nvCxnSpPr>
        <p:spPr>
          <a:xfrm rot="5400000" flipH="1" flipV="1">
            <a:off x="5181600" y="3048000"/>
            <a:ext cx="1524000" cy="6096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7" name="TextBox 36"/>
          <p:cNvSpPr txBox="1"/>
          <p:nvPr/>
        </p:nvSpPr>
        <p:spPr>
          <a:xfrm>
            <a:off x="4724400" y="3124200"/>
            <a:ext cx="304800" cy="369332"/>
          </a:xfrm>
          <a:prstGeom prst="rect">
            <a:avLst/>
          </a:prstGeom>
          <a:noFill/>
        </p:spPr>
        <p:txBody>
          <a:bodyPr wrap="square" rtlCol="0">
            <a:spAutoFit/>
          </a:bodyPr>
          <a:lstStyle/>
          <a:p>
            <a:r>
              <a:rPr lang="en-US" dirty="0"/>
              <a:t>m</a:t>
            </a:r>
          </a:p>
        </p:txBody>
      </p:sp>
      <p:sp>
        <p:nvSpPr>
          <p:cNvPr id="38" name="TextBox 37"/>
          <p:cNvSpPr txBox="1"/>
          <p:nvPr/>
        </p:nvSpPr>
        <p:spPr>
          <a:xfrm>
            <a:off x="5334000" y="3200400"/>
            <a:ext cx="304800" cy="369332"/>
          </a:xfrm>
          <a:prstGeom prst="rect">
            <a:avLst/>
          </a:prstGeom>
          <a:noFill/>
        </p:spPr>
        <p:txBody>
          <a:bodyPr wrap="square" rtlCol="0">
            <a:spAutoFit/>
          </a:bodyPr>
          <a:lstStyle/>
          <a:p>
            <a:r>
              <a:rPr lang="en-US" dirty="0"/>
              <a:t>m</a:t>
            </a:r>
          </a:p>
        </p:txBody>
      </p:sp>
      <p:sp>
        <p:nvSpPr>
          <p:cNvPr id="39" name="TextBox 38"/>
          <p:cNvSpPr txBox="1"/>
          <p:nvPr/>
        </p:nvSpPr>
        <p:spPr>
          <a:xfrm>
            <a:off x="6019800" y="3276600"/>
            <a:ext cx="304800" cy="369332"/>
          </a:xfrm>
          <a:prstGeom prst="rect">
            <a:avLst/>
          </a:prstGeom>
          <a:noFill/>
        </p:spPr>
        <p:txBody>
          <a:bodyPr wrap="square" rtlCol="0">
            <a:spAutoFit/>
          </a:bodyPr>
          <a:lstStyle/>
          <a:p>
            <a:r>
              <a:rPr lang="en-US" dirty="0"/>
              <a:t>m</a:t>
            </a:r>
          </a:p>
        </p:txBody>
      </p:sp>
      <p:sp>
        <p:nvSpPr>
          <p:cNvPr id="40" name="TextBox 39"/>
          <p:cNvSpPr txBox="1"/>
          <p:nvPr/>
        </p:nvSpPr>
        <p:spPr>
          <a:xfrm>
            <a:off x="2057400" y="4572000"/>
            <a:ext cx="9144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Unicast</a:t>
            </a:r>
          </a:p>
        </p:txBody>
      </p:sp>
      <p:sp>
        <p:nvSpPr>
          <p:cNvPr id="41" name="TextBox 40"/>
          <p:cNvSpPr txBox="1"/>
          <p:nvPr/>
        </p:nvSpPr>
        <p:spPr>
          <a:xfrm>
            <a:off x="4953000" y="4724400"/>
            <a:ext cx="11430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Multicast</a:t>
            </a:r>
          </a:p>
        </p:txBody>
      </p:sp>
      <p:sp>
        <p:nvSpPr>
          <p:cNvPr id="42" name="TextBox 41"/>
          <p:cNvSpPr txBox="1"/>
          <p:nvPr/>
        </p:nvSpPr>
        <p:spPr>
          <a:xfrm>
            <a:off x="2895600" y="5410200"/>
            <a:ext cx="32004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dirty="0"/>
              <a:t>Unicast versus multicast</a:t>
            </a:r>
          </a:p>
        </p:txBody>
      </p:sp>
      <p:sp>
        <p:nvSpPr>
          <p:cNvPr id="27" name="Slide Number Placeholder 26"/>
          <p:cNvSpPr>
            <a:spLocks noGrp="1"/>
          </p:cNvSpPr>
          <p:nvPr>
            <p:ph type="sldNum" sz="quarter" idx="12"/>
          </p:nvPr>
        </p:nvSpPr>
        <p:spPr/>
        <p:txBody>
          <a:bodyPr/>
          <a:lstStyle/>
          <a:p>
            <a:fld id="{7040D16D-0600-4D21-96E6-588F007D1AD6}" type="slidenum">
              <a:rPr lang="en-US" smtClean="0"/>
              <a:pPr/>
              <a:t>4</a:t>
            </a:fld>
            <a:endParaRPr lang="en-US"/>
          </a:p>
        </p:txBody>
      </p:sp>
      <p:sp>
        <p:nvSpPr>
          <p:cNvPr id="28" name="Footer Placeholder 27"/>
          <p:cNvSpPr>
            <a:spLocks noGrp="1"/>
          </p:cNvSpPr>
          <p:nvPr>
            <p:ph type="ftr" sz="quarter" idx="11"/>
          </p:nvPr>
        </p:nvSpPr>
        <p:spPr/>
        <p:txBody>
          <a:bodyPr/>
          <a:lstStyle/>
          <a:p>
            <a:r>
              <a:rPr lang="en-US"/>
              <a:t>Asst. Professor Riddhi Joshi</a:t>
            </a:r>
          </a:p>
        </p:txBody>
      </p:sp>
      <p:pic>
        <p:nvPicPr>
          <p:cNvPr id="29"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30" name="Title 1"/>
          <p:cNvSpPr txBox="1">
            <a:spLocks/>
          </p:cNvSpPr>
          <p:nvPr/>
        </p:nvSpPr>
        <p:spPr>
          <a:xfrm>
            <a:off x="1295400" y="122238"/>
            <a:ext cx="6705600" cy="56356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uLnTx/>
                <a:uFillTx/>
                <a:latin typeface="+mn-lt"/>
                <a:ea typeface="+mn-ea"/>
                <a:cs typeface="+mn-cs"/>
              </a:rPr>
              <a:t>Introduction</a:t>
            </a:r>
            <a:endParaRPr kumimoji="0" lang="en-US" sz="2600" b="1" i="0" u="none" strike="noStrike" kern="1200" cap="none" spc="0" normalizeH="0" baseline="0" noProof="0" dirty="0">
              <a:ln>
                <a:noFill/>
              </a:ln>
              <a:solidFill>
                <a:schemeClr val="lt1"/>
              </a:solidFill>
              <a:effectLst/>
              <a:uLnTx/>
              <a:uFillTx/>
              <a:latin typeface="+mn-lt"/>
              <a:ea typeface="+mn-ea"/>
              <a:cs typeface="+mn-cs"/>
            </a:endParaRPr>
          </a:p>
        </p:txBody>
      </p:sp>
      <p:pic>
        <p:nvPicPr>
          <p:cNvPr id="31" name="Picture 2" descr="F:\General Data\general sub data\animated images\New Folder\bouncing_exclaimation_point_sm_wm.gif"/>
          <p:cNvPicPr>
            <a:picLocks noChangeAspect="1" noChangeArrowheads="1" noCrop="1"/>
          </p:cNvPicPr>
          <p:nvPr/>
        </p:nvPicPr>
        <p:blipFill>
          <a:blip r:embed="rId3"/>
          <a:srcRect/>
          <a:stretch>
            <a:fillRect/>
          </a:stretch>
        </p:blipFill>
        <p:spPr bwMode="auto">
          <a:xfrm>
            <a:off x="0" y="0"/>
            <a:ext cx="1143000" cy="91440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534400" cy="4343400"/>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t>Modern-day operating system such as UNIX and windows provide facilities for interprocess communication.</a:t>
            </a:r>
          </a:p>
          <a:p>
            <a:endParaRPr lang="en-US" sz="2300" dirty="0"/>
          </a:p>
          <a:p>
            <a:r>
              <a:rPr lang="en-US" sz="2300" dirty="0"/>
              <a:t>We will call these facilities operating system-level IPC facilities, to distinguish them from high-level IPCs. </a:t>
            </a:r>
          </a:p>
          <a:p>
            <a:endParaRPr lang="en-US" sz="2300" dirty="0"/>
          </a:p>
          <a:p>
            <a:r>
              <a:rPr lang="en-US" sz="2300" dirty="0"/>
              <a:t>System level IPC facilities include message queues, semaphores, and shared memory.</a:t>
            </a:r>
          </a:p>
          <a:p>
            <a:endParaRPr lang="en-US" sz="2300" dirty="0"/>
          </a:p>
          <a:p>
            <a:r>
              <a:rPr lang="en-US" sz="2300" dirty="0"/>
              <a:t>In this topic, we will study IPC at a higher level of abstraction.</a:t>
            </a:r>
          </a:p>
          <a:p>
            <a:endParaRPr lang="en-US" sz="2300" dirty="0"/>
          </a:p>
        </p:txBody>
      </p:sp>
      <p:sp>
        <p:nvSpPr>
          <p:cNvPr id="4" name="Slide Number Placeholder 3"/>
          <p:cNvSpPr>
            <a:spLocks noGrp="1"/>
          </p:cNvSpPr>
          <p:nvPr>
            <p:ph type="sldNum" sz="quarter" idx="12"/>
          </p:nvPr>
        </p:nvSpPr>
        <p:spPr/>
        <p:txBody>
          <a:bodyPr/>
          <a:lstStyle/>
          <a:p>
            <a:fld id="{7040D16D-0600-4D21-96E6-588F007D1AD6}" type="slidenum">
              <a:rPr lang="en-US" smtClean="0"/>
              <a:pPr/>
              <a:t>5</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7" name="Title 1"/>
          <p:cNvSpPr txBox="1">
            <a:spLocks/>
          </p:cNvSpPr>
          <p:nvPr/>
        </p:nvSpPr>
        <p:spPr>
          <a:xfrm>
            <a:off x="1295400" y="122238"/>
            <a:ext cx="6705600" cy="56356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uLnTx/>
                <a:uFillTx/>
                <a:latin typeface="+mn-lt"/>
                <a:ea typeface="+mn-ea"/>
                <a:cs typeface="+mn-cs"/>
              </a:rPr>
              <a:t>Introduction</a:t>
            </a:r>
            <a:endParaRPr kumimoji="0" lang="en-US" sz="2600" b="1" i="0" u="none" strike="noStrike" kern="1200" cap="none" spc="0" normalizeH="0" baseline="0" noProof="0" dirty="0">
              <a:ln>
                <a:noFill/>
              </a:ln>
              <a:solidFill>
                <a:schemeClr val="lt1"/>
              </a:solidFill>
              <a:effectLst/>
              <a:uLnTx/>
              <a:uFillTx/>
              <a:latin typeface="+mn-lt"/>
              <a:ea typeface="+mn-ea"/>
              <a:cs typeface="+mn-cs"/>
            </a:endParaRPr>
          </a:p>
        </p:txBody>
      </p:sp>
      <p:pic>
        <p:nvPicPr>
          <p:cNvPr id="8" name="Picture 2" descr="F:\General Data\general sub data\animated images\New Folder\bouncing_exclaimation_point_sm_wm.gif"/>
          <p:cNvPicPr>
            <a:picLocks noChangeAspect="1" noChangeArrowheads="1" noCrop="1"/>
          </p:cNvPicPr>
          <p:nvPr/>
        </p:nvPicPr>
        <p:blipFill>
          <a:blip r:embed="rId3"/>
          <a:srcRect/>
          <a:stretch>
            <a:fillRect/>
          </a:stretch>
        </p:blipFill>
        <p:spPr bwMode="auto">
          <a:xfrm>
            <a:off x="0" y="0"/>
            <a:ext cx="1143000" cy="91440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152400" y="1371600"/>
            <a:ext cx="8763000" cy="36576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r>
              <a:rPr lang="en-US" sz="2200" b="1" dirty="0">
                <a:solidFill>
                  <a:srgbClr val="0070C0"/>
                </a:solidFill>
                <a:latin typeface="Cambria" pitchFamily="18" charset="0"/>
                <a:cs typeface="Aharoni" pitchFamily="2" charset="-79"/>
              </a:rPr>
              <a:t>      2.1 An Archetypal IPC Program Interface</a:t>
            </a:r>
          </a:p>
          <a:p>
            <a:r>
              <a:rPr lang="en-US" sz="2200" dirty="0">
                <a:latin typeface="Cambria" pitchFamily="18" charset="0"/>
                <a:cs typeface="Aharoni" pitchFamily="2" charset="-79"/>
              </a:rPr>
              <a:t>2.2 Event Synchronization</a:t>
            </a:r>
          </a:p>
          <a:p>
            <a:r>
              <a:rPr lang="en-US" sz="2200" dirty="0">
                <a:latin typeface="Cambria" pitchFamily="18" charset="0"/>
                <a:cs typeface="Aharoni" pitchFamily="2" charset="-79"/>
              </a:rPr>
              <a:t>2.3 Timeouts and Threading</a:t>
            </a:r>
          </a:p>
          <a:p>
            <a:r>
              <a:rPr lang="en-US" sz="2200" dirty="0">
                <a:latin typeface="Cambria" pitchFamily="18" charset="0"/>
                <a:cs typeface="Aharoni" pitchFamily="2" charset="-79"/>
              </a:rPr>
              <a:t>2.4 Deadlocks and Timeouts</a:t>
            </a:r>
          </a:p>
          <a:p>
            <a:r>
              <a:rPr lang="en-US" sz="2200" dirty="0">
                <a:latin typeface="Cambria" pitchFamily="18" charset="0"/>
                <a:cs typeface="Aharoni" pitchFamily="2" charset="-79"/>
              </a:rPr>
              <a:t>2.5 Data Representation</a:t>
            </a:r>
          </a:p>
          <a:p>
            <a:r>
              <a:rPr lang="en-US" sz="2200" dirty="0">
                <a:latin typeface="Cambria" pitchFamily="18" charset="0"/>
                <a:cs typeface="Aharoni" pitchFamily="2" charset="-79"/>
              </a:rPr>
              <a:t>2.6 Data Encoding</a:t>
            </a:r>
          </a:p>
          <a:p>
            <a:r>
              <a:rPr lang="en-US" sz="2200" dirty="0">
                <a:latin typeface="Cambria" pitchFamily="18" charset="0"/>
                <a:cs typeface="Aharoni" pitchFamily="2" charset="-79"/>
              </a:rPr>
              <a:t>2.7 Text Based Protocol</a:t>
            </a:r>
          </a:p>
          <a:p>
            <a:r>
              <a:rPr lang="en-US" sz="2200" dirty="0">
                <a:latin typeface="Cambria" pitchFamily="18" charset="0"/>
                <a:cs typeface="Aharoni" pitchFamily="2" charset="-79"/>
              </a:rPr>
              <a:t>2.8 Request Response Protocol</a:t>
            </a:r>
          </a:p>
          <a:p>
            <a:r>
              <a:rPr lang="en-US" sz="2200" dirty="0">
                <a:latin typeface="Cambria" pitchFamily="18" charset="0"/>
                <a:cs typeface="Aharoni" pitchFamily="2" charset="-79"/>
              </a:rPr>
              <a:t>2.9 Event Diagram &amp; Sequence Diagram</a:t>
            </a:r>
          </a:p>
          <a:p>
            <a:r>
              <a:rPr lang="en-US" sz="2200" dirty="0">
                <a:latin typeface="Cambria" pitchFamily="18" charset="0"/>
                <a:cs typeface="Aharoni" pitchFamily="2" charset="-79"/>
              </a:rPr>
              <a:t>2.10 Connection Oriented  Vs. Connectionless IPC</a:t>
            </a:r>
          </a:p>
          <a:p>
            <a:endParaRPr lang="en-US" sz="2200" dirty="0">
              <a:latin typeface="Cambria" pitchFamily="18" charset="0"/>
              <a:cs typeface="Aharoni" pitchFamily="2" charset="-79"/>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endParaRPr kumimoji="0" lang="en-US" sz="2200" b="0" i="0" u="none" strike="noStrike" kern="1200" cap="none" spc="0" normalizeH="0" baseline="0" noProof="0" dirty="0">
              <a:ln>
                <a:noFill/>
              </a:ln>
              <a:solidFill>
                <a:schemeClr val="tx1"/>
              </a:solidFill>
              <a:effectLst/>
              <a:uLnTx/>
              <a:uFillTx/>
              <a:latin typeface="Cambria" pitchFamily="18" charset="0"/>
              <a:cs typeface="Aharoni" pitchFamily="2" charset="-79"/>
            </a:endParaRPr>
          </a:p>
        </p:txBody>
      </p:sp>
      <p:sp>
        <p:nvSpPr>
          <p:cNvPr id="5" name="TextBox 4"/>
          <p:cNvSpPr txBox="1"/>
          <p:nvPr/>
        </p:nvSpPr>
        <p:spPr>
          <a:xfrm>
            <a:off x="2514600" y="152400"/>
            <a:ext cx="4267200" cy="523875"/>
          </a:xfrm>
          <a:prstGeom prst="rect">
            <a:avLst/>
          </a:prstGeom>
        </p:spPr>
        <p:style>
          <a:lnRef idx="3">
            <a:schemeClr val="lt1"/>
          </a:lnRef>
          <a:fillRef idx="1">
            <a:schemeClr val="accent1"/>
          </a:fillRef>
          <a:effectRef idx="1">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6" name="Slide Number Placeholder 5"/>
          <p:cNvSpPr>
            <a:spLocks noGrp="1"/>
          </p:cNvSpPr>
          <p:nvPr>
            <p:ph type="sldNum" sz="quarter" idx="12"/>
          </p:nvPr>
        </p:nvSpPr>
        <p:spPr/>
        <p:txBody>
          <a:bodyPr/>
          <a:lstStyle/>
          <a:p>
            <a:fld id="{7040D16D-0600-4D21-96E6-588F007D1AD6}" type="slidenum">
              <a:rPr lang="en-US" smtClean="0"/>
              <a:pPr/>
              <a:t>6</a:t>
            </a:fld>
            <a:endParaRPr lang="en-US"/>
          </a:p>
        </p:txBody>
      </p:sp>
      <p:sp>
        <p:nvSpPr>
          <p:cNvPr id="7" name="Footer Placeholder 6"/>
          <p:cNvSpPr>
            <a:spLocks noGrp="1"/>
          </p:cNvSpPr>
          <p:nvPr>
            <p:ph type="ftr" sz="quarter" idx="11"/>
          </p:nvPr>
        </p:nvSpPr>
        <p:spPr/>
        <p:txBody>
          <a:bodyPr/>
          <a:lstStyle/>
          <a:p>
            <a:r>
              <a:rPr lang="en-US"/>
              <a:t>Asst. Professor Riddhi Joshi</a:t>
            </a:r>
          </a:p>
        </p:txBody>
      </p:sp>
      <p:pic>
        <p:nvPicPr>
          <p:cNvPr id="2051" name="Picture 3" descr="F:\General Data\general sub data\animated images\gp image\stick_figure_walking_reading_book_sm_wm.gif"/>
          <p:cNvPicPr>
            <a:picLocks noChangeAspect="1" noChangeArrowheads="1" noCrop="1"/>
          </p:cNvPicPr>
          <p:nvPr/>
        </p:nvPicPr>
        <p:blipFill>
          <a:blip r:embed="rId2"/>
          <a:srcRect/>
          <a:stretch>
            <a:fillRect/>
          </a:stretch>
        </p:blipFill>
        <p:spPr bwMode="auto">
          <a:xfrm>
            <a:off x="152400" y="95250"/>
            <a:ext cx="1447800" cy="1047750"/>
          </a:xfrm>
          <a:prstGeom prst="rect">
            <a:avLst/>
          </a:prstGeom>
          <a:noFill/>
        </p:spPr>
      </p:pic>
      <p:sp>
        <p:nvSpPr>
          <p:cNvPr id="8" name="Right Arrow 7"/>
          <p:cNvSpPr/>
          <p:nvPr/>
        </p:nvSpPr>
        <p:spPr>
          <a:xfrm>
            <a:off x="228600" y="15240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descr="F:\General Data\general sub data\animated images\gp image\5027341-blue-crystal-earth-showing-north-and-south-america.jpg"/>
          <p:cNvPicPr>
            <a:picLocks noChangeAspect="1" noChangeArrowheads="1"/>
          </p:cNvPicPr>
          <p:nvPr/>
        </p:nvPicPr>
        <p:blipFill>
          <a:blip r:embed="rId3"/>
          <a:srcRect/>
          <a:stretch>
            <a:fillRect/>
          </a:stretch>
        </p:blipFill>
        <p:spPr bwMode="auto">
          <a:xfrm>
            <a:off x="76200" y="5638800"/>
            <a:ext cx="1143000" cy="1143000"/>
          </a:xfrm>
          <a:prstGeom prst="ellipse">
            <a:avLst/>
          </a:prstGeom>
          <a:ln>
            <a:noFill/>
          </a:ln>
          <a:effectLst>
            <a:softEdge rad="112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46038"/>
            <a:ext cx="7239000" cy="639762"/>
          </a:xfrm>
        </p:spPr>
        <p:style>
          <a:lnRef idx="3">
            <a:schemeClr val="lt1"/>
          </a:lnRef>
          <a:fillRef idx="1">
            <a:schemeClr val="accent1"/>
          </a:fillRef>
          <a:effectRef idx="1">
            <a:schemeClr val="accent1"/>
          </a:effectRef>
          <a:fontRef idx="minor">
            <a:schemeClr val="lt1"/>
          </a:fontRef>
        </p:style>
        <p:txBody>
          <a:bodyPr>
            <a:normAutofit/>
          </a:bodyPr>
          <a:lstStyle/>
          <a:p>
            <a:r>
              <a:rPr lang="en-US" sz="2600" b="1" dirty="0"/>
              <a:t>2.1 An Archetypal IPC Program Interface</a:t>
            </a:r>
          </a:p>
        </p:txBody>
      </p:sp>
      <p:sp>
        <p:nvSpPr>
          <p:cNvPr id="3" name="Content Placeholder 2"/>
          <p:cNvSpPr>
            <a:spLocks noGrp="1"/>
          </p:cNvSpPr>
          <p:nvPr>
            <p:ph idx="1"/>
          </p:nvPr>
        </p:nvSpPr>
        <p:spPr>
          <a:xfrm>
            <a:off x="76200" y="1219200"/>
            <a:ext cx="8763000" cy="3733800"/>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US" sz="2600" dirty="0"/>
              <a:t>Consider a basic API that provides the minimum level of abstraction to facilitate IPC.</a:t>
            </a:r>
          </a:p>
          <a:p>
            <a:r>
              <a:rPr lang="en-US" sz="2600" dirty="0"/>
              <a:t>Four primitive operations are needed.</a:t>
            </a:r>
          </a:p>
          <a:p>
            <a:endParaRPr lang="en-US" sz="2600" dirty="0"/>
          </a:p>
          <a:p>
            <a:pPr lvl="1"/>
            <a:r>
              <a:rPr lang="en-US" sz="2600" dirty="0"/>
              <a:t>Send</a:t>
            </a:r>
          </a:p>
          <a:p>
            <a:pPr lvl="1"/>
            <a:r>
              <a:rPr lang="en-US" sz="2600" dirty="0"/>
              <a:t>Receive</a:t>
            </a:r>
          </a:p>
          <a:p>
            <a:pPr lvl="1"/>
            <a:r>
              <a:rPr lang="en-US" sz="2600" dirty="0"/>
              <a:t>Connect</a:t>
            </a:r>
          </a:p>
          <a:p>
            <a:pPr lvl="1"/>
            <a:r>
              <a:rPr lang="en-US" sz="2600" dirty="0"/>
              <a:t>Disconnect</a:t>
            </a:r>
          </a:p>
        </p:txBody>
      </p:sp>
      <p:sp>
        <p:nvSpPr>
          <p:cNvPr id="4" name="Slide Number Placeholder 3"/>
          <p:cNvSpPr>
            <a:spLocks noGrp="1"/>
          </p:cNvSpPr>
          <p:nvPr>
            <p:ph type="sldNum" sz="quarter" idx="12"/>
          </p:nvPr>
        </p:nvSpPr>
        <p:spPr/>
        <p:txBody>
          <a:bodyPr/>
          <a:lstStyle/>
          <a:p>
            <a:fld id="{7040D16D-0600-4D21-96E6-588F007D1AD6}" type="slidenum">
              <a:rPr lang="en-US" smtClean="0"/>
              <a:pPr/>
              <a:t>7</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pic>
        <p:nvPicPr>
          <p:cNvPr id="3074" name="Picture 2" descr="F:\General Data\general sub data\animated images\New Folder\figure_running_letter_sm_wm.gif"/>
          <p:cNvPicPr>
            <a:picLocks noChangeAspect="1" noChangeArrowheads="1" noCrop="1"/>
          </p:cNvPicPr>
          <p:nvPr/>
        </p:nvPicPr>
        <p:blipFill>
          <a:blip r:embed="rId3"/>
          <a:srcRect/>
          <a:stretch>
            <a:fillRect/>
          </a:stretch>
        </p:blipFill>
        <p:spPr bwMode="auto">
          <a:xfrm>
            <a:off x="95250" y="0"/>
            <a:ext cx="1047750" cy="104775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040D16D-0600-4D21-96E6-588F007D1AD6}" type="slidenum">
              <a:rPr lang="en-US" smtClean="0"/>
              <a:pPr/>
              <a:t>8</a:t>
            </a:fld>
            <a:endParaRPr lang="en-US"/>
          </a:p>
        </p:txBody>
      </p:sp>
      <p:sp>
        <p:nvSpPr>
          <p:cNvPr id="5" name="Footer Placeholder 4"/>
          <p:cNvSpPr>
            <a:spLocks noGrp="1"/>
          </p:cNvSpPr>
          <p:nvPr>
            <p:ph type="ftr" sz="quarter" idx="11"/>
          </p:nvPr>
        </p:nvSpPr>
        <p:spPr/>
        <p:txBody>
          <a:bodyPr/>
          <a:lstStyle/>
          <a:p>
            <a:r>
              <a:rPr lang="en-US"/>
              <a:t>Asst. Professor Riddhi Joshi</a:t>
            </a:r>
          </a:p>
        </p:txBody>
      </p:sp>
      <p:sp>
        <p:nvSpPr>
          <p:cNvPr id="7" name="Title 1"/>
          <p:cNvSpPr txBox="1">
            <a:spLocks/>
          </p:cNvSpPr>
          <p:nvPr/>
        </p:nvSpPr>
        <p:spPr>
          <a:xfrm>
            <a:off x="1447800" y="46038"/>
            <a:ext cx="7239000" cy="63976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uLnTx/>
                <a:uFillTx/>
                <a:latin typeface="+mn-lt"/>
                <a:ea typeface="+mn-ea"/>
                <a:cs typeface="+mn-cs"/>
              </a:rPr>
              <a:t>2.1 An Archetypal IPC Program Interface</a:t>
            </a:r>
            <a:endParaRPr kumimoji="0" lang="en-US" sz="2600" b="1" i="0" u="none" strike="noStrike" kern="1200" cap="none" spc="0" normalizeH="0" baseline="0" noProof="0" dirty="0">
              <a:ln>
                <a:noFill/>
              </a:ln>
              <a:solidFill>
                <a:schemeClr val="lt1"/>
              </a:solidFill>
              <a:effectLst/>
              <a:uLnTx/>
              <a:uFillTx/>
              <a:latin typeface="+mn-lt"/>
              <a:ea typeface="+mn-ea"/>
              <a:cs typeface="+mn-cs"/>
            </a:endParaRPr>
          </a:p>
        </p:txBody>
      </p:sp>
      <p:pic>
        <p:nvPicPr>
          <p:cNvPr id="8" name="Picture 2" descr="F:\General Data\general sub data\animated images\New Folder\figure_running_letter_sm_wm.gif"/>
          <p:cNvPicPr>
            <a:picLocks noChangeAspect="1" noChangeArrowheads="1" noCrop="1"/>
          </p:cNvPicPr>
          <p:nvPr/>
        </p:nvPicPr>
        <p:blipFill>
          <a:blip r:embed="rId2"/>
          <a:srcRect/>
          <a:stretch>
            <a:fillRect/>
          </a:stretch>
        </p:blipFill>
        <p:spPr bwMode="auto">
          <a:xfrm>
            <a:off x="95250" y="0"/>
            <a:ext cx="1371600" cy="1371600"/>
          </a:xfrm>
          <a:prstGeom prst="rect">
            <a:avLst/>
          </a:prstGeom>
          <a:noFill/>
        </p:spPr>
      </p:pic>
      <p:pic>
        <p:nvPicPr>
          <p:cNvPr id="9" name="Picture 2" descr="F:\General Data\general sub data\animated images\gp image\5027341-blue-crystal-earth-showing-north-and-south-america.jpg"/>
          <p:cNvPicPr>
            <a:picLocks noChangeAspect="1" noChangeArrowheads="1"/>
          </p:cNvPicPr>
          <p:nvPr/>
        </p:nvPicPr>
        <p:blipFill>
          <a:blip r:embed="rId3" cstate="print"/>
          <a:srcRect/>
          <a:stretch>
            <a:fillRect/>
          </a:stretch>
        </p:blipFill>
        <p:spPr bwMode="auto">
          <a:xfrm>
            <a:off x="0" y="5867400"/>
            <a:ext cx="990600" cy="990600"/>
          </a:xfrm>
          <a:prstGeom prst="ellipse">
            <a:avLst/>
          </a:prstGeom>
          <a:ln>
            <a:noFill/>
          </a:ln>
          <a:effectLst>
            <a:softEdge rad="112500"/>
          </a:effectLst>
        </p:spPr>
      </p:pic>
      <p:sp>
        <p:nvSpPr>
          <p:cNvPr id="3" name="Content Placeholder 2"/>
          <p:cNvSpPr>
            <a:spLocks noGrp="1"/>
          </p:cNvSpPr>
          <p:nvPr>
            <p:ph idx="1"/>
          </p:nvPr>
        </p:nvSpPr>
        <p:spPr>
          <a:xfrm>
            <a:off x="76200" y="1143000"/>
            <a:ext cx="8839200" cy="4525963"/>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US" sz="2300" dirty="0"/>
              <a:t>Send</a:t>
            </a:r>
          </a:p>
          <a:p>
            <a:pPr lvl="1"/>
            <a:r>
              <a:rPr lang="en-US" sz="2300" dirty="0"/>
              <a:t>This operation is issued by a sending process for the purpose transmitting data to a receiving process.</a:t>
            </a:r>
          </a:p>
          <a:p>
            <a:pPr lvl="1"/>
            <a:r>
              <a:rPr lang="en-US" sz="2300" dirty="0"/>
              <a:t>The operation must allow the sending process to identify the receiving process and specify the data to be transmitted.</a:t>
            </a:r>
          </a:p>
          <a:p>
            <a:pPr lvl="1"/>
            <a:endParaRPr lang="en-US" sz="2300" dirty="0"/>
          </a:p>
          <a:p>
            <a:r>
              <a:rPr lang="en-US" sz="2300" dirty="0"/>
              <a:t>Receive</a:t>
            </a:r>
          </a:p>
          <a:p>
            <a:pPr lvl="1"/>
            <a:r>
              <a:rPr lang="en-US" sz="2300" dirty="0"/>
              <a:t>This operation is issued by a receiving process for the purpose of accepting data from a sending process. </a:t>
            </a:r>
          </a:p>
          <a:p>
            <a:pPr lvl="1"/>
            <a:r>
              <a:rPr lang="en-US" sz="2300" dirty="0"/>
              <a:t>The operation must allow the receiving process to identify the sending process and specify a memory space that allows the data to be stored, to be subsequently accessed by the receiver.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112837"/>
            <a:ext cx="8839200" cy="4678363"/>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t>Connect</a:t>
            </a:r>
          </a:p>
          <a:p>
            <a:pPr lvl="1"/>
            <a:r>
              <a:rPr lang="en-US" sz="2300" dirty="0"/>
              <a:t>For connection oriented IPC, there must be operation that allow a logical connection to be established between the issuing process and a specified process: </a:t>
            </a:r>
          </a:p>
          <a:p>
            <a:pPr lvl="1"/>
            <a:r>
              <a:rPr lang="en-US" sz="2300" dirty="0"/>
              <a:t>One process issues a request-to-connect (connect for short) operation while the other process issues an accept-connection operation.</a:t>
            </a:r>
          </a:p>
          <a:p>
            <a:r>
              <a:rPr lang="en-US" sz="2300" dirty="0"/>
              <a:t>  Disconnect</a:t>
            </a:r>
          </a:p>
          <a:p>
            <a:pPr lvl="1"/>
            <a:r>
              <a:rPr lang="en-US" sz="2300" dirty="0"/>
              <a:t>For connection-oriented IPC, this operation allows a previously established logical connection to be deallocated at both sides of the communication </a:t>
            </a:r>
          </a:p>
        </p:txBody>
      </p:sp>
      <p:sp>
        <p:nvSpPr>
          <p:cNvPr id="4" name="Slide Number Placeholder 3"/>
          <p:cNvSpPr>
            <a:spLocks noGrp="1"/>
          </p:cNvSpPr>
          <p:nvPr>
            <p:ph type="sldNum" sz="quarter" idx="12"/>
          </p:nvPr>
        </p:nvSpPr>
        <p:spPr/>
        <p:txBody>
          <a:bodyPr/>
          <a:lstStyle/>
          <a:p>
            <a:fld id="{7040D16D-0600-4D21-96E6-588F007D1AD6}" type="slidenum">
              <a:rPr lang="en-US" smtClean="0"/>
              <a:pPr/>
              <a:t>9</a:t>
            </a:fld>
            <a:endParaRPr lang="en-US"/>
          </a:p>
        </p:txBody>
      </p:sp>
      <p:sp>
        <p:nvSpPr>
          <p:cNvPr id="5" name="Footer Placeholder 4"/>
          <p:cNvSpPr>
            <a:spLocks noGrp="1"/>
          </p:cNvSpPr>
          <p:nvPr>
            <p:ph type="ftr" sz="quarter" idx="11"/>
          </p:nvPr>
        </p:nvSpPr>
        <p:spPr/>
        <p:txBody>
          <a:bodyPr/>
          <a:lstStyle/>
          <a:p>
            <a:r>
              <a:rPr lang="en-US"/>
              <a:t>Asst. Professor Riddhi Joshi</a:t>
            </a:r>
          </a:p>
        </p:txBody>
      </p:sp>
      <p:sp>
        <p:nvSpPr>
          <p:cNvPr id="7" name="Title 1"/>
          <p:cNvSpPr txBox="1">
            <a:spLocks/>
          </p:cNvSpPr>
          <p:nvPr/>
        </p:nvSpPr>
        <p:spPr>
          <a:xfrm>
            <a:off x="1447800" y="46038"/>
            <a:ext cx="7239000" cy="63976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uLnTx/>
                <a:uFillTx/>
                <a:latin typeface="+mn-lt"/>
                <a:ea typeface="+mn-ea"/>
                <a:cs typeface="+mn-cs"/>
              </a:rPr>
              <a:t>2.1 An Archetypal IPC Program Interface</a:t>
            </a:r>
            <a:endParaRPr kumimoji="0" lang="en-US" sz="2600" b="1" i="0" u="none" strike="noStrike" kern="1200" cap="none" spc="0" normalizeH="0" baseline="0" noProof="0" dirty="0">
              <a:ln>
                <a:noFill/>
              </a:ln>
              <a:solidFill>
                <a:schemeClr val="lt1"/>
              </a:solidFill>
              <a:effectLst/>
              <a:uLnTx/>
              <a:uFillTx/>
              <a:latin typeface="+mn-lt"/>
              <a:ea typeface="+mn-ea"/>
              <a:cs typeface="+mn-cs"/>
            </a:endParaRPr>
          </a:p>
        </p:txBody>
      </p:sp>
      <p:pic>
        <p:nvPicPr>
          <p:cNvPr id="8" name="Picture 2" descr="F:\General Data\general sub data\animated images\New Folder\figure_running_letter_sm_wm.gif"/>
          <p:cNvPicPr>
            <a:picLocks noChangeAspect="1" noChangeArrowheads="1" noCrop="1"/>
          </p:cNvPicPr>
          <p:nvPr/>
        </p:nvPicPr>
        <p:blipFill>
          <a:blip r:embed="rId2"/>
          <a:srcRect/>
          <a:stretch>
            <a:fillRect/>
          </a:stretch>
        </p:blipFill>
        <p:spPr bwMode="auto">
          <a:xfrm>
            <a:off x="95250" y="0"/>
            <a:ext cx="1047750" cy="1047750"/>
          </a:xfrm>
          <a:prstGeom prst="rect">
            <a:avLst/>
          </a:prstGeom>
          <a:noFill/>
        </p:spPr>
      </p:pic>
      <p:pic>
        <p:nvPicPr>
          <p:cNvPr id="9" name="Picture 2" descr="F:\General Data\general sub data\animated images\gp image\5027341-blue-crystal-earth-showing-north-and-south-america.jpg"/>
          <p:cNvPicPr>
            <a:picLocks noChangeAspect="1" noChangeArrowheads="1"/>
          </p:cNvPicPr>
          <p:nvPr/>
        </p:nvPicPr>
        <p:blipFill>
          <a:blip r:embed="rId3" cstate="print"/>
          <a:srcRect/>
          <a:stretch>
            <a:fillRect/>
          </a:stretch>
        </p:blipFill>
        <p:spPr bwMode="auto">
          <a:xfrm>
            <a:off x="0" y="5867400"/>
            <a:ext cx="990600" cy="990600"/>
          </a:xfrm>
          <a:prstGeom prst="ellipse">
            <a:avLst/>
          </a:prstGeom>
          <a:ln>
            <a:noFill/>
          </a:ln>
          <a:effectLst>
            <a:softEdge rad="11250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66800"/>
            <a:ext cx="8915400" cy="4876800"/>
          </a:xfrm>
        </p:spPr>
        <p:style>
          <a:lnRef idx="2">
            <a:schemeClr val="accent1"/>
          </a:lnRef>
          <a:fillRef idx="1">
            <a:schemeClr val="lt1"/>
          </a:fillRef>
          <a:effectRef idx="0">
            <a:schemeClr val="accent1"/>
          </a:effectRef>
          <a:fontRef idx="minor">
            <a:schemeClr val="dk1"/>
          </a:fontRef>
        </p:style>
        <p:txBody>
          <a:bodyPr>
            <a:noAutofit/>
          </a:bodyPr>
          <a:lstStyle/>
          <a:p>
            <a:r>
              <a:rPr lang="en-US" sz="2300" dirty="0"/>
              <a:t>A process involved in IPC issues these operations in some predetermined order.</a:t>
            </a:r>
          </a:p>
          <a:p>
            <a:r>
              <a:rPr lang="en-US" sz="2300" dirty="0"/>
              <a:t>The issuance of each operation causes the occurrence of an event. </a:t>
            </a:r>
          </a:p>
          <a:p>
            <a:pPr lvl="1"/>
            <a:r>
              <a:rPr lang="en-US" sz="2300" dirty="0"/>
              <a:t>For ex: a send operation issued by a sending process results in the event wherein data is transmitted to the receiving process, while a receive operation issued by a receiving process results in data being delivered.</a:t>
            </a:r>
          </a:p>
          <a:p>
            <a:r>
              <a:rPr lang="en-US" sz="2300" dirty="0"/>
              <a:t>Network services protocols can be implemented using primitive IPC operations. </a:t>
            </a:r>
          </a:p>
          <a:p>
            <a:pPr lvl="1"/>
            <a:r>
              <a:rPr lang="en-US" sz="2300" dirty="0"/>
              <a:t>For Example. In basic HTTP one process, a web browser, issues a connect operation to establish a logical connection to another process, a web server, followed by a send operation to the web server, which transmits data representing request.</a:t>
            </a:r>
          </a:p>
        </p:txBody>
      </p:sp>
      <p:sp>
        <p:nvSpPr>
          <p:cNvPr id="4" name="Slide Number Placeholder 3"/>
          <p:cNvSpPr>
            <a:spLocks noGrp="1"/>
          </p:cNvSpPr>
          <p:nvPr>
            <p:ph type="sldNum" sz="quarter" idx="12"/>
          </p:nvPr>
        </p:nvSpPr>
        <p:spPr/>
        <p:txBody>
          <a:bodyPr/>
          <a:lstStyle/>
          <a:p>
            <a:fld id="{7040D16D-0600-4D21-96E6-588F007D1AD6}" type="slidenum">
              <a:rPr lang="en-US" smtClean="0"/>
              <a:pPr/>
              <a:t>10</a:t>
            </a:fld>
            <a:endParaRPr lang="en-US"/>
          </a:p>
        </p:txBody>
      </p:sp>
      <p:sp>
        <p:nvSpPr>
          <p:cNvPr id="5" name="Footer Placeholder 4"/>
          <p:cNvSpPr>
            <a:spLocks noGrp="1"/>
          </p:cNvSpPr>
          <p:nvPr>
            <p:ph type="ftr" sz="quarter" idx="11"/>
          </p:nvPr>
        </p:nvSpPr>
        <p:spPr/>
        <p:txBody>
          <a:bodyPr/>
          <a:lstStyle/>
          <a:p>
            <a:r>
              <a:rPr lang="en-US"/>
              <a:t>Asst. Professor Riddhi Joshi</a:t>
            </a:r>
          </a:p>
        </p:txBody>
      </p:sp>
      <p:sp>
        <p:nvSpPr>
          <p:cNvPr id="7" name="Title 1"/>
          <p:cNvSpPr txBox="1">
            <a:spLocks/>
          </p:cNvSpPr>
          <p:nvPr/>
        </p:nvSpPr>
        <p:spPr>
          <a:xfrm>
            <a:off x="1447800" y="46038"/>
            <a:ext cx="7239000" cy="63976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uLnTx/>
                <a:uFillTx/>
                <a:latin typeface="+mn-lt"/>
                <a:ea typeface="+mn-ea"/>
                <a:cs typeface="+mn-cs"/>
              </a:rPr>
              <a:t>2.1 An Archetypal IPC Program Interface</a:t>
            </a:r>
            <a:endParaRPr kumimoji="0" lang="en-US" sz="2600" b="1" i="0" u="none" strike="noStrike" kern="1200" cap="none" spc="0" normalizeH="0" baseline="0" noProof="0" dirty="0">
              <a:ln>
                <a:noFill/>
              </a:ln>
              <a:solidFill>
                <a:schemeClr val="lt1"/>
              </a:solidFill>
              <a:effectLst/>
              <a:uLnTx/>
              <a:uFillTx/>
              <a:latin typeface="+mn-lt"/>
              <a:ea typeface="+mn-ea"/>
              <a:cs typeface="+mn-cs"/>
            </a:endParaRPr>
          </a:p>
        </p:txBody>
      </p:sp>
      <p:pic>
        <p:nvPicPr>
          <p:cNvPr id="8" name="Picture 2" descr="F:\General Data\general sub data\animated images\New Folder\figure_running_letter_sm_wm.gif"/>
          <p:cNvPicPr>
            <a:picLocks noChangeAspect="1" noChangeArrowheads="1" noCrop="1"/>
          </p:cNvPicPr>
          <p:nvPr/>
        </p:nvPicPr>
        <p:blipFill>
          <a:blip r:embed="rId2"/>
          <a:srcRect/>
          <a:stretch>
            <a:fillRect/>
          </a:stretch>
        </p:blipFill>
        <p:spPr bwMode="auto">
          <a:xfrm>
            <a:off x="76200" y="0"/>
            <a:ext cx="1047750" cy="1047750"/>
          </a:xfrm>
          <a:prstGeom prst="rect">
            <a:avLst/>
          </a:prstGeom>
          <a:noFill/>
        </p:spPr>
      </p:pic>
      <p:pic>
        <p:nvPicPr>
          <p:cNvPr id="9" name="Picture 2" descr="F:\General Data\general sub data\animated images\gp image\5027341-blue-crystal-earth-showing-north-and-south-america.jpg"/>
          <p:cNvPicPr>
            <a:picLocks noChangeAspect="1" noChangeArrowheads="1"/>
          </p:cNvPicPr>
          <p:nvPr/>
        </p:nvPicPr>
        <p:blipFill>
          <a:blip r:embed="rId3" cstate="print"/>
          <a:srcRect/>
          <a:stretch>
            <a:fillRect/>
          </a:stretch>
        </p:blipFill>
        <p:spPr bwMode="auto">
          <a:xfrm>
            <a:off x="0" y="5867400"/>
            <a:ext cx="990600" cy="990600"/>
          </a:xfrm>
          <a:prstGeom prst="ellipse">
            <a:avLst/>
          </a:prstGeom>
          <a:ln>
            <a:noFill/>
          </a:ln>
          <a:effectLst>
            <a:softEdge rad="11250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219200"/>
            <a:ext cx="8839200" cy="2438400"/>
          </a:xfrm>
        </p:spPr>
        <p:style>
          <a:lnRef idx="2">
            <a:schemeClr val="accent1"/>
          </a:lnRef>
          <a:fillRef idx="1">
            <a:schemeClr val="lt1"/>
          </a:fillRef>
          <a:effectRef idx="0">
            <a:schemeClr val="accent1"/>
          </a:effectRef>
          <a:fontRef idx="minor">
            <a:schemeClr val="dk1"/>
          </a:fontRef>
        </p:style>
        <p:txBody>
          <a:bodyPr>
            <a:normAutofit/>
          </a:bodyPr>
          <a:lstStyle/>
          <a:p>
            <a:pPr lvl="1"/>
            <a:r>
              <a:rPr lang="en-US" sz="2300" dirty="0"/>
              <a:t>The web server process in turn issues a send operation that transmits data requested by the web browser process. At the end of the communication, each process issues a disconnect operation to terminate the connection.</a:t>
            </a:r>
          </a:p>
        </p:txBody>
      </p:sp>
      <p:sp>
        <p:nvSpPr>
          <p:cNvPr id="4" name="Slide Number Placeholder 3"/>
          <p:cNvSpPr>
            <a:spLocks noGrp="1"/>
          </p:cNvSpPr>
          <p:nvPr>
            <p:ph type="sldNum" sz="quarter" idx="12"/>
          </p:nvPr>
        </p:nvSpPr>
        <p:spPr/>
        <p:txBody>
          <a:bodyPr/>
          <a:lstStyle/>
          <a:p>
            <a:fld id="{7040D16D-0600-4D21-96E6-588F007D1AD6}" type="slidenum">
              <a:rPr lang="en-US" smtClean="0"/>
              <a:pPr/>
              <a:t>11</a:t>
            </a:fld>
            <a:endParaRPr lang="en-US"/>
          </a:p>
        </p:txBody>
      </p:sp>
      <p:sp>
        <p:nvSpPr>
          <p:cNvPr id="5" name="Footer Placeholder 4"/>
          <p:cNvSpPr>
            <a:spLocks noGrp="1"/>
          </p:cNvSpPr>
          <p:nvPr>
            <p:ph type="ftr" sz="quarter" idx="11"/>
          </p:nvPr>
        </p:nvSpPr>
        <p:spPr/>
        <p:txBody>
          <a:bodyPr/>
          <a:lstStyle/>
          <a:p>
            <a:r>
              <a:rPr lang="en-US"/>
              <a:t>Asst. Professor Riddhi Joshi</a:t>
            </a:r>
          </a:p>
        </p:txBody>
      </p:sp>
      <p:sp>
        <p:nvSpPr>
          <p:cNvPr id="7" name="Title 1"/>
          <p:cNvSpPr txBox="1">
            <a:spLocks/>
          </p:cNvSpPr>
          <p:nvPr/>
        </p:nvSpPr>
        <p:spPr>
          <a:xfrm>
            <a:off x="1447800" y="46038"/>
            <a:ext cx="7239000" cy="63976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uLnTx/>
                <a:uFillTx/>
                <a:latin typeface="+mn-lt"/>
                <a:ea typeface="+mn-ea"/>
                <a:cs typeface="+mn-cs"/>
              </a:rPr>
              <a:t>2.1 An Archetypal IPC Program Interface</a:t>
            </a:r>
            <a:endParaRPr kumimoji="0" lang="en-US" sz="2600" b="1" i="0" u="none" strike="noStrike" kern="1200" cap="none" spc="0" normalizeH="0" baseline="0" noProof="0" dirty="0">
              <a:ln>
                <a:noFill/>
              </a:ln>
              <a:solidFill>
                <a:schemeClr val="lt1"/>
              </a:solidFill>
              <a:effectLst/>
              <a:uLnTx/>
              <a:uFillTx/>
              <a:latin typeface="+mn-lt"/>
              <a:ea typeface="+mn-ea"/>
              <a:cs typeface="+mn-cs"/>
            </a:endParaRPr>
          </a:p>
        </p:txBody>
      </p:sp>
      <p:pic>
        <p:nvPicPr>
          <p:cNvPr id="8" name="Picture 2" descr="F:\General Data\general sub data\animated images\New Folder\figure_running_letter_sm_wm.gif"/>
          <p:cNvPicPr>
            <a:picLocks noChangeAspect="1" noChangeArrowheads="1" noCrop="1"/>
          </p:cNvPicPr>
          <p:nvPr/>
        </p:nvPicPr>
        <p:blipFill>
          <a:blip r:embed="rId2"/>
          <a:srcRect/>
          <a:stretch>
            <a:fillRect/>
          </a:stretch>
        </p:blipFill>
        <p:spPr bwMode="auto">
          <a:xfrm>
            <a:off x="95250" y="0"/>
            <a:ext cx="1047750" cy="1047750"/>
          </a:xfrm>
          <a:prstGeom prst="rect">
            <a:avLst/>
          </a:prstGeom>
          <a:noFill/>
        </p:spPr>
      </p:pic>
      <p:pic>
        <p:nvPicPr>
          <p:cNvPr id="9" name="Picture 2" descr="F:\General Data\general sub data\animated images\gp image\5027341-blue-crystal-earth-showing-north-and-south-america.jpg"/>
          <p:cNvPicPr>
            <a:picLocks noChangeAspect="1" noChangeArrowheads="1"/>
          </p:cNvPicPr>
          <p:nvPr/>
        </p:nvPicPr>
        <p:blipFill>
          <a:blip r:embed="rId3" cstate="print"/>
          <a:srcRect/>
          <a:stretch>
            <a:fillRect/>
          </a:stretch>
        </p:blipFill>
        <p:spPr bwMode="auto">
          <a:xfrm>
            <a:off x="0" y="5867400"/>
            <a:ext cx="990600" cy="990600"/>
          </a:xfrm>
          <a:prstGeom prst="ellipse">
            <a:avLst/>
          </a:prstGeom>
          <a:ln>
            <a:noFill/>
          </a:ln>
          <a:effectLst>
            <a:softEdge rad="11250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38400" y="990600"/>
            <a:ext cx="4191000" cy="10668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5" name="Rectangle 4"/>
          <p:cNvSpPr/>
          <p:nvPr/>
        </p:nvSpPr>
        <p:spPr>
          <a:xfrm>
            <a:off x="2793642" y="4114800"/>
            <a:ext cx="3581400" cy="1066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6" name="TextBox 5"/>
          <p:cNvSpPr txBox="1"/>
          <p:nvPr/>
        </p:nvSpPr>
        <p:spPr>
          <a:xfrm>
            <a:off x="2819400" y="1295400"/>
            <a:ext cx="3352800" cy="369332"/>
          </a:xfrm>
          <a:prstGeom prst="rect">
            <a:avLst/>
          </a:prstGeom>
          <a:noFill/>
        </p:spPr>
        <p:txBody>
          <a:bodyPr wrap="square" rtlCol="0">
            <a:spAutoFit/>
          </a:bodyPr>
          <a:lstStyle/>
          <a:p>
            <a:pPr algn="ctr"/>
            <a:r>
              <a:rPr lang="en-US" dirty="0"/>
              <a:t>Web Server</a:t>
            </a:r>
          </a:p>
        </p:txBody>
      </p:sp>
      <p:sp>
        <p:nvSpPr>
          <p:cNvPr id="7" name="TextBox 6"/>
          <p:cNvSpPr txBox="1"/>
          <p:nvPr/>
        </p:nvSpPr>
        <p:spPr>
          <a:xfrm>
            <a:off x="2895600" y="4495800"/>
            <a:ext cx="3352800" cy="369332"/>
          </a:xfrm>
          <a:prstGeom prst="rect">
            <a:avLst/>
          </a:prstGeom>
          <a:noFill/>
        </p:spPr>
        <p:txBody>
          <a:bodyPr wrap="square" rtlCol="0">
            <a:spAutoFit/>
          </a:bodyPr>
          <a:lstStyle/>
          <a:p>
            <a:pPr algn="ctr"/>
            <a:r>
              <a:rPr lang="en-US" dirty="0"/>
              <a:t>Web Browser</a:t>
            </a:r>
          </a:p>
        </p:txBody>
      </p:sp>
      <p:cxnSp>
        <p:nvCxnSpPr>
          <p:cNvPr id="9" name="Straight Arrow Connector 8"/>
          <p:cNvCxnSpPr/>
          <p:nvPr/>
        </p:nvCxnSpPr>
        <p:spPr>
          <a:xfrm rot="5400000" flipH="1" flipV="1">
            <a:off x="3163094" y="3085306"/>
            <a:ext cx="2057400" cy="158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1" name="Straight Arrow Connector 10"/>
          <p:cNvCxnSpPr/>
          <p:nvPr/>
        </p:nvCxnSpPr>
        <p:spPr>
          <a:xfrm rot="5400000">
            <a:off x="3848894" y="3085306"/>
            <a:ext cx="2057400" cy="158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Oval 11"/>
          <p:cNvSpPr/>
          <p:nvPr/>
        </p:nvSpPr>
        <p:spPr>
          <a:xfrm>
            <a:off x="2895600" y="3581400"/>
            <a:ext cx="533400"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p:cNvSpPr txBox="1"/>
          <p:nvPr/>
        </p:nvSpPr>
        <p:spPr>
          <a:xfrm>
            <a:off x="2971800" y="3657600"/>
            <a:ext cx="381000" cy="307777"/>
          </a:xfrm>
          <a:prstGeom prst="rect">
            <a:avLst/>
          </a:prstGeom>
          <a:noFill/>
        </p:spPr>
        <p:txBody>
          <a:bodyPr wrap="square" rtlCol="0">
            <a:spAutoFit/>
          </a:bodyPr>
          <a:lstStyle/>
          <a:p>
            <a:r>
              <a:rPr lang="en-US" sz="1400" dirty="0"/>
              <a:t>C1</a:t>
            </a:r>
          </a:p>
        </p:txBody>
      </p:sp>
      <p:sp>
        <p:nvSpPr>
          <p:cNvPr id="14" name="Oval 13"/>
          <p:cNvSpPr/>
          <p:nvPr/>
        </p:nvSpPr>
        <p:spPr>
          <a:xfrm>
            <a:off x="3538467" y="3581400"/>
            <a:ext cx="533400"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p:cNvSpPr txBox="1"/>
          <p:nvPr/>
        </p:nvSpPr>
        <p:spPr>
          <a:xfrm>
            <a:off x="3614667" y="3657600"/>
            <a:ext cx="381000" cy="307777"/>
          </a:xfrm>
          <a:prstGeom prst="rect">
            <a:avLst/>
          </a:prstGeom>
          <a:noFill/>
        </p:spPr>
        <p:txBody>
          <a:bodyPr wrap="square" rtlCol="0">
            <a:spAutoFit/>
          </a:bodyPr>
          <a:lstStyle/>
          <a:p>
            <a:r>
              <a:rPr lang="en-US" sz="1400" dirty="0"/>
              <a:t>C2</a:t>
            </a:r>
          </a:p>
        </p:txBody>
      </p:sp>
      <p:sp>
        <p:nvSpPr>
          <p:cNvPr id="16" name="Oval 15"/>
          <p:cNvSpPr/>
          <p:nvPr/>
        </p:nvSpPr>
        <p:spPr>
          <a:xfrm>
            <a:off x="5034570" y="3580326"/>
            <a:ext cx="533400"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TextBox 16"/>
          <p:cNvSpPr txBox="1"/>
          <p:nvPr/>
        </p:nvSpPr>
        <p:spPr>
          <a:xfrm>
            <a:off x="5110770" y="3656526"/>
            <a:ext cx="381000" cy="307777"/>
          </a:xfrm>
          <a:prstGeom prst="rect">
            <a:avLst/>
          </a:prstGeom>
          <a:noFill/>
        </p:spPr>
        <p:txBody>
          <a:bodyPr wrap="square" rtlCol="0">
            <a:spAutoFit/>
          </a:bodyPr>
          <a:lstStyle/>
          <a:p>
            <a:r>
              <a:rPr lang="en-US" sz="1400" dirty="0"/>
              <a:t>C3</a:t>
            </a:r>
          </a:p>
        </p:txBody>
      </p:sp>
      <p:sp>
        <p:nvSpPr>
          <p:cNvPr id="18" name="Oval 17"/>
          <p:cNvSpPr/>
          <p:nvPr/>
        </p:nvSpPr>
        <p:spPr>
          <a:xfrm>
            <a:off x="5661336" y="3593205"/>
            <a:ext cx="533400"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9" name="TextBox 18"/>
          <p:cNvSpPr txBox="1"/>
          <p:nvPr/>
        </p:nvSpPr>
        <p:spPr>
          <a:xfrm>
            <a:off x="5737536" y="3669405"/>
            <a:ext cx="381000" cy="307777"/>
          </a:xfrm>
          <a:prstGeom prst="rect">
            <a:avLst/>
          </a:prstGeom>
          <a:noFill/>
        </p:spPr>
        <p:txBody>
          <a:bodyPr wrap="square" rtlCol="0">
            <a:spAutoFit/>
          </a:bodyPr>
          <a:lstStyle/>
          <a:p>
            <a:r>
              <a:rPr lang="en-US" sz="1400" dirty="0"/>
              <a:t>C4</a:t>
            </a:r>
          </a:p>
        </p:txBody>
      </p:sp>
      <p:sp>
        <p:nvSpPr>
          <p:cNvPr id="20" name="Oval 19"/>
          <p:cNvSpPr/>
          <p:nvPr/>
        </p:nvSpPr>
        <p:spPr>
          <a:xfrm>
            <a:off x="2803299" y="2123925"/>
            <a:ext cx="533400"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1" name="TextBox 20"/>
          <p:cNvSpPr txBox="1"/>
          <p:nvPr/>
        </p:nvSpPr>
        <p:spPr>
          <a:xfrm>
            <a:off x="2879499" y="2200125"/>
            <a:ext cx="381000" cy="307777"/>
          </a:xfrm>
          <a:prstGeom prst="rect">
            <a:avLst/>
          </a:prstGeom>
          <a:noFill/>
        </p:spPr>
        <p:txBody>
          <a:bodyPr wrap="square" rtlCol="0">
            <a:spAutoFit/>
          </a:bodyPr>
          <a:lstStyle/>
          <a:p>
            <a:r>
              <a:rPr lang="en-US" sz="1400" dirty="0"/>
              <a:t>S1</a:t>
            </a:r>
          </a:p>
        </p:txBody>
      </p:sp>
      <p:sp>
        <p:nvSpPr>
          <p:cNvPr id="22" name="Oval 21"/>
          <p:cNvSpPr/>
          <p:nvPr/>
        </p:nvSpPr>
        <p:spPr>
          <a:xfrm>
            <a:off x="3483738" y="2134656"/>
            <a:ext cx="533400"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3" name="TextBox 22"/>
          <p:cNvSpPr txBox="1"/>
          <p:nvPr/>
        </p:nvSpPr>
        <p:spPr>
          <a:xfrm>
            <a:off x="3559938" y="2210856"/>
            <a:ext cx="381000" cy="307777"/>
          </a:xfrm>
          <a:prstGeom prst="rect">
            <a:avLst/>
          </a:prstGeom>
          <a:noFill/>
        </p:spPr>
        <p:txBody>
          <a:bodyPr wrap="square" rtlCol="0">
            <a:spAutoFit/>
          </a:bodyPr>
          <a:lstStyle/>
          <a:p>
            <a:r>
              <a:rPr lang="en-US" sz="1400" dirty="0"/>
              <a:t>S2</a:t>
            </a:r>
          </a:p>
        </p:txBody>
      </p:sp>
      <p:sp>
        <p:nvSpPr>
          <p:cNvPr id="24" name="Oval 23"/>
          <p:cNvSpPr/>
          <p:nvPr/>
        </p:nvSpPr>
        <p:spPr>
          <a:xfrm>
            <a:off x="4988433" y="2145387"/>
            <a:ext cx="533400"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5" name="TextBox 24"/>
          <p:cNvSpPr txBox="1"/>
          <p:nvPr/>
        </p:nvSpPr>
        <p:spPr>
          <a:xfrm>
            <a:off x="5064633" y="2221587"/>
            <a:ext cx="381000" cy="307777"/>
          </a:xfrm>
          <a:prstGeom prst="rect">
            <a:avLst/>
          </a:prstGeom>
          <a:noFill/>
        </p:spPr>
        <p:txBody>
          <a:bodyPr wrap="square" rtlCol="0">
            <a:spAutoFit/>
          </a:bodyPr>
          <a:lstStyle/>
          <a:p>
            <a:r>
              <a:rPr lang="en-US" sz="1400" dirty="0"/>
              <a:t>S3</a:t>
            </a:r>
          </a:p>
        </p:txBody>
      </p:sp>
      <p:sp>
        <p:nvSpPr>
          <p:cNvPr id="26" name="Oval 25"/>
          <p:cNvSpPr/>
          <p:nvPr/>
        </p:nvSpPr>
        <p:spPr>
          <a:xfrm>
            <a:off x="5660289" y="2147535"/>
            <a:ext cx="533400"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7" name="TextBox 26"/>
          <p:cNvSpPr txBox="1"/>
          <p:nvPr/>
        </p:nvSpPr>
        <p:spPr>
          <a:xfrm>
            <a:off x="5736489" y="2223735"/>
            <a:ext cx="381000" cy="307777"/>
          </a:xfrm>
          <a:prstGeom prst="rect">
            <a:avLst/>
          </a:prstGeom>
          <a:noFill/>
        </p:spPr>
        <p:txBody>
          <a:bodyPr wrap="square" rtlCol="0">
            <a:spAutoFit/>
          </a:bodyPr>
          <a:lstStyle/>
          <a:p>
            <a:r>
              <a:rPr lang="en-US" sz="1400" dirty="0"/>
              <a:t>S4</a:t>
            </a:r>
          </a:p>
        </p:txBody>
      </p:sp>
      <p:sp>
        <p:nvSpPr>
          <p:cNvPr id="28" name="TextBox 27"/>
          <p:cNvSpPr txBox="1"/>
          <p:nvPr/>
        </p:nvSpPr>
        <p:spPr>
          <a:xfrm>
            <a:off x="2514600" y="2895600"/>
            <a:ext cx="1524000" cy="307777"/>
          </a:xfrm>
          <a:prstGeom prst="rect">
            <a:avLst/>
          </a:prstGeom>
          <a:noFill/>
        </p:spPr>
        <p:txBody>
          <a:bodyPr wrap="square" rtlCol="0">
            <a:spAutoFit/>
          </a:bodyPr>
          <a:lstStyle/>
          <a:p>
            <a:pPr algn="ctr"/>
            <a:r>
              <a:rPr lang="en-US" sz="1400" dirty="0"/>
              <a:t>HTTP Request</a:t>
            </a:r>
          </a:p>
        </p:txBody>
      </p:sp>
      <p:sp>
        <p:nvSpPr>
          <p:cNvPr id="29" name="TextBox 28"/>
          <p:cNvSpPr txBox="1"/>
          <p:nvPr/>
        </p:nvSpPr>
        <p:spPr>
          <a:xfrm>
            <a:off x="5029200" y="2892623"/>
            <a:ext cx="1524000" cy="307777"/>
          </a:xfrm>
          <a:prstGeom prst="rect">
            <a:avLst/>
          </a:prstGeom>
          <a:noFill/>
        </p:spPr>
        <p:txBody>
          <a:bodyPr wrap="square" rtlCol="0">
            <a:spAutoFit/>
          </a:bodyPr>
          <a:lstStyle/>
          <a:p>
            <a:pPr algn="ctr"/>
            <a:r>
              <a:rPr lang="en-US" sz="1400" dirty="0"/>
              <a:t>HTTP Response</a:t>
            </a:r>
          </a:p>
        </p:txBody>
      </p:sp>
      <p:sp>
        <p:nvSpPr>
          <p:cNvPr id="31" name="TextBox 30"/>
          <p:cNvSpPr txBox="1"/>
          <p:nvPr/>
        </p:nvSpPr>
        <p:spPr>
          <a:xfrm>
            <a:off x="2590800" y="5562600"/>
            <a:ext cx="4038600"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dirty="0"/>
              <a:t>Interprocess communication in basic HTTP</a:t>
            </a:r>
          </a:p>
        </p:txBody>
      </p:sp>
      <p:sp>
        <p:nvSpPr>
          <p:cNvPr id="32" name="Oval 31"/>
          <p:cNvSpPr/>
          <p:nvPr/>
        </p:nvSpPr>
        <p:spPr>
          <a:xfrm>
            <a:off x="228600" y="2743200"/>
            <a:ext cx="533400"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3" name="TextBox 32"/>
          <p:cNvSpPr txBox="1"/>
          <p:nvPr/>
        </p:nvSpPr>
        <p:spPr>
          <a:xfrm>
            <a:off x="914400" y="2819401"/>
            <a:ext cx="1143000" cy="304800"/>
          </a:xfrm>
          <a:prstGeom prst="rect">
            <a:avLst/>
          </a:prstGeom>
          <a:noFill/>
        </p:spPr>
        <p:txBody>
          <a:bodyPr wrap="square" rtlCol="0">
            <a:spAutoFit/>
          </a:bodyPr>
          <a:lstStyle/>
          <a:p>
            <a:r>
              <a:rPr lang="en-US" sz="1400" dirty="0"/>
              <a:t>An Operation</a:t>
            </a:r>
          </a:p>
        </p:txBody>
      </p:sp>
      <p:sp>
        <p:nvSpPr>
          <p:cNvPr id="34" name="Rectangle 33"/>
          <p:cNvSpPr/>
          <p:nvPr/>
        </p:nvSpPr>
        <p:spPr>
          <a:xfrm>
            <a:off x="228600" y="2209800"/>
            <a:ext cx="609600" cy="304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5" name="TextBox 34"/>
          <p:cNvSpPr txBox="1"/>
          <p:nvPr/>
        </p:nvSpPr>
        <p:spPr>
          <a:xfrm>
            <a:off x="990600" y="2209800"/>
            <a:ext cx="1143000" cy="307777"/>
          </a:xfrm>
          <a:prstGeom prst="rect">
            <a:avLst/>
          </a:prstGeom>
          <a:noFill/>
        </p:spPr>
        <p:txBody>
          <a:bodyPr wrap="square" rtlCol="0">
            <a:spAutoFit/>
          </a:bodyPr>
          <a:lstStyle/>
          <a:p>
            <a:r>
              <a:rPr lang="en-US" sz="1400" dirty="0"/>
              <a:t>A Process</a:t>
            </a:r>
          </a:p>
        </p:txBody>
      </p:sp>
      <p:cxnSp>
        <p:nvCxnSpPr>
          <p:cNvPr id="37" name="Straight Arrow Connector 36"/>
          <p:cNvCxnSpPr/>
          <p:nvPr/>
        </p:nvCxnSpPr>
        <p:spPr>
          <a:xfrm>
            <a:off x="228600" y="3581400"/>
            <a:ext cx="6096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8" name="TextBox 37"/>
          <p:cNvSpPr txBox="1"/>
          <p:nvPr/>
        </p:nvSpPr>
        <p:spPr>
          <a:xfrm>
            <a:off x="990600" y="3429000"/>
            <a:ext cx="1143000" cy="304800"/>
          </a:xfrm>
          <a:prstGeom prst="rect">
            <a:avLst/>
          </a:prstGeom>
          <a:noFill/>
        </p:spPr>
        <p:txBody>
          <a:bodyPr wrap="square" rtlCol="0">
            <a:spAutoFit/>
          </a:bodyPr>
          <a:lstStyle/>
          <a:p>
            <a:r>
              <a:rPr lang="en-US" sz="1400" dirty="0"/>
              <a:t>Data Flow</a:t>
            </a:r>
          </a:p>
        </p:txBody>
      </p:sp>
      <p:sp>
        <p:nvSpPr>
          <p:cNvPr id="39" name="TextBox 38"/>
          <p:cNvSpPr txBox="1"/>
          <p:nvPr/>
        </p:nvSpPr>
        <p:spPr>
          <a:xfrm>
            <a:off x="6781800" y="2133600"/>
            <a:ext cx="1905000" cy="32766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t>Operations:</a:t>
            </a:r>
          </a:p>
          <a:p>
            <a:endParaRPr lang="en-US" sz="1600" dirty="0"/>
          </a:p>
          <a:p>
            <a:r>
              <a:rPr lang="en-US" sz="1600" dirty="0"/>
              <a:t>S1: accept connection</a:t>
            </a:r>
          </a:p>
          <a:p>
            <a:r>
              <a:rPr lang="en-US" sz="1600" dirty="0"/>
              <a:t>S2: receive (request)</a:t>
            </a:r>
          </a:p>
          <a:p>
            <a:r>
              <a:rPr lang="en-US" sz="1600" dirty="0"/>
              <a:t>S3: Send (response)</a:t>
            </a:r>
          </a:p>
          <a:p>
            <a:r>
              <a:rPr lang="en-US" sz="1600" dirty="0"/>
              <a:t>S4: disconnect</a:t>
            </a:r>
          </a:p>
          <a:p>
            <a:r>
              <a:rPr lang="en-US" sz="1600" dirty="0"/>
              <a:t>C1: make connection</a:t>
            </a:r>
          </a:p>
          <a:p>
            <a:r>
              <a:rPr lang="en-US" sz="1600" dirty="0"/>
              <a:t>C2: send (request)</a:t>
            </a:r>
          </a:p>
          <a:p>
            <a:r>
              <a:rPr lang="en-US" sz="1600" dirty="0"/>
              <a:t>C3: receive (response)</a:t>
            </a:r>
          </a:p>
          <a:p>
            <a:r>
              <a:rPr lang="en-US" sz="1600" dirty="0"/>
              <a:t>C4: disconnect</a:t>
            </a:r>
          </a:p>
        </p:txBody>
      </p:sp>
      <p:sp>
        <p:nvSpPr>
          <p:cNvPr id="36" name="Slide Number Placeholder 35"/>
          <p:cNvSpPr>
            <a:spLocks noGrp="1"/>
          </p:cNvSpPr>
          <p:nvPr>
            <p:ph type="sldNum" sz="quarter" idx="12"/>
          </p:nvPr>
        </p:nvSpPr>
        <p:spPr/>
        <p:txBody>
          <a:bodyPr/>
          <a:lstStyle/>
          <a:p>
            <a:fld id="{7040D16D-0600-4D21-96E6-588F007D1AD6}" type="slidenum">
              <a:rPr lang="en-US" smtClean="0"/>
              <a:pPr/>
              <a:t>12</a:t>
            </a:fld>
            <a:endParaRPr lang="en-US"/>
          </a:p>
        </p:txBody>
      </p:sp>
      <p:sp>
        <p:nvSpPr>
          <p:cNvPr id="40" name="Footer Placeholder 39"/>
          <p:cNvSpPr>
            <a:spLocks noGrp="1"/>
          </p:cNvSpPr>
          <p:nvPr>
            <p:ph type="ftr" sz="quarter" idx="11"/>
          </p:nvPr>
        </p:nvSpPr>
        <p:spPr/>
        <p:txBody>
          <a:bodyPr/>
          <a:lstStyle/>
          <a:p>
            <a:r>
              <a:rPr lang="en-US"/>
              <a:t>Asst. Professor Riddhi Joshi</a:t>
            </a:r>
          </a:p>
        </p:txBody>
      </p:sp>
      <p:pic>
        <p:nvPicPr>
          <p:cNvPr id="41"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42" name="Title 1"/>
          <p:cNvSpPr>
            <a:spLocks noGrp="1"/>
          </p:cNvSpPr>
          <p:nvPr>
            <p:ph type="title"/>
          </p:nvPr>
        </p:nvSpPr>
        <p:spPr>
          <a:xfrm>
            <a:off x="1447800" y="46038"/>
            <a:ext cx="7239000" cy="639762"/>
          </a:xfrm>
        </p:spPr>
        <p:style>
          <a:lnRef idx="3">
            <a:schemeClr val="lt1"/>
          </a:lnRef>
          <a:fillRef idx="1">
            <a:schemeClr val="accent1"/>
          </a:fillRef>
          <a:effectRef idx="1">
            <a:schemeClr val="accent1"/>
          </a:effectRef>
          <a:fontRef idx="minor">
            <a:schemeClr val="lt1"/>
          </a:fontRef>
        </p:style>
        <p:txBody>
          <a:bodyPr>
            <a:normAutofit/>
          </a:bodyPr>
          <a:lstStyle/>
          <a:p>
            <a:r>
              <a:rPr lang="en-US" sz="2600" b="1" dirty="0"/>
              <a:t>2.1 An Archetypal IPC Program Interface</a:t>
            </a:r>
          </a:p>
        </p:txBody>
      </p:sp>
      <p:pic>
        <p:nvPicPr>
          <p:cNvPr id="43" name="Picture 2" descr="F:\General Data\general sub data\animated images\New Folder\figure_running_letter_sm_wm.gif"/>
          <p:cNvPicPr>
            <a:picLocks noChangeAspect="1" noChangeArrowheads="1" noCrop="1"/>
          </p:cNvPicPr>
          <p:nvPr/>
        </p:nvPicPr>
        <p:blipFill>
          <a:blip r:embed="rId3"/>
          <a:srcRect/>
          <a:stretch>
            <a:fillRect/>
          </a:stretch>
        </p:blipFill>
        <p:spPr bwMode="auto">
          <a:xfrm>
            <a:off x="95250" y="76200"/>
            <a:ext cx="1047750" cy="104775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152400" y="1371600"/>
            <a:ext cx="8763000" cy="36576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r>
              <a:rPr lang="en-US" sz="2200" b="1" dirty="0">
                <a:solidFill>
                  <a:srgbClr val="0070C0"/>
                </a:solidFill>
                <a:latin typeface="Cambria" pitchFamily="18" charset="0"/>
                <a:cs typeface="Aharoni" pitchFamily="2" charset="-79"/>
              </a:rPr>
              <a:t> </a:t>
            </a:r>
            <a:r>
              <a:rPr lang="en-US" sz="2200" dirty="0">
                <a:solidFill>
                  <a:schemeClr val="tx1"/>
                </a:solidFill>
                <a:latin typeface="Cambria" pitchFamily="18" charset="0"/>
                <a:cs typeface="Aharoni" pitchFamily="2" charset="-79"/>
              </a:rPr>
              <a:t>2.1 An Archetypal IPC Program Interface</a:t>
            </a:r>
          </a:p>
          <a:p>
            <a:r>
              <a:rPr lang="en-US" sz="2200" b="1" dirty="0">
                <a:solidFill>
                  <a:srgbClr val="0070C0"/>
                </a:solidFill>
                <a:latin typeface="Cambria" pitchFamily="18" charset="0"/>
                <a:cs typeface="Aharoni" pitchFamily="2" charset="-79"/>
              </a:rPr>
              <a:t>      2.2 Event Synchronization</a:t>
            </a:r>
          </a:p>
          <a:p>
            <a:r>
              <a:rPr lang="en-US" sz="2200" dirty="0">
                <a:latin typeface="Cambria" pitchFamily="18" charset="0"/>
                <a:cs typeface="Aharoni" pitchFamily="2" charset="-79"/>
              </a:rPr>
              <a:t>2.3 Timeouts and Threading</a:t>
            </a:r>
          </a:p>
          <a:p>
            <a:r>
              <a:rPr lang="en-US" sz="2200" dirty="0">
                <a:latin typeface="Cambria" pitchFamily="18" charset="0"/>
                <a:cs typeface="Aharoni" pitchFamily="2" charset="-79"/>
              </a:rPr>
              <a:t>2.4 Deadlocks and Timeouts</a:t>
            </a:r>
          </a:p>
          <a:p>
            <a:r>
              <a:rPr lang="en-US" sz="2200" dirty="0">
                <a:latin typeface="Cambria" pitchFamily="18" charset="0"/>
                <a:cs typeface="Aharoni" pitchFamily="2" charset="-79"/>
              </a:rPr>
              <a:t>2.5 Data Representation</a:t>
            </a:r>
          </a:p>
          <a:p>
            <a:r>
              <a:rPr lang="en-US" sz="2200" dirty="0">
                <a:latin typeface="Cambria" pitchFamily="18" charset="0"/>
                <a:cs typeface="Aharoni" pitchFamily="2" charset="-79"/>
              </a:rPr>
              <a:t>2.6 Data Encoding</a:t>
            </a:r>
          </a:p>
          <a:p>
            <a:r>
              <a:rPr lang="en-US" sz="2200" dirty="0">
                <a:latin typeface="Cambria" pitchFamily="18" charset="0"/>
                <a:cs typeface="Aharoni" pitchFamily="2" charset="-79"/>
              </a:rPr>
              <a:t>2.7 Text Based Protocol</a:t>
            </a:r>
          </a:p>
          <a:p>
            <a:r>
              <a:rPr lang="en-US" sz="2200" dirty="0">
                <a:latin typeface="Cambria" pitchFamily="18" charset="0"/>
                <a:cs typeface="Aharoni" pitchFamily="2" charset="-79"/>
              </a:rPr>
              <a:t>2.8 Request Response Protocol</a:t>
            </a:r>
          </a:p>
          <a:p>
            <a:r>
              <a:rPr lang="en-US" sz="2200" dirty="0">
                <a:latin typeface="Cambria" pitchFamily="18" charset="0"/>
                <a:cs typeface="Aharoni" pitchFamily="2" charset="-79"/>
              </a:rPr>
              <a:t>2.9 Event Diagram &amp; Sequence Diagram</a:t>
            </a:r>
          </a:p>
          <a:p>
            <a:r>
              <a:rPr lang="en-US" sz="2200" dirty="0">
                <a:latin typeface="Cambria" pitchFamily="18" charset="0"/>
                <a:cs typeface="Aharoni" pitchFamily="2" charset="-79"/>
              </a:rPr>
              <a:t>2.10 Connection Oriented  Vs. Connectionless IPC</a:t>
            </a:r>
          </a:p>
          <a:p>
            <a:endParaRPr lang="en-US" sz="2200" dirty="0">
              <a:latin typeface="Cambria" pitchFamily="18" charset="0"/>
              <a:cs typeface="Aharoni" pitchFamily="2" charset="-79"/>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endParaRPr kumimoji="0" lang="en-US" sz="2200" b="0" i="0" u="none" strike="noStrike" kern="1200" cap="none" spc="0" normalizeH="0" baseline="0" noProof="0" dirty="0">
              <a:ln>
                <a:noFill/>
              </a:ln>
              <a:solidFill>
                <a:schemeClr val="tx1"/>
              </a:solidFill>
              <a:effectLst/>
              <a:uLnTx/>
              <a:uFillTx/>
              <a:latin typeface="Cambria" pitchFamily="18" charset="0"/>
              <a:cs typeface="Aharoni" pitchFamily="2" charset="-79"/>
            </a:endParaRPr>
          </a:p>
        </p:txBody>
      </p:sp>
      <p:sp>
        <p:nvSpPr>
          <p:cNvPr id="5" name="TextBox 4"/>
          <p:cNvSpPr txBox="1"/>
          <p:nvPr/>
        </p:nvSpPr>
        <p:spPr>
          <a:xfrm>
            <a:off x="2514600" y="152400"/>
            <a:ext cx="4267200" cy="523875"/>
          </a:xfrm>
          <a:prstGeom prst="rect">
            <a:avLst/>
          </a:prstGeom>
        </p:spPr>
        <p:style>
          <a:lnRef idx="3">
            <a:schemeClr val="lt1"/>
          </a:lnRef>
          <a:fillRef idx="1">
            <a:schemeClr val="accent1"/>
          </a:fillRef>
          <a:effectRef idx="1">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6" name="Slide Number Placeholder 5"/>
          <p:cNvSpPr>
            <a:spLocks noGrp="1"/>
          </p:cNvSpPr>
          <p:nvPr>
            <p:ph type="sldNum" sz="quarter" idx="12"/>
          </p:nvPr>
        </p:nvSpPr>
        <p:spPr/>
        <p:txBody>
          <a:bodyPr/>
          <a:lstStyle/>
          <a:p>
            <a:fld id="{7040D16D-0600-4D21-96E6-588F007D1AD6}" type="slidenum">
              <a:rPr lang="en-US" smtClean="0"/>
              <a:pPr/>
              <a:t>13</a:t>
            </a:fld>
            <a:endParaRPr lang="en-US"/>
          </a:p>
        </p:txBody>
      </p:sp>
      <p:sp>
        <p:nvSpPr>
          <p:cNvPr id="7" name="Footer Placeholder 6"/>
          <p:cNvSpPr>
            <a:spLocks noGrp="1"/>
          </p:cNvSpPr>
          <p:nvPr>
            <p:ph type="ftr" sz="quarter" idx="11"/>
          </p:nvPr>
        </p:nvSpPr>
        <p:spPr/>
        <p:txBody>
          <a:bodyPr/>
          <a:lstStyle/>
          <a:p>
            <a:r>
              <a:rPr lang="en-US"/>
              <a:t>Asst. Professor Riddhi Joshi</a:t>
            </a:r>
          </a:p>
        </p:txBody>
      </p:sp>
      <p:pic>
        <p:nvPicPr>
          <p:cNvPr id="2051" name="Picture 3" descr="F:\General Data\general sub data\animated images\gp image\stick_figure_walking_reading_book_sm_wm.gif"/>
          <p:cNvPicPr>
            <a:picLocks noChangeAspect="1" noChangeArrowheads="1" noCrop="1"/>
          </p:cNvPicPr>
          <p:nvPr/>
        </p:nvPicPr>
        <p:blipFill>
          <a:blip r:embed="rId2"/>
          <a:srcRect/>
          <a:stretch>
            <a:fillRect/>
          </a:stretch>
        </p:blipFill>
        <p:spPr bwMode="auto">
          <a:xfrm>
            <a:off x="152400" y="95250"/>
            <a:ext cx="1447800" cy="1047750"/>
          </a:xfrm>
          <a:prstGeom prst="rect">
            <a:avLst/>
          </a:prstGeom>
          <a:noFill/>
        </p:spPr>
      </p:pic>
      <p:sp>
        <p:nvSpPr>
          <p:cNvPr id="8" name="Right Arrow 7"/>
          <p:cNvSpPr/>
          <p:nvPr/>
        </p:nvSpPr>
        <p:spPr>
          <a:xfrm>
            <a:off x="228600" y="18288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descr="F:\General Data\general sub data\animated images\gp image\5027341-blue-crystal-earth-showing-north-and-south-america.jpg"/>
          <p:cNvPicPr>
            <a:picLocks noChangeAspect="1" noChangeArrowheads="1"/>
          </p:cNvPicPr>
          <p:nvPr/>
        </p:nvPicPr>
        <p:blipFill>
          <a:blip r:embed="rId3"/>
          <a:srcRect/>
          <a:stretch>
            <a:fillRect/>
          </a:stretch>
        </p:blipFill>
        <p:spPr bwMode="auto">
          <a:xfrm>
            <a:off x="76200" y="5638800"/>
            <a:ext cx="1143000" cy="1143000"/>
          </a:xfrm>
          <a:prstGeom prst="ellipse">
            <a:avLst/>
          </a:prstGeom>
          <a:ln>
            <a:noFill/>
          </a:ln>
          <a:effectLst>
            <a:softEdge rad="112500"/>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style>
          <a:lnRef idx="3">
            <a:schemeClr val="lt1"/>
          </a:lnRef>
          <a:fillRef idx="1">
            <a:schemeClr val="accent1"/>
          </a:fillRef>
          <a:effectRef idx="1">
            <a:schemeClr val="accent1"/>
          </a:effectRef>
          <a:fontRef idx="minor">
            <a:schemeClr val="lt1"/>
          </a:fontRef>
        </p:style>
        <p:txBody>
          <a:bodyPr>
            <a:normAutofit/>
          </a:bodyPr>
          <a:lstStyle/>
          <a:p>
            <a:r>
              <a:rPr lang="en-US" sz="2600" b="1" dirty="0"/>
              <a:t>2.2 Event Synchronization</a:t>
            </a:r>
          </a:p>
        </p:txBody>
      </p:sp>
      <p:sp>
        <p:nvSpPr>
          <p:cNvPr id="3" name="Content Placeholder 2"/>
          <p:cNvSpPr>
            <a:spLocks noGrp="1"/>
          </p:cNvSpPr>
          <p:nvPr>
            <p:ph idx="1"/>
          </p:nvPr>
        </p:nvSpPr>
        <p:spPr>
          <a:xfrm>
            <a:off x="152400" y="762000"/>
            <a:ext cx="8839200" cy="4525963"/>
          </a:xfrm>
        </p:spPr>
        <p:style>
          <a:lnRef idx="2">
            <a:schemeClr val="accent1"/>
          </a:lnRef>
          <a:fillRef idx="1">
            <a:schemeClr val="lt1"/>
          </a:fillRef>
          <a:effectRef idx="0">
            <a:schemeClr val="accent1"/>
          </a:effectRef>
          <a:fontRef idx="minor">
            <a:schemeClr val="dk1"/>
          </a:fontRef>
        </p:style>
        <p:txBody>
          <a:bodyPr>
            <a:normAutofit/>
          </a:bodyPr>
          <a:lstStyle/>
          <a:p>
            <a:r>
              <a:rPr lang="en-US" sz="2200" dirty="0"/>
              <a:t>A main difficulty with IPC is that the processes involved execute independently with neither process knowing what takes place in the process at the other end.</a:t>
            </a:r>
          </a:p>
          <a:p>
            <a:r>
              <a:rPr lang="en-US" sz="2200" dirty="0"/>
              <a:t>Consider an example of HTTP, as described in above figure. </a:t>
            </a:r>
          </a:p>
          <a:p>
            <a:r>
              <a:rPr lang="en-US" sz="2200" dirty="0"/>
              <a:t>As you see two sides involve in the protocol must issue the IPC operations in a specific order. </a:t>
            </a:r>
          </a:p>
          <a:p>
            <a:r>
              <a:rPr lang="en-US" sz="2200" dirty="0"/>
              <a:t>For Example the browser must not issue the send operation until the connect operation has completed.</a:t>
            </a:r>
          </a:p>
          <a:p>
            <a:r>
              <a:rPr lang="en-US" sz="2200" dirty="0"/>
              <a:t>It is also important that web browser does not begin transmit the requested data until the browser process is ready to receive it.</a:t>
            </a:r>
          </a:p>
        </p:txBody>
      </p:sp>
      <p:sp>
        <p:nvSpPr>
          <p:cNvPr id="4" name="Slide Number Placeholder 3"/>
          <p:cNvSpPr>
            <a:spLocks noGrp="1"/>
          </p:cNvSpPr>
          <p:nvPr>
            <p:ph type="sldNum" sz="quarter" idx="12"/>
          </p:nvPr>
        </p:nvSpPr>
        <p:spPr/>
        <p:txBody>
          <a:bodyPr/>
          <a:lstStyle/>
          <a:p>
            <a:fld id="{7040D16D-0600-4D21-96E6-588F007D1AD6}" type="slidenum">
              <a:rPr lang="en-US" smtClean="0"/>
              <a:pPr/>
              <a:t>14</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8534400" cy="4800600"/>
          </a:xfrm>
        </p:spPr>
        <p:style>
          <a:lnRef idx="2">
            <a:schemeClr val="accent1"/>
          </a:lnRef>
          <a:fillRef idx="1">
            <a:schemeClr val="lt1"/>
          </a:fillRef>
          <a:effectRef idx="0">
            <a:schemeClr val="accent1"/>
          </a:effectRef>
          <a:fontRef idx="minor">
            <a:schemeClr val="dk1"/>
          </a:fontRef>
        </p:style>
        <p:txBody>
          <a:bodyPr>
            <a:normAutofit/>
          </a:bodyPr>
          <a:lstStyle/>
          <a:p>
            <a:r>
              <a:rPr lang="en-US" sz="2200" dirty="0"/>
              <a:t>The simplest way for an IPC facility to provide for event synchronization is using blocking which is the suspension of the execution of a process until an operation issued by the process has been completed.</a:t>
            </a:r>
          </a:p>
          <a:p>
            <a:r>
              <a:rPr lang="en-US" sz="2200" dirty="0"/>
              <a:t>During execution, the process is suspended after each blocking operation is issued. </a:t>
            </a:r>
          </a:p>
          <a:p>
            <a:r>
              <a:rPr lang="en-US" sz="2200" dirty="0"/>
              <a:t>The blocking is initiated by the IPC facility and the underlying operating system when a blocking will terminate subsequently when and if the operation is fulfilled, at which time the process is said to be unblocked. </a:t>
            </a:r>
          </a:p>
          <a:p>
            <a:r>
              <a:rPr lang="en-US" sz="2200" dirty="0"/>
              <a:t>An unblocked process transits to the ready state and will resume execution in time.</a:t>
            </a:r>
          </a:p>
          <a:p>
            <a:pPr>
              <a:buNone/>
            </a:pPr>
            <a:endParaRPr lang="en-US" sz="2200" dirty="0"/>
          </a:p>
        </p:txBody>
      </p:sp>
      <p:sp>
        <p:nvSpPr>
          <p:cNvPr id="4" name="Slide Number Placeholder 3"/>
          <p:cNvSpPr>
            <a:spLocks noGrp="1"/>
          </p:cNvSpPr>
          <p:nvPr>
            <p:ph type="sldNum" sz="quarter" idx="12"/>
          </p:nvPr>
        </p:nvSpPr>
        <p:spPr/>
        <p:txBody>
          <a:bodyPr/>
          <a:lstStyle/>
          <a:p>
            <a:fld id="{7040D16D-0600-4D21-96E6-588F007D1AD6}" type="slidenum">
              <a:rPr lang="en-US" smtClean="0"/>
              <a:pPr/>
              <a:t>15</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7" name="Title 1"/>
          <p:cNvSpPr txBox="1">
            <a:spLocks/>
          </p:cNvSpPr>
          <p:nvPr/>
        </p:nvSpPr>
        <p:spPr>
          <a:xfrm>
            <a:off x="457200" y="0"/>
            <a:ext cx="8229600" cy="63976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uLnTx/>
                <a:uFillTx/>
                <a:latin typeface="+mn-lt"/>
                <a:ea typeface="+mn-ea"/>
                <a:cs typeface="+mn-cs"/>
              </a:rPr>
              <a:t>2.2 Event Synchronization</a:t>
            </a:r>
            <a:endParaRPr kumimoji="0" lang="en-US" sz="2600" b="1"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686800" cy="4525963"/>
          </a:xfrm>
        </p:spPr>
        <p:style>
          <a:lnRef idx="2">
            <a:schemeClr val="accent1"/>
          </a:lnRef>
          <a:fillRef idx="1">
            <a:schemeClr val="lt1"/>
          </a:fillRef>
          <a:effectRef idx="0">
            <a:schemeClr val="accent1"/>
          </a:effectRef>
          <a:fontRef idx="minor">
            <a:schemeClr val="dk1"/>
          </a:fontRef>
        </p:style>
        <p:txBody>
          <a:bodyPr>
            <a:normAutofit/>
          </a:bodyPr>
          <a:lstStyle/>
          <a:p>
            <a:r>
              <a:rPr lang="en-US" sz="2200" dirty="0"/>
              <a:t>Blocking operations are also referred to as synchronous operations. Alternatively, IPC operations may be asynchronous or non-blocking operations. </a:t>
            </a:r>
          </a:p>
          <a:p>
            <a:r>
              <a:rPr lang="en-US" sz="2200" dirty="0"/>
              <a:t>An asynchronous operations issued by a process will not cause blocking and therefore the process is free to continue with its execution once the asynchronous operation is issued to the IPC facility.</a:t>
            </a:r>
          </a:p>
        </p:txBody>
      </p:sp>
      <p:sp>
        <p:nvSpPr>
          <p:cNvPr id="4" name="Slide Number Placeholder 3"/>
          <p:cNvSpPr>
            <a:spLocks noGrp="1"/>
          </p:cNvSpPr>
          <p:nvPr>
            <p:ph type="sldNum" sz="quarter" idx="12"/>
          </p:nvPr>
        </p:nvSpPr>
        <p:spPr/>
        <p:txBody>
          <a:bodyPr/>
          <a:lstStyle/>
          <a:p>
            <a:fld id="{7040D16D-0600-4D21-96E6-588F007D1AD6}" type="slidenum">
              <a:rPr lang="en-US" smtClean="0"/>
              <a:pPr/>
              <a:t>16</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7" name="Title 1"/>
          <p:cNvSpPr txBox="1">
            <a:spLocks/>
          </p:cNvSpPr>
          <p:nvPr/>
        </p:nvSpPr>
        <p:spPr>
          <a:xfrm>
            <a:off x="457200" y="0"/>
            <a:ext cx="8229600" cy="63976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uLnTx/>
                <a:uFillTx/>
                <a:latin typeface="+mn-lt"/>
                <a:ea typeface="+mn-ea"/>
                <a:cs typeface="+mn-cs"/>
              </a:rPr>
              <a:t>2.2 Event Synchronization</a:t>
            </a:r>
            <a:endParaRPr kumimoji="0" lang="en-US" sz="2600" b="1"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66800" y="1828800"/>
            <a:ext cx="2895600" cy="397031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a:t>
            </a:r>
          </a:p>
          <a:p>
            <a:pPr algn="ctr"/>
            <a:r>
              <a:rPr lang="en-US" dirty="0"/>
              <a:t>.</a:t>
            </a:r>
          </a:p>
          <a:p>
            <a:pPr algn="ctr"/>
            <a:r>
              <a:rPr lang="en-US" dirty="0"/>
              <a:t>.</a:t>
            </a:r>
          </a:p>
          <a:p>
            <a:pPr algn="ctr"/>
            <a:r>
              <a:rPr lang="en-US" dirty="0"/>
              <a:t>Connect to a web browser</a:t>
            </a:r>
          </a:p>
          <a:p>
            <a:pPr algn="ctr"/>
            <a:r>
              <a:rPr lang="en-US" dirty="0"/>
              <a:t>Send (Web Server, Request)</a:t>
            </a:r>
          </a:p>
          <a:p>
            <a:pPr algn="ctr"/>
            <a:r>
              <a:rPr lang="en-US" dirty="0"/>
              <a:t>.</a:t>
            </a:r>
          </a:p>
          <a:p>
            <a:pPr algn="ctr"/>
            <a:r>
              <a:rPr lang="en-US" dirty="0"/>
              <a:t>.</a:t>
            </a:r>
          </a:p>
          <a:p>
            <a:pPr algn="ctr"/>
            <a:r>
              <a:rPr lang="en-US" dirty="0"/>
              <a:t>.</a:t>
            </a:r>
          </a:p>
          <a:p>
            <a:pPr algn="ctr"/>
            <a:r>
              <a:rPr lang="en-US" dirty="0"/>
              <a:t>Receive (Web Server)</a:t>
            </a:r>
          </a:p>
          <a:p>
            <a:pPr algn="ctr"/>
            <a:r>
              <a:rPr lang="en-US" dirty="0"/>
              <a:t>Disconnect</a:t>
            </a:r>
          </a:p>
          <a:p>
            <a:pPr algn="ctr"/>
            <a:r>
              <a:rPr lang="en-US" dirty="0"/>
              <a:t>Process data received</a:t>
            </a:r>
          </a:p>
          <a:p>
            <a:pPr algn="ctr"/>
            <a:r>
              <a:rPr lang="en-US" dirty="0"/>
              <a:t>.</a:t>
            </a:r>
          </a:p>
          <a:p>
            <a:pPr algn="ctr"/>
            <a:r>
              <a:rPr lang="en-US" dirty="0"/>
              <a:t>.</a:t>
            </a:r>
          </a:p>
          <a:p>
            <a:pPr algn="ctr"/>
            <a:r>
              <a:rPr lang="en-US" dirty="0"/>
              <a:t>.</a:t>
            </a:r>
          </a:p>
        </p:txBody>
      </p:sp>
      <p:sp>
        <p:nvSpPr>
          <p:cNvPr id="6" name="TextBox 5"/>
          <p:cNvSpPr txBox="1"/>
          <p:nvPr/>
        </p:nvSpPr>
        <p:spPr>
          <a:xfrm>
            <a:off x="1066800" y="1371600"/>
            <a:ext cx="2971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Web Browser Program</a:t>
            </a:r>
          </a:p>
        </p:txBody>
      </p:sp>
      <p:sp>
        <p:nvSpPr>
          <p:cNvPr id="7" name="TextBox 6"/>
          <p:cNvSpPr txBox="1"/>
          <p:nvPr/>
        </p:nvSpPr>
        <p:spPr>
          <a:xfrm>
            <a:off x="4876800" y="1820882"/>
            <a:ext cx="2895600" cy="397031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a:t>
            </a:r>
          </a:p>
          <a:p>
            <a:pPr algn="ctr"/>
            <a:r>
              <a:rPr lang="en-US" dirty="0"/>
              <a:t>.</a:t>
            </a:r>
          </a:p>
          <a:p>
            <a:pPr algn="ctr"/>
            <a:r>
              <a:rPr lang="en-US" dirty="0"/>
              <a:t>.</a:t>
            </a:r>
          </a:p>
          <a:p>
            <a:pPr algn="ctr"/>
            <a:r>
              <a:rPr lang="en-US" dirty="0"/>
              <a:t>Accept a connection</a:t>
            </a:r>
          </a:p>
          <a:p>
            <a:pPr algn="ctr"/>
            <a:r>
              <a:rPr lang="en-US" dirty="0"/>
              <a:t>Receive (Web Browser Process)</a:t>
            </a:r>
          </a:p>
          <a:p>
            <a:pPr algn="ctr"/>
            <a:r>
              <a:rPr lang="en-US" dirty="0"/>
              <a:t>Process Data received</a:t>
            </a:r>
          </a:p>
          <a:p>
            <a:pPr algn="ctr"/>
            <a:r>
              <a:rPr lang="en-US" dirty="0"/>
              <a:t>Send (Web Browser Process)</a:t>
            </a:r>
          </a:p>
          <a:p>
            <a:pPr algn="ctr"/>
            <a:r>
              <a:rPr lang="en-US" dirty="0"/>
              <a:t>.</a:t>
            </a:r>
          </a:p>
          <a:p>
            <a:pPr algn="ctr"/>
            <a:r>
              <a:rPr lang="en-US" dirty="0"/>
              <a:t>.</a:t>
            </a:r>
          </a:p>
          <a:p>
            <a:pPr algn="ctr"/>
            <a:r>
              <a:rPr lang="en-US" dirty="0"/>
              <a:t>.</a:t>
            </a:r>
          </a:p>
          <a:p>
            <a:pPr algn="ctr"/>
            <a:r>
              <a:rPr lang="en-US" dirty="0"/>
              <a:t>.</a:t>
            </a:r>
          </a:p>
          <a:p>
            <a:pPr algn="ctr"/>
            <a:r>
              <a:rPr lang="en-US" dirty="0"/>
              <a:t>.</a:t>
            </a:r>
          </a:p>
          <a:p>
            <a:pPr algn="ctr"/>
            <a:r>
              <a:rPr lang="en-US" dirty="0"/>
              <a:t>.</a:t>
            </a:r>
          </a:p>
          <a:p>
            <a:pPr algn="ctr"/>
            <a:endParaRPr lang="en-US" dirty="0"/>
          </a:p>
        </p:txBody>
      </p:sp>
      <p:sp>
        <p:nvSpPr>
          <p:cNvPr id="8" name="TextBox 7"/>
          <p:cNvSpPr txBox="1"/>
          <p:nvPr/>
        </p:nvSpPr>
        <p:spPr>
          <a:xfrm>
            <a:off x="4876800" y="1363682"/>
            <a:ext cx="2971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Web Server Program</a:t>
            </a:r>
          </a:p>
        </p:txBody>
      </p:sp>
      <p:sp>
        <p:nvSpPr>
          <p:cNvPr id="9" name="TextBox 8"/>
          <p:cNvSpPr txBox="1"/>
          <p:nvPr/>
        </p:nvSpPr>
        <p:spPr>
          <a:xfrm>
            <a:off x="1981200" y="5943600"/>
            <a:ext cx="4953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dirty="0"/>
              <a:t>Program flow in two program involved in IPC</a:t>
            </a:r>
          </a:p>
        </p:txBody>
      </p:sp>
      <p:sp>
        <p:nvSpPr>
          <p:cNvPr id="10" name="Slide Number Placeholder 9"/>
          <p:cNvSpPr>
            <a:spLocks noGrp="1"/>
          </p:cNvSpPr>
          <p:nvPr>
            <p:ph type="sldNum" sz="quarter" idx="12"/>
          </p:nvPr>
        </p:nvSpPr>
        <p:spPr/>
        <p:txBody>
          <a:bodyPr/>
          <a:lstStyle/>
          <a:p>
            <a:fld id="{7040D16D-0600-4D21-96E6-588F007D1AD6}" type="slidenum">
              <a:rPr lang="en-US" smtClean="0"/>
              <a:pPr/>
              <a:t>17</a:t>
            </a:fld>
            <a:endParaRPr lang="en-US"/>
          </a:p>
        </p:txBody>
      </p:sp>
      <p:sp>
        <p:nvSpPr>
          <p:cNvPr id="11" name="Footer Placeholder 10"/>
          <p:cNvSpPr>
            <a:spLocks noGrp="1"/>
          </p:cNvSpPr>
          <p:nvPr>
            <p:ph type="ftr" sz="quarter" idx="11"/>
          </p:nvPr>
        </p:nvSpPr>
        <p:spPr/>
        <p:txBody>
          <a:bodyPr/>
          <a:lstStyle/>
          <a:p>
            <a:r>
              <a:rPr lang="en-US"/>
              <a:t>Asst. Professor Riddhi Joshi</a:t>
            </a:r>
          </a:p>
        </p:txBody>
      </p:sp>
      <p:pic>
        <p:nvPicPr>
          <p:cNvPr id="12"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13" name="Title 1"/>
          <p:cNvSpPr txBox="1">
            <a:spLocks/>
          </p:cNvSpPr>
          <p:nvPr/>
        </p:nvSpPr>
        <p:spPr>
          <a:xfrm>
            <a:off x="457200" y="0"/>
            <a:ext cx="8229600" cy="63976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uLnTx/>
                <a:uFillTx/>
                <a:latin typeface="+mn-lt"/>
                <a:ea typeface="+mn-ea"/>
                <a:cs typeface="+mn-cs"/>
              </a:rPr>
              <a:t>2.2 Event Synchronization</a:t>
            </a:r>
            <a:endParaRPr kumimoji="0" lang="en-US" sz="2600" b="1"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229600" cy="3657600"/>
          </a:xfrm>
        </p:spPr>
        <p:style>
          <a:lnRef idx="2">
            <a:schemeClr val="accent1"/>
          </a:lnRef>
          <a:fillRef idx="1">
            <a:schemeClr val="lt1"/>
          </a:fillRef>
          <a:effectRef idx="0">
            <a:schemeClr val="accent1"/>
          </a:effectRef>
          <a:fontRef idx="minor">
            <a:schemeClr val="dk1"/>
          </a:fontRef>
        </p:style>
        <p:txBody>
          <a:bodyPr>
            <a:noAutofit/>
          </a:bodyPr>
          <a:lstStyle/>
          <a:p>
            <a:r>
              <a:rPr lang="en-US" sz="2300" dirty="0"/>
              <a:t>As the use of send and receive operations is fundamental to distributed computing, let’s look at the different scenarios in which a combination of these operations can be used in different modes.</a:t>
            </a:r>
          </a:p>
          <a:p>
            <a:endParaRPr lang="en-US" sz="2300" dirty="0"/>
          </a:p>
          <a:p>
            <a:pPr lvl="1"/>
            <a:r>
              <a:rPr lang="en-US" sz="2300" dirty="0"/>
              <a:t>Synchronous Send and Synchronous Receive</a:t>
            </a:r>
          </a:p>
          <a:p>
            <a:pPr lvl="1"/>
            <a:r>
              <a:rPr lang="en-US" sz="2300" dirty="0"/>
              <a:t>Asynchronous Send and Synchronous Receive</a:t>
            </a:r>
          </a:p>
          <a:p>
            <a:pPr lvl="1"/>
            <a:r>
              <a:rPr lang="en-US" sz="2300" dirty="0"/>
              <a:t>Synchronous Send and Asynchronous Receive</a:t>
            </a:r>
          </a:p>
          <a:p>
            <a:pPr lvl="1"/>
            <a:r>
              <a:rPr lang="en-US" sz="2300" dirty="0"/>
              <a:t>Asynchronous Send and Asynchronous Receive</a:t>
            </a:r>
          </a:p>
          <a:p>
            <a:pPr lvl="1">
              <a:buNone/>
            </a:pPr>
            <a:endParaRPr lang="en-US" sz="2300" dirty="0"/>
          </a:p>
        </p:txBody>
      </p:sp>
      <p:sp>
        <p:nvSpPr>
          <p:cNvPr id="4" name="Slide Number Placeholder 3"/>
          <p:cNvSpPr>
            <a:spLocks noGrp="1"/>
          </p:cNvSpPr>
          <p:nvPr>
            <p:ph type="sldNum" sz="quarter" idx="12"/>
          </p:nvPr>
        </p:nvSpPr>
        <p:spPr/>
        <p:txBody>
          <a:bodyPr/>
          <a:lstStyle/>
          <a:p>
            <a:fld id="{7040D16D-0600-4D21-96E6-588F007D1AD6}" type="slidenum">
              <a:rPr lang="en-US" smtClean="0"/>
              <a:pPr/>
              <a:t>18</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7" name="Title 1"/>
          <p:cNvSpPr txBox="1">
            <a:spLocks/>
          </p:cNvSpPr>
          <p:nvPr/>
        </p:nvSpPr>
        <p:spPr>
          <a:xfrm>
            <a:off x="457200" y="0"/>
            <a:ext cx="8229600" cy="63976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uLnTx/>
                <a:uFillTx/>
                <a:latin typeface="+mn-lt"/>
                <a:ea typeface="+mn-ea"/>
                <a:cs typeface="+mn-cs"/>
              </a:rPr>
              <a:t>2.2 Event Synchronization</a:t>
            </a:r>
            <a:endParaRPr kumimoji="0" lang="en-US" sz="2600" b="1"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8229600" cy="4525963"/>
          </a:xfrm>
        </p:spPr>
        <p:style>
          <a:lnRef idx="2">
            <a:schemeClr val="accent1"/>
          </a:lnRef>
          <a:fillRef idx="1">
            <a:schemeClr val="lt1"/>
          </a:fillRef>
          <a:effectRef idx="0">
            <a:schemeClr val="accent1"/>
          </a:effectRef>
          <a:fontRef idx="minor">
            <a:schemeClr val="dk1"/>
          </a:fontRef>
        </p:style>
        <p:txBody>
          <a:bodyPr>
            <a:noAutofit/>
          </a:bodyPr>
          <a:lstStyle/>
          <a:p>
            <a:pPr lvl="1"/>
            <a:r>
              <a:rPr lang="en-US" sz="2300" dirty="0"/>
              <a:t>In this scenario, a receive operation issued causes the suspension of the issuing process until data is received to fulfill the operation.</a:t>
            </a:r>
          </a:p>
          <a:p>
            <a:pPr lvl="1"/>
            <a:r>
              <a:rPr lang="en-US" sz="2300" dirty="0"/>
              <a:t>Likewise, a send operation issued causes the sending process to suspend.</a:t>
            </a:r>
          </a:p>
          <a:p>
            <a:pPr lvl="1"/>
            <a:r>
              <a:rPr lang="en-US" sz="2300" dirty="0"/>
              <a:t>When the data sent has been received by process 2, the IPC facility on host 2 sends an acknowledgment to the IPC facility on host 1, and process 1 may subsequently be unblocked.</a:t>
            </a:r>
          </a:p>
          <a:p>
            <a:pPr lvl="1"/>
            <a:r>
              <a:rPr lang="en-US" sz="2300" dirty="0"/>
              <a:t>Depending on the implementation of the IPC facility, the synchronous receive operation may not be fulfilled until the amount of data the receiver expects to receive has arrived.</a:t>
            </a:r>
          </a:p>
        </p:txBody>
      </p:sp>
      <p:sp>
        <p:nvSpPr>
          <p:cNvPr id="4" name="Slide Number Placeholder 3"/>
          <p:cNvSpPr>
            <a:spLocks noGrp="1"/>
          </p:cNvSpPr>
          <p:nvPr>
            <p:ph type="sldNum" sz="quarter" idx="12"/>
          </p:nvPr>
        </p:nvSpPr>
        <p:spPr/>
        <p:txBody>
          <a:bodyPr/>
          <a:lstStyle/>
          <a:p>
            <a:fld id="{7040D16D-0600-4D21-96E6-588F007D1AD6}" type="slidenum">
              <a:rPr lang="en-US" smtClean="0"/>
              <a:pPr/>
              <a:t>19</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7" name="Title 1"/>
          <p:cNvSpPr txBox="1">
            <a:spLocks/>
          </p:cNvSpPr>
          <p:nvPr/>
        </p:nvSpPr>
        <p:spPr>
          <a:xfrm>
            <a:off x="457200" y="76200"/>
            <a:ext cx="822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92500" lnSpcReduction="20000"/>
          </a:bodyPr>
          <a:lstStyle/>
          <a:p>
            <a:pPr algn="ctr"/>
            <a:r>
              <a:rPr lang="en-US" sz="2400" b="1" dirty="0"/>
              <a:t>(1) Synchronous Send and Synchronous Receive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09600"/>
            <a:ext cx="8610600" cy="4525963"/>
          </a:xfrm>
        </p:spPr>
        <p:style>
          <a:lnRef idx="2">
            <a:schemeClr val="accent1"/>
          </a:lnRef>
          <a:fillRef idx="1">
            <a:schemeClr val="lt1"/>
          </a:fillRef>
          <a:effectRef idx="0">
            <a:schemeClr val="accent1"/>
          </a:effectRef>
          <a:fontRef idx="minor">
            <a:schemeClr val="dk1"/>
          </a:fontRef>
        </p:style>
        <p:txBody>
          <a:bodyPr>
            <a:normAutofit/>
          </a:bodyPr>
          <a:lstStyle/>
          <a:p>
            <a:pPr lvl="1"/>
            <a:r>
              <a:rPr lang="en-US" sz="2300" dirty="0"/>
              <a:t>For Example… if process 2 issues a receive for 300 bytes of data, and the send operation brings only 200 bytes, </a:t>
            </a:r>
          </a:p>
          <a:p>
            <a:pPr lvl="1"/>
            <a:endParaRPr lang="en-US" sz="2300" dirty="0"/>
          </a:p>
          <a:p>
            <a:pPr lvl="1"/>
            <a:r>
              <a:rPr lang="en-US" sz="2300" dirty="0"/>
              <a:t>it is possible for the blocking of process 2 to continue even after the first 200 bytes have been delivered </a:t>
            </a:r>
          </a:p>
          <a:p>
            <a:pPr lvl="1"/>
            <a:endParaRPr lang="en-US" sz="2300" dirty="0"/>
          </a:p>
          <a:p>
            <a:pPr lvl="1"/>
            <a:r>
              <a:rPr lang="en-US" sz="2300" dirty="0"/>
              <a:t>in such a case process 2 will not be unblocked until process 1 subsequently sends the remaining 100 bytes of data.</a:t>
            </a:r>
          </a:p>
        </p:txBody>
      </p:sp>
      <p:sp>
        <p:nvSpPr>
          <p:cNvPr id="4" name="Slide Number Placeholder 3"/>
          <p:cNvSpPr>
            <a:spLocks noGrp="1"/>
          </p:cNvSpPr>
          <p:nvPr>
            <p:ph type="sldNum" sz="quarter" idx="12"/>
          </p:nvPr>
        </p:nvSpPr>
        <p:spPr/>
        <p:txBody>
          <a:bodyPr/>
          <a:lstStyle/>
          <a:p>
            <a:fld id="{7040D16D-0600-4D21-96E6-588F007D1AD6}" type="slidenum">
              <a:rPr lang="en-US" smtClean="0"/>
              <a:pPr/>
              <a:t>20</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7" name="Title 1"/>
          <p:cNvSpPr txBox="1">
            <a:spLocks/>
          </p:cNvSpPr>
          <p:nvPr/>
        </p:nvSpPr>
        <p:spPr>
          <a:xfrm>
            <a:off x="457200" y="76200"/>
            <a:ext cx="822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92500" lnSpcReduction="20000"/>
          </a:bodyPr>
          <a:lstStyle/>
          <a:p>
            <a:pPr algn="ctr"/>
            <a:r>
              <a:rPr lang="en-US" sz="2400" b="1" dirty="0"/>
              <a:t>(1) Synchronous Send and Synchronous Receive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143000" y="1828800"/>
            <a:ext cx="21336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11" name="Straight Arrow Connector 10"/>
          <p:cNvCxnSpPr>
            <a:stCxn id="9" idx="0"/>
          </p:cNvCxnSpPr>
          <p:nvPr/>
        </p:nvCxnSpPr>
        <p:spPr>
          <a:xfrm rot="16200000" flipH="1">
            <a:off x="1600200" y="2438400"/>
            <a:ext cx="1219994" cy="79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2" name="Oval 11"/>
          <p:cNvSpPr/>
          <p:nvPr/>
        </p:nvSpPr>
        <p:spPr>
          <a:xfrm>
            <a:off x="2133600" y="3048000"/>
            <a:ext cx="152400" cy="152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TextBox 16"/>
          <p:cNvSpPr txBox="1"/>
          <p:nvPr/>
        </p:nvSpPr>
        <p:spPr>
          <a:xfrm>
            <a:off x="1143000" y="2819400"/>
            <a:ext cx="1066800" cy="523220"/>
          </a:xfrm>
          <a:prstGeom prst="rect">
            <a:avLst/>
          </a:prstGeom>
          <a:noFill/>
        </p:spPr>
        <p:txBody>
          <a:bodyPr wrap="square" rtlCol="0">
            <a:spAutoFit/>
          </a:bodyPr>
          <a:lstStyle/>
          <a:p>
            <a:r>
              <a:rPr lang="en-US" sz="1400" dirty="0"/>
              <a:t>Blocking</a:t>
            </a:r>
          </a:p>
          <a:p>
            <a:r>
              <a:rPr lang="en-US" sz="1400" dirty="0"/>
              <a:t>Send Starts</a:t>
            </a:r>
          </a:p>
        </p:txBody>
      </p:sp>
      <p:sp>
        <p:nvSpPr>
          <p:cNvPr id="20" name="TextBox 19"/>
          <p:cNvSpPr txBox="1"/>
          <p:nvPr/>
        </p:nvSpPr>
        <p:spPr>
          <a:xfrm>
            <a:off x="1143000" y="3810000"/>
            <a:ext cx="1066800" cy="738664"/>
          </a:xfrm>
          <a:prstGeom prst="rect">
            <a:avLst/>
          </a:prstGeom>
          <a:noFill/>
        </p:spPr>
        <p:txBody>
          <a:bodyPr wrap="square" rtlCol="0">
            <a:spAutoFit/>
          </a:bodyPr>
          <a:lstStyle/>
          <a:p>
            <a:r>
              <a:rPr lang="en-US" sz="1400" dirty="0"/>
              <a:t>Blocking Send</a:t>
            </a:r>
          </a:p>
          <a:p>
            <a:r>
              <a:rPr lang="en-US" sz="1400" dirty="0"/>
              <a:t>Returns</a:t>
            </a:r>
          </a:p>
        </p:txBody>
      </p:sp>
      <p:sp>
        <p:nvSpPr>
          <p:cNvPr id="22" name="Rectangle 21"/>
          <p:cNvSpPr/>
          <p:nvPr/>
        </p:nvSpPr>
        <p:spPr>
          <a:xfrm>
            <a:off x="5638800" y="1905000"/>
            <a:ext cx="21336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23" name="Straight Arrow Connector 22"/>
          <p:cNvCxnSpPr>
            <a:stCxn id="22" idx="0"/>
          </p:cNvCxnSpPr>
          <p:nvPr/>
        </p:nvCxnSpPr>
        <p:spPr>
          <a:xfrm rot="16200000" flipH="1">
            <a:off x="6286500" y="2324100"/>
            <a:ext cx="8382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5" name="TextBox 24"/>
          <p:cNvSpPr txBox="1"/>
          <p:nvPr/>
        </p:nvSpPr>
        <p:spPr>
          <a:xfrm>
            <a:off x="6781800" y="3962400"/>
            <a:ext cx="1066800" cy="738664"/>
          </a:xfrm>
          <a:prstGeom prst="rect">
            <a:avLst/>
          </a:prstGeom>
          <a:noFill/>
        </p:spPr>
        <p:txBody>
          <a:bodyPr wrap="square" rtlCol="0">
            <a:spAutoFit/>
          </a:bodyPr>
          <a:lstStyle/>
          <a:p>
            <a:r>
              <a:rPr lang="en-US" sz="1400" dirty="0"/>
              <a:t>Blocking Receive</a:t>
            </a:r>
          </a:p>
          <a:p>
            <a:r>
              <a:rPr lang="en-US" sz="1400" dirty="0"/>
              <a:t>ends</a:t>
            </a:r>
          </a:p>
        </p:txBody>
      </p:sp>
      <p:sp>
        <p:nvSpPr>
          <p:cNvPr id="26" name="TextBox 25"/>
          <p:cNvSpPr txBox="1"/>
          <p:nvPr/>
        </p:nvSpPr>
        <p:spPr>
          <a:xfrm>
            <a:off x="6781800" y="2819400"/>
            <a:ext cx="1066800" cy="738664"/>
          </a:xfrm>
          <a:prstGeom prst="rect">
            <a:avLst/>
          </a:prstGeom>
          <a:noFill/>
        </p:spPr>
        <p:txBody>
          <a:bodyPr wrap="square" rtlCol="0">
            <a:spAutoFit/>
          </a:bodyPr>
          <a:lstStyle/>
          <a:p>
            <a:r>
              <a:rPr lang="en-US" sz="1400" dirty="0"/>
              <a:t>Blocking</a:t>
            </a:r>
          </a:p>
          <a:p>
            <a:r>
              <a:rPr lang="en-US" sz="1400" dirty="0"/>
              <a:t>Receive</a:t>
            </a:r>
          </a:p>
          <a:p>
            <a:r>
              <a:rPr lang="en-US" sz="1400" dirty="0"/>
              <a:t>Starts</a:t>
            </a:r>
          </a:p>
        </p:txBody>
      </p:sp>
      <p:sp>
        <p:nvSpPr>
          <p:cNvPr id="27" name="Oval 26"/>
          <p:cNvSpPr/>
          <p:nvPr/>
        </p:nvSpPr>
        <p:spPr>
          <a:xfrm>
            <a:off x="6629400" y="2743200"/>
            <a:ext cx="152400" cy="152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2" name="Straight Arrow Connector 31"/>
          <p:cNvCxnSpPr/>
          <p:nvPr/>
        </p:nvCxnSpPr>
        <p:spPr>
          <a:xfrm rot="10800000">
            <a:off x="2209800" y="4953000"/>
            <a:ext cx="4495800" cy="1588"/>
          </a:xfrm>
          <a:prstGeom prst="straightConnector1">
            <a:avLst/>
          </a:prstGeom>
          <a:ln>
            <a:prstDash val="dash"/>
            <a:tailEnd type="arrow"/>
          </a:ln>
        </p:spPr>
        <p:style>
          <a:lnRef idx="1">
            <a:schemeClr val="dk1"/>
          </a:lnRef>
          <a:fillRef idx="0">
            <a:schemeClr val="dk1"/>
          </a:fillRef>
          <a:effectRef idx="0">
            <a:schemeClr val="dk1"/>
          </a:effectRef>
          <a:fontRef idx="minor">
            <a:schemeClr val="tx1"/>
          </a:fontRef>
        </p:style>
      </p:cxnSp>
      <p:sp>
        <p:nvSpPr>
          <p:cNvPr id="33" name="TextBox 32"/>
          <p:cNvSpPr txBox="1"/>
          <p:nvPr/>
        </p:nvSpPr>
        <p:spPr>
          <a:xfrm>
            <a:off x="3429000" y="3657600"/>
            <a:ext cx="20574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Transparent acknowledgement </a:t>
            </a:r>
          </a:p>
          <a:p>
            <a:r>
              <a:rPr lang="en-US" dirty="0"/>
              <a:t>Provided by the IPC facility</a:t>
            </a:r>
          </a:p>
        </p:txBody>
      </p:sp>
      <p:sp>
        <p:nvSpPr>
          <p:cNvPr id="34" name="TextBox 33"/>
          <p:cNvSpPr txBox="1"/>
          <p:nvPr/>
        </p:nvSpPr>
        <p:spPr>
          <a:xfrm>
            <a:off x="2209800" y="6019800"/>
            <a:ext cx="4495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Synchronous send and receive</a:t>
            </a:r>
          </a:p>
        </p:txBody>
      </p:sp>
      <p:sp>
        <p:nvSpPr>
          <p:cNvPr id="35" name="TextBox 34"/>
          <p:cNvSpPr txBox="1"/>
          <p:nvPr/>
        </p:nvSpPr>
        <p:spPr>
          <a:xfrm>
            <a:off x="1371600" y="762000"/>
            <a:ext cx="1828800"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Process 1 </a:t>
            </a:r>
          </a:p>
          <a:p>
            <a:pPr algn="ctr"/>
            <a:r>
              <a:rPr lang="en-US" dirty="0"/>
              <a:t>Running on host 1</a:t>
            </a:r>
          </a:p>
        </p:txBody>
      </p:sp>
      <p:sp>
        <p:nvSpPr>
          <p:cNvPr id="36" name="TextBox 35"/>
          <p:cNvSpPr txBox="1"/>
          <p:nvPr/>
        </p:nvSpPr>
        <p:spPr>
          <a:xfrm>
            <a:off x="5715000" y="762000"/>
            <a:ext cx="1752600"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Process 2</a:t>
            </a:r>
          </a:p>
          <a:p>
            <a:pPr algn="ctr"/>
            <a:r>
              <a:rPr lang="en-US" dirty="0"/>
              <a:t>Running on host 2</a:t>
            </a:r>
          </a:p>
        </p:txBody>
      </p:sp>
      <p:cxnSp>
        <p:nvCxnSpPr>
          <p:cNvPr id="28" name="Straight Connector 27"/>
          <p:cNvCxnSpPr/>
          <p:nvPr/>
        </p:nvCxnSpPr>
        <p:spPr>
          <a:xfrm rot="5400000">
            <a:off x="1333500" y="4076700"/>
            <a:ext cx="1752600" cy="158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0" name="Straight Arrow Connector 29"/>
          <p:cNvCxnSpPr>
            <a:endCxn id="9" idx="2"/>
          </p:cNvCxnSpPr>
          <p:nvPr/>
        </p:nvCxnSpPr>
        <p:spPr>
          <a:xfrm rot="5400000">
            <a:off x="1828800" y="5334000"/>
            <a:ext cx="7620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7" name="Straight Connector 36"/>
          <p:cNvCxnSpPr>
            <a:stCxn id="27" idx="4"/>
          </p:cNvCxnSpPr>
          <p:nvPr/>
        </p:nvCxnSpPr>
        <p:spPr>
          <a:xfrm rot="5400000">
            <a:off x="5676900" y="3924300"/>
            <a:ext cx="2057400" cy="1588"/>
          </a:xfrm>
          <a:prstGeom prst="line">
            <a:avLst/>
          </a:prstGeom>
          <a:ln>
            <a:prstDash val="dashDot"/>
          </a:ln>
        </p:spPr>
        <p:style>
          <a:lnRef idx="1">
            <a:schemeClr val="dk1"/>
          </a:lnRef>
          <a:fillRef idx="0">
            <a:schemeClr val="dk1"/>
          </a:fillRef>
          <a:effectRef idx="0">
            <a:schemeClr val="dk1"/>
          </a:effectRef>
          <a:fontRef idx="minor">
            <a:schemeClr val="tx1"/>
          </a:fontRef>
        </p:style>
      </p:cxnSp>
      <p:cxnSp>
        <p:nvCxnSpPr>
          <p:cNvPr id="39" name="Straight Arrow Connector 38"/>
          <p:cNvCxnSpPr>
            <a:endCxn id="22" idx="2"/>
          </p:cNvCxnSpPr>
          <p:nvPr/>
        </p:nvCxnSpPr>
        <p:spPr>
          <a:xfrm rot="5400000">
            <a:off x="6286500" y="5372100"/>
            <a:ext cx="8382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1" name="Slide Number Placeholder 20"/>
          <p:cNvSpPr>
            <a:spLocks noGrp="1"/>
          </p:cNvSpPr>
          <p:nvPr>
            <p:ph type="sldNum" sz="quarter" idx="12"/>
          </p:nvPr>
        </p:nvSpPr>
        <p:spPr/>
        <p:txBody>
          <a:bodyPr/>
          <a:lstStyle/>
          <a:p>
            <a:fld id="{7040D16D-0600-4D21-96E6-588F007D1AD6}" type="slidenum">
              <a:rPr lang="en-US" smtClean="0"/>
              <a:pPr/>
              <a:t>21</a:t>
            </a:fld>
            <a:endParaRPr lang="en-US"/>
          </a:p>
        </p:txBody>
      </p:sp>
      <p:sp>
        <p:nvSpPr>
          <p:cNvPr id="24" name="Footer Placeholder 23"/>
          <p:cNvSpPr>
            <a:spLocks noGrp="1"/>
          </p:cNvSpPr>
          <p:nvPr>
            <p:ph type="ftr" sz="quarter" idx="11"/>
          </p:nvPr>
        </p:nvSpPr>
        <p:spPr>
          <a:xfrm>
            <a:off x="3124200" y="6416675"/>
            <a:ext cx="2895600" cy="365125"/>
          </a:xfrm>
        </p:spPr>
        <p:txBody>
          <a:bodyPr/>
          <a:lstStyle/>
          <a:p>
            <a:r>
              <a:rPr lang="en-US" dirty="0"/>
              <a:t>Asst. Professor </a:t>
            </a:r>
            <a:r>
              <a:rPr lang="en-US" dirty="0" err="1"/>
              <a:t>Riddhi</a:t>
            </a:r>
            <a:r>
              <a:rPr lang="en-US" dirty="0"/>
              <a:t> Joshi</a:t>
            </a:r>
          </a:p>
        </p:txBody>
      </p:sp>
      <p:pic>
        <p:nvPicPr>
          <p:cNvPr id="29"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31" name="Title 1"/>
          <p:cNvSpPr txBox="1">
            <a:spLocks/>
          </p:cNvSpPr>
          <p:nvPr/>
        </p:nvSpPr>
        <p:spPr>
          <a:xfrm>
            <a:off x="457200" y="76200"/>
            <a:ext cx="822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92500" lnSpcReduction="20000"/>
          </a:bodyPr>
          <a:lstStyle/>
          <a:p>
            <a:pPr algn="ctr"/>
            <a:r>
              <a:rPr lang="en-US" sz="2400" b="1" dirty="0"/>
              <a:t>(1) Synchronous Send and Synchronous Receive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457200"/>
            <a:ext cx="8839200" cy="5715000"/>
          </a:xfrm>
        </p:spPr>
        <p:style>
          <a:lnRef idx="2">
            <a:schemeClr val="accent1"/>
          </a:lnRef>
          <a:fillRef idx="1">
            <a:schemeClr val="lt1"/>
          </a:fillRef>
          <a:effectRef idx="0">
            <a:schemeClr val="accent1"/>
          </a:effectRef>
          <a:fontRef idx="minor">
            <a:schemeClr val="dk1"/>
          </a:fontRef>
        </p:style>
        <p:txBody>
          <a:bodyPr>
            <a:noAutofit/>
          </a:bodyPr>
          <a:lstStyle/>
          <a:p>
            <a:pPr lvl="1"/>
            <a:r>
              <a:rPr lang="en-US" sz="2200" dirty="0"/>
              <a:t>As before, a receive operation issued will cause the suspension of the issuing of the issuing process until data is received to fulfill the operation. </a:t>
            </a:r>
          </a:p>
          <a:p>
            <a:pPr lvl="1"/>
            <a:r>
              <a:rPr lang="en-US" sz="2200" dirty="0"/>
              <a:t>However, a send operation issued will not cause the sending process to suspend. </a:t>
            </a:r>
          </a:p>
          <a:p>
            <a:pPr lvl="1"/>
            <a:r>
              <a:rPr lang="en-US" sz="2200" dirty="0"/>
              <a:t>In this case the sending process is never blocked, so no acknowledgment is necessary from the IPC facility on the host of process 2. </a:t>
            </a:r>
          </a:p>
          <a:p>
            <a:pPr lvl="1"/>
            <a:r>
              <a:rPr lang="en-US" sz="2200" dirty="0"/>
              <a:t>This use of asynchronous send and synchronous receive is appropriate if the sender’s application logic does not depend on the receiving of data at the other end.  </a:t>
            </a:r>
          </a:p>
          <a:p>
            <a:pPr lvl="1"/>
            <a:r>
              <a:rPr lang="en-US" sz="2200" dirty="0"/>
              <a:t>For example… if the send operation is executed before the receive operation is issued on the other side, it is possible that data will be delivered to the receiving process unless the IPC facility makes provisions to retain the prematurely send data.</a:t>
            </a:r>
          </a:p>
          <a:p>
            <a:pPr lvl="1"/>
            <a:endParaRPr lang="en-US" sz="2200" dirty="0"/>
          </a:p>
        </p:txBody>
      </p:sp>
      <p:sp>
        <p:nvSpPr>
          <p:cNvPr id="4" name="Slide Number Placeholder 3"/>
          <p:cNvSpPr>
            <a:spLocks noGrp="1"/>
          </p:cNvSpPr>
          <p:nvPr>
            <p:ph type="sldNum" sz="quarter" idx="12"/>
          </p:nvPr>
        </p:nvSpPr>
        <p:spPr/>
        <p:txBody>
          <a:bodyPr/>
          <a:lstStyle/>
          <a:p>
            <a:fld id="{7040D16D-0600-4D21-96E6-588F007D1AD6}" type="slidenum">
              <a:rPr lang="en-US" smtClean="0"/>
              <a:pPr/>
              <a:t>22</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7" name="Title 1"/>
          <p:cNvSpPr txBox="1">
            <a:spLocks/>
          </p:cNvSpPr>
          <p:nvPr/>
        </p:nvSpPr>
        <p:spPr>
          <a:xfrm>
            <a:off x="457200" y="0"/>
            <a:ext cx="822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92500" lnSpcReduction="20000"/>
          </a:bodyPr>
          <a:lstStyle/>
          <a:p>
            <a:pPr algn="ctr"/>
            <a:r>
              <a:rPr lang="en-US" sz="2400" b="1" dirty="0"/>
              <a:t>(2) Asynchronous Send and Synchronous Receive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143000" y="1828800"/>
            <a:ext cx="21336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11" name="Straight Arrow Connector 10"/>
          <p:cNvCxnSpPr>
            <a:stCxn id="9" idx="0"/>
          </p:cNvCxnSpPr>
          <p:nvPr/>
        </p:nvCxnSpPr>
        <p:spPr>
          <a:xfrm rot="16200000" flipH="1">
            <a:off x="1600200" y="2438400"/>
            <a:ext cx="1219994" cy="79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2" name="Oval 11"/>
          <p:cNvSpPr/>
          <p:nvPr/>
        </p:nvSpPr>
        <p:spPr>
          <a:xfrm>
            <a:off x="2133600" y="3048000"/>
            <a:ext cx="152400" cy="152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TextBox 16"/>
          <p:cNvSpPr txBox="1"/>
          <p:nvPr/>
        </p:nvSpPr>
        <p:spPr>
          <a:xfrm>
            <a:off x="1143000" y="2819400"/>
            <a:ext cx="990600" cy="75303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Non-Blocking</a:t>
            </a:r>
          </a:p>
          <a:p>
            <a:r>
              <a:rPr lang="en-US" sz="1400" dirty="0"/>
              <a:t>Send </a:t>
            </a:r>
          </a:p>
        </p:txBody>
      </p:sp>
      <p:cxnSp>
        <p:nvCxnSpPr>
          <p:cNvPr id="19" name="Straight Arrow Connector 18"/>
          <p:cNvCxnSpPr>
            <a:endCxn id="9" idx="2"/>
          </p:cNvCxnSpPr>
          <p:nvPr/>
        </p:nvCxnSpPr>
        <p:spPr>
          <a:xfrm rot="5400000">
            <a:off x="952500" y="4457700"/>
            <a:ext cx="25146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2" name="Rectangle 21"/>
          <p:cNvSpPr/>
          <p:nvPr/>
        </p:nvSpPr>
        <p:spPr>
          <a:xfrm>
            <a:off x="5638800" y="1905000"/>
            <a:ext cx="21336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5" name="TextBox 24"/>
          <p:cNvSpPr txBox="1"/>
          <p:nvPr/>
        </p:nvSpPr>
        <p:spPr>
          <a:xfrm>
            <a:off x="6781800" y="4114800"/>
            <a:ext cx="1066800"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Blocking Receive returns</a:t>
            </a:r>
          </a:p>
        </p:txBody>
      </p:sp>
      <p:sp>
        <p:nvSpPr>
          <p:cNvPr id="26" name="TextBox 25"/>
          <p:cNvSpPr txBox="1"/>
          <p:nvPr/>
        </p:nvSpPr>
        <p:spPr>
          <a:xfrm>
            <a:off x="6781800" y="2819400"/>
            <a:ext cx="1066800"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Blocking receive Start</a:t>
            </a:r>
          </a:p>
        </p:txBody>
      </p:sp>
      <p:sp>
        <p:nvSpPr>
          <p:cNvPr id="27" name="Oval 26"/>
          <p:cNvSpPr/>
          <p:nvPr/>
        </p:nvSpPr>
        <p:spPr>
          <a:xfrm>
            <a:off x="6629400" y="2743200"/>
            <a:ext cx="152400" cy="152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TextBox 33"/>
          <p:cNvSpPr txBox="1"/>
          <p:nvPr/>
        </p:nvSpPr>
        <p:spPr>
          <a:xfrm>
            <a:off x="2209800" y="5943600"/>
            <a:ext cx="4495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Asynchronous send and Synchronous receive</a:t>
            </a:r>
          </a:p>
        </p:txBody>
      </p:sp>
      <p:sp>
        <p:nvSpPr>
          <p:cNvPr id="35" name="TextBox 34"/>
          <p:cNvSpPr txBox="1"/>
          <p:nvPr/>
        </p:nvSpPr>
        <p:spPr>
          <a:xfrm>
            <a:off x="1371600" y="1219200"/>
            <a:ext cx="17526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Process 1 </a:t>
            </a:r>
          </a:p>
        </p:txBody>
      </p:sp>
      <p:sp>
        <p:nvSpPr>
          <p:cNvPr id="36" name="TextBox 35"/>
          <p:cNvSpPr txBox="1"/>
          <p:nvPr/>
        </p:nvSpPr>
        <p:spPr>
          <a:xfrm>
            <a:off x="5943600" y="1219200"/>
            <a:ext cx="17526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Process 2</a:t>
            </a:r>
          </a:p>
        </p:txBody>
      </p:sp>
      <p:cxnSp>
        <p:nvCxnSpPr>
          <p:cNvPr id="28" name="Straight Connector 27"/>
          <p:cNvCxnSpPr>
            <a:stCxn id="22" idx="0"/>
            <a:endCxn id="27" idx="0"/>
          </p:cNvCxnSpPr>
          <p:nvPr/>
        </p:nvCxnSpPr>
        <p:spPr>
          <a:xfrm rot="16200000" flipH="1">
            <a:off x="6286500" y="2324100"/>
            <a:ext cx="838200" cy="1588"/>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a:stCxn id="27" idx="4"/>
          </p:cNvCxnSpPr>
          <p:nvPr/>
        </p:nvCxnSpPr>
        <p:spPr>
          <a:xfrm rot="5400000">
            <a:off x="5829300" y="3771900"/>
            <a:ext cx="1752600" cy="158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9" name="Straight Arrow Connector 28"/>
          <p:cNvCxnSpPr>
            <a:endCxn id="22" idx="2"/>
          </p:cNvCxnSpPr>
          <p:nvPr/>
        </p:nvCxnSpPr>
        <p:spPr>
          <a:xfrm rot="5400000">
            <a:off x="6134100" y="5219700"/>
            <a:ext cx="11430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0" name="Slide Number Placeholder 19"/>
          <p:cNvSpPr>
            <a:spLocks noGrp="1"/>
          </p:cNvSpPr>
          <p:nvPr>
            <p:ph type="sldNum" sz="quarter" idx="12"/>
          </p:nvPr>
        </p:nvSpPr>
        <p:spPr/>
        <p:txBody>
          <a:bodyPr/>
          <a:lstStyle/>
          <a:p>
            <a:fld id="{7040D16D-0600-4D21-96E6-588F007D1AD6}" type="slidenum">
              <a:rPr lang="en-US" smtClean="0"/>
              <a:pPr/>
              <a:t>23</a:t>
            </a:fld>
            <a:endParaRPr lang="en-US"/>
          </a:p>
        </p:txBody>
      </p:sp>
      <p:sp>
        <p:nvSpPr>
          <p:cNvPr id="21" name="Footer Placeholder 20"/>
          <p:cNvSpPr>
            <a:spLocks noGrp="1"/>
          </p:cNvSpPr>
          <p:nvPr>
            <p:ph type="ftr" sz="quarter" idx="11"/>
          </p:nvPr>
        </p:nvSpPr>
        <p:spPr/>
        <p:txBody>
          <a:bodyPr/>
          <a:lstStyle/>
          <a:p>
            <a:r>
              <a:rPr lang="en-US"/>
              <a:t>Asst. Professor Riddhi Joshi</a:t>
            </a:r>
          </a:p>
        </p:txBody>
      </p:sp>
      <p:pic>
        <p:nvPicPr>
          <p:cNvPr id="23"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24" name="Title 1"/>
          <p:cNvSpPr txBox="1">
            <a:spLocks/>
          </p:cNvSpPr>
          <p:nvPr/>
        </p:nvSpPr>
        <p:spPr>
          <a:xfrm>
            <a:off x="457200" y="0"/>
            <a:ext cx="822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92500" lnSpcReduction="20000"/>
          </a:bodyPr>
          <a:lstStyle/>
          <a:p>
            <a:pPr algn="ctr"/>
            <a:r>
              <a:rPr lang="en-US" sz="2400" b="1" dirty="0"/>
              <a:t>(2) Asynchronous Send and Synchronous Receive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579437"/>
            <a:ext cx="8839200" cy="4525963"/>
          </a:xfrm>
        </p:spPr>
        <p:style>
          <a:lnRef idx="2">
            <a:schemeClr val="accent1"/>
          </a:lnRef>
          <a:fillRef idx="1">
            <a:schemeClr val="lt1"/>
          </a:fillRef>
          <a:effectRef idx="0">
            <a:schemeClr val="accent1"/>
          </a:effectRef>
          <a:fontRef idx="minor">
            <a:schemeClr val="dk1"/>
          </a:fontRef>
        </p:style>
        <p:txBody>
          <a:bodyPr>
            <a:normAutofit/>
          </a:bodyPr>
          <a:lstStyle/>
          <a:p>
            <a:pPr lvl="1"/>
            <a:r>
              <a:rPr lang="en-US" sz="2200" dirty="0"/>
              <a:t>An asynchronous receive operation causes no blocking of the process that issues the operation, and the outcome will depend on the implementation of the IPC facility</a:t>
            </a:r>
          </a:p>
          <a:p>
            <a:pPr lvl="1"/>
            <a:r>
              <a:rPr lang="en-US" sz="2200" dirty="0"/>
              <a:t>The receive operation will, in all cases, return immediately.</a:t>
            </a:r>
          </a:p>
          <a:p>
            <a:pPr lvl="1"/>
            <a:endParaRPr lang="en-US" sz="2200" dirty="0"/>
          </a:p>
          <a:p>
            <a:pPr lvl="1"/>
            <a:endParaRPr lang="en-US" sz="2200" dirty="0"/>
          </a:p>
          <a:p>
            <a:pPr lvl="1"/>
            <a:r>
              <a:rPr lang="en-US" sz="2200" dirty="0"/>
              <a:t>In fig, </a:t>
            </a:r>
          </a:p>
          <a:p>
            <a:pPr lvl="1"/>
            <a:r>
              <a:rPr lang="en-US" sz="2200" dirty="0"/>
              <a:t>The data requested by the operation has not yet arrived. </a:t>
            </a:r>
          </a:p>
          <a:p>
            <a:pPr lvl="1"/>
            <a:r>
              <a:rPr lang="en-US" sz="2200" dirty="0"/>
              <a:t>The IPC facility of host 2 will notify process 2 when the data it requested has arrived, at which point process 2 provide a listener or event handler that can be invoked by the IPC facility to notify the process of the arrival of the requested data.</a:t>
            </a:r>
          </a:p>
          <a:p>
            <a:pPr lvl="1"/>
            <a:endParaRPr lang="en-US" sz="2200" dirty="0"/>
          </a:p>
          <a:p>
            <a:pPr lvl="1"/>
            <a:endParaRPr lang="en-US" sz="2200" dirty="0"/>
          </a:p>
        </p:txBody>
      </p:sp>
      <p:sp>
        <p:nvSpPr>
          <p:cNvPr id="4" name="Slide Number Placeholder 3"/>
          <p:cNvSpPr>
            <a:spLocks noGrp="1"/>
          </p:cNvSpPr>
          <p:nvPr>
            <p:ph type="sldNum" sz="quarter" idx="12"/>
          </p:nvPr>
        </p:nvSpPr>
        <p:spPr/>
        <p:txBody>
          <a:bodyPr/>
          <a:lstStyle/>
          <a:p>
            <a:fld id="{7040D16D-0600-4D21-96E6-588F007D1AD6}" type="slidenum">
              <a:rPr lang="en-US" smtClean="0"/>
              <a:pPr/>
              <a:t>24</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7" name="Title 1"/>
          <p:cNvSpPr txBox="1">
            <a:spLocks/>
          </p:cNvSpPr>
          <p:nvPr/>
        </p:nvSpPr>
        <p:spPr>
          <a:xfrm>
            <a:off x="457200" y="0"/>
            <a:ext cx="822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92500" lnSpcReduction="20000"/>
          </a:bodyPr>
          <a:lstStyle/>
          <a:p>
            <a:pPr algn="ctr"/>
            <a:r>
              <a:rPr lang="en-US" sz="2400" b="1" dirty="0"/>
              <a:t>(3) Synchronous Send and Asynchronous Receive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143000" y="1828800"/>
            <a:ext cx="21336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11" name="Straight Arrow Connector 10"/>
          <p:cNvCxnSpPr>
            <a:stCxn id="9" idx="0"/>
          </p:cNvCxnSpPr>
          <p:nvPr/>
        </p:nvCxnSpPr>
        <p:spPr>
          <a:xfrm rot="16200000" flipH="1">
            <a:off x="1485900" y="2552700"/>
            <a:ext cx="1448594" cy="79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2" name="Oval 11"/>
          <p:cNvSpPr/>
          <p:nvPr/>
        </p:nvSpPr>
        <p:spPr>
          <a:xfrm>
            <a:off x="2133600" y="3276600"/>
            <a:ext cx="152400" cy="152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TextBox 16"/>
          <p:cNvSpPr txBox="1"/>
          <p:nvPr/>
        </p:nvSpPr>
        <p:spPr>
          <a:xfrm>
            <a:off x="1143000" y="2971800"/>
            <a:ext cx="838200"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Blocking</a:t>
            </a:r>
          </a:p>
          <a:p>
            <a:r>
              <a:rPr lang="en-US" sz="1400" dirty="0"/>
              <a:t>Send Issued</a:t>
            </a:r>
          </a:p>
        </p:txBody>
      </p:sp>
      <p:sp>
        <p:nvSpPr>
          <p:cNvPr id="22" name="Rectangle 21"/>
          <p:cNvSpPr/>
          <p:nvPr/>
        </p:nvSpPr>
        <p:spPr>
          <a:xfrm>
            <a:off x="5638800" y="1905000"/>
            <a:ext cx="21336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24" name="Straight Arrow Connector 23"/>
          <p:cNvCxnSpPr>
            <a:stCxn id="27" idx="4"/>
            <a:endCxn id="22" idx="2"/>
          </p:cNvCxnSpPr>
          <p:nvPr/>
        </p:nvCxnSpPr>
        <p:spPr>
          <a:xfrm rot="5400000">
            <a:off x="5257800" y="4343400"/>
            <a:ext cx="28956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5" name="TextBox 24"/>
          <p:cNvSpPr txBox="1"/>
          <p:nvPr/>
        </p:nvSpPr>
        <p:spPr>
          <a:xfrm>
            <a:off x="6781800" y="4191000"/>
            <a:ext cx="1066800" cy="95410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Process is notified of the arrival of data</a:t>
            </a:r>
          </a:p>
        </p:txBody>
      </p:sp>
      <p:sp>
        <p:nvSpPr>
          <p:cNvPr id="26" name="TextBox 25"/>
          <p:cNvSpPr txBox="1"/>
          <p:nvPr/>
        </p:nvSpPr>
        <p:spPr>
          <a:xfrm>
            <a:off x="6781800" y="2514600"/>
            <a:ext cx="1066800" cy="160043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Non-blocking receive issued and returned  immediately</a:t>
            </a:r>
          </a:p>
        </p:txBody>
      </p:sp>
      <p:sp>
        <p:nvSpPr>
          <p:cNvPr id="27" name="Oval 26"/>
          <p:cNvSpPr/>
          <p:nvPr/>
        </p:nvSpPr>
        <p:spPr>
          <a:xfrm>
            <a:off x="6629400" y="2743200"/>
            <a:ext cx="152400" cy="152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2" name="Straight Arrow Connector 31"/>
          <p:cNvCxnSpPr/>
          <p:nvPr/>
        </p:nvCxnSpPr>
        <p:spPr>
          <a:xfrm rot="10800000">
            <a:off x="2209800" y="4953000"/>
            <a:ext cx="4495800" cy="1588"/>
          </a:xfrm>
          <a:prstGeom prst="straightConnector1">
            <a:avLst/>
          </a:prstGeom>
          <a:ln>
            <a:prstDash val="dash"/>
            <a:tailEnd type="arrow"/>
          </a:ln>
        </p:spPr>
        <p:style>
          <a:lnRef idx="1">
            <a:schemeClr val="dk1"/>
          </a:lnRef>
          <a:fillRef idx="0">
            <a:schemeClr val="dk1"/>
          </a:fillRef>
          <a:effectRef idx="0">
            <a:schemeClr val="dk1"/>
          </a:effectRef>
          <a:fontRef idx="minor">
            <a:schemeClr val="tx1"/>
          </a:fontRef>
        </p:style>
      </p:cxnSp>
      <p:sp>
        <p:nvSpPr>
          <p:cNvPr id="33" name="TextBox 32"/>
          <p:cNvSpPr txBox="1"/>
          <p:nvPr/>
        </p:nvSpPr>
        <p:spPr>
          <a:xfrm>
            <a:off x="3352800" y="3657600"/>
            <a:ext cx="20574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Transparent acknowledgement </a:t>
            </a:r>
          </a:p>
          <a:p>
            <a:r>
              <a:rPr lang="en-US" dirty="0"/>
              <a:t>Provided by the IPC facility</a:t>
            </a:r>
          </a:p>
        </p:txBody>
      </p:sp>
      <p:sp>
        <p:nvSpPr>
          <p:cNvPr id="34" name="TextBox 33"/>
          <p:cNvSpPr txBox="1"/>
          <p:nvPr/>
        </p:nvSpPr>
        <p:spPr>
          <a:xfrm>
            <a:off x="2209800" y="5943600"/>
            <a:ext cx="4495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Synchronous send and Asynchronous receive</a:t>
            </a:r>
          </a:p>
        </p:txBody>
      </p:sp>
      <p:sp>
        <p:nvSpPr>
          <p:cNvPr id="35" name="TextBox 34"/>
          <p:cNvSpPr txBox="1"/>
          <p:nvPr/>
        </p:nvSpPr>
        <p:spPr>
          <a:xfrm>
            <a:off x="1371600" y="1219200"/>
            <a:ext cx="1752600" cy="369332"/>
          </a:xfrm>
          <a:prstGeom prst="rect">
            <a:avLst/>
          </a:prstGeom>
          <a:noFill/>
        </p:spPr>
        <p:txBody>
          <a:bodyPr wrap="square" rtlCol="0">
            <a:spAutoFit/>
          </a:bodyPr>
          <a:lstStyle/>
          <a:p>
            <a:pPr algn="ctr"/>
            <a:r>
              <a:rPr lang="en-US" dirty="0"/>
              <a:t>Process 1 </a:t>
            </a:r>
          </a:p>
        </p:txBody>
      </p:sp>
      <p:sp>
        <p:nvSpPr>
          <p:cNvPr id="36" name="TextBox 35"/>
          <p:cNvSpPr txBox="1"/>
          <p:nvPr/>
        </p:nvSpPr>
        <p:spPr>
          <a:xfrm>
            <a:off x="5943600" y="1219200"/>
            <a:ext cx="1752600" cy="369332"/>
          </a:xfrm>
          <a:prstGeom prst="rect">
            <a:avLst/>
          </a:prstGeom>
          <a:noFill/>
        </p:spPr>
        <p:txBody>
          <a:bodyPr wrap="square" rtlCol="0">
            <a:spAutoFit/>
          </a:bodyPr>
          <a:lstStyle/>
          <a:p>
            <a:pPr algn="ctr"/>
            <a:r>
              <a:rPr lang="en-US" dirty="0"/>
              <a:t>Process 2</a:t>
            </a:r>
          </a:p>
        </p:txBody>
      </p:sp>
      <p:cxnSp>
        <p:nvCxnSpPr>
          <p:cNvPr id="28" name="Straight Connector 27"/>
          <p:cNvCxnSpPr>
            <a:stCxn id="22" idx="0"/>
            <a:endCxn id="27" idx="0"/>
          </p:cNvCxnSpPr>
          <p:nvPr/>
        </p:nvCxnSpPr>
        <p:spPr>
          <a:xfrm rot="16200000" flipH="1">
            <a:off x="6286500" y="2324100"/>
            <a:ext cx="838200" cy="1588"/>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p:cNvCxnSpPr/>
          <p:nvPr/>
        </p:nvCxnSpPr>
        <p:spPr>
          <a:xfrm rot="5400000">
            <a:off x="1447800" y="4191000"/>
            <a:ext cx="1524000" cy="1588"/>
          </a:xfrm>
          <a:prstGeom prst="line">
            <a:avLst/>
          </a:prstGeom>
          <a:ln>
            <a:prstDash val="sysDash"/>
          </a:ln>
        </p:spPr>
        <p:style>
          <a:lnRef idx="1">
            <a:schemeClr val="dk1"/>
          </a:lnRef>
          <a:fillRef idx="0">
            <a:schemeClr val="dk1"/>
          </a:fillRef>
          <a:effectRef idx="0">
            <a:schemeClr val="dk1"/>
          </a:effectRef>
          <a:fontRef idx="minor">
            <a:schemeClr val="tx1"/>
          </a:fontRef>
        </p:style>
      </p:cxnSp>
      <p:cxnSp>
        <p:nvCxnSpPr>
          <p:cNvPr id="39" name="Straight Arrow Connector 38"/>
          <p:cNvCxnSpPr>
            <a:endCxn id="9" idx="2"/>
          </p:cNvCxnSpPr>
          <p:nvPr/>
        </p:nvCxnSpPr>
        <p:spPr>
          <a:xfrm rot="5400000">
            <a:off x="1828800" y="5334000"/>
            <a:ext cx="7620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9" name="Slide Number Placeholder 18"/>
          <p:cNvSpPr>
            <a:spLocks noGrp="1"/>
          </p:cNvSpPr>
          <p:nvPr>
            <p:ph type="sldNum" sz="quarter" idx="12"/>
          </p:nvPr>
        </p:nvSpPr>
        <p:spPr/>
        <p:txBody>
          <a:bodyPr/>
          <a:lstStyle/>
          <a:p>
            <a:fld id="{7040D16D-0600-4D21-96E6-588F007D1AD6}" type="slidenum">
              <a:rPr lang="en-US" smtClean="0"/>
              <a:pPr/>
              <a:t>25</a:t>
            </a:fld>
            <a:endParaRPr lang="en-US"/>
          </a:p>
        </p:txBody>
      </p:sp>
      <p:sp>
        <p:nvSpPr>
          <p:cNvPr id="20" name="Footer Placeholder 19"/>
          <p:cNvSpPr>
            <a:spLocks noGrp="1"/>
          </p:cNvSpPr>
          <p:nvPr>
            <p:ph type="ftr" sz="quarter" idx="11"/>
          </p:nvPr>
        </p:nvSpPr>
        <p:spPr/>
        <p:txBody>
          <a:bodyPr/>
          <a:lstStyle/>
          <a:p>
            <a:r>
              <a:rPr lang="en-US"/>
              <a:t>Asst. Professor Riddhi Joshi</a:t>
            </a:r>
          </a:p>
        </p:txBody>
      </p:sp>
      <p:pic>
        <p:nvPicPr>
          <p:cNvPr id="21"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23" name="Title 1"/>
          <p:cNvSpPr txBox="1">
            <a:spLocks/>
          </p:cNvSpPr>
          <p:nvPr/>
        </p:nvSpPr>
        <p:spPr>
          <a:xfrm>
            <a:off x="457200" y="76200"/>
            <a:ext cx="822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92500" lnSpcReduction="20000"/>
          </a:bodyPr>
          <a:lstStyle/>
          <a:p>
            <a:pPr algn="ctr"/>
            <a:r>
              <a:rPr lang="en-US" sz="2400" b="1" dirty="0"/>
              <a:t>(3) Synchronous Send and Asynchronous Receive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85801"/>
            <a:ext cx="8686800" cy="3200400"/>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t>Asynchronous Send and Asynchronous Receive</a:t>
            </a:r>
          </a:p>
          <a:p>
            <a:pPr lvl="1"/>
            <a:r>
              <a:rPr lang="en-US" sz="2300" dirty="0"/>
              <a:t>Without blocking on either side, the only way that the data can be delivered to the receiver is if the IPC facility retains the data received</a:t>
            </a:r>
          </a:p>
          <a:p>
            <a:pPr lvl="1"/>
            <a:endParaRPr lang="en-US" sz="2300" dirty="0"/>
          </a:p>
          <a:p>
            <a:pPr lvl="1"/>
            <a:r>
              <a:rPr lang="en-US" sz="2300" dirty="0"/>
              <a:t>The receiving process can then be notified of the data’s arrival. Alternatively, the receiving process may poll for the arrival of the data and process it when the awaited data has arrived.</a:t>
            </a:r>
          </a:p>
          <a:p>
            <a:pPr lvl="1"/>
            <a:endParaRPr lang="en-US" sz="2300" dirty="0"/>
          </a:p>
        </p:txBody>
      </p:sp>
      <p:sp>
        <p:nvSpPr>
          <p:cNvPr id="4" name="Slide Number Placeholder 3"/>
          <p:cNvSpPr>
            <a:spLocks noGrp="1"/>
          </p:cNvSpPr>
          <p:nvPr>
            <p:ph type="sldNum" sz="quarter" idx="12"/>
          </p:nvPr>
        </p:nvSpPr>
        <p:spPr/>
        <p:txBody>
          <a:bodyPr/>
          <a:lstStyle/>
          <a:p>
            <a:fld id="{7040D16D-0600-4D21-96E6-588F007D1AD6}" type="slidenum">
              <a:rPr lang="en-US" smtClean="0"/>
              <a:pPr/>
              <a:t>26</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7" name="Title 1"/>
          <p:cNvSpPr txBox="1">
            <a:spLocks/>
          </p:cNvSpPr>
          <p:nvPr/>
        </p:nvSpPr>
        <p:spPr>
          <a:xfrm>
            <a:off x="457200" y="76200"/>
            <a:ext cx="822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92500" lnSpcReduction="20000"/>
          </a:bodyPr>
          <a:lstStyle/>
          <a:p>
            <a:pPr algn="ctr"/>
            <a:r>
              <a:rPr lang="en-US" sz="2400" b="1" dirty="0"/>
              <a:t>(4) Asynchronous Send and Asynchronous Receive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143000" y="1828800"/>
            <a:ext cx="21336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11" name="Straight Arrow Connector 10"/>
          <p:cNvCxnSpPr>
            <a:stCxn id="9" idx="0"/>
          </p:cNvCxnSpPr>
          <p:nvPr/>
        </p:nvCxnSpPr>
        <p:spPr>
          <a:xfrm rot="16200000" flipH="1">
            <a:off x="1600200" y="2438400"/>
            <a:ext cx="1219994" cy="79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2" name="Oval 11"/>
          <p:cNvSpPr/>
          <p:nvPr/>
        </p:nvSpPr>
        <p:spPr>
          <a:xfrm>
            <a:off x="2133600" y="3048000"/>
            <a:ext cx="152400" cy="152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TextBox 16"/>
          <p:cNvSpPr txBox="1"/>
          <p:nvPr/>
        </p:nvSpPr>
        <p:spPr>
          <a:xfrm>
            <a:off x="1219200" y="2819400"/>
            <a:ext cx="838200" cy="95410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Non Blocking</a:t>
            </a:r>
          </a:p>
          <a:p>
            <a:r>
              <a:rPr lang="en-US" sz="1400" dirty="0"/>
              <a:t>Send Issued</a:t>
            </a:r>
          </a:p>
        </p:txBody>
      </p:sp>
      <p:cxnSp>
        <p:nvCxnSpPr>
          <p:cNvPr id="19" name="Straight Arrow Connector 18"/>
          <p:cNvCxnSpPr>
            <a:endCxn id="9" idx="2"/>
          </p:cNvCxnSpPr>
          <p:nvPr/>
        </p:nvCxnSpPr>
        <p:spPr>
          <a:xfrm rot="5400000">
            <a:off x="952500" y="4457700"/>
            <a:ext cx="25146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2" name="Rectangle 21"/>
          <p:cNvSpPr/>
          <p:nvPr/>
        </p:nvSpPr>
        <p:spPr>
          <a:xfrm>
            <a:off x="5638800" y="1905000"/>
            <a:ext cx="21336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24" name="Straight Arrow Connector 23"/>
          <p:cNvCxnSpPr>
            <a:stCxn id="27" idx="4"/>
            <a:endCxn id="22" idx="2"/>
          </p:cNvCxnSpPr>
          <p:nvPr/>
        </p:nvCxnSpPr>
        <p:spPr>
          <a:xfrm rot="5400000">
            <a:off x="5257800" y="4343400"/>
            <a:ext cx="28956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5" name="TextBox 24"/>
          <p:cNvSpPr txBox="1"/>
          <p:nvPr/>
        </p:nvSpPr>
        <p:spPr>
          <a:xfrm>
            <a:off x="6781800" y="3875544"/>
            <a:ext cx="1066800" cy="1815882"/>
          </a:xfrm>
          <a:prstGeom prst="rect">
            <a:avLst/>
          </a:prstGeom>
          <a:noFill/>
        </p:spPr>
        <p:txBody>
          <a:bodyPr wrap="square" rtlCol="0">
            <a:spAutoFit/>
          </a:bodyPr>
          <a:lstStyle/>
          <a:p>
            <a:r>
              <a:rPr lang="en-US" sz="1400" dirty="0"/>
              <a:t>Process is notified of the arrival of data and data may now be delivered to it.</a:t>
            </a:r>
          </a:p>
        </p:txBody>
      </p:sp>
      <p:sp>
        <p:nvSpPr>
          <p:cNvPr id="26" name="TextBox 25"/>
          <p:cNvSpPr txBox="1"/>
          <p:nvPr/>
        </p:nvSpPr>
        <p:spPr>
          <a:xfrm>
            <a:off x="6858000" y="1981200"/>
            <a:ext cx="838200" cy="181588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Non-blocking receive issued and returned  immediately</a:t>
            </a:r>
          </a:p>
        </p:txBody>
      </p:sp>
      <p:sp>
        <p:nvSpPr>
          <p:cNvPr id="27" name="Oval 26"/>
          <p:cNvSpPr/>
          <p:nvPr/>
        </p:nvSpPr>
        <p:spPr>
          <a:xfrm>
            <a:off x="6629400" y="2743200"/>
            <a:ext cx="152400" cy="152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TextBox 33"/>
          <p:cNvSpPr txBox="1"/>
          <p:nvPr/>
        </p:nvSpPr>
        <p:spPr>
          <a:xfrm>
            <a:off x="2209800" y="5943600"/>
            <a:ext cx="4495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Asynchronous send and Asynchronous receive</a:t>
            </a:r>
          </a:p>
        </p:txBody>
      </p:sp>
      <p:sp>
        <p:nvSpPr>
          <p:cNvPr id="35" name="TextBox 34"/>
          <p:cNvSpPr txBox="1"/>
          <p:nvPr/>
        </p:nvSpPr>
        <p:spPr>
          <a:xfrm>
            <a:off x="1371600" y="1219200"/>
            <a:ext cx="17526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Process 1 </a:t>
            </a:r>
          </a:p>
        </p:txBody>
      </p:sp>
      <p:sp>
        <p:nvSpPr>
          <p:cNvPr id="36" name="TextBox 35"/>
          <p:cNvSpPr txBox="1"/>
          <p:nvPr/>
        </p:nvSpPr>
        <p:spPr>
          <a:xfrm>
            <a:off x="5943600" y="1219200"/>
            <a:ext cx="17526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Process 2</a:t>
            </a:r>
          </a:p>
        </p:txBody>
      </p:sp>
      <p:cxnSp>
        <p:nvCxnSpPr>
          <p:cNvPr id="28" name="Straight Connector 27"/>
          <p:cNvCxnSpPr>
            <a:stCxn id="22" idx="0"/>
            <a:endCxn id="27" idx="0"/>
          </p:cNvCxnSpPr>
          <p:nvPr/>
        </p:nvCxnSpPr>
        <p:spPr>
          <a:xfrm rot="16200000" flipH="1">
            <a:off x="6286500" y="2324100"/>
            <a:ext cx="838200" cy="1588"/>
          </a:xfrm>
          <a:prstGeom prst="line">
            <a:avLst/>
          </a:prstGeom>
        </p:spPr>
        <p:style>
          <a:lnRef idx="1">
            <a:schemeClr val="dk1"/>
          </a:lnRef>
          <a:fillRef idx="0">
            <a:schemeClr val="dk1"/>
          </a:fillRef>
          <a:effectRef idx="0">
            <a:schemeClr val="dk1"/>
          </a:effectRef>
          <a:fontRef idx="minor">
            <a:schemeClr val="tx1"/>
          </a:fontRef>
        </p:style>
      </p:cxnSp>
      <p:sp>
        <p:nvSpPr>
          <p:cNvPr id="16" name="Slide Number Placeholder 15"/>
          <p:cNvSpPr>
            <a:spLocks noGrp="1"/>
          </p:cNvSpPr>
          <p:nvPr>
            <p:ph type="sldNum" sz="quarter" idx="12"/>
          </p:nvPr>
        </p:nvSpPr>
        <p:spPr/>
        <p:txBody>
          <a:bodyPr/>
          <a:lstStyle/>
          <a:p>
            <a:fld id="{7040D16D-0600-4D21-96E6-588F007D1AD6}" type="slidenum">
              <a:rPr lang="en-US" smtClean="0"/>
              <a:pPr/>
              <a:t>27</a:t>
            </a:fld>
            <a:endParaRPr lang="en-US"/>
          </a:p>
        </p:txBody>
      </p:sp>
      <p:sp>
        <p:nvSpPr>
          <p:cNvPr id="18" name="Footer Placeholder 17"/>
          <p:cNvSpPr>
            <a:spLocks noGrp="1"/>
          </p:cNvSpPr>
          <p:nvPr>
            <p:ph type="ftr" sz="quarter" idx="11"/>
          </p:nvPr>
        </p:nvSpPr>
        <p:spPr/>
        <p:txBody>
          <a:bodyPr/>
          <a:lstStyle/>
          <a:p>
            <a:r>
              <a:rPr lang="en-US"/>
              <a:t>Asst. Professor Riddhi Joshi</a:t>
            </a:r>
          </a:p>
        </p:txBody>
      </p:sp>
      <p:pic>
        <p:nvPicPr>
          <p:cNvPr id="20"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21" name="Title 1"/>
          <p:cNvSpPr txBox="1">
            <a:spLocks/>
          </p:cNvSpPr>
          <p:nvPr/>
        </p:nvSpPr>
        <p:spPr>
          <a:xfrm>
            <a:off x="457200" y="76200"/>
            <a:ext cx="822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92500" lnSpcReduction="20000"/>
          </a:bodyPr>
          <a:lstStyle/>
          <a:p>
            <a:pPr algn="ctr"/>
            <a:r>
              <a:rPr lang="en-US" sz="2400" b="1" dirty="0"/>
              <a:t>(4) Asynchronous Send and Asynchronous Receive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152400" y="1371600"/>
            <a:ext cx="8763000" cy="36576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r>
              <a:rPr lang="en-US" sz="2200" dirty="0">
                <a:solidFill>
                  <a:schemeClr val="tx1"/>
                </a:solidFill>
                <a:latin typeface="Cambria" pitchFamily="18" charset="0"/>
                <a:cs typeface="Aharoni" pitchFamily="2" charset="-79"/>
              </a:rPr>
              <a:t>2.1 An Archetypal IPC Program Interface</a:t>
            </a:r>
          </a:p>
          <a:p>
            <a:r>
              <a:rPr lang="en-US" sz="2200" dirty="0">
                <a:solidFill>
                  <a:schemeClr val="tx1"/>
                </a:solidFill>
                <a:latin typeface="Cambria" pitchFamily="18" charset="0"/>
                <a:cs typeface="Aharoni" pitchFamily="2" charset="-79"/>
              </a:rPr>
              <a:t>2.2 Event Synchronization</a:t>
            </a:r>
          </a:p>
          <a:p>
            <a:r>
              <a:rPr lang="en-US" sz="2200" dirty="0">
                <a:latin typeface="Cambria" pitchFamily="18" charset="0"/>
                <a:cs typeface="Aharoni" pitchFamily="2" charset="-79"/>
              </a:rPr>
              <a:t>      </a:t>
            </a:r>
            <a:r>
              <a:rPr lang="en-US" sz="2200" b="1" dirty="0">
                <a:solidFill>
                  <a:schemeClr val="accent1"/>
                </a:solidFill>
                <a:latin typeface="Cambria" pitchFamily="18" charset="0"/>
                <a:cs typeface="Aharoni" pitchFamily="2" charset="-79"/>
              </a:rPr>
              <a:t>2.3 Timeouts and Threading</a:t>
            </a:r>
          </a:p>
          <a:p>
            <a:r>
              <a:rPr lang="en-US" sz="2200" dirty="0">
                <a:latin typeface="Cambria" pitchFamily="18" charset="0"/>
                <a:cs typeface="Aharoni" pitchFamily="2" charset="-79"/>
              </a:rPr>
              <a:t>2.4 Deadlocks and Timeouts</a:t>
            </a:r>
          </a:p>
          <a:p>
            <a:r>
              <a:rPr lang="en-US" sz="2200" dirty="0">
                <a:latin typeface="Cambria" pitchFamily="18" charset="0"/>
                <a:cs typeface="Aharoni" pitchFamily="2" charset="-79"/>
              </a:rPr>
              <a:t>2.5 Data Representation</a:t>
            </a:r>
          </a:p>
          <a:p>
            <a:r>
              <a:rPr lang="en-US" sz="2200" dirty="0">
                <a:latin typeface="Cambria" pitchFamily="18" charset="0"/>
                <a:cs typeface="Aharoni" pitchFamily="2" charset="-79"/>
              </a:rPr>
              <a:t>2.6 Data Encoding</a:t>
            </a:r>
          </a:p>
          <a:p>
            <a:r>
              <a:rPr lang="en-US" sz="2200" dirty="0">
                <a:latin typeface="Cambria" pitchFamily="18" charset="0"/>
                <a:cs typeface="Aharoni" pitchFamily="2" charset="-79"/>
              </a:rPr>
              <a:t>2.7 Text Based Protocol</a:t>
            </a:r>
          </a:p>
          <a:p>
            <a:r>
              <a:rPr lang="en-US" sz="2200" dirty="0">
                <a:latin typeface="Cambria" pitchFamily="18" charset="0"/>
                <a:cs typeface="Aharoni" pitchFamily="2" charset="-79"/>
              </a:rPr>
              <a:t>2.8 Request Response Protocol</a:t>
            </a:r>
          </a:p>
          <a:p>
            <a:r>
              <a:rPr lang="en-US" sz="2200" dirty="0">
                <a:latin typeface="Cambria" pitchFamily="18" charset="0"/>
                <a:cs typeface="Aharoni" pitchFamily="2" charset="-79"/>
              </a:rPr>
              <a:t>2.9 Event Diagram &amp; Sequence Diagram</a:t>
            </a:r>
          </a:p>
          <a:p>
            <a:r>
              <a:rPr lang="en-US" sz="2200" dirty="0">
                <a:latin typeface="Cambria" pitchFamily="18" charset="0"/>
                <a:cs typeface="Aharoni" pitchFamily="2" charset="-79"/>
              </a:rPr>
              <a:t>2.10 Connection Oriented  Vs. Connectionless IPC</a:t>
            </a:r>
          </a:p>
          <a:p>
            <a:endParaRPr lang="en-US" sz="2200" dirty="0">
              <a:latin typeface="Cambria" pitchFamily="18" charset="0"/>
              <a:cs typeface="Aharoni" pitchFamily="2" charset="-79"/>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endParaRPr kumimoji="0" lang="en-US" sz="2200" b="0" i="0" u="none" strike="noStrike" kern="1200" cap="none" spc="0" normalizeH="0" baseline="0" noProof="0" dirty="0">
              <a:ln>
                <a:noFill/>
              </a:ln>
              <a:solidFill>
                <a:schemeClr val="tx1"/>
              </a:solidFill>
              <a:effectLst/>
              <a:uLnTx/>
              <a:uFillTx/>
              <a:latin typeface="Cambria" pitchFamily="18" charset="0"/>
              <a:cs typeface="Aharoni" pitchFamily="2" charset="-79"/>
            </a:endParaRPr>
          </a:p>
        </p:txBody>
      </p:sp>
      <p:sp>
        <p:nvSpPr>
          <p:cNvPr id="5" name="TextBox 4"/>
          <p:cNvSpPr txBox="1"/>
          <p:nvPr/>
        </p:nvSpPr>
        <p:spPr>
          <a:xfrm>
            <a:off x="2514600" y="152400"/>
            <a:ext cx="4267200" cy="523875"/>
          </a:xfrm>
          <a:prstGeom prst="rect">
            <a:avLst/>
          </a:prstGeom>
        </p:spPr>
        <p:style>
          <a:lnRef idx="3">
            <a:schemeClr val="lt1"/>
          </a:lnRef>
          <a:fillRef idx="1">
            <a:schemeClr val="accent1"/>
          </a:fillRef>
          <a:effectRef idx="1">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6" name="Slide Number Placeholder 5"/>
          <p:cNvSpPr>
            <a:spLocks noGrp="1"/>
          </p:cNvSpPr>
          <p:nvPr>
            <p:ph type="sldNum" sz="quarter" idx="12"/>
          </p:nvPr>
        </p:nvSpPr>
        <p:spPr/>
        <p:txBody>
          <a:bodyPr/>
          <a:lstStyle/>
          <a:p>
            <a:fld id="{7040D16D-0600-4D21-96E6-588F007D1AD6}" type="slidenum">
              <a:rPr lang="en-US" smtClean="0"/>
              <a:pPr/>
              <a:t>28</a:t>
            </a:fld>
            <a:endParaRPr lang="en-US"/>
          </a:p>
        </p:txBody>
      </p:sp>
      <p:sp>
        <p:nvSpPr>
          <p:cNvPr id="7" name="Footer Placeholder 6"/>
          <p:cNvSpPr>
            <a:spLocks noGrp="1"/>
          </p:cNvSpPr>
          <p:nvPr>
            <p:ph type="ftr" sz="quarter" idx="11"/>
          </p:nvPr>
        </p:nvSpPr>
        <p:spPr/>
        <p:txBody>
          <a:bodyPr/>
          <a:lstStyle/>
          <a:p>
            <a:r>
              <a:rPr lang="en-US"/>
              <a:t>Asst. Professor Riddhi Joshi</a:t>
            </a:r>
          </a:p>
        </p:txBody>
      </p:sp>
      <p:pic>
        <p:nvPicPr>
          <p:cNvPr id="2051" name="Picture 3" descr="F:\General Data\general sub data\animated images\gp image\stick_figure_walking_reading_book_sm_wm.gif"/>
          <p:cNvPicPr>
            <a:picLocks noChangeAspect="1" noChangeArrowheads="1" noCrop="1"/>
          </p:cNvPicPr>
          <p:nvPr/>
        </p:nvPicPr>
        <p:blipFill>
          <a:blip r:embed="rId2"/>
          <a:srcRect/>
          <a:stretch>
            <a:fillRect/>
          </a:stretch>
        </p:blipFill>
        <p:spPr bwMode="auto">
          <a:xfrm>
            <a:off x="152400" y="95250"/>
            <a:ext cx="1447800" cy="1047750"/>
          </a:xfrm>
          <a:prstGeom prst="rect">
            <a:avLst/>
          </a:prstGeom>
          <a:noFill/>
        </p:spPr>
      </p:pic>
      <p:pic>
        <p:nvPicPr>
          <p:cNvPr id="9" name="Picture 2" descr="F:\General Data\general sub data\animated images\gp image\5027341-blue-crystal-earth-showing-north-and-south-america.jpg"/>
          <p:cNvPicPr>
            <a:picLocks noChangeAspect="1" noChangeArrowheads="1"/>
          </p:cNvPicPr>
          <p:nvPr/>
        </p:nvPicPr>
        <p:blipFill>
          <a:blip r:embed="rId3"/>
          <a:srcRect/>
          <a:stretch>
            <a:fillRect/>
          </a:stretch>
        </p:blipFill>
        <p:spPr bwMode="auto">
          <a:xfrm>
            <a:off x="76200" y="5638800"/>
            <a:ext cx="1143000" cy="1143000"/>
          </a:xfrm>
          <a:prstGeom prst="ellipse">
            <a:avLst/>
          </a:prstGeom>
          <a:ln>
            <a:noFill/>
          </a:ln>
          <a:effectLst>
            <a:softEdge rad="112500"/>
          </a:effectLst>
        </p:spPr>
      </p:pic>
      <p:sp>
        <p:nvSpPr>
          <p:cNvPr id="10" name="Right Arrow 9"/>
          <p:cNvSpPr/>
          <p:nvPr/>
        </p:nvSpPr>
        <p:spPr>
          <a:xfrm>
            <a:off x="228600" y="22098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style>
          <a:lnRef idx="3">
            <a:schemeClr val="lt1"/>
          </a:lnRef>
          <a:fillRef idx="1">
            <a:schemeClr val="accent1"/>
          </a:fillRef>
          <a:effectRef idx="1">
            <a:schemeClr val="accent1"/>
          </a:effectRef>
          <a:fontRef idx="minor">
            <a:schemeClr val="lt1"/>
          </a:fontRef>
        </p:style>
        <p:txBody>
          <a:bodyPr>
            <a:normAutofit/>
          </a:bodyPr>
          <a:lstStyle/>
          <a:p>
            <a:r>
              <a:rPr lang="en-US" sz="2600" b="1" dirty="0">
                <a:effectLst>
                  <a:outerShdw blurRad="38100" dist="38100" dir="2700000" algn="tl">
                    <a:srgbClr val="000000">
                      <a:alpha val="43137"/>
                    </a:srgbClr>
                  </a:outerShdw>
                </a:effectLst>
              </a:rPr>
              <a:t>2.3 Timeouts and Threading</a:t>
            </a:r>
          </a:p>
        </p:txBody>
      </p:sp>
      <p:sp>
        <p:nvSpPr>
          <p:cNvPr id="3" name="Content Placeholder 2"/>
          <p:cNvSpPr>
            <a:spLocks noGrp="1"/>
          </p:cNvSpPr>
          <p:nvPr>
            <p:ph idx="1"/>
          </p:nvPr>
        </p:nvSpPr>
        <p:spPr>
          <a:xfrm>
            <a:off x="457200" y="1143000"/>
            <a:ext cx="8229600" cy="4525963"/>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t>It is generally unacceptable to allow a process to be suspended indefinitely.</a:t>
            </a:r>
          </a:p>
          <a:p>
            <a:r>
              <a:rPr lang="en-US" sz="2300" dirty="0"/>
              <a:t>There are two measures to address this issue. First timeouts may be used to set a maximum time period of blocking.</a:t>
            </a:r>
          </a:p>
          <a:p>
            <a:r>
              <a:rPr lang="en-US" sz="2300" dirty="0"/>
              <a:t>Timeouts are provided by IPC facility and may be specified in a program with an operation.</a:t>
            </a:r>
          </a:p>
          <a:p>
            <a:r>
              <a:rPr lang="en-US" sz="2300" dirty="0"/>
              <a:t>Second a program may spawn a child process or thread to issue blocking operation, allowing them main thread or parent process of the program to proceed with other processing while the child process or child thread is suspended. </a:t>
            </a:r>
          </a:p>
        </p:txBody>
      </p:sp>
      <p:sp>
        <p:nvSpPr>
          <p:cNvPr id="4" name="Slide Number Placeholder 3"/>
          <p:cNvSpPr>
            <a:spLocks noGrp="1"/>
          </p:cNvSpPr>
          <p:nvPr>
            <p:ph type="sldNum" sz="quarter" idx="12"/>
          </p:nvPr>
        </p:nvSpPr>
        <p:spPr/>
        <p:txBody>
          <a:bodyPr/>
          <a:lstStyle/>
          <a:p>
            <a:fld id="{7040D16D-0600-4D21-96E6-588F007D1AD6}" type="slidenum">
              <a:rPr lang="en-US" smtClean="0"/>
              <a:pPr/>
              <a:t>29</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534400" cy="4525963"/>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t>Time outs are important if the execution of a synchronous operation has the potential of resulting in indefinite blocking.</a:t>
            </a:r>
          </a:p>
          <a:p>
            <a:r>
              <a:rPr lang="en-US" sz="2300" dirty="0"/>
              <a:t>For ex. A blocking connect request can result in the requesting process being suspended indefinitely if the connection is unfulfilled or cannot be fulfilled as a result a breakdown in the network connecting the two processes.</a:t>
            </a:r>
          </a:p>
          <a:p>
            <a:r>
              <a:rPr lang="en-US" sz="2300" dirty="0"/>
              <a:t>In such a situation, it is typically unacceptable for the requesting process to “hang” indefinitely.</a:t>
            </a:r>
          </a:p>
          <a:p>
            <a:r>
              <a:rPr lang="en-US" sz="2300" dirty="0"/>
              <a:t>Indefinite blocking can be avoided by using a timeout. For example, a timeout period of 30 seconds may be specified with the connect request.</a:t>
            </a:r>
          </a:p>
        </p:txBody>
      </p:sp>
      <p:sp>
        <p:nvSpPr>
          <p:cNvPr id="4" name="Slide Number Placeholder 3"/>
          <p:cNvSpPr>
            <a:spLocks noGrp="1"/>
          </p:cNvSpPr>
          <p:nvPr>
            <p:ph type="sldNum" sz="quarter" idx="12"/>
          </p:nvPr>
        </p:nvSpPr>
        <p:spPr/>
        <p:txBody>
          <a:bodyPr/>
          <a:lstStyle/>
          <a:p>
            <a:fld id="{7040D16D-0600-4D21-96E6-588F007D1AD6}" type="slidenum">
              <a:rPr lang="en-US" smtClean="0"/>
              <a:pPr/>
              <a:t>30</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7" name="Title 1"/>
          <p:cNvSpPr txBox="1">
            <a:spLocks/>
          </p:cNvSpPr>
          <p:nvPr/>
        </p:nvSpPr>
        <p:spPr>
          <a:xfrm>
            <a:off x="457200" y="76200"/>
            <a:ext cx="8229600" cy="6858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outerShdw blurRad="38100" dist="38100" dir="2700000" algn="tl">
                    <a:srgbClr val="000000">
                      <a:alpha val="43137"/>
                    </a:srgbClr>
                  </a:outerShdw>
                </a:effectLst>
                <a:uLnTx/>
                <a:uFillTx/>
                <a:latin typeface="+mn-lt"/>
                <a:ea typeface="+mn-ea"/>
                <a:cs typeface="+mn-cs"/>
              </a:rPr>
              <a:t>2.3 Timeouts and Threading</a:t>
            </a:r>
            <a:endPar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mn-lt"/>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52600"/>
            <a:ext cx="8229600" cy="2209800"/>
          </a:xfrm>
        </p:spPr>
        <p:style>
          <a:lnRef idx="2">
            <a:schemeClr val="accent1"/>
          </a:lnRef>
          <a:fillRef idx="1">
            <a:schemeClr val="lt1"/>
          </a:fillRef>
          <a:effectRef idx="0">
            <a:schemeClr val="accent1"/>
          </a:effectRef>
          <a:fontRef idx="minor">
            <a:schemeClr val="dk1"/>
          </a:fontRef>
        </p:style>
        <p:txBody>
          <a:bodyPr>
            <a:normAutofit/>
          </a:bodyPr>
          <a:lstStyle/>
          <a:p>
            <a:r>
              <a:rPr lang="en-US" sz="2400" dirty="0"/>
              <a:t>If the request is not completed within approximately 30 seconds, it will be aborted by the IPC facility, at which time, the requesting process will be unblocked, allowing it to resume processing.</a:t>
            </a:r>
          </a:p>
        </p:txBody>
      </p:sp>
      <p:sp>
        <p:nvSpPr>
          <p:cNvPr id="4" name="Slide Number Placeholder 3"/>
          <p:cNvSpPr>
            <a:spLocks noGrp="1"/>
          </p:cNvSpPr>
          <p:nvPr>
            <p:ph type="sldNum" sz="quarter" idx="12"/>
          </p:nvPr>
        </p:nvSpPr>
        <p:spPr/>
        <p:txBody>
          <a:bodyPr/>
          <a:lstStyle/>
          <a:p>
            <a:fld id="{7040D16D-0600-4D21-96E6-588F007D1AD6}" type="slidenum">
              <a:rPr lang="en-US" smtClean="0"/>
              <a:pPr/>
              <a:t>31</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7" name="Title 1"/>
          <p:cNvSpPr txBox="1">
            <a:spLocks/>
          </p:cNvSpPr>
          <p:nvPr/>
        </p:nvSpPr>
        <p:spPr>
          <a:xfrm>
            <a:off x="457200" y="76200"/>
            <a:ext cx="8229600" cy="79216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outerShdw blurRad="38100" dist="38100" dir="2700000" algn="tl">
                    <a:srgbClr val="000000">
                      <a:alpha val="43137"/>
                    </a:srgbClr>
                  </a:outerShdw>
                </a:effectLst>
                <a:uLnTx/>
                <a:uFillTx/>
                <a:latin typeface="+mn-lt"/>
                <a:ea typeface="+mn-ea"/>
                <a:cs typeface="+mn-cs"/>
              </a:rPr>
              <a:t>2.3 Timeouts and Threading</a:t>
            </a:r>
            <a:endPar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mn-lt"/>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p:cNvCxnSpPr/>
          <p:nvPr/>
        </p:nvCxnSpPr>
        <p:spPr>
          <a:xfrm rot="5400000">
            <a:off x="-419100" y="3695700"/>
            <a:ext cx="419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219200" y="1219200"/>
            <a:ext cx="914400" cy="369332"/>
          </a:xfrm>
          <a:prstGeom prst="rect">
            <a:avLst/>
          </a:prstGeom>
          <a:noFill/>
        </p:spPr>
        <p:txBody>
          <a:bodyPr wrap="square" rtlCol="0">
            <a:spAutoFit/>
          </a:bodyPr>
          <a:lstStyle/>
          <a:p>
            <a:pPr algn="ctr"/>
            <a:r>
              <a:rPr lang="en-US" dirty="0"/>
              <a:t>Time</a:t>
            </a:r>
          </a:p>
        </p:txBody>
      </p:sp>
      <p:cxnSp>
        <p:nvCxnSpPr>
          <p:cNvPr id="7" name="Straight Arrow Connector 6"/>
          <p:cNvCxnSpPr/>
          <p:nvPr/>
        </p:nvCxnSpPr>
        <p:spPr>
          <a:xfrm rot="5400000">
            <a:off x="3207110" y="3670222"/>
            <a:ext cx="419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876800" y="1194516"/>
            <a:ext cx="914400" cy="369332"/>
          </a:xfrm>
          <a:prstGeom prst="rect">
            <a:avLst/>
          </a:prstGeom>
          <a:noFill/>
        </p:spPr>
        <p:txBody>
          <a:bodyPr wrap="square" rtlCol="0">
            <a:spAutoFit/>
          </a:bodyPr>
          <a:lstStyle/>
          <a:p>
            <a:pPr algn="ctr"/>
            <a:r>
              <a:rPr lang="en-US" dirty="0"/>
              <a:t>Process</a:t>
            </a:r>
          </a:p>
        </p:txBody>
      </p:sp>
      <p:sp>
        <p:nvSpPr>
          <p:cNvPr id="9" name="TextBox 8"/>
          <p:cNvSpPr txBox="1"/>
          <p:nvPr/>
        </p:nvSpPr>
        <p:spPr>
          <a:xfrm>
            <a:off x="5791200" y="1828800"/>
            <a:ext cx="1295400" cy="369332"/>
          </a:xfrm>
          <a:prstGeom prst="rect">
            <a:avLst/>
          </a:prstGeom>
          <a:noFill/>
        </p:spPr>
        <p:txBody>
          <a:bodyPr wrap="square" rtlCol="0">
            <a:spAutoFit/>
          </a:bodyPr>
          <a:lstStyle/>
          <a:p>
            <a:r>
              <a:rPr lang="en-US" dirty="0"/>
              <a:t>Main Thread</a:t>
            </a:r>
          </a:p>
        </p:txBody>
      </p:sp>
      <p:sp>
        <p:nvSpPr>
          <p:cNvPr id="10" name="Oval 9"/>
          <p:cNvSpPr/>
          <p:nvPr/>
        </p:nvSpPr>
        <p:spPr>
          <a:xfrm>
            <a:off x="5186979" y="25908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987616" y="3163911"/>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5985468" y="3998898"/>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199858" y="4509753"/>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10" idx="5"/>
            <a:endCxn id="11" idx="2"/>
          </p:cNvCxnSpPr>
          <p:nvPr/>
        </p:nvCxnSpPr>
        <p:spPr>
          <a:xfrm rot="16200000" flipH="1">
            <a:off x="5438714" y="2729308"/>
            <a:ext cx="492289" cy="6055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2" idx="3"/>
            <a:endCxn id="13" idx="6"/>
          </p:cNvCxnSpPr>
          <p:nvPr/>
        </p:nvCxnSpPr>
        <p:spPr>
          <a:xfrm rot="5400000">
            <a:off x="5508686" y="4113792"/>
            <a:ext cx="430033" cy="5904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4"/>
            <a:endCxn id="12" idx="0"/>
          </p:cNvCxnSpPr>
          <p:nvPr/>
        </p:nvCxnSpPr>
        <p:spPr>
          <a:xfrm rot="5400000">
            <a:off x="5797649" y="3694630"/>
            <a:ext cx="606387" cy="2148"/>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801968" y="3039417"/>
            <a:ext cx="2743200" cy="646331"/>
          </a:xfrm>
          <a:prstGeom prst="rect">
            <a:avLst/>
          </a:prstGeom>
          <a:noFill/>
        </p:spPr>
        <p:txBody>
          <a:bodyPr wrap="square" rtlCol="0">
            <a:spAutoFit/>
          </a:bodyPr>
          <a:lstStyle/>
          <a:p>
            <a:r>
              <a:rPr lang="en-US" dirty="0"/>
              <a:t>Main thread continues with other processing </a:t>
            </a:r>
          </a:p>
        </p:txBody>
      </p:sp>
      <p:sp>
        <p:nvSpPr>
          <p:cNvPr id="24" name="TextBox 23"/>
          <p:cNvSpPr txBox="1"/>
          <p:nvPr/>
        </p:nvSpPr>
        <p:spPr>
          <a:xfrm>
            <a:off x="6209763" y="2717200"/>
            <a:ext cx="2514600" cy="646331"/>
          </a:xfrm>
          <a:prstGeom prst="rect">
            <a:avLst/>
          </a:prstGeom>
          <a:noFill/>
        </p:spPr>
        <p:txBody>
          <a:bodyPr wrap="square" rtlCol="0">
            <a:spAutoFit/>
          </a:bodyPr>
          <a:lstStyle/>
          <a:p>
            <a:r>
              <a:rPr lang="en-US" dirty="0"/>
              <a:t>New thread issues a blocking IPC operation</a:t>
            </a:r>
          </a:p>
        </p:txBody>
      </p:sp>
      <p:sp>
        <p:nvSpPr>
          <p:cNvPr id="26" name="TextBox 25"/>
          <p:cNvSpPr txBox="1"/>
          <p:nvPr/>
        </p:nvSpPr>
        <p:spPr>
          <a:xfrm>
            <a:off x="6207615" y="4093105"/>
            <a:ext cx="2514600" cy="646331"/>
          </a:xfrm>
          <a:prstGeom prst="rect">
            <a:avLst/>
          </a:prstGeom>
          <a:noFill/>
        </p:spPr>
        <p:txBody>
          <a:bodyPr wrap="square" rtlCol="0">
            <a:spAutoFit/>
          </a:bodyPr>
          <a:lstStyle/>
          <a:p>
            <a:r>
              <a:rPr lang="en-US" dirty="0"/>
              <a:t>Thread is unblocked after the operation is fulfilled</a:t>
            </a:r>
          </a:p>
        </p:txBody>
      </p:sp>
      <p:sp>
        <p:nvSpPr>
          <p:cNvPr id="27" name="TextBox 26"/>
          <p:cNvSpPr txBox="1"/>
          <p:nvPr/>
        </p:nvSpPr>
        <p:spPr>
          <a:xfrm>
            <a:off x="6201180" y="3578196"/>
            <a:ext cx="2078862" cy="369332"/>
          </a:xfrm>
          <a:prstGeom prst="rect">
            <a:avLst/>
          </a:prstGeom>
          <a:noFill/>
        </p:spPr>
        <p:txBody>
          <a:bodyPr wrap="square" rtlCol="0">
            <a:spAutoFit/>
          </a:bodyPr>
          <a:lstStyle/>
          <a:p>
            <a:r>
              <a:rPr lang="en-US" dirty="0"/>
              <a:t>Thread is blocked </a:t>
            </a:r>
          </a:p>
        </p:txBody>
      </p:sp>
      <p:sp>
        <p:nvSpPr>
          <p:cNvPr id="18" name="Slide Number Placeholder 17"/>
          <p:cNvSpPr>
            <a:spLocks noGrp="1"/>
          </p:cNvSpPr>
          <p:nvPr>
            <p:ph type="sldNum" sz="quarter" idx="12"/>
          </p:nvPr>
        </p:nvSpPr>
        <p:spPr/>
        <p:txBody>
          <a:bodyPr/>
          <a:lstStyle/>
          <a:p>
            <a:fld id="{7040D16D-0600-4D21-96E6-588F007D1AD6}" type="slidenum">
              <a:rPr lang="en-US" smtClean="0"/>
              <a:pPr/>
              <a:t>32</a:t>
            </a:fld>
            <a:endParaRPr lang="en-US"/>
          </a:p>
        </p:txBody>
      </p:sp>
      <p:sp>
        <p:nvSpPr>
          <p:cNvPr id="19" name="Footer Placeholder 18"/>
          <p:cNvSpPr>
            <a:spLocks noGrp="1"/>
          </p:cNvSpPr>
          <p:nvPr>
            <p:ph type="ftr" sz="quarter" idx="11"/>
          </p:nvPr>
        </p:nvSpPr>
        <p:spPr/>
        <p:txBody>
          <a:bodyPr/>
          <a:lstStyle/>
          <a:p>
            <a:r>
              <a:rPr lang="en-US"/>
              <a:t>Asst. Professor Riddhi Joshi</a:t>
            </a:r>
          </a:p>
        </p:txBody>
      </p:sp>
      <p:pic>
        <p:nvPicPr>
          <p:cNvPr id="20"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21" name="Title 1"/>
          <p:cNvSpPr txBox="1">
            <a:spLocks/>
          </p:cNvSpPr>
          <p:nvPr/>
        </p:nvSpPr>
        <p:spPr>
          <a:xfrm>
            <a:off x="457200" y="76200"/>
            <a:ext cx="8229600" cy="6858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outerShdw blurRad="38100" dist="38100" dir="2700000" algn="tl">
                    <a:srgbClr val="000000">
                      <a:alpha val="43137"/>
                    </a:srgbClr>
                  </a:outerShdw>
                </a:effectLst>
                <a:uLnTx/>
                <a:uFillTx/>
                <a:latin typeface="+mn-lt"/>
                <a:ea typeface="+mn-ea"/>
                <a:cs typeface="+mn-cs"/>
              </a:rPr>
              <a:t>2.3 Timeouts and Threading</a:t>
            </a:r>
            <a:endPar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mn-lt"/>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152400" y="1371600"/>
            <a:ext cx="8763000" cy="36576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r>
              <a:rPr lang="en-US" sz="2200" dirty="0">
                <a:solidFill>
                  <a:schemeClr val="tx1"/>
                </a:solidFill>
                <a:latin typeface="Cambria" pitchFamily="18" charset="0"/>
                <a:cs typeface="Aharoni" pitchFamily="2" charset="-79"/>
              </a:rPr>
              <a:t>2.1 An Archetypal IPC Program Interface</a:t>
            </a:r>
          </a:p>
          <a:p>
            <a:r>
              <a:rPr lang="en-US" sz="2200" dirty="0">
                <a:solidFill>
                  <a:schemeClr val="tx1"/>
                </a:solidFill>
                <a:latin typeface="Cambria" pitchFamily="18" charset="0"/>
                <a:cs typeface="Aharoni" pitchFamily="2" charset="-79"/>
              </a:rPr>
              <a:t>2.2 Event Synchronization</a:t>
            </a:r>
          </a:p>
          <a:p>
            <a:r>
              <a:rPr lang="en-US" sz="2200" dirty="0">
                <a:solidFill>
                  <a:schemeClr val="tx1"/>
                </a:solidFill>
                <a:latin typeface="Cambria" pitchFamily="18" charset="0"/>
                <a:cs typeface="Aharoni" pitchFamily="2" charset="-79"/>
              </a:rPr>
              <a:t>2.3 Timeouts and Threading</a:t>
            </a:r>
          </a:p>
          <a:p>
            <a:r>
              <a:rPr lang="en-US" sz="2200" b="1" dirty="0">
                <a:solidFill>
                  <a:schemeClr val="accent1"/>
                </a:solidFill>
                <a:latin typeface="Cambria" pitchFamily="18" charset="0"/>
                <a:cs typeface="Aharoni" pitchFamily="2" charset="-79"/>
              </a:rPr>
              <a:t>       2.4 Deadlocks and Timeouts</a:t>
            </a:r>
          </a:p>
          <a:p>
            <a:r>
              <a:rPr lang="en-US" sz="2200" dirty="0">
                <a:latin typeface="Cambria" pitchFamily="18" charset="0"/>
                <a:cs typeface="Aharoni" pitchFamily="2" charset="-79"/>
              </a:rPr>
              <a:t>2.5 Data Representation</a:t>
            </a:r>
          </a:p>
          <a:p>
            <a:r>
              <a:rPr lang="en-US" sz="2200" dirty="0">
                <a:latin typeface="Cambria" pitchFamily="18" charset="0"/>
                <a:cs typeface="Aharoni" pitchFamily="2" charset="-79"/>
              </a:rPr>
              <a:t>2.6 Data Encoding</a:t>
            </a:r>
          </a:p>
          <a:p>
            <a:r>
              <a:rPr lang="en-US" sz="2200" dirty="0">
                <a:latin typeface="Cambria" pitchFamily="18" charset="0"/>
                <a:cs typeface="Aharoni" pitchFamily="2" charset="-79"/>
              </a:rPr>
              <a:t>2.7 Text Based Protocol</a:t>
            </a:r>
          </a:p>
          <a:p>
            <a:r>
              <a:rPr lang="en-US" sz="2200" dirty="0">
                <a:latin typeface="Cambria" pitchFamily="18" charset="0"/>
                <a:cs typeface="Aharoni" pitchFamily="2" charset="-79"/>
              </a:rPr>
              <a:t>2.8 Request Response Protocol</a:t>
            </a:r>
          </a:p>
          <a:p>
            <a:r>
              <a:rPr lang="en-US" sz="2200" dirty="0">
                <a:latin typeface="Cambria" pitchFamily="18" charset="0"/>
                <a:cs typeface="Aharoni" pitchFamily="2" charset="-79"/>
              </a:rPr>
              <a:t>2.9 Event Diagram &amp; Sequence Diagram</a:t>
            </a:r>
          </a:p>
          <a:p>
            <a:r>
              <a:rPr lang="en-US" sz="2200" dirty="0">
                <a:latin typeface="Cambria" pitchFamily="18" charset="0"/>
                <a:cs typeface="Aharoni" pitchFamily="2" charset="-79"/>
              </a:rPr>
              <a:t>2.10 Connection Oriented  Vs. Connectionless IPC</a:t>
            </a:r>
          </a:p>
          <a:p>
            <a:endParaRPr lang="en-US" sz="2200" dirty="0">
              <a:latin typeface="Cambria" pitchFamily="18" charset="0"/>
              <a:cs typeface="Aharoni" pitchFamily="2" charset="-79"/>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endParaRPr kumimoji="0" lang="en-US" sz="2200" b="0" i="0" u="none" strike="noStrike" kern="1200" cap="none" spc="0" normalizeH="0" baseline="0" noProof="0" dirty="0">
              <a:ln>
                <a:noFill/>
              </a:ln>
              <a:solidFill>
                <a:schemeClr val="tx1"/>
              </a:solidFill>
              <a:effectLst/>
              <a:uLnTx/>
              <a:uFillTx/>
              <a:latin typeface="Cambria" pitchFamily="18" charset="0"/>
              <a:cs typeface="Aharoni" pitchFamily="2" charset="-79"/>
            </a:endParaRPr>
          </a:p>
        </p:txBody>
      </p:sp>
      <p:sp>
        <p:nvSpPr>
          <p:cNvPr id="5" name="TextBox 4"/>
          <p:cNvSpPr txBox="1"/>
          <p:nvPr/>
        </p:nvSpPr>
        <p:spPr>
          <a:xfrm>
            <a:off x="2514600" y="152400"/>
            <a:ext cx="4267200" cy="523875"/>
          </a:xfrm>
          <a:prstGeom prst="rect">
            <a:avLst/>
          </a:prstGeom>
        </p:spPr>
        <p:style>
          <a:lnRef idx="3">
            <a:schemeClr val="lt1"/>
          </a:lnRef>
          <a:fillRef idx="1">
            <a:schemeClr val="accent1"/>
          </a:fillRef>
          <a:effectRef idx="1">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6" name="Slide Number Placeholder 5"/>
          <p:cNvSpPr>
            <a:spLocks noGrp="1"/>
          </p:cNvSpPr>
          <p:nvPr>
            <p:ph type="sldNum" sz="quarter" idx="12"/>
          </p:nvPr>
        </p:nvSpPr>
        <p:spPr/>
        <p:txBody>
          <a:bodyPr/>
          <a:lstStyle/>
          <a:p>
            <a:fld id="{7040D16D-0600-4D21-96E6-588F007D1AD6}" type="slidenum">
              <a:rPr lang="en-US" smtClean="0"/>
              <a:pPr/>
              <a:t>33</a:t>
            </a:fld>
            <a:endParaRPr lang="en-US"/>
          </a:p>
        </p:txBody>
      </p:sp>
      <p:sp>
        <p:nvSpPr>
          <p:cNvPr id="7" name="Footer Placeholder 6"/>
          <p:cNvSpPr>
            <a:spLocks noGrp="1"/>
          </p:cNvSpPr>
          <p:nvPr>
            <p:ph type="ftr" sz="quarter" idx="11"/>
          </p:nvPr>
        </p:nvSpPr>
        <p:spPr/>
        <p:txBody>
          <a:bodyPr/>
          <a:lstStyle/>
          <a:p>
            <a:r>
              <a:rPr lang="en-US"/>
              <a:t>Asst. Professor Riddhi Joshi</a:t>
            </a:r>
          </a:p>
        </p:txBody>
      </p:sp>
      <p:pic>
        <p:nvPicPr>
          <p:cNvPr id="2051" name="Picture 3" descr="F:\General Data\general sub data\animated images\gp image\stick_figure_walking_reading_book_sm_wm.gif"/>
          <p:cNvPicPr>
            <a:picLocks noChangeAspect="1" noChangeArrowheads="1" noCrop="1"/>
          </p:cNvPicPr>
          <p:nvPr/>
        </p:nvPicPr>
        <p:blipFill>
          <a:blip r:embed="rId2"/>
          <a:srcRect/>
          <a:stretch>
            <a:fillRect/>
          </a:stretch>
        </p:blipFill>
        <p:spPr bwMode="auto">
          <a:xfrm>
            <a:off x="152400" y="95250"/>
            <a:ext cx="1447800" cy="1047750"/>
          </a:xfrm>
          <a:prstGeom prst="rect">
            <a:avLst/>
          </a:prstGeom>
          <a:noFill/>
        </p:spPr>
      </p:pic>
      <p:pic>
        <p:nvPicPr>
          <p:cNvPr id="9" name="Picture 2" descr="F:\General Data\general sub data\animated images\gp image\5027341-blue-crystal-earth-showing-north-and-south-america.jpg"/>
          <p:cNvPicPr>
            <a:picLocks noChangeAspect="1" noChangeArrowheads="1"/>
          </p:cNvPicPr>
          <p:nvPr/>
        </p:nvPicPr>
        <p:blipFill>
          <a:blip r:embed="rId3"/>
          <a:srcRect/>
          <a:stretch>
            <a:fillRect/>
          </a:stretch>
        </p:blipFill>
        <p:spPr bwMode="auto">
          <a:xfrm>
            <a:off x="76200" y="5638800"/>
            <a:ext cx="1143000" cy="1143000"/>
          </a:xfrm>
          <a:prstGeom prst="ellipse">
            <a:avLst/>
          </a:prstGeom>
          <a:ln>
            <a:noFill/>
          </a:ln>
          <a:effectLst>
            <a:softEdge rad="112500"/>
          </a:effectLst>
        </p:spPr>
      </p:pic>
      <p:sp>
        <p:nvSpPr>
          <p:cNvPr id="10" name="Right Arrow 9"/>
          <p:cNvSpPr/>
          <p:nvPr/>
        </p:nvSpPr>
        <p:spPr>
          <a:xfrm>
            <a:off x="304800" y="25146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09600"/>
          </a:xfrm>
        </p:spPr>
        <p:style>
          <a:lnRef idx="3">
            <a:schemeClr val="lt1"/>
          </a:lnRef>
          <a:fillRef idx="1">
            <a:schemeClr val="accent1"/>
          </a:fillRef>
          <a:effectRef idx="1">
            <a:schemeClr val="accent1"/>
          </a:effectRef>
          <a:fontRef idx="minor">
            <a:schemeClr val="lt1"/>
          </a:fontRef>
        </p:style>
        <p:txBody>
          <a:bodyPr>
            <a:normAutofit/>
          </a:bodyPr>
          <a:lstStyle/>
          <a:p>
            <a:r>
              <a:rPr lang="en-US" sz="2600" b="1" dirty="0">
                <a:effectLst>
                  <a:outerShdw blurRad="38100" dist="38100" dir="2700000" algn="tl">
                    <a:srgbClr val="000000">
                      <a:alpha val="43137"/>
                    </a:srgbClr>
                  </a:outerShdw>
                </a:effectLst>
              </a:rPr>
              <a:t>2.4 Deadlocks and Timeouts</a:t>
            </a:r>
          </a:p>
        </p:txBody>
      </p:sp>
      <p:sp>
        <p:nvSpPr>
          <p:cNvPr id="3" name="Content Placeholder 2"/>
          <p:cNvSpPr>
            <a:spLocks noGrp="1"/>
          </p:cNvSpPr>
          <p:nvPr>
            <p:ph idx="1"/>
          </p:nvPr>
        </p:nvSpPr>
        <p:spPr>
          <a:xfrm>
            <a:off x="381000" y="1600200"/>
            <a:ext cx="8229600" cy="2209800"/>
          </a:xfrm>
        </p:spPr>
        <p:style>
          <a:lnRef idx="2">
            <a:schemeClr val="accent1"/>
          </a:lnRef>
          <a:fillRef idx="1">
            <a:schemeClr val="lt1"/>
          </a:fillRef>
          <a:effectRef idx="0">
            <a:schemeClr val="accent1"/>
          </a:effectRef>
          <a:fontRef idx="minor">
            <a:schemeClr val="dk1"/>
          </a:fontRef>
        </p:style>
        <p:txBody>
          <a:bodyPr>
            <a:normAutofit/>
          </a:bodyPr>
          <a:lstStyle/>
          <a:p>
            <a:r>
              <a:rPr lang="en-US" sz="2400" dirty="0"/>
              <a:t>Indefinitely blocking may also be caused by deadlock. In IPC, a deadlock can result from operations that were issued improperly, perhaps owing to a misunderstanding of a protocol, or owing to programming errors. </a:t>
            </a:r>
          </a:p>
        </p:txBody>
      </p:sp>
      <p:sp>
        <p:nvSpPr>
          <p:cNvPr id="4" name="Slide Number Placeholder 3"/>
          <p:cNvSpPr>
            <a:spLocks noGrp="1"/>
          </p:cNvSpPr>
          <p:nvPr>
            <p:ph type="sldNum" sz="quarter" idx="12"/>
          </p:nvPr>
        </p:nvSpPr>
        <p:spPr/>
        <p:txBody>
          <a:bodyPr/>
          <a:lstStyle/>
          <a:p>
            <a:fld id="{7040D16D-0600-4D21-96E6-588F007D1AD6}" type="slidenum">
              <a:rPr lang="en-US" smtClean="0"/>
              <a:pPr/>
              <a:t>34</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05570" y="1219200"/>
            <a:ext cx="1066800" cy="369332"/>
          </a:xfrm>
          <a:prstGeom prst="rect">
            <a:avLst/>
          </a:prstGeom>
          <a:noFill/>
        </p:spPr>
        <p:txBody>
          <a:bodyPr wrap="square" rtlCol="0">
            <a:spAutoFit/>
          </a:bodyPr>
          <a:lstStyle/>
          <a:p>
            <a:pPr algn="ctr"/>
            <a:r>
              <a:rPr lang="en-US" dirty="0"/>
              <a:t>Process 1</a:t>
            </a:r>
          </a:p>
        </p:txBody>
      </p:sp>
      <p:sp>
        <p:nvSpPr>
          <p:cNvPr id="8" name="TextBox 7"/>
          <p:cNvSpPr txBox="1"/>
          <p:nvPr/>
        </p:nvSpPr>
        <p:spPr>
          <a:xfrm>
            <a:off x="5263170" y="1194516"/>
            <a:ext cx="1066800" cy="369332"/>
          </a:xfrm>
          <a:prstGeom prst="rect">
            <a:avLst/>
          </a:prstGeom>
          <a:noFill/>
        </p:spPr>
        <p:txBody>
          <a:bodyPr wrap="square" rtlCol="0">
            <a:spAutoFit/>
          </a:bodyPr>
          <a:lstStyle/>
          <a:p>
            <a:pPr algn="ctr"/>
            <a:r>
              <a:rPr lang="en-US" dirty="0"/>
              <a:t>Process 2</a:t>
            </a:r>
          </a:p>
        </p:txBody>
      </p:sp>
      <p:sp>
        <p:nvSpPr>
          <p:cNvPr id="13" name="Oval 12"/>
          <p:cNvSpPr/>
          <p:nvPr/>
        </p:nvSpPr>
        <p:spPr>
          <a:xfrm>
            <a:off x="5637744" y="3891561"/>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rot="16200000" flipH="1">
            <a:off x="5040746" y="4831459"/>
            <a:ext cx="1442439" cy="1984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291370" y="2590800"/>
            <a:ext cx="2743200" cy="923330"/>
          </a:xfrm>
          <a:prstGeom prst="rect">
            <a:avLst/>
          </a:prstGeom>
          <a:noFill/>
        </p:spPr>
        <p:txBody>
          <a:bodyPr wrap="square" rtlCol="0">
            <a:spAutoFit/>
          </a:bodyPr>
          <a:lstStyle/>
          <a:p>
            <a:r>
              <a:rPr lang="en-US" dirty="0"/>
              <a:t>“receive from process 2” issued process 1 blocked pending data from process 2 </a:t>
            </a:r>
          </a:p>
        </p:txBody>
      </p:sp>
      <p:sp>
        <p:nvSpPr>
          <p:cNvPr id="26" name="TextBox 25"/>
          <p:cNvSpPr txBox="1"/>
          <p:nvPr/>
        </p:nvSpPr>
        <p:spPr>
          <a:xfrm>
            <a:off x="6101370" y="3758484"/>
            <a:ext cx="2514600" cy="923330"/>
          </a:xfrm>
          <a:prstGeom prst="rect">
            <a:avLst/>
          </a:prstGeom>
          <a:noFill/>
        </p:spPr>
        <p:txBody>
          <a:bodyPr wrap="square" rtlCol="0">
            <a:spAutoFit/>
          </a:bodyPr>
          <a:lstStyle/>
          <a:p>
            <a:r>
              <a:rPr lang="en-US" dirty="0"/>
              <a:t>“receive from process 1” issued process 2 blocked pending data from process 1</a:t>
            </a:r>
          </a:p>
        </p:txBody>
      </p:sp>
      <p:sp>
        <p:nvSpPr>
          <p:cNvPr id="18" name="Oval 17"/>
          <p:cNvSpPr/>
          <p:nvPr/>
        </p:nvSpPr>
        <p:spPr>
          <a:xfrm>
            <a:off x="1949007" y="2718516"/>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p:cNvCxnSpPr/>
          <p:nvPr/>
        </p:nvCxnSpPr>
        <p:spPr>
          <a:xfrm rot="5400000">
            <a:off x="1485905" y="2174055"/>
            <a:ext cx="1151794" cy="408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18" idx="4"/>
          </p:cNvCxnSpPr>
          <p:nvPr/>
        </p:nvCxnSpPr>
        <p:spPr>
          <a:xfrm rot="5400000">
            <a:off x="679096" y="4330791"/>
            <a:ext cx="2767886" cy="53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5400000">
            <a:off x="4634857" y="2777077"/>
            <a:ext cx="2246152" cy="1588"/>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2170098" y="5930766"/>
            <a:ext cx="468790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A deadlock caused by blocking operations. </a:t>
            </a:r>
          </a:p>
        </p:txBody>
      </p:sp>
      <p:sp>
        <p:nvSpPr>
          <p:cNvPr id="14" name="Slide Number Placeholder 13"/>
          <p:cNvSpPr>
            <a:spLocks noGrp="1"/>
          </p:cNvSpPr>
          <p:nvPr>
            <p:ph type="sldNum" sz="quarter" idx="12"/>
          </p:nvPr>
        </p:nvSpPr>
        <p:spPr/>
        <p:txBody>
          <a:bodyPr/>
          <a:lstStyle/>
          <a:p>
            <a:fld id="{7040D16D-0600-4D21-96E6-588F007D1AD6}" type="slidenum">
              <a:rPr lang="en-US" smtClean="0"/>
              <a:pPr/>
              <a:t>35</a:t>
            </a:fld>
            <a:endParaRPr lang="en-US"/>
          </a:p>
        </p:txBody>
      </p:sp>
      <p:sp>
        <p:nvSpPr>
          <p:cNvPr id="15" name="Footer Placeholder 14"/>
          <p:cNvSpPr>
            <a:spLocks noGrp="1"/>
          </p:cNvSpPr>
          <p:nvPr>
            <p:ph type="ftr" sz="quarter" idx="11"/>
          </p:nvPr>
        </p:nvSpPr>
        <p:spPr/>
        <p:txBody>
          <a:bodyPr/>
          <a:lstStyle/>
          <a:p>
            <a:r>
              <a:rPr lang="en-US"/>
              <a:t>Asst. Professor Riddhi Joshi</a:t>
            </a:r>
          </a:p>
        </p:txBody>
      </p:sp>
      <p:pic>
        <p:nvPicPr>
          <p:cNvPr id="1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17" name="Title 1"/>
          <p:cNvSpPr>
            <a:spLocks noGrp="1"/>
          </p:cNvSpPr>
          <p:nvPr>
            <p:ph type="title"/>
          </p:nvPr>
        </p:nvSpPr>
        <p:spPr>
          <a:xfrm>
            <a:off x="457200" y="76200"/>
            <a:ext cx="8229600" cy="609600"/>
          </a:xfrm>
        </p:spPr>
        <p:style>
          <a:lnRef idx="3">
            <a:schemeClr val="lt1"/>
          </a:lnRef>
          <a:fillRef idx="1">
            <a:schemeClr val="accent1"/>
          </a:fillRef>
          <a:effectRef idx="1">
            <a:schemeClr val="accent1"/>
          </a:effectRef>
          <a:fontRef idx="minor">
            <a:schemeClr val="lt1"/>
          </a:fontRef>
        </p:style>
        <p:txBody>
          <a:bodyPr>
            <a:normAutofit/>
          </a:bodyPr>
          <a:lstStyle/>
          <a:p>
            <a:r>
              <a:rPr lang="en-US" sz="2600" b="1" dirty="0">
                <a:effectLst>
                  <a:outerShdw blurRad="38100" dist="38100" dir="2700000" algn="tl">
                    <a:srgbClr val="000000">
                      <a:alpha val="43137"/>
                    </a:srgbClr>
                  </a:outerShdw>
                </a:effectLst>
              </a:rPr>
              <a:t>2.4 Deadlocks and Timeouts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152400" y="1371600"/>
            <a:ext cx="8763000" cy="36576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r>
              <a:rPr lang="en-US" sz="2200" dirty="0">
                <a:solidFill>
                  <a:schemeClr val="tx1"/>
                </a:solidFill>
                <a:latin typeface="Cambria" pitchFamily="18" charset="0"/>
                <a:cs typeface="Aharoni" pitchFamily="2" charset="-79"/>
              </a:rPr>
              <a:t>2.1 An Archetypal IPC Program Interface</a:t>
            </a:r>
          </a:p>
          <a:p>
            <a:r>
              <a:rPr lang="en-US" sz="2200" dirty="0">
                <a:solidFill>
                  <a:schemeClr val="tx1"/>
                </a:solidFill>
                <a:latin typeface="Cambria" pitchFamily="18" charset="0"/>
                <a:cs typeface="Aharoni" pitchFamily="2" charset="-79"/>
              </a:rPr>
              <a:t>2.2 Event Synchronization</a:t>
            </a:r>
          </a:p>
          <a:p>
            <a:r>
              <a:rPr lang="en-US" sz="2200" dirty="0">
                <a:solidFill>
                  <a:schemeClr val="tx1"/>
                </a:solidFill>
                <a:latin typeface="Cambria" pitchFamily="18" charset="0"/>
                <a:cs typeface="Aharoni" pitchFamily="2" charset="-79"/>
              </a:rPr>
              <a:t>2.3 Timeouts and Threading</a:t>
            </a:r>
          </a:p>
          <a:p>
            <a:r>
              <a:rPr lang="en-US" sz="2200" dirty="0">
                <a:solidFill>
                  <a:schemeClr val="tx1"/>
                </a:solidFill>
                <a:latin typeface="Cambria" pitchFamily="18" charset="0"/>
                <a:cs typeface="Aharoni" pitchFamily="2" charset="-79"/>
              </a:rPr>
              <a:t>2.4 Deadlocks and Timeouts</a:t>
            </a:r>
          </a:p>
          <a:p>
            <a:r>
              <a:rPr lang="en-US" sz="2200" dirty="0">
                <a:latin typeface="Cambria" pitchFamily="18" charset="0"/>
                <a:cs typeface="Aharoni" pitchFamily="2" charset="-79"/>
              </a:rPr>
              <a:t>     </a:t>
            </a:r>
            <a:r>
              <a:rPr lang="en-US" sz="2200" b="1" dirty="0">
                <a:solidFill>
                  <a:schemeClr val="accent1"/>
                </a:solidFill>
                <a:latin typeface="Cambria" pitchFamily="18" charset="0"/>
                <a:cs typeface="Aharoni" pitchFamily="2" charset="-79"/>
              </a:rPr>
              <a:t>2.5 Data Representation</a:t>
            </a:r>
          </a:p>
          <a:p>
            <a:r>
              <a:rPr lang="en-US" sz="2200" dirty="0">
                <a:latin typeface="Cambria" pitchFamily="18" charset="0"/>
                <a:cs typeface="Aharoni" pitchFamily="2" charset="-79"/>
              </a:rPr>
              <a:t>2.6 Data Encoding</a:t>
            </a:r>
          </a:p>
          <a:p>
            <a:r>
              <a:rPr lang="en-US" sz="2200" dirty="0">
                <a:latin typeface="Cambria" pitchFamily="18" charset="0"/>
                <a:cs typeface="Aharoni" pitchFamily="2" charset="-79"/>
              </a:rPr>
              <a:t>2.7 Text Based Protocol</a:t>
            </a:r>
          </a:p>
          <a:p>
            <a:r>
              <a:rPr lang="en-US" sz="2200" dirty="0">
                <a:latin typeface="Cambria" pitchFamily="18" charset="0"/>
                <a:cs typeface="Aharoni" pitchFamily="2" charset="-79"/>
              </a:rPr>
              <a:t>2.8 Request Response Protocol</a:t>
            </a:r>
          </a:p>
          <a:p>
            <a:r>
              <a:rPr lang="en-US" sz="2200" dirty="0">
                <a:latin typeface="Cambria" pitchFamily="18" charset="0"/>
                <a:cs typeface="Aharoni" pitchFamily="2" charset="-79"/>
              </a:rPr>
              <a:t>2.9 Event Diagram &amp; Sequence Diagram</a:t>
            </a:r>
          </a:p>
          <a:p>
            <a:r>
              <a:rPr lang="en-US" sz="2200" dirty="0">
                <a:latin typeface="Cambria" pitchFamily="18" charset="0"/>
                <a:cs typeface="Aharoni" pitchFamily="2" charset="-79"/>
              </a:rPr>
              <a:t>2.10 Connection Oriented  Vs. Connectionless IPC</a:t>
            </a:r>
          </a:p>
          <a:p>
            <a:endParaRPr lang="en-US" sz="2200" dirty="0">
              <a:latin typeface="Cambria" pitchFamily="18" charset="0"/>
              <a:cs typeface="Aharoni" pitchFamily="2" charset="-79"/>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endParaRPr kumimoji="0" lang="en-US" sz="2200" b="0" i="0" u="none" strike="noStrike" kern="1200" cap="none" spc="0" normalizeH="0" baseline="0" noProof="0" dirty="0">
              <a:ln>
                <a:noFill/>
              </a:ln>
              <a:solidFill>
                <a:schemeClr val="tx1"/>
              </a:solidFill>
              <a:effectLst/>
              <a:uLnTx/>
              <a:uFillTx/>
              <a:latin typeface="Cambria" pitchFamily="18" charset="0"/>
              <a:cs typeface="Aharoni" pitchFamily="2" charset="-79"/>
            </a:endParaRPr>
          </a:p>
        </p:txBody>
      </p:sp>
      <p:sp>
        <p:nvSpPr>
          <p:cNvPr id="5" name="TextBox 4"/>
          <p:cNvSpPr txBox="1"/>
          <p:nvPr/>
        </p:nvSpPr>
        <p:spPr>
          <a:xfrm>
            <a:off x="2514600" y="152400"/>
            <a:ext cx="4267200" cy="523875"/>
          </a:xfrm>
          <a:prstGeom prst="rect">
            <a:avLst/>
          </a:prstGeom>
        </p:spPr>
        <p:style>
          <a:lnRef idx="3">
            <a:schemeClr val="lt1"/>
          </a:lnRef>
          <a:fillRef idx="1">
            <a:schemeClr val="accent1"/>
          </a:fillRef>
          <a:effectRef idx="1">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6" name="Slide Number Placeholder 5"/>
          <p:cNvSpPr>
            <a:spLocks noGrp="1"/>
          </p:cNvSpPr>
          <p:nvPr>
            <p:ph type="sldNum" sz="quarter" idx="12"/>
          </p:nvPr>
        </p:nvSpPr>
        <p:spPr/>
        <p:txBody>
          <a:bodyPr/>
          <a:lstStyle/>
          <a:p>
            <a:fld id="{7040D16D-0600-4D21-96E6-588F007D1AD6}" type="slidenum">
              <a:rPr lang="en-US" smtClean="0"/>
              <a:pPr/>
              <a:t>36</a:t>
            </a:fld>
            <a:endParaRPr lang="en-US"/>
          </a:p>
        </p:txBody>
      </p:sp>
      <p:sp>
        <p:nvSpPr>
          <p:cNvPr id="7" name="Footer Placeholder 6"/>
          <p:cNvSpPr>
            <a:spLocks noGrp="1"/>
          </p:cNvSpPr>
          <p:nvPr>
            <p:ph type="ftr" sz="quarter" idx="11"/>
          </p:nvPr>
        </p:nvSpPr>
        <p:spPr/>
        <p:txBody>
          <a:bodyPr/>
          <a:lstStyle/>
          <a:p>
            <a:r>
              <a:rPr lang="en-US"/>
              <a:t>Asst. Professor Riddhi Joshi</a:t>
            </a:r>
          </a:p>
        </p:txBody>
      </p:sp>
      <p:pic>
        <p:nvPicPr>
          <p:cNvPr id="2051" name="Picture 3" descr="F:\General Data\general sub data\animated images\gp image\stick_figure_walking_reading_book_sm_wm.gif"/>
          <p:cNvPicPr>
            <a:picLocks noChangeAspect="1" noChangeArrowheads="1" noCrop="1"/>
          </p:cNvPicPr>
          <p:nvPr/>
        </p:nvPicPr>
        <p:blipFill>
          <a:blip r:embed="rId2"/>
          <a:srcRect/>
          <a:stretch>
            <a:fillRect/>
          </a:stretch>
        </p:blipFill>
        <p:spPr bwMode="auto">
          <a:xfrm>
            <a:off x="152400" y="95250"/>
            <a:ext cx="1447800" cy="1047750"/>
          </a:xfrm>
          <a:prstGeom prst="rect">
            <a:avLst/>
          </a:prstGeom>
          <a:noFill/>
        </p:spPr>
      </p:pic>
      <p:pic>
        <p:nvPicPr>
          <p:cNvPr id="9" name="Picture 2" descr="F:\General Data\general sub data\animated images\gp image\5027341-blue-crystal-earth-showing-north-and-south-america.jpg"/>
          <p:cNvPicPr>
            <a:picLocks noChangeAspect="1" noChangeArrowheads="1"/>
          </p:cNvPicPr>
          <p:nvPr/>
        </p:nvPicPr>
        <p:blipFill>
          <a:blip r:embed="rId3"/>
          <a:srcRect/>
          <a:stretch>
            <a:fillRect/>
          </a:stretch>
        </p:blipFill>
        <p:spPr bwMode="auto">
          <a:xfrm>
            <a:off x="76200" y="5638800"/>
            <a:ext cx="1143000" cy="1143000"/>
          </a:xfrm>
          <a:prstGeom prst="ellipse">
            <a:avLst/>
          </a:prstGeom>
          <a:ln>
            <a:noFill/>
          </a:ln>
          <a:effectLst>
            <a:softEdge rad="112500"/>
          </a:effectLst>
        </p:spPr>
      </p:pic>
      <p:sp>
        <p:nvSpPr>
          <p:cNvPr id="10" name="Right Arrow 9"/>
          <p:cNvSpPr/>
          <p:nvPr/>
        </p:nvSpPr>
        <p:spPr>
          <a:xfrm>
            <a:off x="228600" y="28194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09600"/>
          </a:xfrm>
        </p:spPr>
        <p:style>
          <a:lnRef idx="3">
            <a:schemeClr val="lt1"/>
          </a:lnRef>
          <a:fillRef idx="1">
            <a:schemeClr val="accent1"/>
          </a:fillRef>
          <a:effectRef idx="1">
            <a:schemeClr val="accent1"/>
          </a:effectRef>
          <a:fontRef idx="minor">
            <a:schemeClr val="lt1"/>
          </a:fontRef>
        </p:style>
        <p:txBody>
          <a:bodyPr>
            <a:normAutofit/>
          </a:bodyPr>
          <a:lstStyle/>
          <a:p>
            <a:r>
              <a:rPr lang="en-US" sz="2600" b="1" dirty="0">
                <a:effectLst>
                  <a:outerShdw blurRad="38100" dist="38100" dir="2700000" algn="tl">
                    <a:srgbClr val="000000">
                      <a:alpha val="43137"/>
                    </a:srgbClr>
                  </a:outerShdw>
                </a:effectLst>
              </a:rPr>
              <a:t>2.5 Data Representation</a:t>
            </a:r>
          </a:p>
        </p:txBody>
      </p:sp>
      <p:sp>
        <p:nvSpPr>
          <p:cNvPr id="3" name="Content Placeholder 2"/>
          <p:cNvSpPr>
            <a:spLocks noGrp="1"/>
          </p:cNvSpPr>
          <p:nvPr>
            <p:ph idx="1"/>
          </p:nvPr>
        </p:nvSpPr>
        <p:spPr>
          <a:xfrm>
            <a:off x="304800" y="1143000"/>
            <a:ext cx="8229600" cy="4525963"/>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t>At physical layer of the network architecture, data is transmitted as analog signals, a binary stream. </a:t>
            </a:r>
          </a:p>
          <a:p>
            <a:r>
              <a:rPr lang="en-US" sz="2300" dirty="0"/>
              <a:t>At application layer, a more complex representation of transmitted data is needed in order to support data types and data structures provided in programming languages, such as character string, integers, floating point value, arrays, records and objects.</a:t>
            </a:r>
          </a:p>
          <a:p>
            <a:r>
              <a:rPr lang="en-US" sz="2300" dirty="0"/>
              <a:t>Consider the simple case of two processes, process 1 on Host A and process 2 on Host B, engaged in a protocol that calls for the exchange of an integer value determined at run time.</a:t>
            </a:r>
          </a:p>
        </p:txBody>
      </p:sp>
      <p:sp>
        <p:nvSpPr>
          <p:cNvPr id="4" name="Slide Number Placeholder 3"/>
          <p:cNvSpPr>
            <a:spLocks noGrp="1"/>
          </p:cNvSpPr>
          <p:nvPr>
            <p:ph type="sldNum" sz="quarter" idx="12"/>
          </p:nvPr>
        </p:nvSpPr>
        <p:spPr/>
        <p:txBody>
          <a:bodyPr/>
          <a:lstStyle/>
          <a:p>
            <a:fld id="{7040D16D-0600-4D21-96E6-588F007D1AD6}" type="slidenum">
              <a:rPr lang="en-US" smtClean="0"/>
              <a:pPr/>
              <a:t>37</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8686800" cy="4724400"/>
          </a:xfrm>
        </p:spPr>
        <p:style>
          <a:lnRef idx="2">
            <a:schemeClr val="accent1"/>
          </a:lnRef>
          <a:fillRef idx="1">
            <a:schemeClr val="lt1"/>
          </a:fillRef>
          <a:effectRef idx="0">
            <a:schemeClr val="accent1"/>
          </a:effectRef>
          <a:fontRef idx="minor">
            <a:schemeClr val="dk1"/>
          </a:fontRef>
        </p:style>
        <p:txBody>
          <a:bodyPr>
            <a:noAutofit/>
          </a:bodyPr>
          <a:lstStyle/>
          <a:p>
            <a:r>
              <a:rPr lang="en-US" sz="2300" dirty="0"/>
              <a:t>When heterogeneous hosts are involved in IPC, it is not enough to transmit data values or structures using raw bit stream unless the participating processes take measures to package and interpret the data appropriately. </a:t>
            </a:r>
          </a:p>
          <a:p>
            <a:r>
              <a:rPr lang="en-US" sz="2300" dirty="0"/>
              <a:t>Example…</a:t>
            </a:r>
          </a:p>
          <a:p>
            <a:pPr lvl="1"/>
            <a:r>
              <a:rPr lang="en-US" sz="2300" dirty="0"/>
              <a:t>Suppose process 1 running on host A, wishes to send a single character a to process 2, running on host B. </a:t>
            </a:r>
          </a:p>
          <a:p>
            <a:pPr lvl="1"/>
            <a:r>
              <a:rPr lang="en-US" sz="2300" dirty="0"/>
              <a:t>The program for process 1 uses ASCII representation for characters, while the program for process 2 uses Unicode representation.</a:t>
            </a:r>
          </a:p>
          <a:p>
            <a:pPr lvl="1"/>
            <a:r>
              <a:rPr lang="en-US" sz="2300" dirty="0"/>
              <a:t>Scheme 1 will call process 1 to convert the a to Unicode before sending. </a:t>
            </a:r>
          </a:p>
        </p:txBody>
      </p:sp>
      <p:sp>
        <p:nvSpPr>
          <p:cNvPr id="4" name="Slide Number Placeholder 3"/>
          <p:cNvSpPr>
            <a:spLocks noGrp="1"/>
          </p:cNvSpPr>
          <p:nvPr>
            <p:ph type="sldNum" sz="quarter" idx="12"/>
          </p:nvPr>
        </p:nvSpPr>
        <p:spPr/>
        <p:txBody>
          <a:bodyPr/>
          <a:lstStyle/>
          <a:p>
            <a:fld id="{7040D16D-0600-4D21-96E6-588F007D1AD6}" type="slidenum">
              <a:rPr lang="en-US" smtClean="0"/>
              <a:pPr/>
              <a:t>38</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7" name="Title 1"/>
          <p:cNvSpPr txBox="1">
            <a:spLocks/>
          </p:cNvSpPr>
          <p:nvPr/>
        </p:nvSpPr>
        <p:spPr>
          <a:xfrm>
            <a:off x="457200" y="76200"/>
            <a:ext cx="8229600" cy="6096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outerShdw blurRad="38100" dist="38100" dir="2700000" algn="tl">
                    <a:srgbClr val="000000">
                      <a:alpha val="43137"/>
                    </a:srgbClr>
                  </a:outerShdw>
                </a:effectLst>
                <a:uLnTx/>
                <a:uFillTx/>
                <a:latin typeface="+mn-lt"/>
                <a:ea typeface="+mn-ea"/>
                <a:cs typeface="+mn-cs"/>
              </a:rPr>
              <a:t>2.5 Data Representation</a:t>
            </a:r>
            <a:endPar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mn-lt"/>
              <a:ea typeface="+mn-ea"/>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38201"/>
            <a:ext cx="8763000" cy="4343400"/>
          </a:xfrm>
        </p:spPr>
        <p:style>
          <a:lnRef idx="2">
            <a:schemeClr val="accent1"/>
          </a:lnRef>
          <a:fillRef idx="1">
            <a:schemeClr val="lt1"/>
          </a:fillRef>
          <a:effectRef idx="0">
            <a:schemeClr val="accent1"/>
          </a:effectRef>
          <a:fontRef idx="minor">
            <a:schemeClr val="dk1"/>
          </a:fontRef>
        </p:style>
        <p:txBody>
          <a:bodyPr>
            <a:noAutofit/>
          </a:bodyPr>
          <a:lstStyle/>
          <a:p>
            <a:pPr lvl="1"/>
            <a:r>
              <a:rPr lang="en-US" sz="2100" dirty="0"/>
              <a:t>Scheme 2 will call for process 2 to receive the data and then convert it from </a:t>
            </a:r>
            <a:r>
              <a:rPr lang="en-US" sz="2100" dirty="0" err="1"/>
              <a:t>ascii</a:t>
            </a:r>
            <a:r>
              <a:rPr lang="en-US" sz="2100" dirty="0"/>
              <a:t> to </a:t>
            </a:r>
            <a:r>
              <a:rPr lang="en-US" sz="2100" dirty="0" err="1"/>
              <a:t>unicode</a:t>
            </a:r>
            <a:r>
              <a:rPr lang="en-US" sz="2100" dirty="0"/>
              <a:t> representation.</a:t>
            </a:r>
          </a:p>
          <a:p>
            <a:pPr lvl="1"/>
            <a:r>
              <a:rPr lang="en-US" sz="2100" dirty="0"/>
              <a:t>Scheme 3 will call for the two sides to agree on an external representation, say ASN (Abstract Syntax Notation Number 1), so that process 1 will convert the a to its ASN.1 representation before sending, while process 2 will convert the data received from the ASN.1 representation to the Unicode representation for a. </a:t>
            </a:r>
          </a:p>
          <a:p>
            <a:r>
              <a:rPr lang="en-US" sz="2100" dirty="0"/>
              <a:t>The term “Data Marshalling”  is used in the context of IPC to refer to the processing necessary to transmit data values and data structures. </a:t>
            </a:r>
          </a:p>
          <a:p>
            <a:r>
              <a:rPr lang="en-US" sz="2100" dirty="0"/>
              <a:t>Data marshalling is needed for all IPC and includes few steps..</a:t>
            </a:r>
          </a:p>
          <a:p>
            <a:pPr lvl="1"/>
            <a:r>
              <a:rPr lang="en-US" sz="2100" dirty="0"/>
              <a:t>Serializing the data structures</a:t>
            </a:r>
          </a:p>
          <a:p>
            <a:pPr lvl="1"/>
            <a:r>
              <a:rPr lang="en-US" sz="2100" dirty="0"/>
              <a:t>Converting the data values to an external representation</a:t>
            </a:r>
          </a:p>
        </p:txBody>
      </p:sp>
      <p:sp>
        <p:nvSpPr>
          <p:cNvPr id="4" name="Slide Number Placeholder 3"/>
          <p:cNvSpPr>
            <a:spLocks noGrp="1"/>
          </p:cNvSpPr>
          <p:nvPr>
            <p:ph type="sldNum" sz="quarter" idx="12"/>
          </p:nvPr>
        </p:nvSpPr>
        <p:spPr/>
        <p:txBody>
          <a:bodyPr/>
          <a:lstStyle/>
          <a:p>
            <a:fld id="{7040D16D-0600-4D21-96E6-588F007D1AD6}" type="slidenum">
              <a:rPr lang="en-US" smtClean="0"/>
              <a:pPr/>
              <a:t>39</a:t>
            </a:fld>
            <a:endParaRPr lang="en-US"/>
          </a:p>
        </p:txBody>
      </p:sp>
      <p:sp>
        <p:nvSpPr>
          <p:cNvPr id="5" name="Footer Placeholder 4"/>
          <p:cNvSpPr>
            <a:spLocks noGrp="1"/>
          </p:cNvSpPr>
          <p:nvPr>
            <p:ph type="ftr" sz="quarter" idx="11"/>
          </p:nvPr>
        </p:nvSpPr>
        <p:spPr>
          <a:xfrm>
            <a:off x="3124200" y="6492875"/>
            <a:ext cx="2895600" cy="365125"/>
          </a:xfrm>
        </p:spPr>
        <p:txBody>
          <a:bodyPr/>
          <a:lstStyle/>
          <a:p>
            <a:r>
              <a:rPr lang="en-US" dirty="0"/>
              <a:t>Asst. Professor </a:t>
            </a:r>
            <a:r>
              <a:rPr lang="en-US" dirty="0" err="1"/>
              <a:t>Riddhi</a:t>
            </a:r>
            <a:r>
              <a:rPr lang="en-US" dirty="0"/>
              <a:t>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7" name="Title 1"/>
          <p:cNvSpPr txBox="1">
            <a:spLocks/>
          </p:cNvSpPr>
          <p:nvPr/>
        </p:nvSpPr>
        <p:spPr>
          <a:xfrm>
            <a:off x="457200" y="76200"/>
            <a:ext cx="8229600" cy="6096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outerShdw blurRad="38100" dist="38100" dir="2700000" algn="tl">
                    <a:srgbClr val="000000">
                      <a:alpha val="43137"/>
                    </a:srgbClr>
                  </a:outerShdw>
                </a:effectLst>
                <a:uLnTx/>
                <a:uFillTx/>
                <a:latin typeface="+mn-lt"/>
                <a:ea typeface="+mn-ea"/>
                <a:cs typeface="+mn-cs"/>
              </a:rPr>
              <a:t>2.5 Data Representation</a:t>
            </a:r>
            <a:endPar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mn-lt"/>
              <a:ea typeface="+mn-ea"/>
              <a:cs typeface="+mn-cs"/>
            </a:endParaRPr>
          </a:p>
        </p:txBody>
      </p:sp>
      <p:sp>
        <p:nvSpPr>
          <p:cNvPr id="8" name="Rectangle 7"/>
          <p:cNvSpPr/>
          <p:nvPr/>
        </p:nvSpPr>
        <p:spPr>
          <a:xfrm>
            <a:off x="1295400" y="5257800"/>
            <a:ext cx="7620000"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In computer science, </a:t>
            </a:r>
            <a:r>
              <a:rPr lang="en-US" b="1" dirty="0"/>
              <a:t>marshalling</a:t>
            </a:r>
            <a:r>
              <a:rPr lang="en-US" dirty="0"/>
              <a:t> or </a:t>
            </a:r>
            <a:r>
              <a:rPr lang="en-US" b="1" dirty="0"/>
              <a:t>marshaling</a:t>
            </a:r>
            <a:r>
              <a:rPr lang="en-US" dirty="0"/>
              <a:t> is the process of transforming the memory representation of an object to a </a:t>
            </a:r>
            <a:r>
              <a:rPr lang="en-US" b="1" dirty="0"/>
              <a:t>data</a:t>
            </a:r>
            <a:r>
              <a:rPr lang="en-US" dirty="0"/>
              <a:t> format suitable for storage or transmission, and it is typically used when </a:t>
            </a:r>
            <a:r>
              <a:rPr lang="en-US" b="1" dirty="0"/>
              <a:t>data</a:t>
            </a:r>
            <a:r>
              <a:rPr lang="en-US" dirty="0"/>
              <a:t> must be moved between different parts of a computer program or from one program to another.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152400" y="1371600"/>
            <a:ext cx="8763000" cy="36576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r>
              <a:rPr lang="en-US" sz="2200" dirty="0">
                <a:solidFill>
                  <a:schemeClr val="tx1"/>
                </a:solidFill>
                <a:latin typeface="Cambria" pitchFamily="18" charset="0"/>
                <a:cs typeface="Aharoni" pitchFamily="2" charset="-79"/>
              </a:rPr>
              <a:t>2.1 An Archetypal IPC Program Interface</a:t>
            </a:r>
          </a:p>
          <a:p>
            <a:r>
              <a:rPr lang="en-US" sz="2200" dirty="0">
                <a:solidFill>
                  <a:schemeClr val="tx1"/>
                </a:solidFill>
                <a:latin typeface="Cambria" pitchFamily="18" charset="0"/>
                <a:cs typeface="Aharoni" pitchFamily="2" charset="-79"/>
              </a:rPr>
              <a:t>2.2 Event Synchronization</a:t>
            </a:r>
          </a:p>
          <a:p>
            <a:r>
              <a:rPr lang="en-US" sz="2200" dirty="0">
                <a:solidFill>
                  <a:schemeClr val="tx1"/>
                </a:solidFill>
                <a:latin typeface="Cambria" pitchFamily="18" charset="0"/>
                <a:cs typeface="Aharoni" pitchFamily="2" charset="-79"/>
              </a:rPr>
              <a:t>2.3 Timeouts and Threading</a:t>
            </a:r>
          </a:p>
          <a:p>
            <a:r>
              <a:rPr lang="en-US" sz="2200" dirty="0">
                <a:solidFill>
                  <a:schemeClr val="tx1"/>
                </a:solidFill>
                <a:latin typeface="Cambria" pitchFamily="18" charset="0"/>
                <a:cs typeface="Aharoni" pitchFamily="2" charset="-79"/>
              </a:rPr>
              <a:t>2.4 Deadlocks and Timeouts</a:t>
            </a:r>
          </a:p>
          <a:p>
            <a:r>
              <a:rPr lang="en-US" sz="2200" dirty="0">
                <a:solidFill>
                  <a:schemeClr val="tx1"/>
                </a:solidFill>
                <a:latin typeface="Cambria" pitchFamily="18" charset="0"/>
                <a:cs typeface="Aharoni" pitchFamily="2" charset="-79"/>
              </a:rPr>
              <a:t>2.5 Data Representation</a:t>
            </a:r>
          </a:p>
          <a:p>
            <a:r>
              <a:rPr lang="en-US" sz="2200" b="1" dirty="0">
                <a:solidFill>
                  <a:schemeClr val="accent1"/>
                </a:solidFill>
                <a:latin typeface="Cambria" pitchFamily="18" charset="0"/>
                <a:cs typeface="Aharoni" pitchFamily="2" charset="-79"/>
              </a:rPr>
              <a:t>       2.6 Data Encoding</a:t>
            </a:r>
          </a:p>
          <a:p>
            <a:r>
              <a:rPr lang="en-US" sz="2200" dirty="0">
                <a:latin typeface="Cambria" pitchFamily="18" charset="0"/>
                <a:cs typeface="Aharoni" pitchFamily="2" charset="-79"/>
              </a:rPr>
              <a:t>2.7 Text Based Protocol</a:t>
            </a:r>
          </a:p>
          <a:p>
            <a:r>
              <a:rPr lang="en-US" sz="2200" dirty="0">
                <a:latin typeface="Cambria" pitchFamily="18" charset="0"/>
                <a:cs typeface="Aharoni" pitchFamily="2" charset="-79"/>
              </a:rPr>
              <a:t>2.8 Request Response Protocol</a:t>
            </a:r>
          </a:p>
          <a:p>
            <a:r>
              <a:rPr lang="en-US" sz="2200" dirty="0">
                <a:latin typeface="Cambria" pitchFamily="18" charset="0"/>
                <a:cs typeface="Aharoni" pitchFamily="2" charset="-79"/>
              </a:rPr>
              <a:t>2.9 Event Diagram &amp; Sequence Diagram</a:t>
            </a:r>
          </a:p>
          <a:p>
            <a:r>
              <a:rPr lang="en-US" sz="2200" dirty="0">
                <a:latin typeface="Cambria" pitchFamily="18" charset="0"/>
                <a:cs typeface="Aharoni" pitchFamily="2" charset="-79"/>
              </a:rPr>
              <a:t>2.10 Connection Oriented  Vs. Connectionless IPC</a:t>
            </a:r>
          </a:p>
          <a:p>
            <a:endParaRPr lang="en-US" sz="2200" dirty="0">
              <a:latin typeface="Cambria" pitchFamily="18" charset="0"/>
              <a:cs typeface="Aharoni" pitchFamily="2" charset="-79"/>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endParaRPr kumimoji="0" lang="en-US" sz="2200" b="0" i="0" u="none" strike="noStrike" kern="1200" cap="none" spc="0" normalizeH="0" baseline="0" noProof="0" dirty="0">
              <a:ln>
                <a:noFill/>
              </a:ln>
              <a:solidFill>
                <a:schemeClr val="tx1"/>
              </a:solidFill>
              <a:effectLst/>
              <a:uLnTx/>
              <a:uFillTx/>
              <a:latin typeface="Cambria" pitchFamily="18" charset="0"/>
              <a:cs typeface="Aharoni" pitchFamily="2" charset="-79"/>
            </a:endParaRPr>
          </a:p>
        </p:txBody>
      </p:sp>
      <p:sp>
        <p:nvSpPr>
          <p:cNvPr id="5" name="TextBox 4"/>
          <p:cNvSpPr txBox="1"/>
          <p:nvPr/>
        </p:nvSpPr>
        <p:spPr>
          <a:xfrm>
            <a:off x="2514600" y="152400"/>
            <a:ext cx="4267200" cy="523875"/>
          </a:xfrm>
          <a:prstGeom prst="rect">
            <a:avLst/>
          </a:prstGeom>
        </p:spPr>
        <p:style>
          <a:lnRef idx="3">
            <a:schemeClr val="lt1"/>
          </a:lnRef>
          <a:fillRef idx="1">
            <a:schemeClr val="accent1"/>
          </a:fillRef>
          <a:effectRef idx="1">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6" name="Slide Number Placeholder 5"/>
          <p:cNvSpPr>
            <a:spLocks noGrp="1"/>
          </p:cNvSpPr>
          <p:nvPr>
            <p:ph type="sldNum" sz="quarter" idx="12"/>
          </p:nvPr>
        </p:nvSpPr>
        <p:spPr/>
        <p:txBody>
          <a:bodyPr/>
          <a:lstStyle/>
          <a:p>
            <a:fld id="{7040D16D-0600-4D21-96E6-588F007D1AD6}" type="slidenum">
              <a:rPr lang="en-US" smtClean="0"/>
              <a:pPr/>
              <a:t>40</a:t>
            </a:fld>
            <a:endParaRPr lang="en-US"/>
          </a:p>
        </p:txBody>
      </p:sp>
      <p:sp>
        <p:nvSpPr>
          <p:cNvPr id="7" name="Footer Placeholder 6"/>
          <p:cNvSpPr>
            <a:spLocks noGrp="1"/>
          </p:cNvSpPr>
          <p:nvPr>
            <p:ph type="ftr" sz="quarter" idx="11"/>
          </p:nvPr>
        </p:nvSpPr>
        <p:spPr/>
        <p:txBody>
          <a:bodyPr/>
          <a:lstStyle/>
          <a:p>
            <a:r>
              <a:rPr lang="en-US"/>
              <a:t>Asst. Professor Riddhi Joshi</a:t>
            </a:r>
          </a:p>
        </p:txBody>
      </p:sp>
      <p:pic>
        <p:nvPicPr>
          <p:cNvPr id="2051" name="Picture 3" descr="F:\General Data\general sub data\animated images\gp image\stick_figure_walking_reading_book_sm_wm.gif"/>
          <p:cNvPicPr>
            <a:picLocks noChangeAspect="1" noChangeArrowheads="1" noCrop="1"/>
          </p:cNvPicPr>
          <p:nvPr/>
        </p:nvPicPr>
        <p:blipFill>
          <a:blip r:embed="rId2"/>
          <a:srcRect/>
          <a:stretch>
            <a:fillRect/>
          </a:stretch>
        </p:blipFill>
        <p:spPr bwMode="auto">
          <a:xfrm>
            <a:off x="152400" y="95250"/>
            <a:ext cx="1447800" cy="1047750"/>
          </a:xfrm>
          <a:prstGeom prst="rect">
            <a:avLst/>
          </a:prstGeom>
          <a:noFill/>
        </p:spPr>
      </p:pic>
      <p:pic>
        <p:nvPicPr>
          <p:cNvPr id="9" name="Picture 2" descr="F:\General Data\general sub data\animated images\gp image\5027341-blue-crystal-earth-showing-north-and-south-america.jpg"/>
          <p:cNvPicPr>
            <a:picLocks noChangeAspect="1" noChangeArrowheads="1"/>
          </p:cNvPicPr>
          <p:nvPr/>
        </p:nvPicPr>
        <p:blipFill>
          <a:blip r:embed="rId3"/>
          <a:srcRect/>
          <a:stretch>
            <a:fillRect/>
          </a:stretch>
        </p:blipFill>
        <p:spPr bwMode="auto">
          <a:xfrm>
            <a:off x="76200" y="5638800"/>
            <a:ext cx="1143000" cy="1143000"/>
          </a:xfrm>
          <a:prstGeom prst="ellipse">
            <a:avLst/>
          </a:prstGeom>
          <a:ln>
            <a:noFill/>
          </a:ln>
          <a:effectLst>
            <a:softEdge rad="112500"/>
          </a:effectLst>
        </p:spPr>
      </p:pic>
      <p:sp>
        <p:nvSpPr>
          <p:cNvPr id="10" name="Right Arrow 9"/>
          <p:cNvSpPr/>
          <p:nvPr/>
        </p:nvSpPr>
        <p:spPr>
          <a:xfrm>
            <a:off x="304800" y="32004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style>
          <a:lnRef idx="3">
            <a:schemeClr val="lt1"/>
          </a:lnRef>
          <a:fillRef idx="1">
            <a:schemeClr val="accent1"/>
          </a:fillRef>
          <a:effectRef idx="1">
            <a:schemeClr val="accent1"/>
          </a:effectRef>
          <a:fontRef idx="minor">
            <a:schemeClr val="lt1"/>
          </a:fontRef>
        </p:style>
        <p:txBody>
          <a:bodyPr>
            <a:normAutofit/>
          </a:bodyPr>
          <a:lstStyle/>
          <a:p>
            <a:r>
              <a:rPr lang="en-US" sz="2600" b="1" dirty="0">
                <a:effectLst>
                  <a:outerShdw blurRad="38100" dist="38100" dir="2700000" algn="tl">
                    <a:srgbClr val="000000">
                      <a:alpha val="43137"/>
                    </a:srgbClr>
                  </a:outerShdw>
                </a:effectLst>
              </a:rPr>
              <a:t>2.6 Data Encoding</a:t>
            </a:r>
          </a:p>
        </p:txBody>
      </p:sp>
      <p:sp>
        <p:nvSpPr>
          <p:cNvPr id="3" name="Content Placeholder 2"/>
          <p:cNvSpPr>
            <a:spLocks noGrp="1"/>
          </p:cNvSpPr>
          <p:nvPr>
            <p:ph idx="1"/>
          </p:nvPr>
        </p:nvSpPr>
        <p:spPr>
          <a:xfrm>
            <a:off x="228600" y="990600"/>
            <a:ext cx="8534400" cy="4525963"/>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t>General purpose distributed application require a universal, platform-independent scheme for encoding the exchange data.</a:t>
            </a:r>
          </a:p>
          <a:p>
            <a:r>
              <a:rPr lang="en-US" sz="2300" dirty="0"/>
              <a:t>Hence, there is network data exchange standards.</a:t>
            </a:r>
          </a:p>
          <a:p>
            <a:r>
              <a:rPr lang="en-US" sz="2300" dirty="0"/>
              <a:t>At the simplest level, an encoding scheme such as External Data Representation (XDR) allows a selected set of programming data types and data structure to be specified with IPC operations. </a:t>
            </a:r>
          </a:p>
          <a:p>
            <a:r>
              <a:rPr lang="en-US" sz="2300" dirty="0"/>
              <a:t>The data marshalling and unmarshaling are performed automatically by the IPC facilities on the two ends transparent to the programmer.</a:t>
            </a:r>
          </a:p>
        </p:txBody>
      </p:sp>
      <p:sp>
        <p:nvSpPr>
          <p:cNvPr id="4" name="Slide Number Placeholder 3"/>
          <p:cNvSpPr>
            <a:spLocks noGrp="1"/>
          </p:cNvSpPr>
          <p:nvPr>
            <p:ph type="sldNum" sz="quarter" idx="12"/>
          </p:nvPr>
        </p:nvSpPr>
        <p:spPr/>
        <p:txBody>
          <a:bodyPr/>
          <a:lstStyle/>
          <a:p>
            <a:fld id="{7040D16D-0600-4D21-96E6-588F007D1AD6}" type="slidenum">
              <a:rPr lang="en-US" smtClean="0"/>
              <a:pPr/>
              <a:t>41</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200"/>
            <a:ext cx="8229600" cy="4525963"/>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t>At a higher level of abstraction, standards such as ASN. 1 (Abstract Syntax Notation Number 1) exist. </a:t>
            </a:r>
          </a:p>
          <a:p>
            <a:r>
              <a:rPr lang="en-US" sz="2300" dirty="0"/>
              <a:t>ASN.1 is an Open System Interconnection (OSI) standard that specifies a transfer syntax for representing network data.</a:t>
            </a:r>
          </a:p>
          <a:p>
            <a:r>
              <a:rPr lang="en-US" sz="2300" dirty="0"/>
              <a:t>The standard covers a wide range of data structures and data types and supports the concepts of data tagging. </a:t>
            </a:r>
          </a:p>
          <a:p>
            <a:r>
              <a:rPr lang="en-US" sz="2300" dirty="0"/>
              <a:t>Each data item transmitted is encoded using syntax that specifies its type, its length, its value, and optionally a tag to identify a specific way of interpreting a syntax.</a:t>
            </a:r>
          </a:p>
        </p:txBody>
      </p:sp>
      <p:sp>
        <p:nvSpPr>
          <p:cNvPr id="4" name="Slide Number Placeholder 3"/>
          <p:cNvSpPr>
            <a:spLocks noGrp="1"/>
          </p:cNvSpPr>
          <p:nvPr>
            <p:ph type="sldNum" sz="quarter" idx="12"/>
          </p:nvPr>
        </p:nvSpPr>
        <p:spPr/>
        <p:txBody>
          <a:bodyPr/>
          <a:lstStyle/>
          <a:p>
            <a:fld id="{7040D16D-0600-4D21-96E6-588F007D1AD6}" type="slidenum">
              <a:rPr lang="en-US" smtClean="0"/>
              <a:pPr/>
              <a:t>42</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7" name="Title 1"/>
          <p:cNvSpPr txBox="1">
            <a:spLocks/>
          </p:cNvSpPr>
          <p:nvPr/>
        </p:nvSpPr>
        <p:spPr>
          <a:xfrm>
            <a:off x="457200" y="76200"/>
            <a:ext cx="8229600" cy="5334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outerShdw blurRad="38100" dist="38100" dir="2700000" algn="tl">
                    <a:srgbClr val="000000">
                      <a:alpha val="43137"/>
                    </a:srgbClr>
                  </a:outerShdw>
                </a:effectLst>
                <a:uLnTx/>
                <a:uFillTx/>
                <a:latin typeface="+mn-lt"/>
                <a:ea typeface="+mn-ea"/>
                <a:cs typeface="+mn-cs"/>
              </a:rPr>
              <a:t>2.6 Data Encoding</a:t>
            </a:r>
            <a:endPar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mn-lt"/>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p:cNvCxnSpPr/>
          <p:nvPr/>
        </p:nvCxnSpPr>
        <p:spPr>
          <a:xfrm rot="5400000">
            <a:off x="-332426" y="3276600"/>
            <a:ext cx="27432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83709" y="1384479"/>
            <a:ext cx="2209800" cy="369332"/>
          </a:xfrm>
          <a:prstGeom prst="rect">
            <a:avLst/>
          </a:prstGeom>
          <a:noFill/>
        </p:spPr>
        <p:txBody>
          <a:bodyPr wrap="square" rtlCol="0">
            <a:spAutoFit/>
          </a:bodyPr>
          <a:lstStyle/>
          <a:p>
            <a:pPr algn="ctr"/>
            <a:r>
              <a:rPr lang="en-US" dirty="0"/>
              <a:t>Level of Abstraction</a:t>
            </a:r>
          </a:p>
        </p:txBody>
      </p:sp>
      <p:sp>
        <p:nvSpPr>
          <p:cNvPr id="7" name="Rectangle 6"/>
          <p:cNvSpPr/>
          <p:nvPr/>
        </p:nvSpPr>
        <p:spPr>
          <a:xfrm>
            <a:off x="1422033" y="2651982"/>
            <a:ext cx="4191000" cy="1143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extBox 9"/>
          <p:cNvSpPr txBox="1"/>
          <p:nvPr/>
        </p:nvSpPr>
        <p:spPr>
          <a:xfrm>
            <a:off x="1422033" y="2651982"/>
            <a:ext cx="4191000" cy="369332"/>
          </a:xfrm>
          <a:prstGeom prst="rect">
            <a:avLst/>
          </a:prstGeom>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Application-specific data encoding language</a:t>
            </a:r>
          </a:p>
        </p:txBody>
      </p:sp>
      <p:sp>
        <p:nvSpPr>
          <p:cNvPr id="11" name="TextBox 10"/>
          <p:cNvSpPr txBox="1"/>
          <p:nvPr/>
        </p:nvSpPr>
        <p:spPr>
          <a:xfrm>
            <a:off x="1422033" y="3032982"/>
            <a:ext cx="4191000" cy="369332"/>
          </a:xfrm>
          <a:prstGeom prst="rect">
            <a:avLst/>
          </a:prstGeom>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General data encoding language</a:t>
            </a:r>
          </a:p>
        </p:txBody>
      </p:sp>
      <p:sp>
        <p:nvSpPr>
          <p:cNvPr id="12" name="TextBox 11"/>
          <p:cNvSpPr txBox="1"/>
          <p:nvPr/>
        </p:nvSpPr>
        <p:spPr>
          <a:xfrm>
            <a:off x="1422033" y="3411697"/>
            <a:ext cx="4191000" cy="369332"/>
          </a:xfrm>
          <a:prstGeom prst="rect">
            <a:avLst/>
          </a:prstGeom>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Network data encoding standard</a:t>
            </a:r>
          </a:p>
        </p:txBody>
      </p:sp>
      <p:sp>
        <p:nvSpPr>
          <p:cNvPr id="13" name="TextBox 12"/>
          <p:cNvSpPr txBox="1"/>
          <p:nvPr/>
        </p:nvSpPr>
        <p:spPr>
          <a:xfrm>
            <a:off x="2362200" y="1905000"/>
            <a:ext cx="2209800"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Data Encoding Schemes</a:t>
            </a:r>
          </a:p>
        </p:txBody>
      </p:sp>
      <p:sp>
        <p:nvSpPr>
          <p:cNvPr id="14" name="TextBox 13"/>
          <p:cNvSpPr txBox="1"/>
          <p:nvPr/>
        </p:nvSpPr>
        <p:spPr>
          <a:xfrm>
            <a:off x="533400" y="4876800"/>
            <a:ext cx="80772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b="1" dirty="0"/>
              <a:t>Network data representation standards</a:t>
            </a:r>
          </a:p>
        </p:txBody>
      </p:sp>
      <p:sp>
        <p:nvSpPr>
          <p:cNvPr id="15" name="TextBox 14"/>
          <p:cNvSpPr txBox="1"/>
          <p:nvPr/>
        </p:nvSpPr>
        <p:spPr>
          <a:xfrm>
            <a:off x="6545718" y="2143120"/>
            <a:ext cx="2209800" cy="369332"/>
          </a:xfrm>
          <a:prstGeom prst="rect">
            <a:avLst/>
          </a:prstGeom>
          <a:noFill/>
        </p:spPr>
        <p:txBody>
          <a:bodyPr wrap="square" rtlCol="0">
            <a:spAutoFit/>
          </a:bodyPr>
          <a:lstStyle/>
          <a:p>
            <a:pPr algn="ctr"/>
            <a:r>
              <a:rPr lang="en-US" dirty="0"/>
              <a:t>Sample Standards</a:t>
            </a:r>
          </a:p>
        </p:txBody>
      </p:sp>
      <p:sp>
        <p:nvSpPr>
          <p:cNvPr id="16" name="TextBox 15"/>
          <p:cNvSpPr txBox="1"/>
          <p:nvPr/>
        </p:nvSpPr>
        <p:spPr>
          <a:xfrm>
            <a:off x="6096000" y="2667001"/>
            <a:ext cx="2895600" cy="338554"/>
          </a:xfrm>
          <a:prstGeom prst="rect">
            <a:avLst/>
          </a:prstGeom>
          <a:noFill/>
        </p:spPr>
        <p:txBody>
          <a:bodyPr wrap="square" rtlCol="0">
            <a:spAutoFit/>
          </a:bodyPr>
          <a:lstStyle/>
          <a:p>
            <a:pPr algn="ctr"/>
            <a:r>
              <a:rPr lang="en-US" sz="1600" dirty="0"/>
              <a:t>XML (Extensible Markup Language)</a:t>
            </a:r>
          </a:p>
        </p:txBody>
      </p:sp>
      <p:sp>
        <p:nvSpPr>
          <p:cNvPr id="17" name="TextBox 16"/>
          <p:cNvSpPr txBox="1"/>
          <p:nvPr/>
        </p:nvSpPr>
        <p:spPr>
          <a:xfrm>
            <a:off x="6096000" y="3061953"/>
            <a:ext cx="2895600" cy="338554"/>
          </a:xfrm>
          <a:prstGeom prst="rect">
            <a:avLst/>
          </a:prstGeom>
          <a:noFill/>
        </p:spPr>
        <p:txBody>
          <a:bodyPr wrap="square" rtlCol="0">
            <a:spAutoFit/>
          </a:bodyPr>
          <a:lstStyle/>
          <a:p>
            <a:pPr algn="ctr"/>
            <a:r>
              <a:rPr lang="en-US" sz="1600" dirty="0"/>
              <a:t>ASN.1 (Abstract Syntax Notation)</a:t>
            </a:r>
          </a:p>
        </p:txBody>
      </p:sp>
      <p:sp>
        <p:nvSpPr>
          <p:cNvPr id="18" name="TextBox 17"/>
          <p:cNvSpPr txBox="1"/>
          <p:nvPr/>
        </p:nvSpPr>
        <p:spPr>
          <a:xfrm>
            <a:off x="5715000" y="3471446"/>
            <a:ext cx="3276600" cy="338554"/>
          </a:xfrm>
          <a:prstGeom prst="rect">
            <a:avLst/>
          </a:prstGeom>
          <a:noFill/>
        </p:spPr>
        <p:txBody>
          <a:bodyPr wrap="square" rtlCol="0">
            <a:spAutoFit/>
          </a:bodyPr>
          <a:lstStyle/>
          <a:p>
            <a:pPr algn="ctr"/>
            <a:r>
              <a:rPr lang="en-US" sz="1600" dirty="0"/>
              <a:t>Sun XDR (External Data Representation)</a:t>
            </a:r>
          </a:p>
        </p:txBody>
      </p:sp>
      <p:sp>
        <p:nvSpPr>
          <p:cNvPr id="19" name="Slide Number Placeholder 18"/>
          <p:cNvSpPr>
            <a:spLocks noGrp="1"/>
          </p:cNvSpPr>
          <p:nvPr>
            <p:ph type="sldNum" sz="quarter" idx="12"/>
          </p:nvPr>
        </p:nvSpPr>
        <p:spPr/>
        <p:txBody>
          <a:bodyPr/>
          <a:lstStyle/>
          <a:p>
            <a:fld id="{7040D16D-0600-4D21-96E6-588F007D1AD6}" type="slidenum">
              <a:rPr lang="en-US" smtClean="0"/>
              <a:pPr/>
              <a:t>43</a:t>
            </a:fld>
            <a:endParaRPr lang="en-US"/>
          </a:p>
        </p:txBody>
      </p:sp>
      <p:sp>
        <p:nvSpPr>
          <p:cNvPr id="20" name="Footer Placeholder 19"/>
          <p:cNvSpPr>
            <a:spLocks noGrp="1"/>
          </p:cNvSpPr>
          <p:nvPr>
            <p:ph type="ftr" sz="quarter" idx="11"/>
          </p:nvPr>
        </p:nvSpPr>
        <p:spPr/>
        <p:txBody>
          <a:bodyPr/>
          <a:lstStyle/>
          <a:p>
            <a:r>
              <a:rPr lang="en-US"/>
              <a:t>Asst. Professor Riddhi Joshi</a:t>
            </a:r>
          </a:p>
        </p:txBody>
      </p:sp>
      <p:pic>
        <p:nvPicPr>
          <p:cNvPr id="21"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
        <p:nvSpPr>
          <p:cNvPr id="22" name="Title 1"/>
          <p:cNvSpPr txBox="1">
            <a:spLocks/>
          </p:cNvSpPr>
          <p:nvPr/>
        </p:nvSpPr>
        <p:spPr>
          <a:xfrm>
            <a:off x="457200" y="76200"/>
            <a:ext cx="8229600" cy="5334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outerShdw blurRad="38100" dist="38100" dir="2700000" algn="tl">
                    <a:srgbClr val="000000">
                      <a:alpha val="43137"/>
                    </a:srgbClr>
                  </a:outerShdw>
                </a:effectLst>
                <a:uLnTx/>
                <a:uFillTx/>
                <a:latin typeface="+mn-lt"/>
                <a:ea typeface="+mn-ea"/>
                <a:cs typeface="+mn-cs"/>
              </a:rPr>
              <a:t>2.6 Data Encoding</a:t>
            </a:r>
            <a:endPar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mn-lt"/>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152400" y="1371600"/>
            <a:ext cx="8763000" cy="36576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r>
              <a:rPr lang="en-US" sz="2200" dirty="0">
                <a:solidFill>
                  <a:schemeClr val="tx1"/>
                </a:solidFill>
                <a:latin typeface="Cambria" pitchFamily="18" charset="0"/>
                <a:cs typeface="Aharoni" pitchFamily="2" charset="-79"/>
              </a:rPr>
              <a:t>2.1 An Archetypal IPC Program Interface</a:t>
            </a:r>
          </a:p>
          <a:p>
            <a:r>
              <a:rPr lang="en-US" sz="2200" dirty="0">
                <a:solidFill>
                  <a:schemeClr val="tx1"/>
                </a:solidFill>
                <a:latin typeface="Cambria" pitchFamily="18" charset="0"/>
                <a:cs typeface="Aharoni" pitchFamily="2" charset="-79"/>
              </a:rPr>
              <a:t>2.2 Event Synchronization</a:t>
            </a:r>
          </a:p>
          <a:p>
            <a:r>
              <a:rPr lang="en-US" sz="2200" dirty="0">
                <a:solidFill>
                  <a:schemeClr val="tx1"/>
                </a:solidFill>
                <a:latin typeface="Cambria" pitchFamily="18" charset="0"/>
                <a:cs typeface="Aharoni" pitchFamily="2" charset="-79"/>
              </a:rPr>
              <a:t>2.3 Timeouts and Threading</a:t>
            </a:r>
          </a:p>
          <a:p>
            <a:r>
              <a:rPr lang="en-US" sz="2200" dirty="0">
                <a:solidFill>
                  <a:schemeClr val="tx1"/>
                </a:solidFill>
                <a:latin typeface="Cambria" pitchFamily="18" charset="0"/>
                <a:cs typeface="Aharoni" pitchFamily="2" charset="-79"/>
              </a:rPr>
              <a:t>2.4 Deadlocks and Timeouts</a:t>
            </a:r>
          </a:p>
          <a:p>
            <a:r>
              <a:rPr lang="en-US" sz="2200" dirty="0">
                <a:solidFill>
                  <a:schemeClr val="tx1"/>
                </a:solidFill>
                <a:latin typeface="Cambria" pitchFamily="18" charset="0"/>
                <a:cs typeface="Aharoni" pitchFamily="2" charset="-79"/>
              </a:rPr>
              <a:t>2.5 Data Representation</a:t>
            </a:r>
          </a:p>
          <a:p>
            <a:r>
              <a:rPr lang="en-US" sz="2200" dirty="0">
                <a:solidFill>
                  <a:schemeClr val="tx1"/>
                </a:solidFill>
                <a:latin typeface="Cambria" pitchFamily="18" charset="0"/>
                <a:cs typeface="Aharoni" pitchFamily="2" charset="-79"/>
              </a:rPr>
              <a:t> 2.6 Data Encoding</a:t>
            </a:r>
          </a:p>
          <a:p>
            <a:r>
              <a:rPr lang="en-US" sz="2200" dirty="0">
                <a:latin typeface="Cambria" pitchFamily="18" charset="0"/>
                <a:cs typeface="Aharoni" pitchFamily="2" charset="-79"/>
              </a:rPr>
              <a:t>     </a:t>
            </a:r>
            <a:r>
              <a:rPr lang="en-US" sz="2200" b="1" dirty="0">
                <a:solidFill>
                  <a:schemeClr val="accent1"/>
                </a:solidFill>
                <a:latin typeface="Cambria" pitchFamily="18" charset="0"/>
                <a:cs typeface="Aharoni" pitchFamily="2" charset="-79"/>
              </a:rPr>
              <a:t>2.7 Text Based Protocol</a:t>
            </a:r>
          </a:p>
          <a:p>
            <a:r>
              <a:rPr lang="en-US" sz="2200" dirty="0">
                <a:latin typeface="Cambria" pitchFamily="18" charset="0"/>
                <a:cs typeface="Aharoni" pitchFamily="2" charset="-79"/>
              </a:rPr>
              <a:t>2.8 Request Response Protocol</a:t>
            </a:r>
          </a:p>
          <a:p>
            <a:r>
              <a:rPr lang="en-US" sz="2200" dirty="0">
                <a:latin typeface="Cambria" pitchFamily="18" charset="0"/>
                <a:cs typeface="Aharoni" pitchFamily="2" charset="-79"/>
              </a:rPr>
              <a:t>2.9 Event Diagram &amp; Sequence Diagram</a:t>
            </a:r>
          </a:p>
          <a:p>
            <a:r>
              <a:rPr lang="en-US" sz="2200" dirty="0">
                <a:latin typeface="Cambria" pitchFamily="18" charset="0"/>
                <a:cs typeface="Aharoni" pitchFamily="2" charset="-79"/>
              </a:rPr>
              <a:t>2.10 Connection Oriented  Vs. Connectionless IPC</a:t>
            </a:r>
          </a:p>
          <a:p>
            <a:endParaRPr lang="en-US" sz="2200" dirty="0">
              <a:latin typeface="Cambria" pitchFamily="18" charset="0"/>
              <a:cs typeface="Aharoni" pitchFamily="2" charset="-79"/>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endParaRPr kumimoji="0" lang="en-US" sz="2200" b="0" i="0" u="none" strike="noStrike" kern="1200" cap="none" spc="0" normalizeH="0" baseline="0" noProof="0" dirty="0">
              <a:ln>
                <a:noFill/>
              </a:ln>
              <a:solidFill>
                <a:schemeClr val="tx1"/>
              </a:solidFill>
              <a:effectLst/>
              <a:uLnTx/>
              <a:uFillTx/>
              <a:latin typeface="Cambria" pitchFamily="18" charset="0"/>
              <a:cs typeface="Aharoni" pitchFamily="2" charset="-79"/>
            </a:endParaRPr>
          </a:p>
        </p:txBody>
      </p:sp>
      <p:sp>
        <p:nvSpPr>
          <p:cNvPr id="5" name="TextBox 4"/>
          <p:cNvSpPr txBox="1"/>
          <p:nvPr/>
        </p:nvSpPr>
        <p:spPr>
          <a:xfrm>
            <a:off x="2514600" y="152400"/>
            <a:ext cx="4267200" cy="523875"/>
          </a:xfrm>
          <a:prstGeom prst="rect">
            <a:avLst/>
          </a:prstGeom>
        </p:spPr>
        <p:style>
          <a:lnRef idx="3">
            <a:schemeClr val="lt1"/>
          </a:lnRef>
          <a:fillRef idx="1">
            <a:schemeClr val="accent1"/>
          </a:fillRef>
          <a:effectRef idx="1">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6" name="Slide Number Placeholder 5"/>
          <p:cNvSpPr>
            <a:spLocks noGrp="1"/>
          </p:cNvSpPr>
          <p:nvPr>
            <p:ph type="sldNum" sz="quarter" idx="12"/>
          </p:nvPr>
        </p:nvSpPr>
        <p:spPr/>
        <p:txBody>
          <a:bodyPr/>
          <a:lstStyle/>
          <a:p>
            <a:fld id="{7040D16D-0600-4D21-96E6-588F007D1AD6}" type="slidenum">
              <a:rPr lang="en-US" smtClean="0"/>
              <a:pPr/>
              <a:t>44</a:t>
            </a:fld>
            <a:endParaRPr lang="en-US"/>
          </a:p>
        </p:txBody>
      </p:sp>
      <p:sp>
        <p:nvSpPr>
          <p:cNvPr id="7" name="Footer Placeholder 6"/>
          <p:cNvSpPr>
            <a:spLocks noGrp="1"/>
          </p:cNvSpPr>
          <p:nvPr>
            <p:ph type="ftr" sz="quarter" idx="11"/>
          </p:nvPr>
        </p:nvSpPr>
        <p:spPr/>
        <p:txBody>
          <a:bodyPr/>
          <a:lstStyle/>
          <a:p>
            <a:r>
              <a:rPr lang="en-US"/>
              <a:t>Asst. Professor Riddhi Joshi</a:t>
            </a:r>
          </a:p>
        </p:txBody>
      </p:sp>
      <p:pic>
        <p:nvPicPr>
          <p:cNvPr id="2051" name="Picture 3" descr="F:\General Data\general sub data\animated images\gp image\stick_figure_walking_reading_book_sm_wm.gif"/>
          <p:cNvPicPr>
            <a:picLocks noChangeAspect="1" noChangeArrowheads="1" noCrop="1"/>
          </p:cNvPicPr>
          <p:nvPr/>
        </p:nvPicPr>
        <p:blipFill>
          <a:blip r:embed="rId2"/>
          <a:srcRect/>
          <a:stretch>
            <a:fillRect/>
          </a:stretch>
        </p:blipFill>
        <p:spPr bwMode="auto">
          <a:xfrm>
            <a:off x="152400" y="95250"/>
            <a:ext cx="1447800" cy="1047750"/>
          </a:xfrm>
          <a:prstGeom prst="rect">
            <a:avLst/>
          </a:prstGeom>
          <a:noFill/>
        </p:spPr>
      </p:pic>
      <p:pic>
        <p:nvPicPr>
          <p:cNvPr id="9" name="Picture 2" descr="F:\General Data\general sub data\animated images\gp image\5027341-blue-crystal-earth-showing-north-and-south-america.jpg"/>
          <p:cNvPicPr>
            <a:picLocks noChangeAspect="1" noChangeArrowheads="1"/>
          </p:cNvPicPr>
          <p:nvPr/>
        </p:nvPicPr>
        <p:blipFill>
          <a:blip r:embed="rId3"/>
          <a:srcRect/>
          <a:stretch>
            <a:fillRect/>
          </a:stretch>
        </p:blipFill>
        <p:spPr bwMode="auto">
          <a:xfrm>
            <a:off x="76200" y="5638800"/>
            <a:ext cx="1143000" cy="1143000"/>
          </a:xfrm>
          <a:prstGeom prst="ellipse">
            <a:avLst/>
          </a:prstGeom>
          <a:ln>
            <a:noFill/>
          </a:ln>
          <a:effectLst>
            <a:softEdge rad="112500"/>
          </a:effectLst>
        </p:spPr>
      </p:pic>
      <p:sp>
        <p:nvSpPr>
          <p:cNvPr id="10" name="Right Arrow 9"/>
          <p:cNvSpPr/>
          <p:nvPr/>
        </p:nvSpPr>
        <p:spPr>
          <a:xfrm>
            <a:off x="228600" y="35052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09600"/>
          </a:xfrm>
        </p:spPr>
        <p:style>
          <a:lnRef idx="3">
            <a:schemeClr val="lt1"/>
          </a:lnRef>
          <a:fillRef idx="1">
            <a:schemeClr val="accent1"/>
          </a:fillRef>
          <a:effectRef idx="1">
            <a:schemeClr val="accent1"/>
          </a:effectRef>
          <a:fontRef idx="minor">
            <a:schemeClr val="lt1"/>
          </a:fontRef>
        </p:style>
        <p:txBody>
          <a:bodyPr>
            <a:normAutofit/>
          </a:bodyPr>
          <a:lstStyle/>
          <a:p>
            <a:r>
              <a:rPr lang="en-US" sz="2600" b="1" dirty="0">
                <a:effectLst>
                  <a:outerShdw blurRad="38100" dist="38100" dir="2700000" algn="tl">
                    <a:srgbClr val="000000">
                      <a:alpha val="43137"/>
                    </a:srgbClr>
                  </a:outerShdw>
                </a:effectLst>
              </a:rPr>
              <a:t>2.7 Text Based Protocol</a:t>
            </a:r>
          </a:p>
        </p:txBody>
      </p:sp>
      <p:sp>
        <p:nvSpPr>
          <p:cNvPr id="3" name="Content Placeholder 2"/>
          <p:cNvSpPr>
            <a:spLocks noGrp="1"/>
          </p:cNvSpPr>
          <p:nvPr>
            <p:ph idx="1"/>
          </p:nvPr>
        </p:nvSpPr>
        <p:spPr>
          <a:xfrm>
            <a:off x="381000" y="914400"/>
            <a:ext cx="8229600" cy="4525963"/>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t>Data marshaling is at its simplest when the data exchanged is a stream of characters or text encoded using a representation such as ASCII. </a:t>
            </a:r>
          </a:p>
          <a:p>
            <a:r>
              <a:rPr lang="en-US" sz="2300" dirty="0"/>
              <a:t>Exchanging data in text has the additional advantages that the data can easily parsed in a program and displayed for human perusal. </a:t>
            </a:r>
          </a:p>
          <a:p>
            <a:r>
              <a:rPr lang="en-US" sz="2300" dirty="0"/>
              <a:t>Hence it is a popular practice for protocols to exchange request and responses in the form of character strings. Such protocols are said to be text-based.</a:t>
            </a:r>
          </a:p>
          <a:p>
            <a:r>
              <a:rPr lang="en-US" sz="2300" dirty="0"/>
              <a:t>Many popular network protocols, including FTP, HTTP and SMTP, are text-based.</a:t>
            </a:r>
          </a:p>
        </p:txBody>
      </p:sp>
      <p:sp>
        <p:nvSpPr>
          <p:cNvPr id="4" name="Slide Number Placeholder 3"/>
          <p:cNvSpPr>
            <a:spLocks noGrp="1"/>
          </p:cNvSpPr>
          <p:nvPr>
            <p:ph type="sldNum" sz="quarter" idx="12"/>
          </p:nvPr>
        </p:nvSpPr>
        <p:spPr/>
        <p:txBody>
          <a:bodyPr/>
          <a:lstStyle/>
          <a:p>
            <a:fld id="{7040D16D-0600-4D21-96E6-588F007D1AD6}" type="slidenum">
              <a:rPr lang="en-US" smtClean="0"/>
              <a:pPr/>
              <a:t>45</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152400" y="1371600"/>
            <a:ext cx="8763000" cy="36576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r>
              <a:rPr lang="en-US" sz="2200" dirty="0">
                <a:solidFill>
                  <a:schemeClr val="tx1"/>
                </a:solidFill>
                <a:latin typeface="Cambria" pitchFamily="18" charset="0"/>
                <a:cs typeface="Aharoni" pitchFamily="2" charset="-79"/>
              </a:rPr>
              <a:t>2.1 An Archetypal IPC Program Interface</a:t>
            </a:r>
          </a:p>
          <a:p>
            <a:r>
              <a:rPr lang="en-US" sz="2200" dirty="0">
                <a:solidFill>
                  <a:schemeClr val="tx1"/>
                </a:solidFill>
                <a:latin typeface="Cambria" pitchFamily="18" charset="0"/>
                <a:cs typeface="Aharoni" pitchFamily="2" charset="-79"/>
              </a:rPr>
              <a:t>2.2 Event Synchronization</a:t>
            </a:r>
          </a:p>
          <a:p>
            <a:r>
              <a:rPr lang="en-US" sz="2200" dirty="0">
                <a:solidFill>
                  <a:schemeClr val="tx1"/>
                </a:solidFill>
                <a:latin typeface="Cambria" pitchFamily="18" charset="0"/>
                <a:cs typeface="Aharoni" pitchFamily="2" charset="-79"/>
              </a:rPr>
              <a:t>2.3 Timeouts and Threading</a:t>
            </a:r>
          </a:p>
          <a:p>
            <a:r>
              <a:rPr lang="en-US" sz="2200" dirty="0">
                <a:solidFill>
                  <a:schemeClr val="tx1"/>
                </a:solidFill>
                <a:latin typeface="Cambria" pitchFamily="18" charset="0"/>
                <a:cs typeface="Aharoni" pitchFamily="2" charset="-79"/>
              </a:rPr>
              <a:t>2.4 Deadlocks and Timeouts</a:t>
            </a:r>
          </a:p>
          <a:p>
            <a:r>
              <a:rPr lang="en-US" sz="2200" dirty="0">
                <a:solidFill>
                  <a:schemeClr val="tx1"/>
                </a:solidFill>
                <a:latin typeface="Cambria" pitchFamily="18" charset="0"/>
                <a:cs typeface="Aharoni" pitchFamily="2" charset="-79"/>
              </a:rPr>
              <a:t>2.5 Data Representation</a:t>
            </a:r>
          </a:p>
          <a:p>
            <a:r>
              <a:rPr lang="en-US" sz="2200" dirty="0">
                <a:solidFill>
                  <a:schemeClr val="tx1"/>
                </a:solidFill>
                <a:latin typeface="Cambria" pitchFamily="18" charset="0"/>
                <a:cs typeface="Aharoni" pitchFamily="2" charset="-79"/>
              </a:rPr>
              <a:t> 2.6 Data Encoding</a:t>
            </a:r>
          </a:p>
          <a:p>
            <a:r>
              <a:rPr lang="en-US" sz="2200" dirty="0">
                <a:solidFill>
                  <a:schemeClr val="tx1"/>
                </a:solidFill>
                <a:latin typeface="Cambria" pitchFamily="18" charset="0"/>
                <a:cs typeface="Aharoni" pitchFamily="2" charset="-79"/>
              </a:rPr>
              <a:t>2.7 Text Based Protocol</a:t>
            </a:r>
          </a:p>
          <a:p>
            <a:r>
              <a:rPr lang="en-US" sz="2200" dirty="0">
                <a:latin typeface="Cambria" pitchFamily="18" charset="0"/>
                <a:cs typeface="Aharoni" pitchFamily="2" charset="-79"/>
              </a:rPr>
              <a:t>    </a:t>
            </a:r>
            <a:r>
              <a:rPr lang="en-US" sz="2200" b="1" dirty="0">
                <a:solidFill>
                  <a:schemeClr val="accent1"/>
                </a:solidFill>
                <a:latin typeface="Cambria" pitchFamily="18" charset="0"/>
                <a:cs typeface="Aharoni" pitchFamily="2" charset="-79"/>
              </a:rPr>
              <a:t>2.8 Request Response Protocol</a:t>
            </a:r>
          </a:p>
          <a:p>
            <a:r>
              <a:rPr lang="en-US" sz="2200" dirty="0">
                <a:latin typeface="Cambria" pitchFamily="18" charset="0"/>
                <a:cs typeface="Aharoni" pitchFamily="2" charset="-79"/>
              </a:rPr>
              <a:t>2.9 Event Diagram &amp; Sequence Diagram</a:t>
            </a:r>
          </a:p>
          <a:p>
            <a:r>
              <a:rPr lang="en-US" sz="2200" dirty="0">
                <a:latin typeface="Cambria" pitchFamily="18" charset="0"/>
                <a:cs typeface="Aharoni" pitchFamily="2" charset="-79"/>
              </a:rPr>
              <a:t>2.10 Connection Oriented  Vs. Connectionless IPC</a:t>
            </a:r>
          </a:p>
          <a:p>
            <a:endParaRPr lang="en-US" sz="2200" dirty="0">
              <a:latin typeface="Cambria" pitchFamily="18" charset="0"/>
              <a:cs typeface="Aharoni" pitchFamily="2" charset="-79"/>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endParaRPr kumimoji="0" lang="en-US" sz="2200" b="0" i="0" u="none" strike="noStrike" kern="1200" cap="none" spc="0" normalizeH="0" baseline="0" noProof="0" dirty="0">
              <a:ln>
                <a:noFill/>
              </a:ln>
              <a:solidFill>
                <a:schemeClr val="tx1"/>
              </a:solidFill>
              <a:effectLst/>
              <a:uLnTx/>
              <a:uFillTx/>
              <a:latin typeface="Cambria" pitchFamily="18" charset="0"/>
              <a:cs typeface="Aharoni" pitchFamily="2" charset="-79"/>
            </a:endParaRPr>
          </a:p>
        </p:txBody>
      </p:sp>
      <p:sp>
        <p:nvSpPr>
          <p:cNvPr id="5" name="TextBox 4"/>
          <p:cNvSpPr txBox="1"/>
          <p:nvPr/>
        </p:nvSpPr>
        <p:spPr>
          <a:xfrm>
            <a:off x="2514600" y="152400"/>
            <a:ext cx="4267200" cy="523875"/>
          </a:xfrm>
          <a:prstGeom prst="rect">
            <a:avLst/>
          </a:prstGeom>
        </p:spPr>
        <p:style>
          <a:lnRef idx="3">
            <a:schemeClr val="lt1"/>
          </a:lnRef>
          <a:fillRef idx="1">
            <a:schemeClr val="accent1"/>
          </a:fillRef>
          <a:effectRef idx="1">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6" name="Slide Number Placeholder 5"/>
          <p:cNvSpPr>
            <a:spLocks noGrp="1"/>
          </p:cNvSpPr>
          <p:nvPr>
            <p:ph type="sldNum" sz="quarter" idx="12"/>
          </p:nvPr>
        </p:nvSpPr>
        <p:spPr/>
        <p:txBody>
          <a:bodyPr/>
          <a:lstStyle/>
          <a:p>
            <a:fld id="{7040D16D-0600-4D21-96E6-588F007D1AD6}" type="slidenum">
              <a:rPr lang="en-US" smtClean="0"/>
              <a:pPr/>
              <a:t>46</a:t>
            </a:fld>
            <a:endParaRPr lang="en-US"/>
          </a:p>
        </p:txBody>
      </p:sp>
      <p:sp>
        <p:nvSpPr>
          <p:cNvPr id="7" name="Footer Placeholder 6"/>
          <p:cNvSpPr>
            <a:spLocks noGrp="1"/>
          </p:cNvSpPr>
          <p:nvPr>
            <p:ph type="ftr" sz="quarter" idx="11"/>
          </p:nvPr>
        </p:nvSpPr>
        <p:spPr/>
        <p:txBody>
          <a:bodyPr/>
          <a:lstStyle/>
          <a:p>
            <a:r>
              <a:rPr lang="en-US"/>
              <a:t>Asst. Professor Riddhi Joshi</a:t>
            </a:r>
          </a:p>
        </p:txBody>
      </p:sp>
      <p:pic>
        <p:nvPicPr>
          <p:cNvPr id="2051" name="Picture 3" descr="F:\General Data\general sub data\animated images\gp image\stick_figure_walking_reading_book_sm_wm.gif"/>
          <p:cNvPicPr>
            <a:picLocks noChangeAspect="1" noChangeArrowheads="1" noCrop="1"/>
          </p:cNvPicPr>
          <p:nvPr/>
        </p:nvPicPr>
        <p:blipFill>
          <a:blip r:embed="rId2"/>
          <a:srcRect/>
          <a:stretch>
            <a:fillRect/>
          </a:stretch>
        </p:blipFill>
        <p:spPr bwMode="auto">
          <a:xfrm>
            <a:off x="152400" y="95250"/>
            <a:ext cx="1447800" cy="1047750"/>
          </a:xfrm>
          <a:prstGeom prst="rect">
            <a:avLst/>
          </a:prstGeom>
          <a:noFill/>
        </p:spPr>
      </p:pic>
      <p:pic>
        <p:nvPicPr>
          <p:cNvPr id="9" name="Picture 2" descr="F:\General Data\general sub data\animated images\gp image\5027341-blue-crystal-earth-showing-north-and-south-america.jpg"/>
          <p:cNvPicPr>
            <a:picLocks noChangeAspect="1" noChangeArrowheads="1"/>
          </p:cNvPicPr>
          <p:nvPr/>
        </p:nvPicPr>
        <p:blipFill>
          <a:blip r:embed="rId3"/>
          <a:srcRect/>
          <a:stretch>
            <a:fillRect/>
          </a:stretch>
        </p:blipFill>
        <p:spPr bwMode="auto">
          <a:xfrm>
            <a:off x="76200" y="5638800"/>
            <a:ext cx="1143000" cy="1143000"/>
          </a:xfrm>
          <a:prstGeom prst="ellipse">
            <a:avLst/>
          </a:prstGeom>
          <a:ln>
            <a:noFill/>
          </a:ln>
          <a:effectLst>
            <a:softEdge rad="112500"/>
          </a:effectLst>
        </p:spPr>
      </p:pic>
      <p:sp>
        <p:nvSpPr>
          <p:cNvPr id="10" name="Right Arrow 9"/>
          <p:cNvSpPr/>
          <p:nvPr/>
        </p:nvSpPr>
        <p:spPr>
          <a:xfrm>
            <a:off x="152400" y="38862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style>
          <a:lnRef idx="3">
            <a:schemeClr val="lt1"/>
          </a:lnRef>
          <a:fillRef idx="1">
            <a:schemeClr val="accent1"/>
          </a:fillRef>
          <a:effectRef idx="1">
            <a:schemeClr val="accent1"/>
          </a:effectRef>
          <a:fontRef idx="minor">
            <a:schemeClr val="lt1"/>
          </a:fontRef>
        </p:style>
        <p:txBody>
          <a:bodyPr>
            <a:normAutofit/>
          </a:bodyPr>
          <a:lstStyle/>
          <a:p>
            <a:r>
              <a:rPr lang="en-US" sz="2600" b="1" dirty="0">
                <a:effectLst>
                  <a:outerShdw blurRad="38100" dist="38100" dir="2700000" algn="tl">
                    <a:srgbClr val="000000">
                      <a:alpha val="43137"/>
                    </a:srgbClr>
                  </a:outerShdw>
                </a:effectLst>
              </a:rPr>
              <a:t>2.8 Request-Response Protocols</a:t>
            </a:r>
          </a:p>
        </p:txBody>
      </p:sp>
      <p:sp>
        <p:nvSpPr>
          <p:cNvPr id="3" name="Content Placeholder 2"/>
          <p:cNvSpPr>
            <a:spLocks noGrp="1"/>
          </p:cNvSpPr>
          <p:nvPr>
            <p:ph idx="1"/>
          </p:nvPr>
        </p:nvSpPr>
        <p:spPr>
          <a:xfrm>
            <a:off x="228600" y="1066800"/>
            <a:ext cx="8686800" cy="4525963"/>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t>An important type of protocol is the request-response protocol. </a:t>
            </a:r>
          </a:p>
          <a:p>
            <a:r>
              <a:rPr lang="en-US" sz="2300" dirty="0"/>
              <a:t>In this protocol, one side issues a request and awaits a response from the other side.</a:t>
            </a:r>
          </a:p>
          <a:p>
            <a:r>
              <a:rPr lang="en-US" sz="2300" dirty="0"/>
              <a:t>Subsequently, another request may be issued, which in turn elicits another response.</a:t>
            </a:r>
          </a:p>
          <a:p>
            <a:r>
              <a:rPr lang="en-US" sz="2300" dirty="0"/>
              <a:t> The protocol proceeds in an iteration of request-response, until the desired task is completed.</a:t>
            </a:r>
          </a:p>
          <a:p>
            <a:r>
              <a:rPr lang="en-US" sz="2300" dirty="0"/>
              <a:t>The popular network protocols FTP, HTTP, and SMTP are all request response protocols.</a:t>
            </a:r>
          </a:p>
        </p:txBody>
      </p:sp>
      <p:sp>
        <p:nvSpPr>
          <p:cNvPr id="4" name="Slide Number Placeholder 3"/>
          <p:cNvSpPr>
            <a:spLocks noGrp="1"/>
          </p:cNvSpPr>
          <p:nvPr>
            <p:ph type="sldNum" sz="quarter" idx="12"/>
          </p:nvPr>
        </p:nvSpPr>
        <p:spPr/>
        <p:txBody>
          <a:bodyPr/>
          <a:lstStyle/>
          <a:p>
            <a:fld id="{7040D16D-0600-4D21-96E6-588F007D1AD6}" type="slidenum">
              <a:rPr lang="en-US" smtClean="0"/>
              <a:pPr/>
              <a:t>47</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152400" y="1371600"/>
            <a:ext cx="8763000" cy="36576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r>
              <a:rPr lang="en-US" sz="2200" dirty="0">
                <a:solidFill>
                  <a:schemeClr val="tx1"/>
                </a:solidFill>
                <a:latin typeface="Cambria" pitchFamily="18" charset="0"/>
                <a:cs typeface="Aharoni" pitchFamily="2" charset="-79"/>
              </a:rPr>
              <a:t>2.1 An Archetypal IPC Program Interface</a:t>
            </a:r>
          </a:p>
          <a:p>
            <a:r>
              <a:rPr lang="en-US" sz="2200" dirty="0">
                <a:solidFill>
                  <a:schemeClr val="tx1"/>
                </a:solidFill>
                <a:latin typeface="Cambria" pitchFamily="18" charset="0"/>
                <a:cs typeface="Aharoni" pitchFamily="2" charset="-79"/>
              </a:rPr>
              <a:t>2.2 Event Synchronization</a:t>
            </a:r>
          </a:p>
          <a:p>
            <a:r>
              <a:rPr lang="en-US" sz="2200" dirty="0">
                <a:solidFill>
                  <a:schemeClr val="tx1"/>
                </a:solidFill>
                <a:latin typeface="Cambria" pitchFamily="18" charset="0"/>
                <a:cs typeface="Aharoni" pitchFamily="2" charset="-79"/>
              </a:rPr>
              <a:t>2.3 Timeouts and Threading</a:t>
            </a:r>
          </a:p>
          <a:p>
            <a:r>
              <a:rPr lang="en-US" sz="2200" dirty="0">
                <a:solidFill>
                  <a:schemeClr val="tx1"/>
                </a:solidFill>
                <a:latin typeface="Cambria" pitchFamily="18" charset="0"/>
                <a:cs typeface="Aharoni" pitchFamily="2" charset="-79"/>
              </a:rPr>
              <a:t>2.4 Deadlocks and Timeouts</a:t>
            </a:r>
          </a:p>
          <a:p>
            <a:r>
              <a:rPr lang="en-US" sz="2200" dirty="0">
                <a:solidFill>
                  <a:schemeClr val="tx1"/>
                </a:solidFill>
                <a:latin typeface="Cambria" pitchFamily="18" charset="0"/>
                <a:cs typeface="Aharoni" pitchFamily="2" charset="-79"/>
              </a:rPr>
              <a:t>2.5 Data Representation</a:t>
            </a:r>
          </a:p>
          <a:p>
            <a:r>
              <a:rPr lang="en-US" sz="2200" dirty="0">
                <a:solidFill>
                  <a:schemeClr val="tx1"/>
                </a:solidFill>
                <a:latin typeface="Cambria" pitchFamily="18" charset="0"/>
                <a:cs typeface="Aharoni" pitchFamily="2" charset="-79"/>
              </a:rPr>
              <a:t> 2.6 Data Encoding</a:t>
            </a:r>
          </a:p>
          <a:p>
            <a:r>
              <a:rPr lang="en-US" sz="2200" dirty="0">
                <a:solidFill>
                  <a:schemeClr val="tx1"/>
                </a:solidFill>
                <a:latin typeface="Cambria" pitchFamily="18" charset="0"/>
                <a:cs typeface="Aharoni" pitchFamily="2" charset="-79"/>
              </a:rPr>
              <a:t>2.7 Text Based Protocol</a:t>
            </a:r>
          </a:p>
          <a:p>
            <a:r>
              <a:rPr lang="en-US" sz="2200" dirty="0">
                <a:solidFill>
                  <a:schemeClr val="tx1"/>
                </a:solidFill>
                <a:latin typeface="Cambria" pitchFamily="18" charset="0"/>
                <a:cs typeface="Aharoni" pitchFamily="2" charset="-79"/>
              </a:rPr>
              <a:t>2.8 Request Response Protocol</a:t>
            </a:r>
          </a:p>
          <a:p>
            <a:r>
              <a:rPr lang="en-US" sz="2200" dirty="0">
                <a:latin typeface="Cambria" pitchFamily="18" charset="0"/>
                <a:cs typeface="Aharoni" pitchFamily="2" charset="-79"/>
              </a:rPr>
              <a:t>      </a:t>
            </a:r>
            <a:r>
              <a:rPr lang="en-US" sz="2200" b="1" dirty="0">
                <a:solidFill>
                  <a:schemeClr val="accent1"/>
                </a:solidFill>
                <a:latin typeface="Cambria" pitchFamily="18" charset="0"/>
                <a:cs typeface="Aharoni" pitchFamily="2" charset="-79"/>
              </a:rPr>
              <a:t>2.9 Event Diagram &amp; Sequence Diagram</a:t>
            </a:r>
          </a:p>
          <a:p>
            <a:r>
              <a:rPr lang="en-US" sz="2200" dirty="0">
                <a:latin typeface="Cambria" pitchFamily="18" charset="0"/>
                <a:cs typeface="Aharoni" pitchFamily="2" charset="-79"/>
              </a:rPr>
              <a:t>2.10 Connection Oriented  Vs. Connectionless IPC</a:t>
            </a:r>
          </a:p>
          <a:p>
            <a:endParaRPr lang="en-US" sz="2200" dirty="0">
              <a:latin typeface="Cambria" pitchFamily="18" charset="0"/>
              <a:cs typeface="Aharoni" pitchFamily="2" charset="-79"/>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endParaRPr kumimoji="0" lang="en-US" sz="2200" b="0" i="0" u="none" strike="noStrike" kern="1200" cap="none" spc="0" normalizeH="0" baseline="0" noProof="0" dirty="0">
              <a:ln>
                <a:noFill/>
              </a:ln>
              <a:solidFill>
                <a:schemeClr val="tx1"/>
              </a:solidFill>
              <a:effectLst/>
              <a:uLnTx/>
              <a:uFillTx/>
              <a:latin typeface="Cambria" pitchFamily="18" charset="0"/>
              <a:cs typeface="Aharoni" pitchFamily="2" charset="-79"/>
            </a:endParaRPr>
          </a:p>
        </p:txBody>
      </p:sp>
      <p:sp>
        <p:nvSpPr>
          <p:cNvPr id="5" name="TextBox 4"/>
          <p:cNvSpPr txBox="1"/>
          <p:nvPr/>
        </p:nvSpPr>
        <p:spPr>
          <a:xfrm>
            <a:off x="2514600" y="152400"/>
            <a:ext cx="4267200" cy="523875"/>
          </a:xfrm>
          <a:prstGeom prst="rect">
            <a:avLst/>
          </a:prstGeom>
        </p:spPr>
        <p:style>
          <a:lnRef idx="3">
            <a:schemeClr val="lt1"/>
          </a:lnRef>
          <a:fillRef idx="1">
            <a:schemeClr val="accent1"/>
          </a:fillRef>
          <a:effectRef idx="1">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6" name="Slide Number Placeholder 5"/>
          <p:cNvSpPr>
            <a:spLocks noGrp="1"/>
          </p:cNvSpPr>
          <p:nvPr>
            <p:ph type="sldNum" sz="quarter" idx="12"/>
          </p:nvPr>
        </p:nvSpPr>
        <p:spPr/>
        <p:txBody>
          <a:bodyPr/>
          <a:lstStyle/>
          <a:p>
            <a:fld id="{7040D16D-0600-4D21-96E6-588F007D1AD6}" type="slidenum">
              <a:rPr lang="en-US" smtClean="0"/>
              <a:pPr/>
              <a:t>48</a:t>
            </a:fld>
            <a:endParaRPr lang="en-US"/>
          </a:p>
        </p:txBody>
      </p:sp>
      <p:sp>
        <p:nvSpPr>
          <p:cNvPr id="7" name="Footer Placeholder 6"/>
          <p:cNvSpPr>
            <a:spLocks noGrp="1"/>
          </p:cNvSpPr>
          <p:nvPr>
            <p:ph type="ftr" sz="quarter" idx="11"/>
          </p:nvPr>
        </p:nvSpPr>
        <p:spPr/>
        <p:txBody>
          <a:bodyPr/>
          <a:lstStyle/>
          <a:p>
            <a:r>
              <a:rPr lang="en-US"/>
              <a:t>Asst. Professor Riddhi Joshi</a:t>
            </a:r>
          </a:p>
        </p:txBody>
      </p:sp>
      <p:pic>
        <p:nvPicPr>
          <p:cNvPr id="2051" name="Picture 3" descr="F:\General Data\general sub data\animated images\gp image\stick_figure_walking_reading_book_sm_wm.gif"/>
          <p:cNvPicPr>
            <a:picLocks noChangeAspect="1" noChangeArrowheads="1" noCrop="1"/>
          </p:cNvPicPr>
          <p:nvPr/>
        </p:nvPicPr>
        <p:blipFill>
          <a:blip r:embed="rId2"/>
          <a:srcRect/>
          <a:stretch>
            <a:fillRect/>
          </a:stretch>
        </p:blipFill>
        <p:spPr bwMode="auto">
          <a:xfrm>
            <a:off x="152400" y="95250"/>
            <a:ext cx="1447800" cy="1047750"/>
          </a:xfrm>
          <a:prstGeom prst="rect">
            <a:avLst/>
          </a:prstGeom>
          <a:noFill/>
        </p:spPr>
      </p:pic>
      <p:pic>
        <p:nvPicPr>
          <p:cNvPr id="9" name="Picture 2" descr="F:\General Data\general sub data\animated images\gp image\5027341-blue-crystal-earth-showing-north-and-south-america.jpg"/>
          <p:cNvPicPr>
            <a:picLocks noChangeAspect="1" noChangeArrowheads="1"/>
          </p:cNvPicPr>
          <p:nvPr/>
        </p:nvPicPr>
        <p:blipFill>
          <a:blip r:embed="rId3"/>
          <a:srcRect/>
          <a:stretch>
            <a:fillRect/>
          </a:stretch>
        </p:blipFill>
        <p:spPr bwMode="auto">
          <a:xfrm>
            <a:off x="76200" y="5638800"/>
            <a:ext cx="1143000" cy="1143000"/>
          </a:xfrm>
          <a:prstGeom prst="ellipse">
            <a:avLst/>
          </a:prstGeom>
          <a:ln>
            <a:noFill/>
          </a:ln>
          <a:effectLst>
            <a:softEdge rad="112500"/>
          </a:effectLst>
        </p:spPr>
      </p:pic>
      <p:sp>
        <p:nvSpPr>
          <p:cNvPr id="10" name="Right Arrow 9"/>
          <p:cNvSpPr/>
          <p:nvPr/>
        </p:nvSpPr>
        <p:spPr>
          <a:xfrm>
            <a:off x="228600" y="41910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09600"/>
          </a:xfrm>
        </p:spPr>
        <p:style>
          <a:lnRef idx="3">
            <a:schemeClr val="lt1"/>
          </a:lnRef>
          <a:fillRef idx="1">
            <a:schemeClr val="accent1"/>
          </a:fillRef>
          <a:effectRef idx="1">
            <a:schemeClr val="accent1"/>
          </a:effectRef>
          <a:fontRef idx="minor">
            <a:schemeClr val="lt1"/>
          </a:fontRef>
        </p:style>
        <p:txBody>
          <a:bodyPr>
            <a:noAutofit/>
          </a:bodyPr>
          <a:lstStyle/>
          <a:p>
            <a:r>
              <a:rPr lang="en-US" sz="2600" b="1" dirty="0">
                <a:effectLst>
                  <a:outerShdw blurRad="38100" dist="38100" dir="2700000" algn="tl">
                    <a:srgbClr val="000000">
                      <a:alpha val="43137"/>
                    </a:srgbClr>
                  </a:outerShdw>
                </a:effectLst>
              </a:rPr>
              <a:t>2.9 Event Diagram &amp; Sequence Diagram</a:t>
            </a:r>
          </a:p>
        </p:txBody>
      </p:sp>
      <p:sp>
        <p:nvSpPr>
          <p:cNvPr id="3" name="Content Placeholder 2"/>
          <p:cNvSpPr>
            <a:spLocks noGrp="1"/>
          </p:cNvSpPr>
          <p:nvPr>
            <p:ph idx="1"/>
          </p:nvPr>
        </p:nvSpPr>
        <p:spPr>
          <a:xfrm>
            <a:off x="228600" y="1066800"/>
            <a:ext cx="8229600" cy="4525963"/>
          </a:xfrm>
        </p:spPr>
        <p:style>
          <a:lnRef idx="2">
            <a:schemeClr val="accent1"/>
          </a:lnRef>
          <a:fillRef idx="1">
            <a:schemeClr val="lt1"/>
          </a:fillRef>
          <a:effectRef idx="0">
            <a:schemeClr val="accent1"/>
          </a:effectRef>
          <a:fontRef idx="minor">
            <a:schemeClr val="dk1"/>
          </a:fontRef>
        </p:style>
        <p:txBody>
          <a:bodyPr/>
          <a:lstStyle/>
          <a:p>
            <a:r>
              <a:rPr lang="en-US" dirty="0"/>
              <a:t>Event Diagram:</a:t>
            </a:r>
          </a:p>
          <a:p>
            <a:pPr lvl="1"/>
            <a:r>
              <a:rPr lang="en-US" dirty="0"/>
              <a:t>An event diagram is a diagram that can be used to document the detailed sequence of events and blocking during the execution of a protocol.</a:t>
            </a:r>
          </a:p>
          <a:p>
            <a:pPr>
              <a:buNone/>
            </a:pPr>
            <a:endParaRPr lang="en-US" dirty="0"/>
          </a:p>
        </p:txBody>
      </p:sp>
      <p:sp>
        <p:nvSpPr>
          <p:cNvPr id="4" name="Slide Number Placeholder 3"/>
          <p:cNvSpPr>
            <a:spLocks noGrp="1"/>
          </p:cNvSpPr>
          <p:nvPr>
            <p:ph type="sldNum" sz="quarter" idx="12"/>
          </p:nvPr>
        </p:nvSpPr>
        <p:spPr/>
        <p:txBody>
          <a:bodyPr/>
          <a:lstStyle/>
          <a:p>
            <a:fld id="{7040D16D-0600-4D21-96E6-588F007D1AD6}" type="slidenum">
              <a:rPr lang="en-US" smtClean="0"/>
              <a:pPr/>
              <a:t>49</a:t>
            </a:fld>
            <a:endParaRPr lang="en-US"/>
          </a:p>
        </p:txBody>
      </p:sp>
      <p:sp>
        <p:nvSpPr>
          <p:cNvPr id="5" name="Footer Placeholder 4"/>
          <p:cNvSpPr>
            <a:spLocks noGrp="1"/>
          </p:cNvSpPr>
          <p:nvPr>
            <p:ph type="ftr" sz="quarter" idx="11"/>
          </p:nvPr>
        </p:nvSpPr>
        <p:spPr/>
        <p:txBody>
          <a:bodyPr/>
          <a:lstStyle/>
          <a:p>
            <a:r>
              <a:rPr lang="en-US"/>
              <a:t>Asst. Professor Riddhi Joshi</a:t>
            </a:r>
          </a:p>
        </p:txBody>
      </p:sp>
      <p:pic>
        <p:nvPicPr>
          <p:cNvPr id="6" name="Picture 2" descr="F:\General Data\general sub data\animated images\gp image\5027341-blue-crystal-earth-showing-north-and-south-america.jpg"/>
          <p:cNvPicPr>
            <a:picLocks noChangeAspect="1" noChangeArrowheads="1"/>
          </p:cNvPicPr>
          <p:nvPr/>
        </p:nvPicPr>
        <p:blipFill>
          <a:blip r:embed="rId2"/>
          <a:srcRect/>
          <a:stretch>
            <a:fillRect/>
          </a:stretch>
        </p:blipFill>
        <p:spPr bwMode="auto">
          <a:xfrm>
            <a:off x="76200" y="5638800"/>
            <a:ext cx="1143000" cy="1143000"/>
          </a:xfrm>
          <a:prstGeom prst="ellipse">
            <a:avLst/>
          </a:prstGeom>
          <a:ln>
            <a:noFill/>
          </a:ln>
          <a:effectLst>
            <a:softEdge rad="112500"/>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rot="5400000">
            <a:off x="3162300" y="1441902"/>
            <a:ext cx="990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3505200" y="1937202"/>
            <a:ext cx="3048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rot="5400000">
            <a:off x="3160152" y="2650380"/>
            <a:ext cx="990600" cy="1588"/>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3515931" y="3119922"/>
            <a:ext cx="3048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rot="16200000" flipH="1">
            <a:off x="3253793" y="3743195"/>
            <a:ext cx="806260" cy="1354"/>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3513783" y="4135215"/>
            <a:ext cx="3048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rot="5400000">
            <a:off x="3158004" y="4863420"/>
            <a:ext cx="990600" cy="15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H="1">
            <a:off x="3250048" y="5949249"/>
            <a:ext cx="813751" cy="1354"/>
          </a:xfrm>
          <a:prstGeom prst="line">
            <a:avLst/>
          </a:prstGeom>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511635" y="5290002"/>
            <a:ext cx="3048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rot="16200000" flipH="1">
            <a:off x="5638005" y="1599387"/>
            <a:ext cx="964048" cy="1208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5973672" y="2094963"/>
            <a:ext cx="3048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p:cNvCxnSpPr/>
          <p:nvPr/>
        </p:nvCxnSpPr>
        <p:spPr>
          <a:xfrm rot="5400000">
            <a:off x="5848399" y="2620804"/>
            <a:ext cx="578454" cy="1139"/>
          </a:xfrm>
          <a:prstGeom prst="line">
            <a:avLst/>
          </a:prstGeom>
        </p:spPr>
        <p:style>
          <a:lnRef idx="1">
            <a:schemeClr val="accent1"/>
          </a:lnRef>
          <a:fillRef idx="0">
            <a:schemeClr val="accent1"/>
          </a:fillRef>
          <a:effectRef idx="0">
            <a:schemeClr val="accent1"/>
          </a:effectRef>
          <a:fontRef idx="minor">
            <a:schemeClr val="tx1"/>
          </a:fontRef>
        </p:style>
      </p:cxnSp>
      <p:sp>
        <p:nvSpPr>
          <p:cNvPr id="33" name="Oval 32"/>
          <p:cNvSpPr/>
          <p:nvPr/>
        </p:nvSpPr>
        <p:spPr>
          <a:xfrm>
            <a:off x="5984403" y="2922441"/>
            <a:ext cx="3048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p:cNvCxnSpPr/>
          <p:nvPr/>
        </p:nvCxnSpPr>
        <p:spPr>
          <a:xfrm rot="16200000" flipH="1">
            <a:off x="5498864" y="3771778"/>
            <a:ext cx="1295400" cy="24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6200000" flipH="1">
            <a:off x="5828946" y="4978575"/>
            <a:ext cx="660751" cy="1"/>
          </a:xfrm>
          <a:prstGeom prst="line">
            <a:avLst/>
          </a:prstGeom>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6008013" y="4431405"/>
            <a:ext cx="3048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p:cNvCxnSpPr/>
          <p:nvPr/>
        </p:nvCxnSpPr>
        <p:spPr>
          <a:xfrm rot="5400000">
            <a:off x="5856132" y="854838"/>
            <a:ext cx="533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3" name="Oval 62"/>
          <p:cNvSpPr/>
          <p:nvPr/>
        </p:nvSpPr>
        <p:spPr>
          <a:xfrm>
            <a:off x="6019800" y="5322195"/>
            <a:ext cx="3048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p:cNvCxnSpPr/>
          <p:nvPr/>
        </p:nvCxnSpPr>
        <p:spPr>
          <a:xfrm rot="5400000">
            <a:off x="5677694" y="5980906"/>
            <a:ext cx="990600" cy="15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9" idx="6"/>
            <a:endCxn id="31" idx="2"/>
          </p:cNvCxnSpPr>
          <p:nvPr/>
        </p:nvCxnSpPr>
        <p:spPr>
          <a:xfrm>
            <a:off x="3810000" y="2051502"/>
            <a:ext cx="2163672" cy="157761"/>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3" idx="2"/>
            <a:endCxn id="11" idx="6"/>
          </p:cNvCxnSpPr>
          <p:nvPr/>
        </p:nvCxnSpPr>
        <p:spPr>
          <a:xfrm rot="10800000" flipV="1">
            <a:off x="3820731" y="3036740"/>
            <a:ext cx="2163672" cy="197481"/>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3831462" y="4249515"/>
            <a:ext cx="2189430" cy="296190"/>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63" idx="2"/>
            <a:endCxn id="17" idx="5"/>
          </p:cNvCxnSpPr>
          <p:nvPr/>
        </p:nvCxnSpPr>
        <p:spPr>
          <a:xfrm rot="10800000" flipV="1">
            <a:off x="3771798" y="5436494"/>
            <a:ext cx="2248002" cy="48629"/>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3048000" y="533400"/>
            <a:ext cx="1143000" cy="369332"/>
          </a:xfrm>
          <a:prstGeom prst="rect">
            <a:avLst/>
          </a:prstGeom>
          <a:noFill/>
        </p:spPr>
        <p:txBody>
          <a:bodyPr wrap="square" rtlCol="0">
            <a:spAutoFit/>
          </a:bodyPr>
          <a:lstStyle/>
          <a:p>
            <a:r>
              <a:rPr lang="en-US" dirty="0"/>
              <a:t>Process A</a:t>
            </a:r>
          </a:p>
        </p:txBody>
      </p:sp>
      <p:sp>
        <p:nvSpPr>
          <p:cNvPr id="76" name="TextBox 75"/>
          <p:cNvSpPr txBox="1"/>
          <p:nvPr/>
        </p:nvSpPr>
        <p:spPr>
          <a:xfrm>
            <a:off x="5562600" y="228600"/>
            <a:ext cx="1143000" cy="369332"/>
          </a:xfrm>
          <a:prstGeom prst="rect">
            <a:avLst/>
          </a:prstGeom>
          <a:noFill/>
        </p:spPr>
        <p:txBody>
          <a:bodyPr wrap="square" rtlCol="0">
            <a:spAutoFit/>
          </a:bodyPr>
          <a:lstStyle/>
          <a:p>
            <a:r>
              <a:rPr lang="en-US" dirty="0"/>
              <a:t>Process B</a:t>
            </a:r>
          </a:p>
        </p:txBody>
      </p:sp>
      <p:sp>
        <p:nvSpPr>
          <p:cNvPr id="77" name="TextBox 76"/>
          <p:cNvSpPr txBox="1"/>
          <p:nvPr/>
        </p:nvSpPr>
        <p:spPr>
          <a:xfrm>
            <a:off x="4038600" y="1600200"/>
            <a:ext cx="1143000" cy="369332"/>
          </a:xfrm>
          <a:prstGeom prst="rect">
            <a:avLst/>
          </a:prstGeom>
          <a:noFill/>
        </p:spPr>
        <p:txBody>
          <a:bodyPr wrap="square" rtlCol="0">
            <a:spAutoFit/>
          </a:bodyPr>
          <a:lstStyle/>
          <a:p>
            <a:r>
              <a:rPr lang="en-US" dirty="0"/>
              <a:t>Request 1</a:t>
            </a:r>
          </a:p>
        </p:txBody>
      </p:sp>
      <p:sp>
        <p:nvSpPr>
          <p:cNvPr id="78" name="TextBox 77"/>
          <p:cNvSpPr txBox="1"/>
          <p:nvPr/>
        </p:nvSpPr>
        <p:spPr>
          <a:xfrm>
            <a:off x="4191000" y="2667000"/>
            <a:ext cx="1371600" cy="369332"/>
          </a:xfrm>
          <a:prstGeom prst="rect">
            <a:avLst/>
          </a:prstGeom>
          <a:noFill/>
        </p:spPr>
        <p:txBody>
          <a:bodyPr wrap="square" rtlCol="0">
            <a:spAutoFit/>
          </a:bodyPr>
          <a:lstStyle/>
          <a:p>
            <a:r>
              <a:rPr lang="en-US" dirty="0"/>
              <a:t>Response 1</a:t>
            </a:r>
          </a:p>
        </p:txBody>
      </p:sp>
      <p:sp>
        <p:nvSpPr>
          <p:cNvPr id="79" name="TextBox 78"/>
          <p:cNvSpPr txBox="1"/>
          <p:nvPr/>
        </p:nvSpPr>
        <p:spPr>
          <a:xfrm>
            <a:off x="4191000" y="3886200"/>
            <a:ext cx="1143000" cy="369332"/>
          </a:xfrm>
          <a:prstGeom prst="rect">
            <a:avLst/>
          </a:prstGeom>
          <a:noFill/>
        </p:spPr>
        <p:txBody>
          <a:bodyPr wrap="square" rtlCol="0">
            <a:spAutoFit/>
          </a:bodyPr>
          <a:lstStyle/>
          <a:p>
            <a:r>
              <a:rPr lang="en-US" dirty="0"/>
              <a:t>Request 2</a:t>
            </a:r>
          </a:p>
        </p:txBody>
      </p:sp>
      <p:sp>
        <p:nvSpPr>
          <p:cNvPr id="80" name="TextBox 79"/>
          <p:cNvSpPr txBox="1"/>
          <p:nvPr/>
        </p:nvSpPr>
        <p:spPr>
          <a:xfrm>
            <a:off x="4038600" y="5029200"/>
            <a:ext cx="1295400" cy="369332"/>
          </a:xfrm>
          <a:prstGeom prst="rect">
            <a:avLst/>
          </a:prstGeom>
          <a:noFill/>
        </p:spPr>
        <p:txBody>
          <a:bodyPr wrap="square" rtlCol="0">
            <a:spAutoFit/>
          </a:bodyPr>
          <a:lstStyle/>
          <a:p>
            <a:r>
              <a:rPr lang="en-US" dirty="0"/>
              <a:t>Response 2</a:t>
            </a:r>
          </a:p>
        </p:txBody>
      </p:sp>
      <p:cxnSp>
        <p:nvCxnSpPr>
          <p:cNvPr id="82" name="Straight Arrow Connector 81"/>
          <p:cNvCxnSpPr/>
          <p:nvPr/>
        </p:nvCxnSpPr>
        <p:spPr>
          <a:xfrm rot="5400000">
            <a:off x="5029200" y="3558864"/>
            <a:ext cx="5181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7242222" y="533400"/>
            <a:ext cx="762000" cy="369332"/>
          </a:xfrm>
          <a:prstGeom prst="rect">
            <a:avLst/>
          </a:prstGeom>
          <a:noFill/>
        </p:spPr>
        <p:txBody>
          <a:bodyPr wrap="square" rtlCol="0">
            <a:spAutoFit/>
          </a:bodyPr>
          <a:lstStyle/>
          <a:p>
            <a:pPr algn="ctr"/>
            <a:r>
              <a:rPr lang="en-US" dirty="0"/>
              <a:t>Time</a:t>
            </a:r>
          </a:p>
        </p:txBody>
      </p:sp>
      <p:sp>
        <p:nvSpPr>
          <p:cNvPr id="84" name="TextBox 83"/>
          <p:cNvSpPr txBox="1"/>
          <p:nvPr/>
        </p:nvSpPr>
        <p:spPr>
          <a:xfrm>
            <a:off x="762000" y="3276600"/>
            <a:ext cx="2133600" cy="369332"/>
          </a:xfrm>
          <a:prstGeom prst="rect">
            <a:avLst/>
          </a:prstGeom>
          <a:noFill/>
        </p:spPr>
        <p:txBody>
          <a:bodyPr wrap="square" rtlCol="0">
            <a:spAutoFit/>
          </a:bodyPr>
          <a:lstStyle/>
          <a:p>
            <a:r>
              <a:rPr lang="en-US" dirty="0"/>
              <a:t>An Event Diagram</a:t>
            </a:r>
          </a:p>
        </p:txBody>
      </p:sp>
      <p:sp>
        <p:nvSpPr>
          <p:cNvPr id="37" name="Slide Number Placeholder 36"/>
          <p:cNvSpPr>
            <a:spLocks noGrp="1"/>
          </p:cNvSpPr>
          <p:nvPr>
            <p:ph type="sldNum" sz="quarter" idx="12"/>
          </p:nvPr>
        </p:nvSpPr>
        <p:spPr>
          <a:xfrm>
            <a:off x="6553200" y="6356350"/>
            <a:ext cx="2133600" cy="365125"/>
          </a:xfrm>
        </p:spPr>
        <p:txBody>
          <a:bodyPr/>
          <a:lstStyle/>
          <a:p>
            <a:fld id="{7040D16D-0600-4D21-96E6-588F007D1AD6}" type="slidenum">
              <a:rPr lang="en-US" smtClean="0"/>
              <a:pPr/>
              <a:t>50</a:t>
            </a:fld>
            <a:endParaRPr lang="en-US"/>
          </a:p>
        </p:txBody>
      </p:sp>
      <p:sp>
        <p:nvSpPr>
          <p:cNvPr id="38" name="Footer Placeholder 37"/>
          <p:cNvSpPr>
            <a:spLocks noGrp="1"/>
          </p:cNvSpPr>
          <p:nvPr>
            <p:ph type="ftr" sz="quarter" idx="11"/>
          </p:nvPr>
        </p:nvSpPr>
        <p:spPr>
          <a:xfrm>
            <a:off x="3124200" y="6356350"/>
            <a:ext cx="2895600" cy="365125"/>
          </a:xfrm>
        </p:spPr>
        <p:txBody>
          <a:bodyPr/>
          <a:lstStyle/>
          <a:p>
            <a:r>
              <a:rPr lang="en-US"/>
              <a:t>Asst. Professor Riddhi Joshi</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610600" cy="4876800"/>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300" dirty="0"/>
              <a:t>Above diagram is an event diagram for a request-response protocol involving two concurrent process, A and B. </a:t>
            </a:r>
          </a:p>
          <a:p>
            <a:pPr algn="just"/>
            <a:r>
              <a:rPr lang="en-US" sz="2300" dirty="0"/>
              <a:t>The execution of each process, with respect to time is represented using a vertical line, with time increasing downward.</a:t>
            </a:r>
          </a:p>
          <a:p>
            <a:pPr algn="just"/>
            <a:r>
              <a:rPr lang="en-US" sz="2300" dirty="0"/>
              <a:t>A solid line interval along the execution line represented a time period during which the process is active.</a:t>
            </a:r>
          </a:p>
          <a:p>
            <a:pPr algn="just"/>
            <a:r>
              <a:rPr lang="en-US" sz="2300" dirty="0"/>
              <a:t>A broken line interval represents when the process is blocked.</a:t>
            </a:r>
          </a:p>
          <a:p>
            <a:pPr algn="just"/>
            <a:r>
              <a:rPr lang="en-US" sz="2300" dirty="0"/>
              <a:t>In the example, both processes are initially active.</a:t>
            </a:r>
          </a:p>
        </p:txBody>
      </p:sp>
      <p:sp>
        <p:nvSpPr>
          <p:cNvPr id="4" name="Slide Number Placeholder 3"/>
          <p:cNvSpPr>
            <a:spLocks noGrp="1"/>
          </p:cNvSpPr>
          <p:nvPr>
            <p:ph type="sldNum" sz="quarter" idx="12"/>
          </p:nvPr>
        </p:nvSpPr>
        <p:spPr/>
        <p:txBody>
          <a:bodyPr/>
          <a:lstStyle/>
          <a:p>
            <a:fld id="{7040D16D-0600-4D21-96E6-588F007D1AD6}" type="slidenum">
              <a:rPr lang="en-US" smtClean="0"/>
              <a:pPr/>
              <a:t>51</a:t>
            </a:fld>
            <a:endParaRPr lang="en-US"/>
          </a:p>
        </p:txBody>
      </p:sp>
      <p:sp>
        <p:nvSpPr>
          <p:cNvPr id="5" name="Footer Placeholder 4"/>
          <p:cNvSpPr>
            <a:spLocks noGrp="1"/>
          </p:cNvSpPr>
          <p:nvPr>
            <p:ph type="ftr" sz="quarter" idx="11"/>
          </p:nvPr>
        </p:nvSpPr>
        <p:spPr/>
        <p:txBody>
          <a:bodyPr/>
          <a:lstStyle/>
          <a:p>
            <a:r>
              <a:rPr lang="en-US"/>
              <a:t>Asst. Professor Riddhi Joshi</a:t>
            </a:r>
          </a:p>
        </p:txBody>
      </p:sp>
      <p:sp>
        <p:nvSpPr>
          <p:cNvPr id="6" name="Title 1"/>
          <p:cNvSpPr>
            <a:spLocks noGrp="1"/>
          </p:cNvSpPr>
          <p:nvPr>
            <p:ph type="title"/>
          </p:nvPr>
        </p:nvSpPr>
        <p:spPr>
          <a:xfrm>
            <a:off x="457200" y="76200"/>
            <a:ext cx="8229600" cy="457200"/>
          </a:xfrm>
        </p:spPr>
        <p:style>
          <a:lnRef idx="3">
            <a:schemeClr val="lt1"/>
          </a:lnRef>
          <a:fillRef idx="1">
            <a:schemeClr val="accent1"/>
          </a:fillRef>
          <a:effectRef idx="1">
            <a:schemeClr val="accent1"/>
          </a:effectRef>
          <a:fontRef idx="minor">
            <a:schemeClr val="lt1"/>
          </a:fontRef>
        </p:style>
        <p:txBody>
          <a:bodyPr>
            <a:noAutofit/>
          </a:bodyPr>
          <a:lstStyle/>
          <a:p>
            <a:r>
              <a:rPr lang="en-US" sz="2600" b="1" dirty="0">
                <a:effectLst>
                  <a:outerShdw blurRad="38100" dist="38100" dir="2700000" algn="tl">
                    <a:srgbClr val="000000">
                      <a:alpha val="43137"/>
                    </a:srgbClr>
                  </a:outerShdw>
                </a:effectLst>
              </a:rPr>
              <a:t>2.9 Event Diagram &amp; Sequence Diagram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08037"/>
            <a:ext cx="8229600" cy="4525963"/>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300" dirty="0"/>
              <a:t>Note that each round of request-response entails two pairs of send and receive operations to exchange two messages. The protocol can extend to any number of rounds of exchange using this pattern.</a:t>
            </a:r>
          </a:p>
          <a:p>
            <a:endParaRPr lang="en-US" sz="2300" dirty="0"/>
          </a:p>
          <a:p>
            <a:pPr algn="just"/>
            <a:r>
              <a:rPr lang="en-US" sz="2300" dirty="0"/>
              <a:t>Note also that it is essential that the program implementing the protocol must be written to issue the send and receive operations in order prescribed, otherwise one or both of the participating processes may wait for a request or a response that never arrives, and the processes may become blocked indefinitely.</a:t>
            </a:r>
          </a:p>
        </p:txBody>
      </p:sp>
      <p:sp>
        <p:nvSpPr>
          <p:cNvPr id="4" name="Slide Number Placeholder 3"/>
          <p:cNvSpPr>
            <a:spLocks noGrp="1"/>
          </p:cNvSpPr>
          <p:nvPr>
            <p:ph type="sldNum" sz="quarter" idx="12"/>
          </p:nvPr>
        </p:nvSpPr>
        <p:spPr/>
        <p:txBody>
          <a:bodyPr/>
          <a:lstStyle/>
          <a:p>
            <a:fld id="{7040D16D-0600-4D21-96E6-588F007D1AD6}" type="slidenum">
              <a:rPr lang="en-US" smtClean="0"/>
              <a:pPr/>
              <a:t>52</a:t>
            </a:fld>
            <a:endParaRPr lang="en-US"/>
          </a:p>
        </p:txBody>
      </p:sp>
      <p:sp>
        <p:nvSpPr>
          <p:cNvPr id="5" name="Footer Placeholder 4"/>
          <p:cNvSpPr>
            <a:spLocks noGrp="1"/>
          </p:cNvSpPr>
          <p:nvPr>
            <p:ph type="ftr" sz="quarter" idx="11"/>
          </p:nvPr>
        </p:nvSpPr>
        <p:spPr/>
        <p:txBody>
          <a:bodyPr/>
          <a:lstStyle/>
          <a:p>
            <a:r>
              <a:rPr lang="en-US"/>
              <a:t>Asst. Professor Riddhi Joshi</a:t>
            </a:r>
          </a:p>
        </p:txBody>
      </p:sp>
      <p:sp>
        <p:nvSpPr>
          <p:cNvPr id="6" name="Title 1"/>
          <p:cNvSpPr>
            <a:spLocks noGrp="1"/>
          </p:cNvSpPr>
          <p:nvPr>
            <p:ph type="title"/>
          </p:nvPr>
        </p:nvSpPr>
        <p:spPr>
          <a:xfrm>
            <a:off x="457200" y="76200"/>
            <a:ext cx="8229600" cy="457200"/>
          </a:xfrm>
        </p:spPr>
        <p:style>
          <a:lnRef idx="3">
            <a:schemeClr val="lt1"/>
          </a:lnRef>
          <a:fillRef idx="1">
            <a:schemeClr val="accent1"/>
          </a:fillRef>
          <a:effectRef idx="1">
            <a:schemeClr val="accent1"/>
          </a:effectRef>
          <a:fontRef idx="minor">
            <a:schemeClr val="lt1"/>
          </a:fontRef>
        </p:style>
        <p:txBody>
          <a:bodyPr>
            <a:noAutofit/>
          </a:bodyPr>
          <a:lstStyle/>
          <a:p>
            <a:r>
              <a:rPr lang="en-US" sz="2600" b="1" dirty="0">
                <a:effectLst>
                  <a:outerShdw blurRad="38100" dist="38100" dir="2700000" algn="tl">
                    <a:srgbClr val="000000">
                      <a:alpha val="43137"/>
                    </a:srgbClr>
                  </a:outerShdw>
                </a:effectLst>
              </a:rPr>
              <a:t>2.9 Event Diagram &amp; Sequence Diagram</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1565859" y="1297548"/>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rot="5400000">
            <a:off x="1412654" y="1789895"/>
            <a:ext cx="531252" cy="375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5400000">
            <a:off x="1257300" y="2462547"/>
            <a:ext cx="8382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1561563" y="2870916"/>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rot="5400000">
            <a:off x="4191794" y="1447006"/>
            <a:ext cx="4572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304763" y="16764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p:nvPr/>
        </p:nvCxnSpPr>
        <p:spPr>
          <a:xfrm rot="5400000">
            <a:off x="3627283" y="2709123"/>
            <a:ext cx="1588394" cy="376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5400000">
            <a:off x="3886994" y="4037806"/>
            <a:ext cx="1066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2" idx="2"/>
          </p:cNvCxnSpPr>
          <p:nvPr/>
        </p:nvCxnSpPr>
        <p:spPr>
          <a:xfrm rot="10800000" flipV="1">
            <a:off x="1676401" y="1790700"/>
            <a:ext cx="2628363" cy="266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9" idx="6"/>
          </p:cNvCxnSpPr>
          <p:nvPr/>
        </p:nvCxnSpPr>
        <p:spPr>
          <a:xfrm>
            <a:off x="1790163" y="2985216"/>
            <a:ext cx="2629437" cy="4437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884083" y="3840317"/>
            <a:ext cx="1588394" cy="376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143000" y="838200"/>
            <a:ext cx="1295400" cy="369332"/>
          </a:xfrm>
          <a:prstGeom prst="rect">
            <a:avLst/>
          </a:prstGeom>
          <a:noFill/>
        </p:spPr>
        <p:txBody>
          <a:bodyPr wrap="square" rtlCol="0">
            <a:spAutoFit/>
          </a:bodyPr>
          <a:lstStyle/>
          <a:p>
            <a:r>
              <a:rPr lang="en-US" dirty="0"/>
              <a:t>Web Server</a:t>
            </a:r>
          </a:p>
        </p:txBody>
      </p:sp>
      <p:sp>
        <p:nvSpPr>
          <p:cNvPr id="24" name="TextBox 23"/>
          <p:cNvSpPr txBox="1"/>
          <p:nvPr/>
        </p:nvSpPr>
        <p:spPr>
          <a:xfrm>
            <a:off x="3733800" y="762000"/>
            <a:ext cx="1447800" cy="369332"/>
          </a:xfrm>
          <a:prstGeom prst="rect">
            <a:avLst/>
          </a:prstGeom>
          <a:noFill/>
        </p:spPr>
        <p:txBody>
          <a:bodyPr wrap="square" rtlCol="0">
            <a:spAutoFit/>
          </a:bodyPr>
          <a:lstStyle/>
          <a:p>
            <a:r>
              <a:rPr lang="en-US" dirty="0"/>
              <a:t>Web Browser</a:t>
            </a:r>
          </a:p>
        </p:txBody>
      </p:sp>
      <p:sp>
        <p:nvSpPr>
          <p:cNvPr id="25" name="TextBox 24"/>
          <p:cNvSpPr txBox="1"/>
          <p:nvPr/>
        </p:nvSpPr>
        <p:spPr>
          <a:xfrm>
            <a:off x="1905000" y="5105400"/>
            <a:ext cx="3048000" cy="369332"/>
          </a:xfrm>
          <a:prstGeom prst="rect">
            <a:avLst/>
          </a:prstGeom>
          <a:noFill/>
        </p:spPr>
        <p:txBody>
          <a:bodyPr wrap="square" rtlCol="0">
            <a:spAutoFit/>
          </a:bodyPr>
          <a:lstStyle/>
          <a:p>
            <a:r>
              <a:rPr lang="en-US" dirty="0"/>
              <a:t>Event Diagram for HTTP session</a:t>
            </a:r>
          </a:p>
        </p:txBody>
      </p:sp>
      <p:sp>
        <p:nvSpPr>
          <p:cNvPr id="26" name="TextBox 25"/>
          <p:cNvSpPr txBox="1"/>
          <p:nvPr/>
        </p:nvSpPr>
        <p:spPr>
          <a:xfrm>
            <a:off x="2590800" y="1447800"/>
            <a:ext cx="990600" cy="369332"/>
          </a:xfrm>
          <a:prstGeom prst="rect">
            <a:avLst/>
          </a:prstGeom>
          <a:noFill/>
        </p:spPr>
        <p:txBody>
          <a:bodyPr wrap="square" rtlCol="0">
            <a:spAutoFit/>
          </a:bodyPr>
          <a:lstStyle/>
          <a:p>
            <a:r>
              <a:rPr lang="en-US" dirty="0"/>
              <a:t>Request</a:t>
            </a:r>
          </a:p>
        </p:txBody>
      </p:sp>
      <p:sp>
        <p:nvSpPr>
          <p:cNvPr id="27" name="TextBox 26"/>
          <p:cNvSpPr txBox="1"/>
          <p:nvPr/>
        </p:nvSpPr>
        <p:spPr>
          <a:xfrm>
            <a:off x="2667000" y="2743200"/>
            <a:ext cx="990600" cy="369332"/>
          </a:xfrm>
          <a:prstGeom prst="rect">
            <a:avLst/>
          </a:prstGeom>
          <a:noFill/>
        </p:spPr>
        <p:txBody>
          <a:bodyPr wrap="square" rtlCol="0">
            <a:spAutoFit/>
          </a:bodyPr>
          <a:lstStyle/>
          <a:p>
            <a:r>
              <a:rPr lang="en-US" dirty="0"/>
              <a:t>Response</a:t>
            </a:r>
          </a:p>
        </p:txBody>
      </p:sp>
      <p:sp>
        <p:nvSpPr>
          <p:cNvPr id="18" name="Slide Number Placeholder 17"/>
          <p:cNvSpPr>
            <a:spLocks noGrp="1"/>
          </p:cNvSpPr>
          <p:nvPr>
            <p:ph type="sldNum" sz="quarter" idx="12"/>
          </p:nvPr>
        </p:nvSpPr>
        <p:spPr/>
        <p:txBody>
          <a:bodyPr/>
          <a:lstStyle/>
          <a:p>
            <a:fld id="{7040D16D-0600-4D21-96E6-588F007D1AD6}" type="slidenum">
              <a:rPr lang="en-US" smtClean="0"/>
              <a:pPr/>
              <a:t>53</a:t>
            </a:fld>
            <a:endParaRPr lang="en-US"/>
          </a:p>
        </p:txBody>
      </p:sp>
      <p:sp>
        <p:nvSpPr>
          <p:cNvPr id="20" name="Footer Placeholder 19"/>
          <p:cNvSpPr>
            <a:spLocks noGrp="1"/>
          </p:cNvSpPr>
          <p:nvPr>
            <p:ph type="ftr" sz="quarter" idx="11"/>
          </p:nvPr>
        </p:nvSpPr>
        <p:spPr/>
        <p:txBody>
          <a:bodyPr/>
          <a:lstStyle/>
          <a:p>
            <a:r>
              <a:rPr lang="en-US"/>
              <a:t>Asst. Professor Riddhi Joshi</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66800"/>
            <a:ext cx="8458200" cy="4525963"/>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t>Request is a message in three </a:t>
            </a:r>
            <a:r>
              <a:rPr lang="en-US" sz="2300" dirty="0" err="1"/>
              <a:t>parths</a:t>
            </a:r>
            <a:endParaRPr lang="en-US" sz="2300" dirty="0"/>
          </a:p>
          <a:p>
            <a:pPr lvl="1"/>
            <a:r>
              <a:rPr lang="en-US" sz="2300" dirty="0"/>
              <a:t> &lt;command&gt; &lt;document address&gt; &lt;HTTP version&gt;</a:t>
            </a:r>
          </a:p>
          <a:p>
            <a:pPr lvl="1"/>
            <a:r>
              <a:rPr lang="en-US" sz="2300" dirty="0"/>
              <a:t>An optional header</a:t>
            </a:r>
          </a:p>
          <a:p>
            <a:pPr lvl="1"/>
            <a:r>
              <a:rPr lang="en-US" sz="2300" dirty="0"/>
              <a:t>Optional data for CGI data using post method</a:t>
            </a:r>
          </a:p>
          <a:p>
            <a:endParaRPr lang="en-US" sz="2300" dirty="0"/>
          </a:p>
          <a:p>
            <a:r>
              <a:rPr lang="en-US" sz="2300" dirty="0"/>
              <a:t>Response is a message consisting of three parts:</a:t>
            </a:r>
          </a:p>
          <a:p>
            <a:pPr lvl="1"/>
            <a:r>
              <a:rPr lang="en-US" sz="2300" dirty="0"/>
              <a:t>A status line of the format &lt;protocol&gt; &lt;status code&gt; &lt;description&gt; </a:t>
            </a:r>
          </a:p>
          <a:p>
            <a:pPr lvl="1"/>
            <a:r>
              <a:rPr lang="en-US" sz="2300" dirty="0"/>
              <a:t>Header information, which may span several lines</a:t>
            </a:r>
          </a:p>
          <a:p>
            <a:pPr lvl="1"/>
            <a:r>
              <a:rPr lang="en-US" sz="2300" dirty="0"/>
              <a:t>The document itself</a:t>
            </a:r>
          </a:p>
        </p:txBody>
      </p:sp>
      <p:sp>
        <p:nvSpPr>
          <p:cNvPr id="4" name="Slide Number Placeholder 3"/>
          <p:cNvSpPr>
            <a:spLocks noGrp="1"/>
          </p:cNvSpPr>
          <p:nvPr>
            <p:ph type="sldNum" sz="quarter" idx="12"/>
          </p:nvPr>
        </p:nvSpPr>
        <p:spPr/>
        <p:txBody>
          <a:bodyPr/>
          <a:lstStyle/>
          <a:p>
            <a:fld id="{7040D16D-0600-4D21-96E6-588F007D1AD6}" type="slidenum">
              <a:rPr lang="en-US" smtClean="0"/>
              <a:pPr/>
              <a:t>54</a:t>
            </a:fld>
            <a:endParaRPr lang="en-US"/>
          </a:p>
        </p:txBody>
      </p:sp>
      <p:sp>
        <p:nvSpPr>
          <p:cNvPr id="5" name="Footer Placeholder 4"/>
          <p:cNvSpPr>
            <a:spLocks noGrp="1"/>
          </p:cNvSpPr>
          <p:nvPr>
            <p:ph type="ftr" sz="quarter" idx="11"/>
          </p:nvPr>
        </p:nvSpPr>
        <p:spPr/>
        <p:txBody>
          <a:bodyPr/>
          <a:lstStyle/>
          <a:p>
            <a:r>
              <a:rPr lang="en-US"/>
              <a:t>Asst. Professor Riddhi Joshi</a:t>
            </a:r>
          </a:p>
        </p:txBody>
      </p:sp>
      <p:sp>
        <p:nvSpPr>
          <p:cNvPr id="6" name="Title 1"/>
          <p:cNvSpPr txBox="1">
            <a:spLocks/>
          </p:cNvSpPr>
          <p:nvPr/>
        </p:nvSpPr>
        <p:spPr>
          <a:xfrm>
            <a:off x="457200" y="76200"/>
            <a:ext cx="8229600" cy="4572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outerShdw blurRad="38100" dist="38100" dir="2700000" algn="tl">
                    <a:srgbClr val="000000">
                      <a:alpha val="43137"/>
                    </a:srgbClr>
                  </a:outerShdw>
                </a:effectLst>
                <a:uLnTx/>
                <a:uFillTx/>
                <a:latin typeface="+mn-lt"/>
                <a:ea typeface="+mn-ea"/>
                <a:cs typeface="+mn-cs"/>
              </a:rPr>
              <a:t>2.9 Event Diagram &amp; Sequence Diagram</a:t>
            </a:r>
            <a:endPar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mn-lt"/>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8229600" cy="4525963"/>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t>Sequence Diagram:</a:t>
            </a:r>
          </a:p>
          <a:p>
            <a:pPr lvl="1"/>
            <a:r>
              <a:rPr lang="en-US" sz="2300" dirty="0"/>
              <a:t>In a sequence diagram, the execution flow of each participant of a protocol is represented as a dashed line and does not differentiate between the states of blocked and executing. </a:t>
            </a:r>
          </a:p>
          <a:p>
            <a:pPr lvl="1"/>
            <a:r>
              <a:rPr lang="en-US" sz="2300" dirty="0"/>
              <a:t>Each message exchanged between the two sides of shown using directed line between the two dashed lines, with a descriptive label above the directed line.</a:t>
            </a:r>
          </a:p>
        </p:txBody>
      </p:sp>
      <p:sp>
        <p:nvSpPr>
          <p:cNvPr id="4" name="Slide Number Placeholder 3"/>
          <p:cNvSpPr>
            <a:spLocks noGrp="1"/>
          </p:cNvSpPr>
          <p:nvPr>
            <p:ph type="sldNum" sz="quarter" idx="12"/>
          </p:nvPr>
        </p:nvSpPr>
        <p:spPr/>
        <p:txBody>
          <a:bodyPr/>
          <a:lstStyle/>
          <a:p>
            <a:fld id="{7040D16D-0600-4D21-96E6-588F007D1AD6}" type="slidenum">
              <a:rPr lang="en-US" smtClean="0"/>
              <a:pPr/>
              <a:t>55</a:t>
            </a:fld>
            <a:endParaRPr lang="en-US"/>
          </a:p>
        </p:txBody>
      </p:sp>
      <p:sp>
        <p:nvSpPr>
          <p:cNvPr id="5" name="Footer Placeholder 4"/>
          <p:cNvSpPr>
            <a:spLocks noGrp="1"/>
          </p:cNvSpPr>
          <p:nvPr>
            <p:ph type="ftr" sz="quarter" idx="11"/>
          </p:nvPr>
        </p:nvSpPr>
        <p:spPr/>
        <p:txBody>
          <a:bodyPr/>
          <a:lstStyle/>
          <a:p>
            <a:r>
              <a:rPr lang="en-US"/>
              <a:t>Asst. Professor Riddhi Joshi</a:t>
            </a:r>
          </a:p>
        </p:txBody>
      </p:sp>
      <p:sp>
        <p:nvSpPr>
          <p:cNvPr id="6" name="Title 1"/>
          <p:cNvSpPr txBox="1">
            <a:spLocks/>
          </p:cNvSpPr>
          <p:nvPr/>
        </p:nvSpPr>
        <p:spPr>
          <a:xfrm>
            <a:off x="457200" y="76200"/>
            <a:ext cx="8229600" cy="4572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chemeClr val="lt1"/>
                </a:solidFill>
                <a:effectLst>
                  <a:outerShdw blurRad="38100" dist="38100" dir="2700000" algn="tl">
                    <a:srgbClr val="000000">
                      <a:alpha val="43137"/>
                    </a:srgbClr>
                  </a:outerShdw>
                </a:effectLst>
                <a:uLnTx/>
                <a:uFillTx/>
                <a:latin typeface="+mn-lt"/>
                <a:ea typeface="+mn-ea"/>
                <a:cs typeface="+mn-cs"/>
              </a:rPr>
              <a:t>2.9 Event Diagram &amp; Sequence Diagram</a:t>
            </a:r>
            <a:endPar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mn-lt"/>
              <a:ea typeface="+mn-ea"/>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rot="5400000">
            <a:off x="495300" y="3238500"/>
            <a:ext cx="3581400" cy="15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rot="5400000">
            <a:off x="-1335666" y="3262110"/>
            <a:ext cx="3581400" cy="15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57200" y="2057400"/>
            <a:ext cx="1828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467931" y="3574974"/>
            <a:ext cx="1828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a:off x="457200" y="2819400"/>
            <a:ext cx="1828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0800000">
            <a:off x="467931" y="4427127"/>
            <a:ext cx="1828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28600" y="1066800"/>
            <a:ext cx="1066800" cy="369332"/>
          </a:xfrm>
          <a:prstGeom prst="rect">
            <a:avLst/>
          </a:prstGeom>
          <a:noFill/>
        </p:spPr>
        <p:txBody>
          <a:bodyPr wrap="square" rtlCol="0">
            <a:spAutoFit/>
          </a:bodyPr>
          <a:lstStyle/>
          <a:p>
            <a:r>
              <a:rPr lang="en-US" dirty="0"/>
              <a:t>Process A</a:t>
            </a:r>
          </a:p>
        </p:txBody>
      </p:sp>
      <p:sp>
        <p:nvSpPr>
          <p:cNvPr id="16" name="TextBox 15"/>
          <p:cNvSpPr txBox="1"/>
          <p:nvPr/>
        </p:nvSpPr>
        <p:spPr>
          <a:xfrm>
            <a:off x="1600200" y="1066800"/>
            <a:ext cx="1066800" cy="369332"/>
          </a:xfrm>
          <a:prstGeom prst="rect">
            <a:avLst/>
          </a:prstGeom>
          <a:noFill/>
        </p:spPr>
        <p:txBody>
          <a:bodyPr wrap="square" rtlCol="0">
            <a:spAutoFit/>
          </a:bodyPr>
          <a:lstStyle/>
          <a:p>
            <a:r>
              <a:rPr lang="en-US" dirty="0"/>
              <a:t>Process B</a:t>
            </a:r>
          </a:p>
        </p:txBody>
      </p:sp>
      <p:cxnSp>
        <p:nvCxnSpPr>
          <p:cNvPr id="18" name="Straight Arrow Connector 17"/>
          <p:cNvCxnSpPr/>
          <p:nvPr/>
        </p:nvCxnSpPr>
        <p:spPr>
          <a:xfrm rot="5400000">
            <a:off x="1562100" y="3162300"/>
            <a:ext cx="3581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804373" y="990600"/>
            <a:ext cx="1066800" cy="369332"/>
          </a:xfrm>
          <a:prstGeom prst="rect">
            <a:avLst/>
          </a:prstGeom>
          <a:noFill/>
        </p:spPr>
        <p:txBody>
          <a:bodyPr wrap="square" rtlCol="0">
            <a:spAutoFit/>
          </a:bodyPr>
          <a:lstStyle/>
          <a:p>
            <a:pPr algn="ctr"/>
            <a:r>
              <a:rPr lang="en-US" dirty="0"/>
              <a:t>Time</a:t>
            </a:r>
          </a:p>
        </p:txBody>
      </p:sp>
      <p:sp>
        <p:nvSpPr>
          <p:cNvPr id="20" name="TextBox 19"/>
          <p:cNvSpPr txBox="1"/>
          <p:nvPr/>
        </p:nvSpPr>
        <p:spPr>
          <a:xfrm>
            <a:off x="838200" y="5105400"/>
            <a:ext cx="2133600" cy="369332"/>
          </a:xfrm>
          <a:prstGeom prst="rect">
            <a:avLst/>
          </a:prstGeom>
          <a:noFill/>
        </p:spPr>
        <p:txBody>
          <a:bodyPr wrap="square" rtlCol="0">
            <a:spAutoFit/>
          </a:bodyPr>
          <a:lstStyle/>
          <a:p>
            <a:r>
              <a:rPr lang="en-US" dirty="0"/>
              <a:t>A Sequence Diagram</a:t>
            </a:r>
          </a:p>
        </p:txBody>
      </p:sp>
      <p:cxnSp>
        <p:nvCxnSpPr>
          <p:cNvPr id="21" name="Straight Connector 20"/>
          <p:cNvCxnSpPr/>
          <p:nvPr/>
        </p:nvCxnSpPr>
        <p:spPr>
          <a:xfrm rot="5400000">
            <a:off x="6365660" y="3009106"/>
            <a:ext cx="3581400" cy="15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3993776" y="3032716"/>
            <a:ext cx="3581400" cy="15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5791200" y="1981200"/>
            <a:ext cx="2362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10800000">
            <a:off x="5791200" y="3657600"/>
            <a:ext cx="2362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257800" y="838200"/>
            <a:ext cx="1447800" cy="369332"/>
          </a:xfrm>
          <a:prstGeom prst="rect">
            <a:avLst/>
          </a:prstGeom>
          <a:noFill/>
        </p:spPr>
        <p:txBody>
          <a:bodyPr wrap="square" rtlCol="0">
            <a:spAutoFit/>
          </a:bodyPr>
          <a:lstStyle/>
          <a:p>
            <a:r>
              <a:rPr lang="en-US" dirty="0"/>
              <a:t>Web Browser</a:t>
            </a:r>
          </a:p>
        </p:txBody>
      </p:sp>
      <p:sp>
        <p:nvSpPr>
          <p:cNvPr id="33" name="TextBox 32"/>
          <p:cNvSpPr txBox="1"/>
          <p:nvPr/>
        </p:nvSpPr>
        <p:spPr>
          <a:xfrm>
            <a:off x="6248400" y="1524000"/>
            <a:ext cx="1447800" cy="369332"/>
          </a:xfrm>
          <a:prstGeom prst="rect">
            <a:avLst/>
          </a:prstGeom>
          <a:noFill/>
        </p:spPr>
        <p:txBody>
          <a:bodyPr wrap="square" rtlCol="0">
            <a:spAutoFit/>
          </a:bodyPr>
          <a:lstStyle/>
          <a:p>
            <a:r>
              <a:rPr lang="en-US" dirty="0"/>
              <a:t>HTTP request</a:t>
            </a:r>
          </a:p>
        </p:txBody>
      </p:sp>
      <p:sp>
        <p:nvSpPr>
          <p:cNvPr id="34" name="TextBox 33"/>
          <p:cNvSpPr txBox="1"/>
          <p:nvPr/>
        </p:nvSpPr>
        <p:spPr>
          <a:xfrm>
            <a:off x="6248400" y="3200400"/>
            <a:ext cx="1600200" cy="369332"/>
          </a:xfrm>
          <a:prstGeom prst="rect">
            <a:avLst/>
          </a:prstGeom>
          <a:noFill/>
        </p:spPr>
        <p:txBody>
          <a:bodyPr wrap="square" rtlCol="0">
            <a:spAutoFit/>
          </a:bodyPr>
          <a:lstStyle/>
          <a:p>
            <a:r>
              <a:rPr lang="en-US" dirty="0"/>
              <a:t>HTTP response</a:t>
            </a:r>
          </a:p>
        </p:txBody>
      </p:sp>
      <p:sp>
        <p:nvSpPr>
          <p:cNvPr id="35" name="TextBox 34"/>
          <p:cNvSpPr txBox="1"/>
          <p:nvPr/>
        </p:nvSpPr>
        <p:spPr>
          <a:xfrm>
            <a:off x="7495506" y="852153"/>
            <a:ext cx="1447800" cy="369332"/>
          </a:xfrm>
          <a:prstGeom prst="rect">
            <a:avLst/>
          </a:prstGeom>
          <a:noFill/>
        </p:spPr>
        <p:txBody>
          <a:bodyPr wrap="square" rtlCol="0">
            <a:spAutoFit/>
          </a:bodyPr>
          <a:lstStyle/>
          <a:p>
            <a:r>
              <a:rPr lang="en-US" dirty="0"/>
              <a:t>Web Server</a:t>
            </a:r>
          </a:p>
        </p:txBody>
      </p:sp>
      <p:sp>
        <p:nvSpPr>
          <p:cNvPr id="36" name="TextBox 35"/>
          <p:cNvSpPr txBox="1"/>
          <p:nvPr/>
        </p:nvSpPr>
        <p:spPr>
          <a:xfrm>
            <a:off x="5791200" y="5181600"/>
            <a:ext cx="2895600" cy="369332"/>
          </a:xfrm>
          <a:prstGeom prst="rect">
            <a:avLst/>
          </a:prstGeom>
          <a:noFill/>
        </p:spPr>
        <p:txBody>
          <a:bodyPr wrap="square" rtlCol="0">
            <a:spAutoFit/>
          </a:bodyPr>
          <a:lstStyle/>
          <a:p>
            <a:r>
              <a:rPr lang="en-US" dirty="0"/>
              <a:t>A Sequence Diagram for HTTP</a:t>
            </a:r>
          </a:p>
        </p:txBody>
      </p:sp>
      <p:sp>
        <p:nvSpPr>
          <p:cNvPr id="23" name="Slide Number Placeholder 22"/>
          <p:cNvSpPr>
            <a:spLocks noGrp="1"/>
          </p:cNvSpPr>
          <p:nvPr>
            <p:ph type="sldNum" sz="quarter" idx="12"/>
          </p:nvPr>
        </p:nvSpPr>
        <p:spPr/>
        <p:txBody>
          <a:bodyPr/>
          <a:lstStyle/>
          <a:p>
            <a:fld id="{7040D16D-0600-4D21-96E6-588F007D1AD6}" type="slidenum">
              <a:rPr lang="en-US" smtClean="0"/>
              <a:pPr/>
              <a:t>56</a:t>
            </a:fld>
            <a:endParaRPr lang="en-US"/>
          </a:p>
        </p:txBody>
      </p:sp>
      <p:sp>
        <p:nvSpPr>
          <p:cNvPr id="24" name="Footer Placeholder 23"/>
          <p:cNvSpPr>
            <a:spLocks noGrp="1"/>
          </p:cNvSpPr>
          <p:nvPr>
            <p:ph type="ftr" sz="quarter" idx="11"/>
          </p:nvPr>
        </p:nvSpPr>
        <p:spPr/>
        <p:txBody>
          <a:bodyPr/>
          <a:lstStyle/>
          <a:p>
            <a:r>
              <a:rPr lang="en-US"/>
              <a:t>Asst. Professor Riddhi Joshi</a:t>
            </a:r>
          </a:p>
        </p:txBody>
      </p:sp>
      <p:sp>
        <p:nvSpPr>
          <p:cNvPr id="25" name="TextBox 24"/>
          <p:cNvSpPr txBox="1"/>
          <p:nvPr/>
        </p:nvSpPr>
        <p:spPr>
          <a:xfrm>
            <a:off x="685800" y="1600201"/>
            <a:ext cx="1447800" cy="369332"/>
          </a:xfrm>
          <a:prstGeom prst="rect">
            <a:avLst/>
          </a:prstGeom>
          <a:noFill/>
        </p:spPr>
        <p:txBody>
          <a:bodyPr wrap="square" rtlCol="0">
            <a:spAutoFit/>
          </a:bodyPr>
          <a:lstStyle/>
          <a:p>
            <a:r>
              <a:rPr lang="en-US" dirty="0"/>
              <a:t>Request 1</a:t>
            </a:r>
          </a:p>
        </p:txBody>
      </p:sp>
      <p:sp>
        <p:nvSpPr>
          <p:cNvPr id="26" name="TextBox 25"/>
          <p:cNvSpPr txBox="1"/>
          <p:nvPr/>
        </p:nvSpPr>
        <p:spPr>
          <a:xfrm>
            <a:off x="685800" y="2286000"/>
            <a:ext cx="1447800" cy="369332"/>
          </a:xfrm>
          <a:prstGeom prst="rect">
            <a:avLst/>
          </a:prstGeom>
          <a:noFill/>
        </p:spPr>
        <p:txBody>
          <a:bodyPr wrap="square" rtlCol="0">
            <a:spAutoFit/>
          </a:bodyPr>
          <a:lstStyle/>
          <a:p>
            <a:r>
              <a:rPr lang="en-US" dirty="0"/>
              <a:t>Response 1</a:t>
            </a:r>
          </a:p>
        </p:txBody>
      </p:sp>
      <p:sp>
        <p:nvSpPr>
          <p:cNvPr id="28" name="TextBox 27"/>
          <p:cNvSpPr txBox="1"/>
          <p:nvPr/>
        </p:nvSpPr>
        <p:spPr>
          <a:xfrm>
            <a:off x="685800" y="3124200"/>
            <a:ext cx="1447800" cy="369332"/>
          </a:xfrm>
          <a:prstGeom prst="rect">
            <a:avLst/>
          </a:prstGeom>
          <a:noFill/>
        </p:spPr>
        <p:txBody>
          <a:bodyPr wrap="square" rtlCol="0">
            <a:spAutoFit/>
          </a:bodyPr>
          <a:lstStyle/>
          <a:p>
            <a:r>
              <a:rPr lang="en-US" dirty="0"/>
              <a:t>Request 2</a:t>
            </a:r>
          </a:p>
        </p:txBody>
      </p:sp>
      <p:sp>
        <p:nvSpPr>
          <p:cNvPr id="29" name="TextBox 28"/>
          <p:cNvSpPr txBox="1"/>
          <p:nvPr/>
        </p:nvSpPr>
        <p:spPr>
          <a:xfrm>
            <a:off x="685800" y="3974068"/>
            <a:ext cx="1447800" cy="369332"/>
          </a:xfrm>
          <a:prstGeom prst="rect">
            <a:avLst/>
          </a:prstGeom>
          <a:noFill/>
        </p:spPr>
        <p:txBody>
          <a:bodyPr wrap="square" rtlCol="0">
            <a:spAutoFit/>
          </a:bodyPr>
          <a:lstStyle/>
          <a:p>
            <a:r>
              <a:rPr lang="en-US" dirty="0"/>
              <a:t>Response 2</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152400" y="1371600"/>
            <a:ext cx="8763000" cy="36576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r>
              <a:rPr lang="en-US" sz="2200" dirty="0">
                <a:solidFill>
                  <a:schemeClr val="tx1"/>
                </a:solidFill>
                <a:latin typeface="Cambria" pitchFamily="18" charset="0"/>
                <a:cs typeface="Aharoni" pitchFamily="2" charset="-79"/>
              </a:rPr>
              <a:t>2.1 An Archetypal IPC Program Interface</a:t>
            </a:r>
          </a:p>
          <a:p>
            <a:r>
              <a:rPr lang="en-US" sz="2200" dirty="0">
                <a:solidFill>
                  <a:schemeClr val="tx1"/>
                </a:solidFill>
                <a:latin typeface="Cambria" pitchFamily="18" charset="0"/>
                <a:cs typeface="Aharoni" pitchFamily="2" charset="-79"/>
              </a:rPr>
              <a:t>2.2 Event Synchronization</a:t>
            </a:r>
          </a:p>
          <a:p>
            <a:r>
              <a:rPr lang="en-US" sz="2200" dirty="0">
                <a:solidFill>
                  <a:schemeClr val="tx1"/>
                </a:solidFill>
                <a:latin typeface="Cambria" pitchFamily="18" charset="0"/>
                <a:cs typeface="Aharoni" pitchFamily="2" charset="-79"/>
              </a:rPr>
              <a:t>2.3 Timeouts and Threading</a:t>
            </a:r>
          </a:p>
          <a:p>
            <a:r>
              <a:rPr lang="en-US" sz="2200" dirty="0">
                <a:solidFill>
                  <a:schemeClr val="tx1"/>
                </a:solidFill>
                <a:latin typeface="Cambria" pitchFamily="18" charset="0"/>
                <a:cs typeface="Aharoni" pitchFamily="2" charset="-79"/>
              </a:rPr>
              <a:t>2.4 Deadlocks and Timeouts</a:t>
            </a:r>
          </a:p>
          <a:p>
            <a:r>
              <a:rPr lang="en-US" sz="2200" dirty="0">
                <a:solidFill>
                  <a:schemeClr val="tx1"/>
                </a:solidFill>
                <a:latin typeface="Cambria" pitchFamily="18" charset="0"/>
                <a:cs typeface="Aharoni" pitchFamily="2" charset="-79"/>
              </a:rPr>
              <a:t>2.5 Data Representation</a:t>
            </a:r>
          </a:p>
          <a:p>
            <a:r>
              <a:rPr lang="en-US" sz="2200" dirty="0">
                <a:solidFill>
                  <a:schemeClr val="tx1"/>
                </a:solidFill>
                <a:latin typeface="Cambria" pitchFamily="18" charset="0"/>
                <a:cs typeface="Aharoni" pitchFamily="2" charset="-79"/>
              </a:rPr>
              <a:t> 2.6 Data Encoding</a:t>
            </a:r>
          </a:p>
          <a:p>
            <a:r>
              <a:rPr lang="en-US" sz="2200" dirty="0">
                <a:solidFill>
                  <a:schemeClr val="tx1"/>
                </a:solidFill>
                <a:latin typeface="Cambria" pitchFamily="18" charset="0"/>
                <a:cs typeface="Aharoni" pitchFamily="2" charset="-79"/>
              </a:rPr>
              <a:t>2.7 Text Based Protocol</a:t>
            </a:r>
          </a:p>
          <a:p>
            <a:r>
              <a:rPr lang="en-US" sz="2200" dirty="0">
                <a:solidFill>
                  <a:schemeClr val="tx1"/>
                </a:solidFill>
                <a:latin typeface="Cambria" pitchFamily="18" charset="0"/>
                <a:cs typeface="Aharoni" pitchFamily="2" charset="-79"/>
              </a:rPr>
              <a:t>2.8 Request Response Protocol</a:t>
            </a:r>
          </a:p>
          <a:p>
            <a:r>
              <a:rPr lang="en-US" sz="2200" dirty="0">
                <a:solidFill>
                  <a:schemeClr val="tx1"/>
                </a:solidFill>
                <a:latin typeface="Cambria" pitchFamily="18" charset="0"/>
                <a:cs typeface="Aharoni" pitchFamily="2" charset="-79"/>
              </a:rPr>
              <a:t>2.9 Event Diagram &amp; Sequence Diagram</a:t>
            </a:r>
          </a:p>
          <a:p>
            <a:r>
              <a:rPr lang="en-US" sz="2200" dirty="0">
                <a:latin typeface="Cambria" pitchFamily="18" charset="0"/>
                <a:cs typeface="Aharoni" pitchFamily="2" charset="-79"/>
              </a:rPr>
              <a:t>     </a:t>
            </a:r>
            <a:r>
              <a:rPr lang="en-US" sz="2200" b="1" dirty="0">
                <a:solidFill>
                  <a:schemeClr val="accent1"/>
                </a:solidFill>
                <a:latin typeface="Cambria" pitchFamily="18" charset="0"/>
                <a:cs typeface="Aharoni" pitchFamily="2" charset="-79"/>
              </a:rPr>
              <a:t>2.10 Connection Oriented  Vs. Connectionless IPC</a:t>
            </a:r>
          </a:p>
          <a:p>
            <a:endParaRPr lang="en-US" sz="2200" dirty="0">
              <a:latin typeface="Cambria" pitchFamily="18" charset="0"/>
              <a:cs typeface="Aharoni" pitchFamily="2" charset="-79"/>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endParaRPr kumimoji="0" lang="en-US" sz="2200" b="0" i="0" u="none" strike="noStrike" kern="1200" cap="none" spc="0" normalizeH="0" baseline="0" noProof="0" dirty="0">
              <a:ln>
                <a:noFill/>
              </a:ln>
              <a:solidFill>
                <a:schemeClr val="tx1"/>
              </a:solidFill>
              <a:effectLst/>
              <a:uLnTx/>
              <a:uFillTx/>
              <a:latin typeface="Cambria" pitchFamily="18" charset="0"/>
              <a:cs typeface="Aharoni" pitchFamily="2" charset="-79"/>
            </a:endParaRPr>
          </a:p>
        </p:txBody>
      </p:sp>
      <p:sp>
        <p:nvSpPr>
          <p:cNvPr id="5" name="TextBox 4"/>
          <p:cNvSpPr txBox="1"/>
          <p:nvPr/>
        </p:nvSpPr>
        <p:spPr>
          <a:xfrm>
            <a:off x="2514600" y="152400"/>
            <a:ext cx="4267200" cy="523875"/>
          </a:xfrm>
          <a:prstGeom prst="rect">
            <a:avLst/>
          </a:prstGeom>
        </p:spPr>
        <p:style>
          <a:lnRef idx="3">
            <a:schemeClr val="lt1"/>
          </a:lnRef>
          <a:fillRef idx="1">
            <a:schemeClr val="accent1"/>
          </a:fillRef>
          <a:effectRef idx="1">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6" name="Slide Number Placeholder 5"/>
          <p:cNvSpPr>
            <a:spLocks noGrp="1"/>
          </p:cNvSpPr>
          <p:nvPr>
            <p:ph type="sldNum" sz="quarter" idx="12"/>
          </p:nvPr>
        </p:nvSpPr>
        <p:spPr/>
        <p:txBody>
          <a:bodyPr/>
          <a:lstStyle/>
          <a:p>
            <a:fld id="{7040D16D-0600-4D21-96E6-588F007D1AD6}" type="slidenum">
              <a:rPr lang="en-US" smtClean="0"/>
              <a:pPr/>
              <a:t>57</a:t>
            </a:fld>
            <a:endParaRPr lang="en-US"/>
          </a:p>
        </p:txBody>
      </p:sp>
      <p:sp>
        <p:nvSpPr>
          <p:cNvPr id="7" name="Footer Placeholder 6"/>
          <p:cNvSpPr>
            <a:spLocks noGrp="1"/>
          </p:cNvSpPr>
          <p:nvPr>
            <p:ph type="ftr" sz="quarter" idx="11"/>
          </p:nvPr>
        </p:nvSpPr>
        <p:spPr/>
        <p:txBody>
          <a:bodyPr/>
          <a:lstStyle/>
          <a:p>
            <a:r>
              <a:rPr lang="en-US"/>
              <a:t>Asst. Professor Riddhi Joshi</a:t>
            </a:r>
          </a:p>
        </p:txBody>
      </p:sp>
      <p:pic>
        <p:nvPicPr>
          <p:cNvPr id="2051" name="Picture 3" descr="F:\General Data\general sub data\animated images\gp image\stick_figure_walking_reading_book_sm_wm.gif"/>
          <p:cNvPicPr>
            <a:picLocks noChangeAspect="1" noChangeArrowheads="1" noCrop="1"/>
          </p:cNvPicPr>
          <p:nvPr/>
        </p:nvPicPr>
        <p:blipFill>
          <a:blip r:embed="rId2"/>
          <a:srcRect/>
          <a:stretch>
            <a:fillRect/>
          </a:stretch>
        </p:blipFill>
        <p:spPr bwMode="auto">
          <a:xfrm>
            <a:off x="152400" y="95250"/>
            <a:ext cx="1447800" cy="1047750"/>
          </a:xfrm>
          <a:prstGeom prst="rect">
            <a:avLst/>
          </a:prstGeom>
          <a:noFill/>
        </p:spPr>
      </p:pic>
      <p:pic>
        <p:nvPicPr>
          <p:cNvPr id="9" name="Picture 2" descr="F:\General Data\general sub data\animated images\gp image\5027341-blue-crystal-earth-showing-north-and-south-america.jpg"/>
          <p:cNvPicPr>
            <a:picLocks noChangeAspect="1" noChangeArrowheads="1"/>
          </p:cNvPicPr>
          <p:nvPr/>
        </p:nvPicPr>
        <p:blipFill>
          <a:blip r:embed="rId3"/>
          <a:srcRect/>
          <a:stretch>
            <a:fillRect/>
          </a:stretch>
        </p:blipFill>
        <p:spPr bwMode="auto">
          <a:xfrm>
            <a:off x="76200" y="5638800"/>
            <a:ext cx="1143000" cy="1143000"/>
          </a:xfrm>
          <a:prstGeom prst="ellipse">
            <a:avLst/>
          </a:prstGeom>
          <a:ln>
            <a:noFill/>
          </a:ln>
          <a:effectLst>
            <a:softEdge rad="112500"/>
          </a:effectLst>
        </p:spPr>
      </p:pic>
      <p:sp>
        <p:nvSpPr>
          <p:cNvPr id="10" name="Right Arrow 9"/>
          <p:cNvSpPr/>
          <p:nvPr/>
        </p:nvSpPr>
        <p:spPr>
          <a:xfrm>
            <a:off x="228600" y="45720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33400"/>
          </a:xfrm>
        </p:spPr>
        <p:style>
          <a:lnRef idx="3">
            <a:schemeClr val="lt1"/>
          </a:lnRef>
          <a:fillRef idx="1">
            <a:schemeClr val="accent1"/>
          </a:fillRef>
          <a:effectRef idx="1">
            <a:schemeClr val="accent1"/>
          </a:effectRef>
          <a:fontRef idx="minor">
            <a:schemeClr val="lt1"/>
          </a:fontRef>
        </p:style>
        <p:txBody>
          <a:bodyPr>
            <a:normAutofit/>
          </a:bodyPr>
          <a:lstStyle/>
          <a:p>
            <a:r>
              <a:rPr lang="en-US" sz="2600" b="1" dirty="0">
                <a:effectLst>
                  <a:outerShdw blurRad="38100" dist="38100" dir="2700000" algn="tl">
                    <a:srgbClr val="000000">
                      <a:alpha val="43137"/>
                    </a:srgbClr>
                  </a:outerShdw>
                </a:effectLst>
              </a:rPr>
              <a:t>2.10 Connection-Oriented versus Connection IPC</a:t>
            </a:r>
          </a:p>
        </p:txBody>
      </p:sp>
      <p:sp>
        <p:nvSpPr>
          <p:cNvPr id="3" name="Content Placeholder 2"/>
          <p:cNvSpPr>
            <a:spLocks noGrp="1"/>
          </p:cNvSpPr>
          <p:nvPr>
            <p:ph idx="1"/>
          </p:nvPr>
        </p:nvSpPr>
        <p:spPr>
          <a:xfrm>
            <a:off x="304800" y="1143000"/>
            <a:ext cx="8229600" cy="4525963"/>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t>Using a connection-oriented IPC facility, two processes establish a connection, then exchange data by inserting data to and exchange data from the connection.</a:t>
            </a:r>
          </a:p>
          <a:p>
            <a:r>
              <a:rPr lang="en-US" sz="2300" dirty="0"/>
              <a:t>Once a connection is established, there is no need to identify the sender or receiver.</a:t>
            </a:r>
          </a:p>
          <a:p>
            <a:r>
              <a:rPr lang="en-US" sz="2300" dirty="0"/>
              <a:t>Using a connectionless IPC facility, data is exchanged in independent packets, each of which needs to be addressed specifically to the receiver.</a:t>
            </a:r>
          </a:p>
          <a:p>
            <a:pPr>
              <a:buNone/>
            </a:pPr>
            <a:r>
              <a:rPr lang="en-US" sz="2300"/>
              <a:t>	</a:t>
            </a:r>
            <a:endParaRPr lang="en-US" sz="2300" dirty="0"/>
          </a:p>
        </p:txBody>
      </p:sp>
      <p:sp>
        <p:nvSpPr>
          <p:cNvPr id="4" name="Slide Number Placeholder 3"/>
          <p:cNvSpPr>
            <a:spLocks noGrp="1"/>
          </p:cNvSpPr>
          <p:nvPr>
            <p:ph type="sldNum" sz="quarter" idx="12"/>
          </p:nvPr>
        </p:nvSpPr>
        <p:spPr/>
        <p:txBody>
          <a:bodyPr/>
          <a:lstStyle/>
          <a:p>
            <a:fld id="{7040D16D-0600-4D21-96E6-588F007D1AD6}" type="slidenum">
              <a:rPr lang="en-US" smtClean="0"/>
              <a:pPr/>
              <a:t>58</a:t>
            </a:fld>
            <a:endParaRPr lang="en-US"/>
          </a:p>
        </p:txBody>
      </p:sp>
      <p:sp>
        <p:nvSpPr>
          <p:cNvPr id="5" name="Footer Placeholder 4"/>
          <p:cNvSpPr>
            <a:spLocks noGrp="1"/>
          </p:cNvSpPr>
          <p:nvPr>
            <p:ph type="ftr" sz="quarter" idx="11"/>
          </p:nvPr>
        </p:nvSpPr>
        <p:spPr/>
        <p:txBody>
          <a:bodyPr/>
          <a:lstStyle/>
          <a:p>
            <a:r>
              <a:rPr lang="en-US"/>
              <a:t>Asst. Professor Riddhi Joshi</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7726-5550-9085-1958-4AB58661DC65}"/>
              </a:ext>
            </a:extLst>
          </p:cNvPr>
          <p:cNvSpPr>
            <a:spLocks noGrp="1"/>
          </p:cNvSpPr>
          <p:nvPr>
            <p:ph type="title"/>
          </p:nvPr>
        </p:nvSpPr>
        <p:spPr/>
        <p:txBody>
          <a:bodyPr/>
          <a:lstStyle/>
          <a:p>
            <a:endParaRPr lang="en-IN"/>
          </a:p>
        </p:txBody>
      </p:sp>
      <p:graphicFrame>
        <p:nvGraphicFramePr>
          <p:cNvPr id="6" name="Content Placeholder 5">
            <a:extLst>
              <a:ext uri="{FF2B5EF4-FFF2-40B4-BE49-F238E27FC236}">
                <a16:creationId xmlns:a16="http://schemas.microsoft.com/office/drawing/2014/main" id="{3641A2A0-6A36-7597-201F-6D8023E78D87}"/>
              </a:ext>
            </a:extLst>
          </p:cNvPr>
          <p:cNvGraphicFramePr>
            <a:graphicFrameLocks noGrp="1"/>
          </p:cNvGraphicFramePr>
          <p:nvPr>
            <p:ph idx="1"/>
          </p:nvPr>
        </p:nvGraphicFramePr>
        <p:xfrm>
          <a:off x="76200" y="51546"/>
          <a:ext cx="9067800" cy="6674674"/>
        </p:xfrm>
        <a:graphic>
          <a:graphicData uri="http://schemas.openxmlformats.org/drawingml/2006/table">
            <a:tbl>
              <a:tblPr/>
              <a:tblGrid>
                <a:gridCol w="838200">
                  <a:extLst>
                    <a:ext uri="{9D8B030D-6E8A-4147-A177-3AD203B41FA5}">
                      <a16:colId xmlns:a16="http://schemas.microsoft.com/office/drawing/2014/main" val="3060262633"/>
                    </a:ext>
                  </a:extLst>
                </a:gridCol>
                <a:gridCol w="1600200">
                  <a:extLst>
                    <a:ext uri="{9D8B030D-6E8A-4147-A177-3AD203B41FA5}">
                      <a16:colId xmlns:a16="http://schemas.microsoft.com/office/drawing/2014/main" val="2171659832"/>
                    </a:ext>
                  </a:extLst>
                </a:gridCol>
                <a:gridCol w="3352800">
                  <a:extLst>
                    <a:ext uri="{9D8B030D-6E8A-4147-A177-3AD203B41FA5}">
                      <a16:colId xmlns:a16="http://schemas.microsoft.com/office/drawing/2014/main" val="1322780284"/>
                    </a:ext>
                  </a:extLst>
                </a:gridCol>
                <a:gridCol w="3276600">
                  <a:extLst>
                    <a:ext uri="{9D8B030D-6E8A-4147-A177-3AD203B41FA5}">
                      <a16:colId xmlns:a16="http://schemas.microsoft.com/office/drawing/2014/main" val="2083163474"/>
                    </a:ext>
                  </a:extLst>
                </a:gridCol>
              </a:tblGrid>
              <a:tr h="455047">
                <a:tc>
                  <a:txBody>
                    <a:bodyPr/>
                    <a:lstStyle/>
                    <a:p>
                      <a:pPr algn="l" fontAlgn="t"/>
                      <a:r>
                        <a:rPr lang="en-IN" sz="1800">
                          <a:solidFill>
                            <a:srgbClr val="000000"/>
                          </a:solidFill>
                          <a:effectLst/>
                          <a:latin typeface="times new roman" panose="02020603050405020304" pitchFamily="18" charset="0"/>
                        </a:rPr>
                        <a:t>S. No</a:t>
                      </a:r>
                    </a:p>
                  </a:txBody>
                  <a:tcPr marL="24633" marR="24633" marT="24633" marB="24633">
                    <a:lnL w="6350" cap="flat" cmpd="sng" algn="ctr">
                      <a:solidFill>
                        <a:srgbClr val="18520D"/>
                      </a:solidFill>
                      <a:prstDash val="solid"/>
                      <a:round/>
                      <a:headEnd type="none" w="med" len="med"/>
                      <a:tailEnd type="none" w="med" len="med"/>
                    </a:lnL>
                    <a:lnR w="6350" cap="flat" cmpd="sng" algn="ctr">
                      <a:solidFill>
                        <a:srgbClr val="18520D"/>
                      </a:solidFill>
                      <a:prstDash val="solid"/>
                      <a:round/>
                      <a:headEnd type="none" w="med" len="med"/>
                      <a:tailEnd type="none" w="med" len="med"/>
                    </a:lnR>
                    <a:lnT w="6350" cap="flat" cmpd="sng" algn="ctr">
                      <a:solidFill>
                        <a:srgbClr val="18520D"/>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800">
                          <a:solidFill>
                            <a:srgbClr val="000000"/>
                          </a:solidFill>
                          <a:effectLst/>
                          <a:latin typeface="times new roman" panose="02020603050405020304" pitchFamily="18" charset="0"/>
                        </a:rPr>
                        <a:t>Comparison Parameter</a:t>
                      </a:r>
                    </a:p>
                  </a:txBody>
                  <a:tcPr marL="24633" marR="24633" marT="24633" marB="24633">
                    <a:lnL w="6350" cap="flat" cmpd="sng" algn="ctr">
                      <a:solidFill>
                        <a:srgbClr val="18520D"/>
                      </a:solidFill>
                      <a:prstDash val="solid"/>
                      <a:round/>
                      <a:headEnd type="none" w="med" len="med"/>
                      <a:tailEnd type="none" w="med" len="med"/>
                    </a:lnL>
                    <a:lnR w="6350" cap="flat" cmpd="sng" algn="ctr">
                      <a:solidFill>
                        <a:srgbClr val="18520D"/>
                      </a:solidFill>
                      <a:prstDash val="solid"/>
                      <a:round/>
                      <a:headEnd type="none" w="med" len="med"/>
                      <a:tailEnd type="none" w="med" len="med"/>
                    </a:lnR>
                    <a:lnT w="6350" cap="flat" cmpd="sng" algn="ctr">
                      <a:solidFill>
                        <a:srgbClr val="18520D"/>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800">
                          <a:solidFill>
                            <a:srgbClr val="000000"/>
                          </a:solidFill>
                          <a:effectLst/>
                          <a:latin typeface="times new roman" panose="02020603050405020304" pitchFamily="18" charset="0"/>
                        </a:rPr>
                        <a:t>Connection-oriented Service</a:t>
                      </a:r>
                    </a:p>
                  </a:txBody>
                  <a:tcPr marL="24633" marR="24633" marT="24633" marB="24633">
                    <a:lnL w="6350" cap="flat" cmpd="sng" algn="ctr">
                      <a:solidFill>
                        <a:srgbClr val="18520D"/>
                      </a:solidFill>
                      <a:prstDash val="solid"/>
                      <a:round/>
                      <a:headEnd type="none" w="med" len="med"/>
                      <a:tailEnd type="none" w="med" len="med"/>
                    </a:lnL>
                    <a:lnR w="6350" cap="flat" cmpd="sng" algn="ctr">
                      <a:solidFill>
                        <a:srgbClr val="18520D"/>
                      </a:solidFill>
                      <a:prstDash val="solid"/>
                      <a:round/>
                      <a:headEnd type="none" w="med" len="med"/>
                      <a:tailEnd type="none" w="med" len="med"/>
                    </a:lnR>
                    <a:lnT w="6350" cap="flat" cmpd="sng" algn="ctr">
                      <a:solidFill>
                        <a:srgbClr val="18520D"/>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800">
                          <a:solidFill>
                            <a:srgbClr val="000000"/>
                          </a:solidFill>
                          <a:effectLst/>
                          <a:latin typeface="times new roman" panose="02020603050405020304" pitchFamily="18" charset="0"/>
                        </a:rPr>
                        <a:t>Connection Less Service</a:t>
                      </a:r>
                    </a:p>
                  </a:txBody>
                  <a:tcPr marL="24633" marR="24633" marT="24633" marB="24633">
                    <a:lnL w="6350" cap="flat" cmpd="sng" algn="ctr">
                      <a:solidFill>
                        <a:srgbClr val="18520D"/>
                      </a:solidFill>
                      <a:prstDash val="solid"/>
                      <a:round/>
                      <a:headEnd type="none" w="med" len="med"/>
                      <a:tailEnd type="none" w="med" len="med"/>
                    </a:lnL>
                    <a:lnR w="6350" cap="flat" cmpd="sng" algn="ctr">
                      <a:solidFill>
                        <a:srgbClr val="18520D"/>
                      </a:solidFill>
                      <a:prstDash val="solid"/>
                      <a:round/>
                      <a:headEnd type="none" w="med" len="med"/>
                      <a:tailEnd type="none" w="med" len="med"/>
                    </a:lnR>
                    <a:lnT w="6350" cap="flat" cmpd="sng" algn="ctr">
                      <a:solidFill>
                        <a:srgbClr val="18520D"/>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546035688"/>
                  </a:ext>
                </a:extLst>
              </a:tr>
              <a:tr h="1071255">
                <a:tc>
                  <a:txBody>
                    <a:bodyPr/>
                    <a:lstStyle/>
                    <a:p>
                      <a:pPr algn="just" fontAlgn="t"/>
                      <a:r>
                        <a:rPr lang="en-IN" sz="1800">
                          <a:solidFill>
                            <a:srgbClr val="333333"/>
                          </a:solidFill>
                          <a:effectLst/>
                          <a:latin typeface="inter-regular"/>
                        </a:rPr>
                        <a:t>1.</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800">
                          <a:solidFill>
                            <a:srgbClr val="333333"/>
                          </a:solidFill>
                          <a:effectLst/>
                          <a:latin typeface="inter-regular"/>
                        </a:rPr>
                        <a:t>Related System</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a:solidFill>
                            <a:srgbClr val="333333"/>
                          </a:solidFill>
                          <a:effectLst/>
                          <a:latin typeface="inter-regular"/>
                        </a:rPr>
                        <a:t>It is designed and developed based on the telephone system.</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a:solidFill>
                            <a:srgbClr val="333333"/>
                          </a:solidFill>
                          <a:effectLst/>
                          <a:latin typeface="inter-regular"/>
                        </a:rPr>
                        <a:t>It is service based on the postal system.</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823244280"/>
                  </a:ext>
                </a:extLst>
              </a:tr>
              <a:tr h="2351075">
                <a:tc>
                  <a:txBody>
                    <a:bodyPr/>
                    <a:lstStyle/>
                    <a:p>
                      <a:pPr algn="just" fontAlgn="t"/>
                      <a:r>
                        <a:rPr lang="en-IN" sz="1800">
                          <a:solidFill>
                            <a:srgbClr val="333333"/>
                          </a:solidFill>
                          <a:effectLst/>
                          <a:latin typeface="inter-regular"/>
                        </a:rPr>
                        <a:t>2.</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800">
                          <a:solidFill>
                            <a:srgbClr val="333333"/>
                          </a:solidFill>
                          <a:effectLst/>
                          <a:latin typeface="inter-regular"/>
                        </a:rPr>
                        <a:t>Definition</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It is used to create an end to end connection between the senders to the receiver before transmitting the data over the same or different network.</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It is used to transfer the data packets between senders to the receiver without creating any connection.</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016843219"/>
                  </a:ext>
                </a:extLst>
              </a:tr>
              <a:tr h="1327219">
                <a:tc>
                  <a:txBody>
                    <a:bodyPr/>
                    <a:lstStyle/>
                    <a:p>
                      <a:pPr algn="just" fontAlgn="t"/>
                      <a:r>
                        <a:rPr lang="en-IN" sz="1800">
                          <a:solidFill>
                            <a:srgbClr val="333333"/>
                          </a:solidFill>
                          <a:effectLst/>
                          <a:latin typeface="inter-regular"/>
                        </a:rPr>
                        <a:t>3.</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800">
                          <a:solidFill>
                            <a:srgbClr val="333333"/>
                          </a:solidFill>
                          <a:effectLst/>
                          <a:latin typeface="inter-regular"/>
                        </a:rPr>
                        <a:t>Virtual path</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a:solidFill>
                            <a:srgbClr val="333333"/>
                          </a:solidFill>
                          <a:effectLst/>
                          <a:latin typeface="inter-regular"/>
                        </a:rPr>
                        <a:t>It creates a virtual path between the sender and the receiver.</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a:solidFill>
                            <a:srgbClr val="333333"/>
                          </a:solidFill>
                          <a:effectLst/>
                          <a:latin typeface="inter-regular"/>
                        </a:rPr>
                        <a:t>It does not create any virtual connection or path between the sender and the receiver.</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963482170"/>
                  </a:ext>
                </a:extLst>
              </a:tr>
              <a:tr h="1327219">
                <a:tc>
                  <a:txBody>
                    <a:bodyPr/>
                    <a:lstStyle/>
                    <a:p>
                      <a:pPr algn="just" fontAlgn="t"/>
                      <a:r>
                        <a:rPr lang="en-IN" sz="1800">
                          <a:solidFill>
                            <a:srgbClr val="333333"/>
                          </a:solidFill>
                          <a:effectLst/>
                          <a:latin typeface="inter-regular"/>
                        </a:rPr>
                        <a:t>4.</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800">
                          <a:solidFill>
                            <a:srgbClr val="333333"/>
                          </a:solidFill>
                          <a:effectLst/>
                          <a:latin typeface="inter-regular"/>
                        </a:rPr>
                        <a:t>Authentication</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It requires authentication before transmitting the data packets to the receiver.</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It does not require authentication before transferring data packets.</a:t>
                      </a:r>
                    </a:p>
                  </a:txBody>
                  <a:tcPr marL="16422" marR="16422" marT="16422" marB="1642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18001772"/>
                  </a:ext>
                </a:extLst>
              </a:tr>
            </a:tbl>
          </a:graphicData>
        </a:graphic>
      </p:graphicFrame>
      <p:sp>
        <p:nvSpPr>
          <p:cNvPr id="4" name="Footer Placeholder 3">
            <a:extLst>
              <a:ext uri="{FF2B5EF4-FFF2-40B4-BE49-F238E27FC236}">
                <a16:creationId xmlns:a16="http://schemas.microsoft.com/office/drawing/2014/main" id="{6FCCE6FE-3E6A-A234-EDEC-C0B91946EDC9}"/>
              </a:ext>
            </a:extLst>
          </p:cNvPr>
          <p:cNvSpPr>
            <a:spLocks noGrp="1"/>
          </p:cNvSpPr>
          <p:nvPr>
            <p:ph type="ftr" sz="quarter" idx="11"/>
          </p:nvPr>
        </p:nvSpPr>
        <p:spPr/>
        <p:txBody>
          <a:bodyPr/>
          <a:lstStyle/>
          <a:p>
            <a:r>
              <a:rPr lang="en-US"/>
              <a:t>Asst. Professor Riddhi Joshi</a:t>
            </a:r>
          </a:p>
        </p:txBody>
      </p:sp>
      <p:sp>
        <p:nvSpPr>
          <p:cNvPr id="5" name="Slide Number Placeholder 4">
            <a:extLst>
              <a:ext uri="{FF2B5EF4-FFF2-40B4-BE49-F238E27FC236}">
                <a16:creationId xmlns:a16="http://schemas.microsoft.com/office/drawing/2014/main" id="{E0498409-6898-3E96-7D94-CC41B8BCD93A}"/>
              </a:ext>
            </a:extLst>
          </p:cNvPr>
          <p:cNvSpPr>
            <a:spLocks noGrp="1"/>
          </p:cNvSpPr>
          <p:nvPr>
            <p:ph type="sldNum" sz="quarter" idx="12"/>
          </p:nvPr>
        </p:nvSpPr>
        <p:spPr/>
        <p:txBody>
          <a:bodyPr/>
          <a:lstStyle/>
          <a:p>
            <a:fld id="{7040D16D-0600-4D21-96E6-588F007D1AD6}" type="slidenum">
              <a:rPr lang="en-US" smtClean="0"/>
              <a:pPr/>
              <a:t>59</a:t>
            </a:fld>
            <a:endParaRPr lang="en-US"/>
          </a:p>
        </p:txBody>
      </p:sp>
    </p:spTree>
    <p:extLst>
      <p:ext uri="{BB962C8B-B14F-4D97-AF65-F5344CB8AC3E}">
        <p14:creationId xmlns:p14="http://schemas.microsoft.com/office/powerpoint/2010/main" val="35000098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2D77-F010-EAC1-6FB5-C4E8471E5580}"/>
              </a:ext>
            </a:extLst>
          </p:cNvPr>
          <p:cNvSpPr>
            <a:spLocks noGrp="1"/>
          </p:cNvSpPr>
          <p:nvPr>
            <p:ph type="title"/>
          </p:nvPr>
        </p:nvSpPr>
        <p:spPr/>
        <p:txBody>
          <a:bodyPr/>
          <a:lstStyle/>
          <a:p>
            <a:endParaRPr lang="en-IN"/>
          </a:p>
        </p:txBody>
      </p:sp>
      <p:graphicFrame>
        <p:nvGraphicFramePr>
          <p:cNvPr id="6" name="Content Placeholder 5">
            <a:extLst>
              <a:ext uri="{FF2B5EF4-FFF2-40B4-BE49-F238E27FC236}">
                <a16:creationId xmlns:a16="http://schemas.microsoft.com/office/drawing/2014/main" id="{AB3000D5-86D3-A8FD-4969-B5125DA5BF21}"/>
              </a:ext>
            </a:extLst>
          </p:cNvPr>
          <p:cNvGraphicFramePr>
            <a:graphicFrameLocks noGrp="1"/>
          </p:cNvGraphicFramePr>
          <p:nvPr>
            <p:ph idx="1"/>
          </p:nvPr>
        </p:nvGraphicFramePr>
        <p:xfrm>
          <a:off x="0" y="34887"/>
          <a:ext cx="9144000" cy="6686588"/>
        </p:xfrm>
        <a:graphic>
          <a:graphicData uri="http://schemas.openxmlformats.org/drawingml/2006/table">
            <a:tbl>
              <a:tblPr/>
              <a:tblGrid>
                <a:gridCol w="636104">
                  <a:extLst>
                    <a:ext uri="{9D8B030D-6E8A-4147-A177-3AD203B41FA5}">
                      <a16:colId xmlns:a16="http://schemas.microsoft.com/office/drawing/2014/main" val="360739889"/>
                    </a:ext>
                  </a:extLst>
                </a:gridCol>
                <a:gridCol w="1573696">
                  <a:extLst>
                    <a:ext uri="{9D8B030D-6E8A-4147-A177-3AD203B41FA5}">
                      <a16:colId xmlns:a16="http://schemas.microsoft.com/office/drawing/2014/main" val="3440557022"/>
                    </a:ext>
                  </a:extLst>
                </a:gridCol>
                <a:gridCol w="3276600">
                  <a:extLst>
                    <a:ext uri="{9D8B030D-6E8A-4147-A177-3AD203B41FA5}">
                      <a16:colId xmlns:a16="http://schemas.microsoft.com/office/drawing/2014/main" val="391920041"/>
                    </a:ext>
                  </a:extLst>
                </a:gridCol>
                <a:gridCol w="3657600">
                  <a:extLst>
                    <a:ext uri="{9D8B030D-6E8A-4147-A177-3AD203B41FA5}">
                      <a16:colId xmlns:a16="http://schemas.microsoft.com/office/drawing/2014/main" val="407371762"/>
                    </a:ext>
                  </a:extLst>
                </a:gridCol>
              </a:tblGrid>
              <a:tr h="1058135">
                <a:tc>
                  <a:txBody>
                    <a:bodyPr/>
                    <a:lstStyle/>
                    <a:p>
                      <a:pPr algn="just" fontAlgn="t"/>
                      <a:r>
                        <a:rPr lang="en-IN" sz="1600">
                          <a:solidFill>
                            <a:srgbClr val="333333"/>
                          </a:solidFill>
                          <a:effectLst/>
                          <a:latin typeface="inter-regular"/>
                        </a:rPr>
                        <a:t>5.</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effectLst/>
                          <a:latin typeface="inter-regular"/>
                        </a:rPr>
                        <a:t>Data Packets Path</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inter-regular"/>
                        </a:rPr>
                        <a:t>All data packets are received in the same order as those sent by the sender.</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inter-regular"/>
                        </a:rPr>
                        <a:t>Not all data packets are received in the same order as those sent by the sender.</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906054767"/>
                  </a:ext>
                </a:extLst>
              </a:tr>
              <a:tr h="685892">
                <a:tc>
                  <a:txBody>
                    <a:bodyPr/>
                    <a:lstStyle/>
                    <a:p>
                      <a:pPr algn="just" fontAlgn="t"/>
                      <a:r>
                        <a:rPr lang="en-IN" sz="1600">
                          <a:solidFill>
                            <a:srgbClr val="333333"/>
                          </a:solidFill>
                          <a:effectLst/>
                          <a:latin typeface="inter-regular"/>
                        </a:rPr>
                        <a:t>6.</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a:solidFill>
                            <a:srgbClr val="333333"/>
                          </a:solidFill>
                          <a:effectLst/>
                          <a:latin typeface="inter-regular"/>
                        </a:rPr>
                        <a:t>Bandwidth Requirement</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inter-regular"/>
                        </a:rPr>
                        <a:t>It requires a higher bandwidth to transfer the data packets.</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inter-regular"/>
                        </a:rPr>
                        <a:t>It requires low bandwidth to transfer the data packets.</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11650912"/>
                  </a:ext>
                </a:extLst>
              </a:tr>
              <a:tr h="1802622">
                <a:tc>
                  <a:txBody>
                    <a:bodyPr/>
                    <a:lstStyle/>
                    <a:p>
                      <a:pPr algn="just" fontAlgn="t"/>
                      <a:r>
                        <a:rPr lang="en-IN" sz="1600">
                          <a:solidFill>
                            <a:srgbClr val="333333"/>
                          </a:solidFill>
                          <a:effectLst/>
                          <a:latin typeface="inter-regular"/>
                        </a:rPr>
                        <a:t>7.</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effectLst/>
                          <a:latin typeface="inter-regular"/>
                        </a:rPr>
                        <a:t>Data Reliability</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inter-regular"/>
                        </a:rPr>
                        <a:t>It is a more reliable connection service because it guarantees data packets transfer from one end to the other end with a connection.</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inter-regular"/>
                        </a:rPr>
                        <a:t>It is not a reliable connection service because it does not guarantee the transfer of data packets from one end to another for establishing a connection.</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03266739"/>
                  </a:ext>
                </a:extLst>
              </a:tr>
              <a:tr h="1523439">
                <a:tc>
                  <a:txBody>
                    <a:bodyPr/>
                    <a:lstStyle/>
                    <a:p>
                      <a:pPr algn="just" fontAlgn="t"/>
                      <a:r>
                        <a:rPr lang="en-IN" sz="1600">
                          <a:solidFill>
                            <a:srgbClr val="333333"/>
                          </a:solidFill>
                          <a:effectLst/>
                          <a:latin typeface="inter-regular"/>
                        </a:rPr>
                        <a:t>8.</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a:solidFill>
                            <a:srgbClr val="333333"/>
                          </a:solidFill>
                          <a:effectLst/>
                          <a:latin typeface="inter-regular"/>
                        </a:rPr>
                        <a:t>Congestion</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inter-regular"/>
                        </a:rPr>
                        <a:t>There is no congestion as it provides an end-to-end connection between sender and receiver during transmission of data.</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inter-regular"/>
                        </a:rPr>
                        <a:t>There may be congestion due to not providing an end-to-end connection between the source and receiver to transmit of data packets.</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64768215"/>
                  </a:ext>
                </a:extLst>
              </a:tr>
              <a:tr h="1616500">
                <a:tc>
                  <a:txBody>
                    <a:bodyPr/>
                    <a:lstStyle/>
                    <a:p>
                      <a:pPr algn="just" fontAlgn="t"/>
                      <a:r>
                        <a:rPr lang="en-IN" sz="1600">
                          <a:solidFill>
                            <a:srgbClr val="333333"/>
                          </a:solidFill>
                          <a:effectLst/>
                          <a:latin typeface="inter-regular"/>
                        </a:rPr>
                        <a:t>9.</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effectLst/>
                          <a:latin typeface="inter-regular"/>
                        </a:rPr>
                        <a:t>Examples</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inter-regular"/>
                        </a:rPr>
                        <a:t>Transmission Control Protocol (TCP) is an example of a connection-oriented service.</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dirty="0">
                          <a:solidFill>
                            <a:srgbClr val="333333"/>
                          </a:solidFill>
                          <a:effectLst/>
                          <a:latin typeface="inter-regular"/>
                        </a:rPr>
                        <a:t>User Datagram Protocol (UDP), Internet Protocol (IP), and Internet Control Message Protocol (ICMP) are examples of connectionless service.</a:t>
                      </a:r>
                    </a:p>
                  </a:txBody>
                  <a:tcPr marL="11665" marR="11665" marT="11665" marB="1166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94829281"/>
                  </a:ext>
                </a:extLst>
              </a:tr>
            </a:tbl>
          </a:graphicData>
        </a:graphic>
      </p:graphicFrame>
      <p:sp>
        <p:nvSpPr>
          <p:cNvPr id="4" name="Footer Placeholder 3">
            <a:extLst>
              <a:ext uri="{FF2B5EF4-FFF2-40B4-BE49-F238E27FC236}">
                <a16:creationId xmlns:a16="http://schemas.microsoft.com/office/drawing/2014/main" id="{E8ECBE01-8B9C-EB19-34BE-FF93093708BD}"/>
              </a:ext>
            </a:extLst>
          </p:cNvPr>
          <p:cNvSpPr>
            <a:spLocks noGrp="1"/>
          </p:cNvSpPr>
          <p:nvPr>
            <p:ph type="ftr" sz="quarter" idx="11"/>
          </p:nvPr>
        </p:nvSpPr>
        <p:spPr/>
        <p:txBody>
          <a:bodyPr/>
          <a:lstStyle/>
          <a:p>
            <a:r>
              <a:rPr lang="en-US"/>
              <a:t>Asst. Professor Riddhi Joshi</a:t>
            </a:r>
          </a:p>
        </p:txBody>
      </p:sp>
      <p:sp>
        <p:nvSpPr>
          <p:cNvPr id="5" name="Slide Number Placeholder 4">
            <a:extLst>
              <a:ext uri="{FF2B5EF4-FFF2-40B4-BE49-F238E27FC236}">
                <a16:creationId xmlns:a16="http://schemas.microsoft.com/office/drawing/2014/main" id="{B5C5D89E-004C-DB40-0296-68C4D058AF93}"/>
              </a:ext>
            </a:extLst>
          </p:cNvPr>
          <p:cNvSpPr>
            <a:spLocks noGrp="1"/>
          </p:cNvSpPr>
          <p:nvPr>
            <p:ph type="sldNum" sz="quarter" idx="12"/>
          </p:nvPr>
        </p:nvSpPr>
        <p:spPr/>
        <p:txBody>
          <a:bodyPr/>
          <a:lstStyle/>
          <a:p>
            <a:fld id="{7040D16D-0600-4D21-96E6-588F007D1AD6}" type="slidenum">
              <a:rPr lang="en-US" smtClean="0"/>
              <a:pPr/>
              <a:t>60</a:t>
            </a:fld>
            <a:endParaRPr lang="en-US"/>
          </a:p>
        </p:txBody>
      </p:sp>
    </p:spTree>
    <p:extLst>
      <p:ext uri="{BB962C8B-B14F-4D97-AF65-F5344CB8AC3E}">
        <p14:creationId xmlns:p14="http://schemas.microsoft.com/office/powerpoint/2010/main" val="32990993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1455</TotalTime>
  <Words>4566</Words>
  <Application>Microsoft Office PowerPoint</Application>
  <PresentationFormat>On-screen Show (4:3)</PresentationFormat>
  <Paragraphs>626</Paragraphs>
  <Slides>60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Arial</vt:lpstr>
      <vt:lpstr>Calibri</vt:lpstr>
      <vt:lpstr>Cambria</vt:lpstr>
      <vt:lpstr>inter-regular</vt:lpstr>
      <vt:lpstr>times new roman</vt:lpstr>
      <vt:lpstr>Office Theme</vt:lpstr>
      <vt:lpstr>Ch-2 Inter Process Communication</vt:lpstr>
      <vt:lpstr>Introduction</vt:lpstr>
      <vt:lpstr>Introduction</vt:lpstr>
      <vt:lpstr>PowerPoint Presentation</vt:lpstr>
      <vt:lpstr>PowerPoint Presentation</vt:lpstr>
      <vt:lpstr>PowerPoint Presentation</vt:lpstr>
      <vt:lpstr>2.1 An Archetypal IPC Program Interface</vt:lpstr>
      <vt:lpstr>PowerPoint Presentation</vt:lpstr>
      <vt:lpstr>PowerPoint Presentation</vt:lpstr>
      <vt:lpstr>PowerPoint Presentation</vt:lpstr>
      <vt:lpstr>PowerPoint Presentation</vt:lpstr>
      <vt:lpstr>2.1 An Archetypal IPC Program Interface</vt:lpstr>
      <vt:lpstr>PowerPoint Presentation</vt:lpstr>
      <vt:lpstr>2.2 Event Synchronization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2.3 Timeouts and Threading</vt:lpstr>
      <vt:lpstr>PowerPoint Presentation</vt:lpstr>
      <vt:lpstr>PowerPoint Presentation</vt:lpstr>
      <vt:lpstr>PowerPoint Presentation</vt:lpstr>
      <vt:lpstr>PowerPoint Presentation</vt:lpstr>
      <vt:lpstr>2.4 Deadlocks and Timeouts</vt:lpstr>
      <vt:lpstr>2.4 Deadlocks and Timeouts</vt:lpstr>
      <vt:lpstr>PowerPoint Presentation</vt:lpstr>
      <vt:lpstr>2.5 Data Representation</vt:lpstr>
      <vt:lpstr>PowerPoint Presentation</vt:lpstr>
      <vt:lpstr>PowerPoint Presentation</vt:lpstr>
      <vt:lpstr>PowerPoint Presentation</vt:lpstr>
      <vt:lpstr>2.6 Data Encoding</vt:lpstr>
      <vt:lpstr>PowerPoint Presentation</vt:lpstr>
      <vt:lpstr>PowerPoint Presentation</vt:lpstr>
      <vt:lpstr>PowerPoint Presentation</vt:lpstr>
      <vt:lpstr>2.7 Text Based Protocol</vt:lpstr>
      <vt:lpstr>PowerPoint Presentation</vt:lpstr>
      <vt:lpstr>2.8 Request-Response Protocols</vt:lpstr>
      <vt:lpstr>PowerPoint Presentation</vt:lpstr>
      <vt:lpstr>2.9 Event Diagram &amp; Sequence Diagram</vt:lpstr>
      <vt:lpstr>PowerPoint Presentation</vt:lpstr>
      <vt:lpstr>2.9 Event Diagram &amp; Sequence Diagram</vt:lpstr>
      <vt:lpstr>2.9 Event Diagram &amp; Sequence Diagram</vt:lpstr>
      <vt:lpstr>PowerPoint Presentation</vt:lpstr>
      <vt:lpstr>PowerPoint Presentation</vt:lpstr>
      <vt:lpstr>PowerPoint Presentation</vt:lpstr>
      <vt:lpstr>PowerPoint Presentation</vt:lpstr>
      <vt:lpstr>PowerPoint Presentation</vt:lpstr>
      <vt:lpstr>2.10 Connection-Oriented versus Connection IPC</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Interprocess Communication</dc:title>
  <dc:creator>Parth</dc:creator>
  <cp:lastModifiedBy>Riddhi Joshi</cp:lastModifiedBy>
  <cp:revision>311</cp:revision>
  <dcterms:created xsi:type="dcterms:W3CDTF">2012-01-23T20:13:41Z</dcterms:created>
  <dcterms:modified xsi:type="dcterms:W3CDTF">2024-08-04T15:03:32Z</dcterms:modified>
</cp:coreProperties>
</file>